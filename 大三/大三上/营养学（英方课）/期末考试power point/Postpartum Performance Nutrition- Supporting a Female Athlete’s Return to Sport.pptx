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9" r:id="rId4"/>
    <p:sldId id="261" r:id="rId5"/>
    <p:sldId id="262" r:id="rId6"/>
    <p:sldId id="263" r:id="rId7"/>
    <p:sldId id="264" r:id="rId8"/>
    <p:sldId id="265" r:id="rId9"/>
    <p:sldId id="266" r:id="rId10"/>
    <p:sldId id="267" r:id="rId11"/>
    <p:sldId id="268" r:id="rId12"/>
    <p:sldId id="269" r:id="rId13"/>
    <p:sldId id="270" r:id="rId14"/>
    <p:sldId id="273" r:id="rId15"/>
    <p:sldId id="274" r:id="rId16"/>
    <p:sldId id="271" r:id="rId17"/>
    <p:sldId id="275" r:id="rId18"/>
    <p:sldId id="272" r:id="rId19"/>
    <p:sldId id="276" r:id="rId20"/>
    <p:sldId id="278" r:id="rId21"/>
    <p:sldId id="279" r:id="rId22"/>
    <p:sldId id="282" r:id="rId23"/>
    <p:sldId id="283" r:id="rId24"/>
    <p:sldId id="280" r:id="rId25"/>
    <p:sldId id="281" r:id="rId26"/>
    <p:sldId id="284" r:id="rId27"/>
    <p:sldId id="285" r:id="rId28"/>
    <p:sldId id="286" r:id="rId29"/>
    <p:sldId id="302" r:id="rId30"/>
    <p:sldId id="287" r:id="rId31"/>
    <p:sldId id="288" r:id="rId32"/>
    <p:sldId id="289" r:id="rId33"/>
    <p:sldId id="293" r:id="rId34"/>
    <p:sldId id="295" r:id="rId35"/>
    <p:sldId id="296" r:id="rId36"/>
    <p:sldId id="305" r:id="rId37"/>
    <p:sldId id="297" r:id="rId38"/>
    <p:sldId id="298" r:id="rId39"/>
    <p:sldId id="299" r:id="rId40"/>
    <p:sldId id="304" r:id="rId41"/>
    <p:sldId id="300" r:id="rId42"/>
    <p:sldId id="301" r:id="rId43"/>
    <p:sldId id="260" r:id="rId44"/>
    <p:sldId id="277" r:id="rId45"/>
    <p:sldId id="306" r:id="rId46"/>
    <p:sldId id="258" r:id="rId4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00"/>
    <p:restoredTop sz="74242"/>
  </p:normalViewPr>
  <p:slideViewPr>
    <p:cSldViewPr snapToGrid="0">
      <p:cViewPr varScale="1">
        <p:scale>
          <a:sx n="83" d="100"/>
          <a:sy n="83" d="100"/>
        </p:scale>
        <p:origin x="20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77516B-C79C-6447-83CB-AB5562756A3A}" type="datetimeFigureOut">
              <a:rPr kumimoji="1" lang="zh-CN" altLang="en-US" smtClean="0"/>
              <a:t>2026/1/8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EF138-40E7-2247-A5C6-E26622726142}" type="slidenum">
              <a:rPr kumimoji="1" lang="zh-CN" altLang="en-US" smtClean="0"/>
              <a:t>‹#›</a:t>
            </a:fld>
            <a:endParaRPr kumimoji="1" lang="zh-CN" altLang="en-US"/>
          </a:p>
        </p:txBody>
      </p:sp>
    </p:spTree>
    <p:extLst>
      <p:ext uri="{BB962C8B-B14F-4D97-AF65-F5344CB8AC3E}">
        <p14:creationId xmlns:p14="http://schemas.microsoft.com/office/powerpoint/2010/main" val="4067767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The title of my presentation is Postpartum Performance Nutrition: Supporting a Female Athlete’s Return to Sport. I’m Tom Wu, and today we’ll explore evidence-based nutritional strategies for a 31-year-old female endurance runner who is 10–12 weeks postpartum, breastfeeding, and safely rebuilding her base for 10 km and half-marathon racing.</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1</a:t>
            </a:fld>
            <a:endParaRPr kumimoji="1" lang="zh-CN" altLang="en-US"/>
          </a:p>
        </p:txBody>
      </p:sp>
    </p:spTree>
    <p:extLst>
      <p:ext uri="{BB962C8B-B14F-4D97-AF65-F5344CB8AC3E}">
        <p14:creationId xmlns:p14="http://schemas.microsoft.com/office/powerpoint/2010/main" val="3279694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"Here’s the agenda for today. We’ll cover the athlete profile, current nutrition assessments using the ABCD framework, energy requirements, macro- and micronutrient prescriptions, hydration, the 4R recovery strategy, safe ergogenic aids, nutrition periodization across different contexts, a practical 1-day sample menu, and finally a summary with key takeaways. There’s also a full reference list at the end.</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2</a:t>
            </a:fld>
            <a:endParaRPr kumimoji="1" lang="zh-CN" altLang="en-US"/>
          </a:p>
        </p:txBody>
      </p:sp>
    </p:spTree>
    <p:extLst>
      <p:ext uri="{BB962C8B-B14F-4D97-AF65-F5344CB8AC3E}">
        <p14:creationId xmlns:p14="http://schemas.microsoft.com/office/powerpoint/2010/main" val="2508318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On these slides, we profile our 31-year-old female endurance runner. She’s 161 cm tall, currently 66.68 kg with a BMI of 25.7—slightly above her pre-pregnancy weight of around 60–62 kg, which is normal postpartum weight retention. She’s in the early return-to-training phase, focusing on base conditioning before race preparation.</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3</a:t>
            </a:fld>
            <a:endParaRPr kumimoji="1" lang="zh-CN" altLang="en-US"/>
          </a:p>
        </p:txBody>
      </p:sp>
    </p:spTree>
    <p:extLst>
      <p:ext uri="{BB962C8B-B14F-4D97-AF65-F5344CB8AC3E}">
        <p14:creationId xmlns:p14="http://schemas.microsoft.com/office/powerpoint/2010/main" val="1440338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Key lifestyle challenges include fragmented sleep—only 5–6 hours per night due to breastfeeding and infant wake-ups—limited training windows because of childcare, and no major travel yet. She has medical clearance for progressive loading and is working with pelvic floor physiotherapy.</a:t>
            </a:r>
          </a:p>
          <a:p>
            <a:r>
              <a:rPr lang="en" altLang="zh-CN" sz="1200" kern="1200" dirty="0">
                <a:solidFill>
                  <a:schemeClr val="tx1"/>
                </a:solidFill>
                <a:effectLst/>
                <a:latin typeface="+mn-lt"/>
                <a:ea typeface="+mn-ea"/>
                <a:cs typeface="+mn-cs"/>
              </a:rPr>
              <a:t>These changes directly influence nutritional needs by increasing carbohydrate requirements for energy restoration, protein needs for lean mass recovery, and micronutrient needs for iron and bone metabolism. Therefore, her demographic and postpartum profile guides the overall nutrition plan, ensuring energy availability is protected during early return to training.</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4</a:t>
            </a:fld>
            <a:endParaRPr kumimoji="1" lang="zh-CN" altLang="en-US"/>
          </a:p>
        </p:txBody>
      </p:sp>
    </p:spTree>
    <p:extLst>
      <p:ext uri="{BB962C8B-B14F-4D97-AF65-F5344CB8AC3E}">
        <p14:creationId xmlns:p14="http://schemas.microsoft.com/office/powerpoint/2010/main" val="1337849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Postpartum weight retention and increased fatigue levels are well-documented, especially in breastfeeding women (</a:t>
            </a:r>
            <a:r>
              <a:rPr lang="en" altLang="zh-CN" sz="1200" kern="1200" dirty="0" err="1">
                <a:solidFill>
                  <a:schemeClr val="tx1"/>
                </a:solidFill>
                <a:effectLst/>
                <a:latin typeface="+mn-lt"/>
                <a:ea typeface="+mn-ea"/>
                <a:cs typeface="+mn-cs"/>
              </a:rPr>
              <a:t>Bijlholt</a:t>
            </a:r>
            <a:r>
              <a:rPr lang="en" altLang="zh-CN" sz="1200" kern="1200" dirty="0">
                <a:solidFill>
                  <a:schemeClr val="tx1"/>
                </a:solidFill>
                <a:effectLst/>
                <a:latin typeface="+mn-lt"/>
                <a:ea typeface="+mn-ea"/>
                <a:cs typeface="+mn-cs"/>
              </a:rPr>
              <a:t> et al., 2021; Mariman et al., 2024). These factors elevate the risk of low energy availability and slow training adaptation. This evidence justifies a strategy that </a:t>
            </a:r>
            <a:r>
              <a:rPr lang="en" altLang="zh-CN" sz="1200" kern="1200" dirty="0" err="1">
                <a:solidFill>
                  <a:schemeClr val="tx1"/>
                </a:solidFill>
                <a:effectLst/>
                <a:latin typeface="+mn-lt"/>
                <a:ea typeface="+mn-ea"/>
                <a:cs typeface="+mn-cs"/>
              </a:rPr>
              <a:t>prioritises</a:t>
            </a:r>
            <a:r>
              <a:rPr lang="en" altLang="zh-CN" sz="1200" kern="1200" dirty="0">
                <a:solidFill>
                  <a:schemeClr val="tx1"/>
                </a:solidFill>
                <a:effectLst/>
                <a:latin typeface="+mn-lt"/>
                <a:ea typeface="+mn-ea"/>
                <a:cs typeface="+mn-cs"/>
              </a:rPr>
              <a:t> higher carbohydrate intake, structured protein distribution, and micronutrient restoration. By linking physiological changes to targeted nutrition adjustments, we can support her return to endurance training while </a:t>
            </a:r>
            <a:r>
              <a:rPr lang="en" altLang="zh-CN" sz="1200" kern="1200" dirty="0" err="1">
                <a:solidFill>
                  <a:schemeClr val="tx1"/>
                </a:solidFill>
                <a:effectLst/>
                <a:latin typeface="+mn-lt"/>
                <a:ea typeface="+mn-ea"/>
                <a:cs typeface="+mn-cs"/>
              </a:rPr>
              <a:t>minimising</a:t>
            </a:r>
            <a:r>
              <a:rPr lang="en" altLang="zh-CN" sz="1200" kern="1200" dirty="0">
                <a:solidFill>
                  <a:schemeClr val="tx1"/>
                </a:solidFill>
                <a:effectLst/>
                <a:latin typeface="+mn-lt"/>
                <a:ea typeface="+mn-ea"/>
                <a:cs typeface="+mn-cs"/>
              </a:rPr>
              <a:t> RED-S risk.</a:t>
            </a:r>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5</a:t>
            </a:fld>
            <a:endParaRPr kumimoji="1" lang="zh-CN" altLang="en-US"/>
          </a:p>
        </p:txBody>
      </p:sp>
    </p:spTree>
    <p:extLst>
      <p:ext uri="{BB962C8B-B14F-4D97-AF65-F5344CB8AC3E}">
        <p14:creationId xmlns:p14="http://schemas.microsoft.com/office/powerpoint/2010/main" val="3615062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We’ll use the classic ABCD nutrition assessment framework: Anthropometry, Biochemistry, Clinical history, and Dietary intake.</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6</a:t>
            </a:fld>
            <a:endParaRPr kumimoji="1" lang="zh-CN" altLang="en-US"/>
          </a:p>
        </p:txBody>
      </p:sp>
    </p:spTree>
    <p:extLst>
      <p:ext uri="{BB962C8B-B14F-4D97-AF65-F5344CB8AC3E}">
        <p14:creationId xmlns:p14="http://schemas.microsoft.com/office/powerpoint/2010/main" val="4256301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At 12 weeks postpartum, the goal is functional recovery, not rapid weight loss. Evidence shows that insufficient energy intake at this stage impairs lactation, hormonal recovery, and training progress (Holtzman &amp; Ackerman, 2021). Therefore, maintaining adequate caloric intake is essential to support both baseline metabolism and training load. This informs our calculated energy targets and the recommendation to avoid caloric restriction.</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7</a:t>
            </a:fld>
            <a:endParaRPr kumimoji="1" lang="zh-CN" altLang="en-US"/>
          </a:p>
        </p:txBody>
      </p:sp>
    </p:spTree>
    <p:extLst>
      <p:ext uri="{BB962C8B-B14F-4D97-AF65-F5344CB8AC3E}">
        <p14:creationId xmlns:p14="http://schemas.microsoft.com/office/powerpoint/2010/main" val="3941563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Postpartum women frequently present low iron stores, thyroid fluctuations, and micronutrient deficiencies (Pengelly et al., 2024; Jin et al., 2021). For endurance athletes, these deficiencies have direct performance implications: reduced VO2 max, increased fatigue, impaired oxygen transport, and poor recovery. Therefore, biochemistry findings strongly justify </a:t>
            </a:r>
            <a:r>
              <a:rPr lang="en" altLang="zh-CN" sz="1200" kern="1200" dirty="0" err="1">
                <a:solidFill>
                  <a:schemeClr val="tx1"/>
                </a:solidFill>
                <a:effectLst/>
                <a:latin typeface="+mn-lt"/>
                <a:ea typeface="+mn-ea"/>
                <a:cs typeface="+mn-cs"/>
              </a:rPr>
              <a:t>prioritising</a:t>
            </a:r>
            <a:r>
              <a:rPr lang="en" altLang="zh-CN" sz="1200" kern="1200" dirty="0">
                <a:solidFill>
                  <a:schemeClr val="tx1"/>
                </a:solidFill>
                <a:effectLst/>
                <a:latin typeface="+mn-lt"/>
                <a:ea typeface="+mn-ea"/>
                <a:cs typeface="+mn-cs"/>
              </a:rPr>
              <a:t> iron-rich foods, monitoring ferritin levels, supporting thyroid health, and ensuring adequate vitamin D and calcium intake.</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8</a:t>
            </a:fld>
            <a:endParaRPr kumimoji="1" lang="zh-CN" altLang="en-US"/>
          </a:p>
        </p:txBody>
      </p:sp>
    </p:spTree>
    <p:extLst>
      <p:ext uri="{BB962C8B-B14F-4D97-AF65-F5344CB8AC3E}">
        <p14:creationId xmlns:p14="http://schemas.microsoft.com/office/powerpoint/2010/main" val="2667376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Assuming a vaginal delivery with no major complications, we pay attention to core stability, pelvic alignment, lingering ligament laxity, and high fatigue from newborn care.</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9</a:t>
            </a:fld>
            <a:endParaRPr kumimoji="1" lang="zh-CN" altLang="en-US"/>
          </a:p>
        </p:txBody>
      </p:sp>
    </p:spTree>
    <p:extLst>
      <p:ext uri="{BB962C8B-B14F-4D97-AF65-F5344CB8AC3E}">
        <p14:creationId xmlns:p14="http://schemas.microsoft.com/office/powerpoint/2010/main" val="1893552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Dietary assessment reveals insufficient energy availability, low carbohydrate intake, uneven protein distribution, and inadequate micronutrients. These deficiencies align with known postpartum risks—RED-S, low milk production, impaired neuromuscular recovery, and reduced training capacity. This evidence directly informs the macronutrient and micronutrient prescriptions that follow, ensuring each recommendation addresses a clearly identified nutritional gap.</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10</a:t>
            </a:fld>
            <a:endParaRPr kumimoji="1" lang="zh-CN" altLang="en-US"/>
          </a:p>
        </p:txBody>
      </p:sp>
    </p:spTree>
    <p:extLst>
      <p:ext uri="{BB962C8B-B14F-4D97-AF65-F5344CB8AC3E}">
        <p14:creationId xmlns:p14="http://schemas.microsoft.com/office/powerpoint/2010/main" val="930136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Using the Harris-Benedict equation for women</a:t>
            </a:r>
            <a:r>
              <a:rPr lang="zh-CN" altLang="en-US" dirty="0">
                <a:effectLst/>
              </a:rPr>
              <a:t> </a:t>
            </a: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effectLst/>
              </a:rPr>
              <a:t>With the result of 2000kal/day</a:t>
            </a:r>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11</a:t>
            </a:fld>
            <a:endParaRPr kumimoji="1" lang="zh-CN" altLang="en-US"/>
          </a:p>
        </p:txBody>
      </p:sp>
    </p:spTree>
    <p:extLst>
      <p:ext uri="{BB962C8B-B14F-4D97-AF65-F5344CB8AC3E}">
        <p14:creationId xmlns:p14="http://schemas.microsoft.com/office/powerpoint/2010/main" val="556434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For further consideration, we think about the training process and lactation as two things that also require a lot of energy. Here, we assume the breastfeeding cost approximately 670 kcal/day and 300 kcal/day for the daily training process, based on the evidence-based research. </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12</a:t>
            </a:fld>
            <a:endParaRPr kumimoji="1" lang="zh-CN" altLang="en-US"/>
          </a:p>
        </p:txBody>
      </p:sp>
    </p:spTree>
    <p:extLst>
      <p:ext uri="{BB962C8B-B14F-4D97-AF65-F5344CB8AC3E}">
        <p14:creationId xmlns:p14="http://schemas.microsoft.com/office/powerpoint/2010/main" val="2053934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13</a:t>
            </a:fld>
            <a:endParaRPr kumimoji="1" lang="zh-CN" altLang="en-US"/>
          </a:p>
        </p:txBody>
      </p:sp>
    </p:spTree>
    <p:extLst>
      <p:ext uri="{BB962C8B-B14F-4D97-AF65-F5344CB8AC3E}">
        <p14:creationId xmlns:p14="http://schemas.microsoft.com/office/powerpoint/2010/main" val="2554445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Carbohydrate requirements are intentionally set at 5–6 g/kg/day to maintain glycogen availability. Postpartum fatigue is significantly elevated, and evidence shows carbohydrates help attenuate fatigue perception and support milk production. Therefore, carbohydrate timing (before and after runs) is essential to prevent performance decline and protect lactation.</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14</a:t>
            </a:fld>
            <a:endParaRPr kumimoji="1" lang="zh-CN" altLang="en-US"/>
          </a:p>
        </p:txBody>
      </p:sp>
    </p:spTree>
    <p:extLst>
      <p:ext uri="{BB962C8B-B14F-4D97-AF65-F5344CB8AC3E}">
        <p14:creationId xmlns:p14="http://schemas.microsoft.com/office/powerpoint/2010/main" val="23812418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Protein intake of 1.4–1.6 g/kg/day supports postpartum muscle mass restoration and counters the catabolic environment associated with sleep disruption and hormonal fluctuations. Evidence suggests distributing protein evenly enhances muscle protein synthesis, which is critical in the return-to-training phase</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16</a:t>
            </a:fld>
            <a:endParaRPr kumimoji="1" lang="zh-CN" altLang="en-US"/>
          </a:p>
        </p:txBody>
      </p:sp>
    </p:spTree>
    <p:extLst>
      <p:ext uri="{BB962C8B-B14F-4D97-AF65-F5344CB8AC3E}">
        <p14:creationId xmlns:p14="http://schemas.microsoft.com/office/powerpoint/2010/main" val="3156789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Adequate healthy fat intake supports hormonal recovery, particularly estrogen regulation, which influences bone density and joint health. Endurance runners also rely on fat oxidation during longer training sessions. Therefore, 25–30% of total energy from fat provides the necessary hormonal support and energy stability without excess caloric surplus. This evidence-guided approach supports both performance and postpartum recovery.</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18</a:t>
            </a:fld>
            <a:endParaRPr kumimoji="1" lang="zh-CN" altLang="en-US"/>
          </a:p>
        </p:txBody>
      </p:sp>
    </p:spTree>
    <p:extLst>
      <p:ext uri="{BB962C8B-B14F-4D97-AF65-F5344CB8AC3E}">
        <p14:creationId xmlns:p14="http://schemas.microsoft.com/office/powerpoint/2010/main" val="2302450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Key micronutrients often depleted postpartum:</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20</a:t>
            </a:fld>
            <a:endParaRPr kumimoji="1" lang="zh-CN" altLang="en-US"/>
          </a:p>
        </p:txBody>
      </p:sp>
    </p:spTree>
    <p:extLst>
      <p:ext uri="{BB962C8B-B14F-4D97-AF65-F5344CB8AC3E}">
        <p14:creationId xmlns:p14="http://schemas.microsoft.com/office/powerpoint/2010/main" val="1633940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For this postpartum athlete, calcium supplementation is not just basic nutrition, but a core decision for injury prevention. Based on evidence from Wahlquist et al. (2024), postpartum women are in a critical window for bone density recovery. Given the athlete's current [high-impact training load], her skeletal system is under significant mechanical stress.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While we acknowledge postpartum physiology, the critical link here is that fluctuating estrogen levels, combined with potential irregular menstruation, significantly elevate the risk of stress fractures. This explains why I have prioritized the synergistic supplementation of Calcium and Vitamin D as a top nutritional priority.</a:t>
            </a:r>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21</a:t>
            </a:fld>
            <a:endParaRPr kumimoji="1" lang="zh-CN" altLang="en-US"/>
          </a:p>
        </p:txBody>
      </p:sp>
    </p:spTree>
    <p:extLst>
      <p:ext uri="{BB962C8B-B14F-4D97-AF65-F5344CB8AC3E}">
        <p14:creationId xmlns:p14="http://schemas.microsoft.com/office/powerpoint/2010/main" val="34825736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Vitamin D enhances calcium absorption and supports neuromuscular function. Therefore, supplementation and dietary intake are </a:t>
            </a:r>
            <a:r>
              <a:rPr lang="en" altLang="zh-CN" sz="1200" kern="1200" dirty="0" err="1">
                <a:solidFill>
                  <a:schemeClr val="tx1"/>
                </a:solidFill>
                <a:effectLst/>
                <a:latin typeface="+mn-lt"/>
                <a:ea typeface="+mn-ea"/>
                <a:cs typeface="+mn-cs"/>
              </a:rPr>
              <a:t>prioritised</a:t>
            </a:r>
            <a:r>
              <a:rPr lang="en" altLang="zh-CN" sz="1200" kern="1200" dirty="0">
                <a:solidFill>
                  <a:schemeClr val="tx1"/>
                </a:solidFill>
                <a:effectLst/>
                <a:latin typeface="+mn-lt"/>
                <a:ea typeface="+mn-ea"/>
                <a:cs typeface="+mn-cs"/>
              </a:rPr>
              <a:t>.</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22</a:t>
            </a:fld>
            <a:endParaRPr kumimoji="1" lang="zh-CN" altLang="en-US"/>
          </a:p>
        </p:txBody>
      </p:sp>
    </p:spTree>
    <p:extLst>
      <p:ext uri="{BB962C8B-B14F-4D97-AF65-F5344CB8AC3E}">
        <p14:creationId xmlns:p14="http://schemas.microsoft.com/office/powerpoint/2010/main" val="1890011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Iron deficiency reduces oxygen transport and VO2 max (Keller et al., 2024). As fatigue is already elevated postpartum, ensuring adequate iron is critical to maintain endurance performance.</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So the red meat would be really good choice here</a:t>
            </a:r>
            <a:endParaRPr lang="en" altLang="zh-CN" sz="120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23</a:t>
            </a:fld>
            <a:endParaRPr kumimoji="1" lang="zh-CN" altLang="en-US"/>
          </a:p>
        </p:txBody>
      </p:sp>
    </p:spTree>
    <p:extLst>
      <p:ext uri="{BB962C8B-B14F-4D97-AF65-F5344CB8AC3E}">
        <p14:creationId xmlns:p14="http://schemas.microsoft.com/office/powerpoint/2010/main" val="24282029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Postpartum women often have lower B-vitamin status, which affects red blood cell function and energy metabolism (Koury &amp; Ponka, 2004). This guides the inclusion of folate- and B12-rich foods.</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24</a:t>
            </a:fld>
            <a:endParaRPr kumimoji="1" lang="zh-CN" altLang="en-US"/>
          </a:p>
        </p:txBody>
      </p:sp>
    </p:spTree>
    <p:extLst>
      <p:ext uri="{BB962C8B-B14F-4D97-AF65-F5344CB8AC3E}">
        <p14:creationId xmlns:p14="http://schemas.microsoft.com/office/powerpoint/2010/main" val="1678794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Magnesium supports sleep and reduces cramping, which directly addresses postpartum fatigue and muscle recovery needs. This justifies increasing magnesium-rich foods or supplementation.</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25</a:t>
            </a:fld>
            <a:endParaRPr kumimoji="1" lang="zh-CN" altLang="en-US"/>
          </a:p>
        </p:txBody>
      </p:sp>
    </p:spTree>
    <p:extLst>
      <p:ext uri="{BB962C8B-B14F-4D97-AF65-F5344CB8AC3E}">
        <p14:creationId xmlns:p14="http://schemas.microsoft.com/office/powerpoint/2010/main" val="3902558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Hydration needs are higher in postpartum athletes due to hormonal fluctuations, thermoregulation changes, and lactation-related fluid losses. Dehydration increases fatigue, heart rate, and perceived exertion. Therefore, sweat rate testing and structured hydration before, during, and after training are essential. This evidence-based approach protects both performance and milk production.</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26</a:t>
            </a:fld>
            <a:endParaRPr kumimoji="1" lang="zh-CN" altLang="en-US"/>
          </a:p>
        </p:txBody>
      </p:sp>
    </p:spTree>
    <p:extLst>
      <p:ext uri="{BB962C8B-B14F-4D97-AF65-F5344CB8AC3E}">
        <p14:creationId xmlns:p14="http://schemas.microsoft.com/office/powerpoint/2010/main" val="29712317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Recommend a sweat-rate test: weigh before and after a 60-minute run, accounting for fluid intake.</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27</a:t>
            </a:fld>
            <a:endParaRPr kumimoji="1" lang="zh-CN" altLang="en-US"/>
          </a:p>
        </p:txBody>
      </p:sp>
    </p:spTree>
    <p:extLst>
      <p:ext uri="{BB962C8B-B14F-4D97-AF65-F5344CB8AC3E}">
        <p14:creationId xmlns:p14="http://schemas.microsoft.com/office/powerpoint/2010/main" val="29237313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kern="1200" dirty="0">
                <a:solidFill>
                  <a:schemeClr val="tx1"/>
                </a:solidFill>
                <a:effectLst/>
                <a:latin typeface="+mn-lt"/>
                <a:ea typeface="+mn-ea"/>
                <a:cs typeface="+mn-cs"/>
              </a:rPr>
              <a:t>Postpartum hormonal fluctuations significantly influence hydration and thermoregulation. Evidence indicates that estrogen and testosterone remain suppressed for several months postpartum, which reduces thermoregulation efficiency and contributes to unstable fluid balance (Hendrick et al., 1998).</a:t>
            </a:r>
          </a:p>
          <a:p>
            <a:br>
              <a:rPr lang="en" altLang="zh-CN" sz="1200" kern="1200" dirty="0">
                <a:solidFill>
                  <a:schemeClr val="tx1"/>
                </a:solidFill>
                <a:effectLst/>
                <a:latin typeface="+mn-lt"/>
                <a:ea typeface="+mn-ea"/>
                <a:cs typeface="+mn-cs"/>
              </a:rPr>
            </a:br>
            <a:endParaRPr lang="en" altLang="zh-CN" sz="1200" kern="1200" dirty="0">
              <a:solidFill>
                <a:schemeClr val="tx1"/>
              </a:solidFill>
              <a:effectLst/>
              <a:latin typeface="+mn-lt"/>
              <a:ea typeface="+mn-ea"/>
              <a:cs typeface="+mn-cs"/>
            </a:endParaRPr>
          </a:p>
          <a:p>
            <a:r>
              <a:rPr lang="en" altLang="zh-CN" sz="1200" kern="1200" dirty="0">
                <a:solidFill>
                  <a:schemeClr val="tx1"/>
                </a:solidFill>
                <a:effectLst/>
                <a:latin typeface="+mn-lt"/>
                <a:ea typeface="+mn-ea"/>
                <a:cs typeface="+mn-cs"/>
              </a:rPr>
              <a:t>This means postpartum athletes are more prone to dehydration even at lower exercise intensities. When combined with increased metabolic demands from breastfeeding, the risk of fluid imbalance becomes higher than in non-postpartum athletes.</a:t>
            </a:r>
          </a:p>
          <a:p>
            <a:br>
              <a:rPr lang="en" altLang="zh-CN" sz="1200" kern="1200" dirty="0">
                <a:solidFill>
                  <a:schemeClr val="tx1"/>
                </a:solidFill>
                <a:effectLst/>
                <a:latin typeface="+mn-lt"/>
                <a:ea typeface="+mn-ea"/>
                <a:cs typeface="+mn-cs"/>
              </a:rPr>
            </a:br>
            <a:endParaRPr lang="en" altLang="zh-CN" sz="1200" kern="1200" dirty="0">
              <a:solidFill>
                <a:schemeClr val="tx1"/>
              </a:solidFill>
              <a:effectLst/>
              <a:latin typeface="+mn-lt"/>
              <a:ea typeface="+mn-ea"/>
              <a:cs typeface="+mn-cs"/>
            </a:endParaRPr>
          </a:p>
          <a:p>
            <a:r>
              <a:rPr lang="en" altLang="zh-CN" sz="1200" kern="1200" dirty="0">
                <a:solidFill>
                  <a:schemeClr val="tx1"/>
                </a:solidFill>
                <a:effectLst/>
                <a:latin typeface="+mn-lt"/>
                <a:ea typeface="+mn-ea"/>
                <a:cs typeface="+mn-cs"/>
              </a:rPr>
              <a:t>This evidence directly informs our hydration strategy. Because hormonal recovery is incomplete, hydration must be monitored more closely, with scheduled intake before, during, and after training. Therefore, the nutrition plan </a:t>
            </a:r>
            <a:r>
              <a:rPr lang="en" altLang="zh-CN" sz="1200" kern="1200" dirty="0" err="1">
                <a:solidFill>
                  <a:schemeClr val="tx1"/>
                </a:solidFill>
                <a:effectLst/>
                <a:latin typeface="+mn-lt"/>
                <a:ea typeface="+mn-ea"/>
                <a:cs typeface="+mn-cs"/>
              </a:rPr>
              <a:t>prioritises</a:t>
            </a:r>
            <a:r>
              <a:rPr lang="en" altLang="zh-CN" sz="1200" kern="1200" dirty="0">
                <a:solidFill>
                  <a:schemeClr val="tx1"/>
                </a:solidFill>
                <a:effectLst/>
                <a:latin typeface="+mn-lt"/>
                <a:ea typeface="+mn-ea"/>
                <a:cs typeface="+mn-cs"/>
              </a:rPr>
              <a:t> structured hydration and sweat-rate testing to prevent dehydration-induced fatigue and protect overall recovery.</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28</a:t>
            </a:fld>
            <a:endParaRPr kumimoji="1" lang="zh-CN" altLang="en-US"/>
          </a:p>
        </p:txBody>
      </p:sp>
    </p:spTree>
    <p:extLst>
      <p:ext uri="{BB962C8B-B14F-4D97-AF65-F5344CB8AC3E}">
        <p14:creationId xmlns:p14="http://schemas.microsoft.com/office/powerpoint/2010/main" val="40258680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kern="1200" dirty="0">
                <a:solidFill>
                  <a:schemeClr val="tx1"/>
                </a:solidFill>
                <a:effectLst/>
                <a:latin typeface="+mn-lt"/>
                <a:ea typeface="+mn-ea"/>
                <a:cs typeface="+mn-cs"/>
              </a:rPr>
              <a:t>Research shows that even mild dehydration elevates heart rate, increases perceived exertion, slows movement speed, and causes dizziness (</a:t>
            </a:r>
            <a:r>
              <a:rPr lang="en" altLang="zh-CN" sz="1200" kern="1200" dirty="0" err="1">
                <a:solidFill>
                  <a:schemeClr val="tx1"/>
                </a:solidFill>
                <a:effectLst/>
                <a:latin typeface="+mn-lt"/>
                <a:ea typeface="+mn-ea"/>
                <a:cs typeface="+mn-cs"/>
              </a:rPr>
              <a:t>Charkoudian</a:t>
            </a:r>
            <a:r>
              <a:rPr lang="en" altLang="zh-CN" sz="1200" kern="1200" dirty="0">
                <a:solidFill>
                  <a:schemeClr val="tx1"/>
                </a:solidFill>
                <a:effectLst/>
                <a:latin typeface="+mn-lt"/>
                <a:ea typeface="+mn-ea"/>
                <a:cs typeface="+mn-cs"/>
              </a:rPr>
              <a:t> et al., 2003). For postpartum athletes, these effects are amplified because baseline fatigue is already elevated due to hormonal changes, disrupted sleep, and recovery demands.</a:t>
            </a:r>
          </a:p>
          <a:p>
            <a:br>
              <a:rPr lang="en" altLang="zh-CN" sz="1200" kern="1200" dirty="0">
                <a:solidFill>
                  <a:schemeClr val="tx1"/>
                </a:solidFill>
                <a:effectLst/>
                <a:latin typeface="+mn-lt"/>
                <a:ea typeface="+mn-ea"/>
                <a:cs typeface="+mn-cs"/>
              </a:rPr>
            </a:br>
            <a:endParaRPr lang="en" altLang="zh-CN" sz="1200" kern="1200" dirty="0">
              <a:solidFill>
                <a:schemeClr val="tx1"/>
              </a:solidFill>
              <a:effectLst/>
              <a:latin typeface="+mn-lt"/>
              <a:ea typeface="+mn-ea"/>
              <a:cs typeface="+mn-cs"/>
            </a:endParaRPr>
          </a:p>
          <a:p>
            <a:r>
              <a:rPr lang="en" altLang="zh-CN" sz="1200" kern="1200" dirty="0">
                <a:solidFill>
                  <a:schemeClr val="tx1"/>
                </a:solidFill>
                <a:effectLst/>
                <a:latin typeface="+mn-lt"/>
                <a:ea typeface="+mn-ea"/>
                <a:cs typeface="+mn-cs"/>
              </a:rPr>
              <a:t>This means dehydration has a disproportionately negative impact on postpartum runners compared with non-postpartum athletes. As a result, maintaining hydration is not only about performance but also about safety, perceived effort, and recovery efficiency.</a:t>
            </a:r>
          </a:p>
          <a:p>
            <a:br>
              <a:rPr lang="en" altLang="zh-CN" sz="1200" kern="1200" dirty="0">
                <a:solidFill>
                  <a:schemeClr val="tx1"/>
                </a:solidFill>
                <a:effectLst/>
                <a:latin typeface="+mn-lt"/>
                <a:ea typeface="+mn-ea"/>
                <a:cs typeface="+mn-cs"/>
              </a:rPr>
            </a:br>
            <a:endParaRPr lang="en" altLang="zh-CN" sz="1200" kern="1200" dirty="0">
              <a:solidFill>
                <a:schemeClr val="tx1"/>
              </a:solidFill>
              <a:effectLst/>
              <a:latin typeface="+mn-lt"/>
              <a:ea typeface="+mn-ea"/>
              <a:cs typeface="+mn-cs"/>
            </a:endParaRPr>
          </a:p>
          <a:p>
            <a:r>
              <a:rPr lang="en" altLang="zh-CN" sz="1200" kern="1200" dirty="0">
                <a:solidFill>
                  <a:schemeClr val="tx1"/>
                </a:solidFill>
                <a:effectLst/>
                <a:latin typeface="+mn-lt"/>
                <a:ea typeface="+mn-ea"/>
                <a:cs typeface="+mn-cs"/>
              </a:rPr>
              <a:t>Therefore, this evidence directly informs the recommendation for a structured hydration plan, including pre-run hydration, monitoring body weight changes, and ensuring fluid replacement post-exercise. This is particularly important to prevent postpartum fatigue escalation and protect training quality.</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29</a:t>
            </a:fld>
            <a:endParaRPr kumimoji="1" lang="zh-CN" altLang="en-US"/>
          </a:p>
        </p:txBody>
      </p:sp>
    </p:spTree>
    <p:extLst>
      <p:ext uri="{BB962C8B-B14F-4D97-AF65-F5344CB8AC3E}">
        <p14:creationId xmlns:p14="http://schemas.microsoft.com/office/powerpoint/2010/main" val="36197346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Target: pale urine, 2.5–3 L total daily fluid, more on hot days with electrolytes. Dehydration amplifies fatigue, raises heart rate, and reduces performance."</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30</a:t>
            </a:fld>
            <a:endParaRPr kumimoji="1" lang="zh-CN" altLang="en-US"/>
          </a:p>
        </p:txBody>
      </p:sp>
    </p:spTree>
    <p:extLst>
      <p:ext uri="{BB962C8B-B14F-4D97-AF65-F5344CB8AC3E}">
        <p14:creationId xmlns:p14="http://schemas.microsoft.com/office/powerpoint/2010/main" val="1558584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effectLst/>
              </a:rPr>
              <a:t>The 4R framework:</a:t>
            </a:r>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31</a:t>
            </a:fld>
            <a:endParaRPr kumimoji="1" lang="zh-CN" altLang="en-US"/>
          </a:p>
        </p:txBody>
      </p:sp>
    </p:spTree>
    <p:extLst>
      <p:ext uri="{BB962C8B-B14F-4D97-AF65-F5344CB8AC3E}">
        <p14:creationId xmlns:p14="http://schemas.microsoft.com/office/powerpoint/2010/main" val="39738777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Postpartum recovery is influenced by sleep disruption, hormonal instability, and elevated fatigue. The 4Rs—rehydrate, refuel, repair, rest—directly address these challenges. Evidence supports the use of structured sleep hygiene, nutrient timing, and stress reduction practices to optimise recovery (Watson et al., 2015). These strategies help maintain training quality and reduce injury risk.</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32</a:t>
            </a:fld>
            <a:endParaRPr kumimoji="1" lang="zh-CN" altLang="en-US"/>
          </a:p>
        </p:txBody>
      </p:sp>
    </p:spTree>
    <p:extLst>
      <p:ext uri="{BB962C8B-B14F-4D97-AF65-F5344CB8AC3E}">
        <p14:creationId xmlns:p14="http://schemas.microsoft.com/office/powerpoint/2010/main" val="24891576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Recommended: Beetroot juice or nitrate supplementation. It improves running economy by reducing oxygen cost at a given pace—perfect for base building—and is considered safe during breastfeeding.</a:t>
            </a:r>
            <a:r>
              <a:rPr lang="en" altLang="zh-CN" sz="1200" kern="1200" dirty="0">
                <a:solidFill>
                  <a:schemeClr val="tx1"/>
                </a:solidFill>
                <a:effectLst/>
                <a:latin typeface="+mn-lt"/>
                <a:ea typeface="+mn-ea"/>
                <a:cs typeface="+mn-cs"/>
              </a:rPr>
              <a:t> This is especially valuable for a fatigued postpartum athlete returning to base conditioning.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dirty="0">
              <a:effectLst/>
            </a:endParaRP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34</a:t>
            </a:fld>
            <a:endParaRPr kumimoji="1" lang="zh-CN" altLang="en-US"/>
          </a:p>
        </p:txBody>
      </p:sp>
    </p:spTree>
    <p:extLst>
      <p:ext uri="{BB962C8B-B14F-4D97-AF65-F5344CB8AC3E}">
        <p14:creationId xmlns:p14="http://schemas.microsoft.com/office/powerpoint/2010/main" val="4789411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Creatine can cause water retention and rapid weight fluctuations, which may be problematic for joint stability postpartum.</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35</a:t>
            </a:fld>
            <a:endParaRPr kumimoji="1" lang="zh-CN" altLang="en-US"/>
          </a:p>
        </p:txBody>
      </p:sp>
    </p:spTree>
    <p:extLst>
      <p:ext uri="{BB962C8B-B14F-4D97-AF65-F5344CB8AC3E}">
        <p14:creationId xmlns:p14="http://schemas.microsoft.com/office/powerpoint/2010/main" val="39933346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About</a:t>
            </a:r>
            <a:r>
              <a:rPr kumimoji="1" lang="zh-CN" altLang="en-US" dirty="0"/>
              <a:t> </a:t>
            </a:r>
            <a:r>
              <a:rPr kumimoji="1" lang="en-US" altLang="zh-CN" dirty="0"/>
              <a:t>sodium</a:t>
            </a:r>
            <a:r>
              <a:rPr kumimoji="1" lang="zh-CN" altLang="en-US" dirty="0"/>
              <a:t> </a:t>
            </a:r>
            <a:r>
              <a:rPr kumimoji="1" lang="en-US" altLang="zh-CN"/>
              <a:t>bicarbonate.</a:t>
            </a:r>
            <a:r>
              <a:rPr kumimoji="1" lang="en" altLang="zh-CN"/>
              <a:t>Firstly</a:t>
            </a:r>
            <a:r>
              <a:rPr kumimoji="1" lang="en" altLang="zh-CN" dirty="0"/>
              <a:t>, the athlete's current stage is more inclined towards basic aerobic recovery, which is not in line with the applicable scenario of this supplement; Secondly, the postpartum digestive system may be more sensitive, and the common gastrointestinal discomfort and side effects of sodium bicarbonate may interfere with her normal training and postpartum recovery. At the current stage, the risk clearly exceeds the potential marginal benefits</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36</a:t>
            </a:fld>
            <a:endParaRPr kumimoji="1" lang="zh-CN" altLang="en-US"/>
          </a:p>
        </p:txBody>
      </p:sp>
    </p:spTree>
    <p:extLst>
      <p:ext uri="{BB962C8B-B14F-4D97-AF65-F5344CB8AC3E}">
        <p14:creationId xmlns:p14="http://schemas.microsoft.com/office/powerpoint/2010/main" val="12054430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kern="1200" dirty="0">
                <a:solidFill>
                  <a:schemeClr val="tx1"/>
                </a:solidFill>
                <a:effectLst/>
                <a:latin typeface="+mn-lt"/>
                <a:ea typeface="+mn-ea"/>
                <a:cs typeface="+mn-cs"/>
              </a:rPr>
              <a:t>Postpartum athletes require nutritional </a:t>
            </a:r>
            <a:r>
              <a:rPr lang="en" altLang="zh-CN" sz="1200" kern="1200" dirty="0" err="1">
                <a:solidFill>
                  <a:schemeClr val="tx1"/>
                </a:solidFill>
                <a:effectLst/>
                <a:latin typeface="+mn-lt"/>
                <a:ea typeface="+mn-ea"/>
                <a:cs typeface="+mn-cs"/>
              </a:rPr>
              <a:t>periodisation</a:t>
            </a:r>
            <a:r>
              <a:rPr lang="en" altLang="zh-CN" sz="1200" kern="1200" dirty="0">
                <a:solidFill>
                  <a:schemeClr val="tx1"/>
                </a:solidFill>
                <a:effectLst/>
                <a:latin typeface="+mn-lt"/>
                <a:ea typeface="+mn-ea"/>
                <a:cs typeface="+mn-cs"/>
              </a:rPr>
              <a:t>—adjusting intake based on training load—while protecting lactation and hormonal recovery. Therefore, strategies must not be “one-size-fits-all.” This evidence-based approach ensures her energy availability matches training intensity and physiological demands at each phase.</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37</a:t>
            </a:fld>
            <a:endParaRPr kumimoji="1" lang="zh-CN" altLang="en-US"/>
          </a:p>
        </p:txBody>
      </p:sp>
    </p:spTree>
    <p:extLst>
      <p:ext uri="{BB962C8B-B14F-4D97-AF65-F5344CB8AC3E}">
        <p14:creationId xmlns:p14="http://schemas.microsoft.com/office/powerpoint/2010/main" val="9842535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1" dirty="0"/>
              <a:t>Rest days</a:t>
            </a:r>
            <a:r>
              <a:rPr lang="en" altLang="zh-CN" dirty="0"/>
              <a:t>: 3–4 g/kg carbs (high-fiber, low-GI), stable protein, moderate fat increase. Never restrict calories aggressively while breastfeeding. </a:t>
            </a:r>
            <a:r>
              <a:rPr lang="en" altLang="zh-CN" b="1" dirty="0"/>
              <a:t>Training days</a:t>
            </a:r>
            <a:r>
              <a:rPr lang="en" altLang="zh-CN" dirty="0"/>
              <a:t>: 5–7 g/kg carbs focused around sessions, quick post-training recovery. </a:t>
            </a:r>
            <a:r>
              <a:rPr lang="en" altLang="zh-CN" b="1" dirty="0"/>
              <a:t>Race days</a:t>
            </a:r>
            <a:r>
              <a:rPr lang="en" altLang="zh-CN" dirty="0"/>
              <a:t>: High, low-fiber, easily digestible carbs; very low fat pre-race for GI comfort. All plans include a protective layer for lactation and hormonal recovery.</a:t>
            </a:r>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38</a:t>
            </a:fld>
            <a:endParaRPr kumimoji="1" lang="zh-CN" altLang="en-US"/>
          </a:p>
        </p:txBody>
      </p:sp>
    </p:spTree>
    <p:extLst>
      <p:ext uri="{BB962C8B-B14F-4D97-AF65-F5344CB8AC3E}">
        <p14:creationId xmlns:p14="http://schemas.microsoft.com/office/powerpoint/2010/main" val="33961125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39</a:t>
            </a:fld>
            <a:endParaRPr kumimoji="1" lang="zh-CN" altLang="en-US"/>
          </a:p>
        </p:txBody>
      </p:sp>
    </p:spTree>
    <p:extLst>
      <p:ext uri="{BB962C8B-B14F-4D97-AF65-F5344CB8AC3E}">
        <p14:creationId xmlns:p14="http://schemas.microsoft.com/office/powerpoint/2010/main" val="20209299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E39BD-C926-293D-B6C2-53F570FC98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3DB949-B61D-8784-FEE1-FC4A71C8BB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7D13B5-F292-66B4-EF98-650A0D2234C3}"/>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4FCDBBB-57FD-B14A-3317-74549CE10CC7}"/>
              </a:ext>
            </a:extLst>
          </p:cNvPr>
          <p:cNvSpPr>
            <a:spLocks noGrp="1"/>
          </p:cNvSpPr>
          <p:nvPr>
            <p:ph type="sldNum" sz="quarter" idx="5"/>
          </p:nvPr>
        </p:nvSpPr>
        <p:spPr/>
        <p:txBody>
          <a:bodyPr/>
          <a:lstStyle/>
          <a:p>
            <a:fld id="{59EEF138-40E7-2247-A5C6-E26622726142}" type="slidenum">
              <a:rPr kumimoji="1" lang="zh-CN" altLang="en-US" smtClean="0"/>
              <a:t>40</a:t>
            </a:fld>
            <a:endParaRPr kumimoji="1" lang="zh-CN" altLang="en-US"/>
          </a:p>
        </p:txBody>
      </p:sp>
    </p:spTree>
    <p:extLst>
      <p:ext uri="{BB962C8B-B14F-4D97-AF65-F5344CB8AC3E}">
        <p14:creationId xmlns:p14="http://schemas.microsoft.com/office/powerpoint/2010/main" val="18110095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effectLst/>
              </a:rPr>
              <a:t>"In summary: We’ve designed a plan that fuels her dual roles—athlete and breastfeeding mother—at ~2950 kcal to prevent RED-S. Targeted micronutrient restoration supports bone health and energy. Periodized fueling matches training demands while protecting lactation. Safe use of beetroot juice enhances running economy. The outcome: a sustainable return to 10 km/half-marathon performance with reduced injury risk, better recovery, and maintained hormonal and milk supply health.</a:t>
            </a:r>
          </a:p>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42</a:t>
            </a:fld>
            <a:endParaRPr kumimoji="1" lang="zh-CN" altLang="en-US"/>
          </a:p>
        </p:txBody>
      </p:sp>
    </p:spTree>
    <p:extLst>
      <p:ext uri="{BB962C8B-B14F-4D97-AF65-F5344CB8AC3E}">
        <p14:creationId xmlns:p14="http://schemas.microsoft.com/office/powerpoint/2010/main" val="27134322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59EEF138-40E7-2247-A5C6-E26622726142}" type="slidenum">
              <a:rPr kumimoji="1" lang="zh-CN" altLang="en-US" smtClean="0"/>
              <a:t>44</a:t>
            </a:fld>
            <a:endParaRPr kumimoji="1" lang="zh-CN" altLang="en-US"/>
          </a:p>
        </p:txBody>
      </p:sp>
    </p:spTree>
    <p:extLst>
      <p:ext uri="{BB962C8B-B14F-4D97-AF65-F5344CB8AC3E}">
        <p14:creationId xmlns:p14="http://schemas.microsoft.com/office/powerpoint/2010/main" val="27724395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7705A-F1E2-27E1-CA1C-CC0D37D821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6083E06-30FC-54F0-FDA7-A19475872D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BA52C4-1815-C673-657F-9B3B670493FA}"/>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58FB4AFB-756A-123D-8A00-8AF4B2FB0B5F}"/>
              </a:ext>
            </a:extLst>
          </p:cNvPr>
          <p:cNvSpPr>
            <a:spLocks noGrp="1"/>
          </p:cNvSpPr>
          <p:nvPr>
            <p:ph type="sldNum" sz="quarter" idx="5"/>
          </p:nvPr>
        </p:nvSpPr>
        <p:spPr/>
        <p:txBody>
          <a:bodyPr/>
          <a:lstStyle/>
          <a:p>
            <a:fld id="{59EEF138-40E7-2247-A5C6-E26622726142}" type="slidenum">
              <a:rPr kumimoji="1" lang="zh-CN" altLang="en-US" smtClean="0"/>
              <a:t>45</a:t>
            </a:fld>
            <a:endParaRPr kumimoji="1" lang="zh-CN" altLang="en-US"/>
          </a:p>
        </p:txBody>
      </p:sp>
    </p:spTree>
    <p:extLst>
      <p:ext uri="{BB962C8B-B14F-4D97-AF65-F5344CB8AC3E}">
        <p14:creationId xmlns:p14="http://schemas.microsoft.com/office/powerpoint/2010/main" val="3138300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257E35-04D2-AC54-6C30-E8788A7ACBD6}"/>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5D19FCA9-56F6-033B-EE5F-4E32843D43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2914966B-3DBA-FE61-B786-698EB6C57276}"/>
              </a:ext>
            </a:extLst>
          </p:cNvPr>
          <p:cNvSpPr>
            <a:spLocks noGrp="1"/>
          </p:cNvSpPr>
          <p:nvPr>
            <p:ph type="dt" sz="half" idx="10"/>
          </p:nvPr>
        </p:nvSpPr>
        <p:spPr/>
        <p:txBody>
          <a:bodyPr/>
          <a:lstStyle/>
          <a:p>
            <a:fld id="{D009D6BF-B083-E343-8A4D-3D0F8E0E9989}" type="datetimeFigureOut">
              <a:rPr kumimoji="1" lang="zh-CN" altLang="en-US" smtClean="0"/>
              <a:t>2026/1/8</a:t>
            </a:fld>
            <a:endParaRPr kumimoji="1" lang="zh-CN" altLang="en-US"/>
          </a:p>
        </p:txBody>
      </p:sp>
      <p:sp>
        <p:nvSpPr>
          <p:cNvPr id="5" name="页脚占位符 4">
            <a:extLst>
              <a:ext uri="{FF2B5EF4-FFF2-40B4-BE49-F238E27FC236}">
                <a16:creationId xmlns:a16="http://schemas.microsoft.com/office/drawing/2014/main" id="{90E49228-80B7-6D35-50CC-33CED2AC1E7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6FC788D-8A50-CC44-9780-1CC3D99297C9}"/>
              </a:ext>
            </a:extLst>
          </p:cNvPr>
          <p:cNvSpPr>
            <a:spLocks noGrp="1"/>
          </p:cNvSpPr>
          <p:nvPr>
            <p:ph type="sldNum" sz="quarter" idx="12"/>
          </p:nvPr>
        </p:nvSpPr>
        <p:spPr/>
        <p:txBody>
          <a:bodyPr/>
          <a:lstStyle/>
          <a:p>
            <a:fld id="{F75E6B0C-E852-0747-A8C4-5AF4BA69BA2A}" type="slidenum">
              <a:rPr kumimoji="1" lang="zh-CN" altLang="en-US" smtClean="0"/>
              <a:t>‹#›</a:t>
            </a:fld>
            <a:endParaRPr kumimoji="1" lang="zh-CN" altLang="en-US"/>
          </a:p>
        </p:txBody>
      </p:sp>
    </p:spTree>
    <p:extLst>
      <p:ext uri="{BB962C8B-B14F-4D97-AF65-F5344CB8AC3E}">
        <p14:creationId xmlns:p14="http://schemas.microsoft.com/office/powerpoint/2010/main" val="126970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1491BC-2E5B-8F83-768C-42DC9033A1D1}"/>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CF6F2303-F367-19FE-999A-6670801776EB}"/>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19DD1D1-B39A-CCFC-B684-6197E7BBE606}"/>
              </a:ext>
            </a:extLst>
          </p:cNvPr>
          <p:cNvSpPr>
            <a:spLocks noGrp="1"/>
          </p:cNvSpPr>
          <p:nvPr>
            <p:ph type="dt" sz="half" idx="10"/>
          </p:nvPr>
        </p:nvSpPr>
        <p:spPr/>
        <p:txBody>
          <a:bodyPr/>
          <a:lstStyle/>
          <a:p>
            <a:fld id="{D009D6BF-B083-E343-8A4D-3D0F8E0E9989}" type="datetimeFigureOut">
              <a:rPr kumimoji="1" lang="zh-CN" altLang="en-US" smtClean="0"/>
              <a:t>2026/1/8</a:t>
            </a:fld>
            <a:endParaRPr kumimoji="1" lang="zh-CN" altLang="en-US"/>
          </a:p>
        </p:txBody>
      </p:sp>
      <p:sp>
        <p:nvSpPr>
          <p:cNvPr id="5" name="页脚占位符 4">
            <a:extLst>
              <a:ext uri="{FF2B5EF4-FFF2-40B4-BE49-F238E27FC236}">
                <a16:creationId xmlns:a16="http://schemas.microsoft.com/office/drawing/2014/main" id="{6CD9DB81-1AB6-7C58-1962-D4D7EAAC831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1678A1F-39F6-A5F1-D9FF-132BEAD95604}"/>
              </a:ext>
            </a:extLst>
          </p:cNvPr>
          <p:cNvSpPr>
            <a:spLocks noGrp="1"/>
          </p:cNvSpPr>
          <p:nvPr>
            <p:ph type="sldNum" sz="quarter" idx="12"/>
          </p:nvPr>
        </p:nvSpPr>
        <p:spPr/>
        <p:txBody>
          <a:bodyPr/>
          <a:lstStyle/>
          <a:p>
            <a:fld id="{F75E6B0C-E852-0747-A8C4-5AF4BA69BA2A}" type="slidenum">
              <a:rPr kumimoji="1" lang="zh-CN" altLang="en-US" smtClean="0"/>
              <a:t>‹#›</a:t>
            </a:fld>
            <a:endParaRPr kumimoji="1" lang="zh-CN" altLang="en-US"/>
          </a:p>
        </p:txBody>
      </p:sp>
    </p:spTree>
    <p:extLst>
      <p:ext uri="{BB962C8B-B14F-4D97-AF65-F5344CB8AC3E}">
        <p14:creationId xmlns:p14="http://schemas.microsoft.com/office/powerpoint/2010/main" val="15935287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FFBB45-FC33-0F55-E282-A07F3C0CD73A}"/>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6A794188-E041-33E8-2DC3-2A6CB78F2A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6B87D7ED-6C0E-A5F7-A361-0002578B39C8}"/>
              </a:ext>
            </a:extLst>
          </p:cNvPr>
          <p:cNvSpPr>
            <a:spLocks noGrp="1"/>
          </p:cNvSpPr>
          <p:nvPr>
            <p:ph type="dt" sz="half" idx="10"/>
          </p:nvPr>
        </p:nvSpPr>
        <p:spPr/>
        <p:txBody>
          <a:bodyPr/>
          <a:lstStyle/>
          <a:p>
            <a:fld id="{D009D6BF-B083-E343-8A4D-3D0F8E0E9989}" type="datetimeFigureOut">
              <a:rPr kumimoji="1" lang="zh-CN" altLang="en-US" smtClean="0"/>
              <a:t>2026/1/8</a:t>
            </a:fld>
            <a:endParaRPr kumimoji="1" lang="zh-CN" altLang="en-US"/>
          </a:p>
        </p:txBody>
      </p:sp>
      <p:sp>
        <p:nvSpPr>
          <p:cNvPr id="5" name="页脚占位符 4">
            <a:extLst>
              <a:ext uri="{FF2B5EF4-FFF2-40B4-BE49-F238E27FC236}">
                <a16:creationId xmlns:a16="http://schemas.microsoft.com/office/drawing/2014/main" id="{2F7B7EE7-35A1-6042-FA58-3EE027A3B99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D17EF7B-46F0-D837-92FA-2C6B756ED2BA}"/>
              </a:ext>
            </a:extLst>
          </p:cNvPr>
          <p:cNvSpPr>
            <a:spLocks noGrp="1"/>
          </p:cNvSpPr>
          <p:nvPr>
            <p:ph type="sldNum" sz="quarter" idx="12"/>
          </p:nvPr>
        </p:nvSpPr>
        <p:spPr/>
        <p:txBody>
          <a:bodyPr/>
          <a:lstStyle/>
          <a:p>
            <a:fld id="{F75E6B0C-E852-0747-A8C4-5AF4BA69BA2A}" type="slidenum">
              <a:rPr kumimoji="1" lang="zh-CN" altLang="en-US" smtClean="0"/>
              <a:t>‹#›</a:t>
            </a:fld>
            <a:endParaRPr kumimoji="1" lang="zh-CN" altLang="en-US"/>
          </a:p>
        </p:txBody>
      </p:sp>
    </p:spTree>
    <p:extLst>
      <p:ext uri="{BB962C8B-B14F-4D97-AF65-F5344CB8AC3E}">
        <p14:creationId xmlns:p14="http://schemas.microsoft.com/office/powerpoint/2010/main" val="593777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F0FAD-C775-EE64-817F-1E5F9BB995EF}"/>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E69E7BC-0338-784C-BF14-895530910A97}"/>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6964FC99-0A98-AD9E-5325-BF4E8D41B0AF}"/>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DEA83846-48B4-6E85-2411-4073101DF4D6}"/>
              </a:ext>
            </a:extLst>
          </p:cNvPr>
          <p:cNvSpPr>
            <a:spLocks noGrp="1"/>
          </p:cNvSpPr>
          <p:nvPr>
            <p:ph type="dt" sz="half" idx="10"/>
          </p:nvPr>
        </p:nvSpPr>
        <p:spPr/>
        <p:txBody>
          <a:bodyPr/>
          <a:lstStyle/>
          <a:p>
            <a:fld id="{D009D6BF-B083-E343-8A4D-3D0F8E0E9989}" type="datetimeFigureOut">
              <a:rPr kumimoji="1" lang="zh-CN" altLang="en-US" smtClean="0"/>
              <a:t>2026/1/8</a:t>
            </a:fld>
            <a:endParaRPr kumimoji="1" lang="zh-CN" altLang="en-US"/>
          </a:p>
        </p:txBody>
      </p:sp>
      <p:sp>
        <p:nvSpPr>
          <p:cNvPr id="6" name="页脚占位符 5">
            <a:extLst>
              <a:ext uri="{FF2B5EF4-FFF2-40B4-BE49-F238E27FC236}">
                <a16:creationId xmlns:a16="http://schemas.microsoft.com/office/drawing/2014/main" id="{790A5415-7F55-45FE-938D-E97CD26D33F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9670829-7A80-9A63-DB59-D8A0181F8187}"/>
              </a:ext>
            </a:extLst>
          </p:cNvPr>
          <p:cNvSpPr>
            <a:spLocks noGrp="1"/>
          </p:cNvSpPr>
          <p:nvPr>
            <p:ph type="sldNum" sz="quarter" idx="12"/>
          </p:nvPr>
        </p:nvSpPr>
        <p:spPr/>
        <p:txBody>
          <a:bodyPr/>
          <a:lstStyle/>
          <a:p>
            <a:fld id="{F75E6B0C-E852-0747-A8C4-5AF4BA69BA2A}" type="slidenum">
              <a:rPr kumimoji="1" lang="zh-CN" altLang="en-US" smtClean="0"/>
              <a:t>‹#›</a:t>
            </a:fld>
            <a:endParaRPr kumimoji="1" lang="zh-CN" altLang="en-US"/>
          </a:p>
        </p:txBody>
      </p:sp>
    </p:spTree>
    <p:extLst>
      <p:ext uri="{BB962C8B-B14F-4D97-AF65-F5344CB8AC3E}">
        <p14:creationId xmlns:p14="http://schemas.microsoft.com/office/powerpoint/2010/main" val="1552548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43522-3B72-60EA-AF89-31A0A9BC5854}"/>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A986A72-C015-A6EA-6E93-FAD7A20537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50C66096-0DC5-7170-E52B-86291833A0B8}"/>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1ED6F398-3F0C-5D29-4614-3CE37D132A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7C408493-00F3-0C87-C37B-3E2FF7772E1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2CD6F5AC-5FD0-6BB9-4133-755EDA48E31B}"/>
              </a:ext>
            </a:extLst>
          </p:cNvPr>
          <p:cNvSpPr>
            <a:spLocks noGrp="1"/>
          </p:cNvSpPr>
          <p:nvPr>
            <p:ph type="dt" sz="half" idx="10"/>
          </p:nvPr>
        </p:nvSpPr>
        <p:spPr/>
        <p:txBody>
          <a:bodyPr/>
          <a:lstStyle/>
          <a:p>
            <a:fld id="{D009D6BF-B083-E343-8A4D-3D0F8E0E9989}" type="datetimeFigureOut">
              <a:rPr kumimoji="1" lang="zh-CN" altLang="en-US" smtClean="0"/>
              <a:t>2026/1/8</a:t>
            </a:fld>
            <a:endParaRPr kumimoji="1" lang="zh-CN" altLang="en-US"/>
          </a:p>
        </p:txBody>
      </p:sp>
      <p:sp>
        <p:nvSpPr>
          <p:cNvPr id="8" name="页脚占位符 7">
            <a:extLst>
              <a:ext uri="{FF2B5EF4-FFF2-40B4-BE49-F238E27FC236}">
                <a16:creationId xmlns:a16="http://schemas.microsoft.com/office/drawing/2014/main" id="{B182427A-3BF2-06B8-FBA6-22C1C413069C}"/>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1A2EEB0A-50C2-A904-8187-CCB064BD9E65}"/>
              </a:ext>
            </a:extLst>
          </p:cNvPr>
          <p:cNvSpPr>
            <a:spLocks noGrp="1"/>
          </p:cNvSpPr>
          <p:nvPr>
            <p:ph type="sldNum" sz="quarter" idx="12"/>
          </p:nvPr>
        </p:nvSpPr>
        <p:spPr/>
        <p:txBody>
          <a:bodyPr/>
          <a:lstStyle/>
          <a:p>
            <a:fld id="{F75E6B0C-E852-0747-A8C4-5AF4BA69BA2A}" type="slidenum">
              <a:rPr kumimoji="1" lang="zh-CN" altLang="en-US" smtClean="0"/>
              <a:t>‹#›</a:t>
            </a:fld>
            <a:endParaRPr kumimoji="1" lang="zh-CN" altLang="en-US"/>
          </a:p>
        </p:txBody>
      </p:sp>
    </p:spTree>
    <p:extLst>
      <p:ext uri="{BB962C8B-B14F-4D97-AF65-F5344CB8AC3E}">
        <p14:creationId xmlns:p14="http://schemas.microsoft.com/office/powerpoint/2010/main" val="2077523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9B08A0-FF57-3FCE-0852-88DDECC3DA2F}"/>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BC323032-D165-524C-5DF7-D5A85F632537}"/>
              </a:ext>
            </a:extLst>
          </p:cNvPr>
          <p:cNvSpPr>
            <a:spLocks noGrp="1"/>
          </p:cNvSpPr>
          <p:nvPr>
            <p:ph type="dt" sz="half" idx="10"/>
          </p:nvPr>
        </p:nvSpPr>
        <p:spPr/>
        <p:txBody>
          <a:bodyPr/>
          <a:lstStyle/>
          <a:p>
            <a:fld id="{D009D6BF-B083-E343-8A4D-3D0F8E0E9989}" type="datetimeFigureOut">
              <a:rPr kumimoji="1" lang="zh-CN" altLang="en-US" smtClean="0"/>
              <a:t>2026/1/8</a:t>
            </a:fld>
            <a:endParaRPr kumimoji="1" lang="zh-CN" altLang="en-US"/>
          </a:p>
        </p:txBody>
      </p:sp>
      <p:sp>
        <p:nvSpPr>
          <p:cNvPr id="4" name="页脚占位符 3">
            <a:extLst>
              <a:ext uri="{FF2B5EF4-FFF2-40B4-BE49-F238E27FC236}">
                <a16:creationId xmlns:a16="http://schemas.microsoft.com/office/drawing/2014/main" id="{5C839BE4-0582-1AF2-F1E5-6DCEDEFCF3B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551FE33D-3432-E90D-D9A9-2F413C554335}"/>
              </a:ext>
            </a:extLst>
          </p:cNvPr>
          <p:cNvSpPr>
            <a:spLocks noGrp="1"/>
          </p:cNvSpPr>
          <p:nvPr>
            <p:ph type="sldNum" sz="quarter" idx="12"/>
          </p:nvPr>
        </p:nvSpPr>
        <p:spPr/>
        <p:txBody>
          <a:bodyPr/>
          <a:lstStyle/>
          <a:p>
            <a:fld id="{F75E6B0C-E852-0747-A8C4-5AF4BA69BA2A}" type="slidenum">
              <a:rPr kumimoji="1" lang="zh-CN" altLang="en-US" smtClean="0"/>
              <a:t>‹#›</a:t>
            </a:fld>
            <a:endParaRPr kumimoji="1" lang="zh-CN" altLang="en-US"/>
          </a:p>
        </p:txBody>
      </p:sp>
    </p:spTree>
    <p:extLst>
      <p:ext uri="{BB962C8B-B14F-4D97-AF65-F5344CB8AC3E}">
        <p14:creationId xmlns:p14="http://schemas.microsoft.com/office/powerpoint/2010/main" val="2701918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BC800EF-82A9-E5ED-CBFE-5CC01C942EB2}"/>
              </a:ext>
            </a:extLst>
          </p:cNvPr>
          <p:cNvSpPr>
            <a:spLocks noGrp="1"/>
          </p:cNvSpPr>
          <p:nvPr>
            <p:ph type="dt" sz="half" idx="10"/>
          </p:nvPr>
        </p:nvSpPr>
        <p:spPr/>
        <p:txBody>
          <a:bodyPr/>
          <a:lstStyle/>
          <a:p>
            <a:fld id="{D009D6BF-B083-E343-8A4D-3D0F8E0E9989}" type="datetimeFigureOut">
              <a:rPr kumimoji="1" lang="zh-CN" altLang="en-US" smtClean="0"/>
              <a:t>2026/1/8</a:t>
            </a:fld>
            <a:endParaRPr kumimoji="1" lang="zh-CN" altLang="en-US"/>
          </a:p>
        </p:txBody>
      </p:sp>
      <p:sp>
        <p:nvSpPr>
          <p:cNvPr id="3" name="页脚占位符 2">
            <a:extLst>
              <a:ext uri="{FF2B5EF4-FFF2-40B4-BE49-F238E27FC236}">
                <a16:creationId xmlns:a16="http://schemas.microsoft.com/office/drawing/2014/main" id="{FE6C5C12-7E01-EA88-E4E0-D8553EA3447F}"/>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C7AA1E7D-4431-C7F0-3BF6-A90A8ADEB1C9}"/>
              </a:ext>
            </a:extLst>
          </p:cNvPr>
          <p:cNvSpPr>
            <a:spLocks noGrp="1"/>
          </p:cNvSpPr>
          <p:nvPr>
            <p:ph type="sldNum" sz="quarter" idx="12"/>
          </p:nvPr>
        </p:nvSpPr>
        <p:spPr/>
        <p:txBody>
          <a:bodyPr/>
          <a:lstStyle/>
          <a:p>
            <a:fld id="{F75E6B0C-E852-0747-A8C4-5AF4BA69BA2A}" type="slidenum">
              <a:rPr kumimoji="1" lang="zh-CN" altLang="en-US" smtClean="0"/>
              <a:t>‹#›</a:t>
            </a:fld>
            <a:endParaRPr kumimoji="1" lang="zh-CN" altLang="en-US"/>
          </a:p>
        </p:txBody>
      </p:sp>
    </p:spTree>
    <p:extLst>
      <p:ext uri="{BB962C8B-B14F-4D97-AF65-F5344CB8AC3E}">
        <p14:creationId xmlns:p14="http://schemas.microsoft.com/office/powerpoint/2010/main" val="38765392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646028-77C6-B3B0-0D3E-E1087059FA0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2E25F343-4090-BAD3-7FDC-42E9DBA74F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D51D91C3-9CE3-3472-0B92-17727554C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40DBCB4-3136-31D7-0742-774FAF224504}"/>
              </a:ext>
            </a:extLst>
          </p:cNvPr>
          <p:cNvSpPr>
            <a:spLocks noGrp="1"/>
          </p:cNvSpPr>
          <p:nvPr>
            <p:ph type="dt" sz="half" idx="10"/>
          </p:nvPr>
        </p:nvSpPr>
        <p:spPr/>
        <p:txBody>
          <a:bodyPr/>
          <a:lstStyle/>
          <a:p>
            <a:fld id="{D009D6BF-B083-E343-8A4D-3D0F8E0E9989}" type="datetimeFigureOut">
              <a:rPr kumimoji="1" lang="zh-CN" altLang="en-US" smtClean="0"/>
              <a:t>2026/1/8</a:t>
            </a:fld>
            <a:endParaRPr kumimoji="1" lang="zh-CN" altLang="en-US"/>
          </a:p>
        </p:txBody>
      </p:sp>
      <p:sp>
        <p:nvSpPr>
          <p:cNvPr id="6" name="页脚占位符 5">
            <a:extLst>
              <a:ext uri="{FF2B5EF4-FFF2-40B4-BE49-F238E27FC236}">
                <a16:creationId xmlns:a16="http://schemas.microsoft.com/office/drawing/2014/main" id="{56A6CF5A-E8D3-5C11-256E-3F2A4D45465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33F51C6-56BE-05C4-0498-8CFA6DADF211}"/>
              </a:ext>
            </a:extLst>
          </p:cNvPr>
          <p:cNvSpPr>
            <a:spLocks noGrp="1"/>
          </p:cNvSpPr>
          <p:nvPr>
            <p:ph type="sldNum" sz="quarter" idx="12"/>
          </p:nvPr>
        </p:nvSpPr>
        <p:spPr/>
        <p:txBody>
          <a:bodyPr/>
          <a:lstStyle/>
          <a:p>
            <a:fld id="{F75E6B0C-E852-0747-A8C4-5AF4BA69BA2A}" type="slidenum">
              <a:rPr kumimoji="1" lang="zh-CN" altLang="en-US" smtClean="0"/>
              <a:t>‹#›</a:t>
            </a:fld>
            <a:endParaRPr kumimoji="1" lang="zh-CN" altLang="en-US"/>
          </a:p>
        </p:txBody>
      </p:sp>
    </p:spTree>
    <p:extLst>
      <p:ext uri="{BB962C8B-B14F-4D97-AF65-F5344CB8AC3E}">
        <p14:creationId xmlns:p14="http://schemas.microsoft.com/office/powerpoint/2010/main" val="2601851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EA1764-8F99-0FB3-0C77-CA91D739A72E}"/>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E6BE9428-3E35-172B-FBCE-F5632E5C86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AF675AC7-295F-EB40-A49E-230BCDF294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328E813A-4490-2BC4-1F00-616366AEAEE6}"/>
              </a:ext>
            </a:extLst>
          </p:cNvPr>
          <p:cNvSpPr>
            <a:spLocks noGrp="1"/>
          </p:cNvSpPr>
          <p:nvPr>
            <p:ph type="dt" sz="half" idx="10"/>
          </p:nvPr>
        </p:nvSpPr>
        <p:spPr/>
        <p:txBody>
          <a:bodyPr/>
          <a:lstStyle/>
          <a:p>
            <a:fld id="{D009D6BF-B083-E343-8A4D-3D0F8E0E9989}" type="datetimeFigureOut">
              <a:rPr kumimoji="1" lang="zh-CN" altLang="en-US" smtClean="0"/>
              <a:t>2026/1/8</a:t>
            </a:fld>
            <a:endParaRPr kumimoji="1" lang="zh-CN" altLang="en-US"/>
          </a:p>
        </p:txBody>
      </p:sp>
      <p:sp>
        <p:nvSpPr>
          <p:cNvPr id="6" name="页脚占位符 5">
            <a:extLst>
              <a:ext uri="{FF2B5EF4-FFF2-40B4-BE49-F238E27FC236}">
                <a16:creationId xmlns:a16="http://schemas.microsoft.com/office/drawing/2014/main" id="{CF0F81B9-FE9D-5B22-C778-6435C390C6F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AA85D10-B74C-C26C-DE64-D2D18ECA7B78}"/>
              </a:ext>
            </a:extLst>
          </p:cNvPr>
          <p:cNvSpPr>
            <a:spLocks noGrp="1"/>
          </p:cNvSpPr>
          <p:nvPr>
            <p:ph type="sldNum" sz="quarter" idx="12"/>
          </p:nvPr>
        </p:nvSpPr>
        <p:spPr/>
        <p:txBody>
          <a:bodyPr/>
          <a:lstStyle/>
          <a:p>
            <a:fld id="{F75E6B0C-E852-0747-A8C4-5AF4BA69BA2A}" type="slidenum">
              <a:rPr kumimoji="1" lang="zh-CN" altLang="en-US" smtClean="0"/>
              <a:t>‹#›</a:t>
            </a:fld>
            <a:endParaRPr kumimoji="1" lang="zh-CN" altLang="en-US"/>
          </a:p>
        </p:txBody>
      </p:sp>
    </p:spTree>
    <p:extLst>
      <p:ext uri="{BB962C8B-B14F-4D97-AF65-F5344CB8AC3E}">
        <p14:creationId xmlns:p14="http://schemas.microsoft.com/office/powerpoint/2010/main" val="873832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0E7EAB-FFDC-8521-8E44-E297ADD87068}"/>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D3432F2-54B2-D52B-48D9-ADAC484396B1}"/>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CBBDB90-E753-95A8-45B2-90F38209939C}"/>
              </a:ext>
            </a:extLst>
          </p:cNvPr>
          <p:cNvSpPr>
            <a:spLocks noGrp="1"/>
          </p:cNvSpPr>
          <p:nvPr>
            <p:ph type="dt" sz="half" idx="10"/>
          </p:nvPr>
        </p:nvSpPr>
        <p:spPr/>
        <p:txBody>
          <a:bodyPr/>
          <a:lstStyle/>
          <a:p>
            <a:fld id="{D009D6BF-B083-E343-8A4D-3D0F8E0E9989}" type="datetimeFigureOut">
              <a:rPr kumimoji="1" lang="zh-CN" altLang="en-US" smtClean="0"/>
              <a:t>2026/1/8</a:t>
            </a:fld>
            <a:endParaRPr kumimoji="1" lang="zh-CN" altLang="en-US"/>
          </a:p>
        </p:txBody>
      </p:sp>
      <p:sp>
        <p:nvSpPr>
          <p:cNvPr id="5" name="页脚占位符 4">
            <a:extLst>
              <a:ext uri="{FF2B5EF4-FFF2-40B4-BE49-F238E27FC236}">
                <a16:creationId xmlns:a16="http://schemas.microsoft.com/office/drawing/2014/main" id="{CC8899D3-2FBC-EC45-1094-DCA33EEA035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F63B88B-2D39-D385-E941-F79AA6B810CA}"/>
              </a:ext>
            </a:extLst>
          </p:cNvPr>
          <p:cNvSpPr>
            <a:spLocks noGrp="1"/>
          </p:cNvSpPr>
          <p:nvPr>
            <p:ph type="sldNum" sz="quarter" idx="12"/>
          </p:nvPr>
        </p:nvSpPr>
        <p:spPr/>
        <p:txBody>
          <a:bodyPr/>
          <a:lstStyle/>
          <a:p>
            <a:fld id="{F75E6B0C-E852-0747-A8C4-5AF4BA69BA2A}" type="slidenum">
              <a:rPr kumimoji="1" lang="zh-CN" altLang="en-US" smtClean="0"/>
              <a:t>‹#›</a:t>
            </a:fld>
            <a:endParaRPr kumimoji="1" lang="zh-CN" altLang="en-US"/>
          </a:p>
        </p:txBody>
      </p:sp>
    </p:spTree>
    <p:extLst>
      <p:ext uri="{BB962C8B-B14F-4D97-AF65-F5344CB8AC3E}">
        <p14:creationId xmlns:p14="http://schemas.microsoft.com/office/powerpoint/2010/main" val="3573652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EC18D88-72FC-C9A5-4A94-E1C82D8CD709}"/>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36D226E-ADAF-3F2C-1AA6-1FEE57CC67A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70944A6-92A4-3BA5-F203-0F858A5E109B}"/>
              </a:ext>
            </a:extLst>
          </p:cNvPr>
          <p:cNvSpPr>
            <a:spLocks noGrp="1"/>
          </p:cNvSpPr>
          <p:nvPr>
            <p:ph type="dt" sz="half" idx="10"/>
          </p:nvPr>
        </p:nvSpPr>
        <p:spPr/>
        <p:txBody>
          <a:bodyPr/>
          <a:lstStyle/>
          <a:p>
            <a:fld id="{D009D6BF-B083-E343-8A4D-3D0F8E0E9989}" type="datetimeFigureOut">
              <a:rPr kumimoji="1" lang="zh-CN" altLang="en-US" smtClean="0"/>
              <a:t>2026/1/8</a:t>
            </a:fld>
            <a:endParaRPr kumimoji="1" lang="zh-CN" altLang="en-US"/>
          </a:p>
        </p:txBody>
      </p:sp>
      <p:sp>
        <p:nvSpPr>
          <p:cNvPr id="5" name="页脚占位符 4">
            <a:extLst>
              <a:ext uri="{FF2B5EF4-FFF2-40B4-BE49-F238E27FC236}">
                <a16:creationId xmlns:a16="http://schemas.microsoft.com/office/drawing/2014/main" id="{6012AE51-C3B3-0283-8C97-F2C938EF4E3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02E1748-6DBC-42B8-F2AC-3B397FC78BEE}"/>
              </a:ext>
            </a:extLst>
          </p:cNvPr>
          <p:cNvSpPr>
            <a:spLocks noGrp="1"/>
          </p:cNvSpPr>
          <p:nvPr>
            <p:ph type="sldNum" sz="quarter" idx="12"/>
          </p:nvPr>
        </p:nvSpPr>
        <p:spPr/>
        <p:txBody>
          <a:bodyPr/>
          <a:lstStyle/>
          <a:p>
            <a:fld id="{F75E6B0C-E852-0747-A8C4-5AF4BA69BA2A}" type="slidenum">
              <a:rPr kumimoji="1" lang="zh-CN" altLang="en-US" smtClean="0"/>
              <a:t>‹#›</a:t>
            </a:fld>
            <a:endParaRPr kumimoji="1" lang="zh-CN" altLang="en-US"/>
          </a:p>
        </p:txBody>
      </p:sp>
    </p:spTree>
    <p:extLst>
      <p:ext uri="{BB962C8B-B14F-4D97-AF65-F5344CB8AC3E}">
        <p14:creationId xmlns:p14="http://schemas.microsoft.com/office/powerpoint/2010/main" val="2203854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C1F4723-D762-5613-4837-FC9C0DDCA5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D3FD320-F66D-850C-172E-F63D395290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BE6B02F-CCD6-A94D-C8A1-92C63CA103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09D6BF-B083-E343-8A4D-3D0F8E0E9989}" type="datetimeFigureOut">
              <a:rPr kumimoji="1" lang="zh-CN" altLang="en-US" smtClean="0"/>
              <a:t>2026/1/8</a:t>
            </a:fld>
            <a:endParaRPr kumimoji="1" lang="zh-CN" altLang="en-US"/>
          </a:p>
        </p:txBody>
      </p:sp>
      <p:sp>
        <p:nvSpPr>
          <p:cNvPr id="5" name="页脚占位符 4">
            <a:extLst>
              <a:ext uri="{FF2B5EF4-FFF2-40B4-BE49-F238E27FC236}">
                <a16:creationId xmlns:a16="http://schemas.microsoft.com/office/drawing/2014/main" id="{73F39DDE-2B97-6A7F-0A5B-76EBA088BF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CEDDDA4A-345B-A4BA-D545-77593AF3F7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5E6B0C-E852-0747-A8C4-5AF4BA69BA2A}" type="slidenum">
              <a:rPr kumimoji="1" lang="zh-CN" altLang="en-US" smtClean="0"/>
              <a:t>‹#›</a:t>
            </a:fld>
            <a:endParaRPr kumimoji="1" lang="zh-CN" altLang="en-US"/>
          </a:p>
        </p:txBody>
      </p:sp>
    </p:spTree>
    <p:extLst>
      <p:ext uri="{BB962C8B-B14F-4D97-AF65-F5344CB8AC3E}">
        <p14:creationId xmlns:p14="http://schemas.microsoft.com/office/powerpoint/2010/main" val="326663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422ADA-BEC4-2E44-6EF9-42ADE3288AEF}"/>
              </a:ext>
            </a:extLst>
          </p:cNvPr>
          <p:cNvSpPr>
            <a:spLocks noGrp="1"/>
          </p:cNvSpPr>
          <p:nvPr>
            <p:ph type="ctrTitle"/>
          </p:nvPr>
        </p:nvSpPr>
        <p:spPr>
          <a:xfrm>
            <a:off x="1524000" y="2235200"/>
            <a:ext cx="9144000" cy="2387600"/>
          </a:xfrm>
        </p:spPr>
        <p:txBody>
          <a:bodyPr>
            <a:normAutofit fontScale="90000"/>
          </a:bodyPr>
          <a:lstStyle/>
          <a:p>
            <a:r>
              <a:rPr lang="en" altLang="zh-CN" dirty="0">
                <a:latin typeface="Times New Roman" panose="02020603050405020304" pitchFamily="18" charset="0"/>
                <a:cs typeface="Times New Roman" panose="02020603050405020304" pitchFamily="18" charset="0"/>
              </a:rPr>
              <a:t>Postpartum Performance Nutrition: Supporting a Female Athlete’s Return to Sport</a:t>
            </a:r>
            <a:endParaRPr kumimoji="1" lang="zh-CN" altLang="en-US"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29CA8752-571C-84D9-FD9A-45D57677D978}"/>
              </a:ext>
            </a:extLst>
          </p:cNvPr>
          <p:cNvSpPr>
            <a:spLocks noGrp="1"/>
          </p:cNvSpPr>
          <p:nvPr>
            <p:ph type="subTitle" idx="1"/>
          </p:nvPr>
        </p:nvSpPr>
        <p:spPr>
          <a:xfrm>
            <a:off x="0" y="6567861"/>
            <a:ext cx="2805953" cy="337951"/>
          </a:xfrm>
        </p:spPr>
        <p:txBody>
          <a:bodyPr>
            <a:normAutofit/>
          </a:bodyPr>
          <a:lstStyle/>
          <a:p>
            <a:r>
              <a:rPr kumimoji="1" lang="en-US" altLang="zh-CN" sz="1400" dirty="0">
                <a:latin typeface="Times New Roman" panose="02020603050405020304" pitchFamily="18" charset="0"/>
                <a:cs typeface="Times New Roman" panose="02020603050405020304" pitchFamily="18" charset="0"/>
              </a:rPr>
              <a:t>23084543 Tom Wu BSc Rehab</a:t>
            </a:r>
            <a:endParaRPr kumimoji="1" lang="zh-CN"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1388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E55317-B9E6-3B6F-E145-68FB7E213D0F}"/>
              </a:ext>
            </a:extLst>
          </p:cNvPr>
          <p:cNvSpPr>
            <a:spLocks noGrp="1"/>
          </p:cNvSpPr>
          <p:nvPr>
            <p:ph type="title"/>
          </p:nvPr>
        </p:nvSpPr>
        <p:spPr>
          <a:xfrm>
            <a:off x="746312" y="229066"/>
            <a:ext cx="10515600" cy="1325563"/>
          </a:xfrm>
        </p:spPr>
        <p:txBody>
          <a:bodyPr/>
          <a:lstStyle/>
          <a:p>
            <a:r>
              <a:rPr kumimoji="1" lang="en-US" altLang="zh-CN" b="1" dirty="0">
                <a:latin typeface="Times New Roman" panose="02020603050405020304" pitchFamily="18" charset="0"/>
                <a:cs typeface="Times New Roman" panose="02020603050405020304" pitchFamily="18" charset="0"/>
              </a:rPr>
              <a:t>Contents</a:t>
            </a:r>
            <a:endParaRPr kumimoji="1" lang="zh-CN" altLang="en-US" b="1"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89A83EC8-FDC4-ED7B-9534-494AD61C7052}"/>
              </a:ext>
            </a:extLst>
          </p:cNvPr>
          <p:cNvSpPr>
            <a:spLocks noGrp="1"/>
          </p:cNvSpPr>
          <p:nvPr>
            <p:ph idx="1"/>
          </p:nvPr>
        </p:nvSpPr>
        <p:spPr>
          <a:xfrm>
            <a:off x="746312" y="2011364"/>
            <a:ext cx="11445688" cy="4617570"/>
          </a:xfrm>
        </p:spPr>
        <p:txBody>
          <a:bodyPr numCol="2">
            <a:normAutofit fontScale="85000" lnSpcReduction="20000"/>
          </a:bodyPr>
          <a:lstStyle/>
          <a:p>
            <a:pPr>
              <a:lnSpc>
                <a:spcPct val="150000"/>
              </a:lnSpc>
            </a:pPr>
            <a:r>
              <a:rPr kumimoji="1" lang="en-US" altLang="zh-CN" sz="3200" dirty="0">
                <a:latin typeface="Times New Roman" panose="02020603050405020304" pitchFamily="18" charset="0"/>
                <a:cs typeface="Times New Roman" panose="02020603050405020304" pitchFamily="18" charset="0"/>
              </a:rPr>
              <a:t>1 Athlete profile</a:t>
            </a:r>
          </a:p>
          <a:p>
            <a:pPr>
              <a:lnSpc>
                <a:spcPct val="150000"/>
              </a:lnSpc>
            </a:pPr>
            <a:r>
              <a:rPr kumimoji="1" lang="en-US" altLang="zh-CN" sz="3200" dirty="0">
                <a:latin typeface="Times New Roman" panose="02020603050405020304" pitchFamily="18" charset="0"/>
                <a:cs typeface="Times New Roman" panose="02020603050405020304" pitchFamily="18" charset="0"/>
              </a:rPr>
              <a:t>2 Current nutrition assessments</a:t>
            </a:r>
          </a:p>
          <a:p>
            <a:pPr>
              <a:lnSpc>
                <a:spcPct val="150000"/>
              </a:lnSpc>
            </a:pPr>
            <a:r>
              <a:rPr kumimoji="1" lang="en-US" altLang="zh-CN" sz="3200" dirty="0">
                <a:latin typeface="Times New Roman" panose="02020603050405020304" pitchFamily="18" charset="0"/>
                <a:cs typeface="Times New Roman" panose="02020603050405020304" pitchFamily="18" charset="0"/>
              </a:rPr>
              <a:t>3 Energy requirements</a:t>
            </a:r>
          </a:p>
          <a:p>
            <a:pPr>
              <a:lnSpc>
                <a:spcPct val="150000"/>
              </a:lnSpc>
            </a:pPr>
            <a:r>
              <a:rPr kumimoji="1" lang="en-US" altLang="zh-CN" sz="3200" dirty="0">
                <a:latin typeface="Times New Roman" panose="02020603050405020304" pitchFamily="18" charset="0"/>
                <a:cs typeface="Times New Roman" panose="02020603050405020304" pitchFamily="18" charset="0"/>
              </a:rPr>
              <a:t>4 Macronutrient prescription &amp; Micronutrients</a:t>
            </a:r>
          </a:p>
          <a:p>
            <a:pPr>
              <a:lnSpc>
                <a:spcPct val="150000"/>
              </a:lnSpc>
            </a:pPr>
            <a:r>
              <a:rPr kumimoji="1" lang="en-US" altLang="zh-CN" sz="3200" dirty="0">
                <a:latin typeface="Times New Roman" panose="02020603050405020304" pitchFamily="18" charset="0"/>
                <a:cs typeface="Times New Roman" panose="02020603050405020304" pitchFamily="18" charset="0"/>
              </a:rPr>
              <a:t>5 Hydration strategy</a:t>
            </a:r>
          </a:p>
          <a:p>
            <a:pPr>
              <a:lnSpc>
                <a:spcPct val="150000"/>
              </a:lnSpc>
            </a:pPr>
            <a:endParaRPr kumimoji="1" lang="en-US" altLang="zh-CN" sz="3200" dirty="0">
              <a:latin typeface="Times New Roman" panose="02020603050405020304" pitchFamily="18" charset="0"/>
              <a:cs typeface="Times New Roman" panose="02020603050405020304" pitchFamily="18" charset="0"/>
            </a:endParaRPr>
          </a:p>
          <a:p>
            <a:pPr>
              <a:lnSpc>
                <a:spcPct val="150000"/>
              </a:lnSpc>
            </a:pPr>
            <a:r>
              <a:rPr kumimoji="1" lang="en-US" altLang="zh-CN" sz="3200" dirty="0">
                <a:latin typeface="Times New Roman" panose="02020603050405020304" pitchFamily="18" charset="0"/>
                <a:cs typeface="Times New Roman" panose="02020603050405020304" pitchFamily="18" charset="0"/>
              </a:rPr>
              <a:t>6 Recovery strategy (4Rs)</a:t>
            </a:r>
          </a:p>
          <a:p>
            <a:pPr>
              <a:lnSpc>
                <a:spcPct val="150000"/>
              </a:lnSpc>
            </a:pPr>
            <a:r>
              <a:rPr kumimoji="1" lang="en-US" altLang="zh-CN" sz="3200" dirty="0">
                <a:latin typeface="Times New Roman" panose="02020603050405020304" pitchFamily="18" charset="0"/>
                <a:cs typeface="Times New Roman" panose="02020603050405020304" pitchFamily="18" charset="0"/>
              </a:rPr>
              <a:t>7 Ergogenic aids </a:t>
            </a:r>
          </a:p>
          <a:p>
            <a:pPr>
              <a:lnSpc>
                <a:spcPct val="150000"/>
              </a:lnSpc>
            </a:pPr>
            <a:r>
              <a:rPr kumimoji="1" lang="en-US" altLang="zh-CN" sz="3200" dirty="0">
                <a:latin typeface="Times New Roman" panose="02020603050405020304" pitchFamily="18" charset="0"/>
                <a:cs typeface="Times New Roman" panose="02020603050405020304" pitchFamily="18" charset="0"/>
              </a:rPr>
              <a:t>8 Nutrition across contexts</a:t>
            </a:r>
          </a:p>
          <a:p>
            <a:pPr>
              <a:lnSpc>
                <a:spcPct val="150000"/>
              </a:lnSpc>
            </a:pPr>
            <a:r>
              <a:rPr kumimoji="1" lang="en-US" altLang="zh-CN" sz="3200" dirty="0">
                <a:latin typeface="Times New Roman" panose="02020603050405020304" pitchFamily="18" charset="0"/>
                <a:cs typeface="Times New Roman" panose="02020603050405020304" pitchFamily="18" charset="0"/>
              </a:rPr>
              <a:t>9 Sample 1-Day menu</a:t>
            </a:r>
          </a:p>
          <a:p>
            <a:pPr>
              <a:lnSpc>
                <a:spcPct val="150000"/>
              </a:lnSpc>
            </a:pPr>
            <a:r>
              <a:rPr kumimoji="1" lang="en-US" altLang="zh-CN" sz="3200" dirty="0">
                <a:latin typeface="Times New Roman" panose="02020603050405020304" pitchFamily="18" charset="0"/>
                <a:cs typeface="Times New Roman" panose="02020603050405020304" pitchFamily="18" charset="0"/>
              </a:rPr>
              <a:t>10 Summary</a:t>
            </a:r>
          </a:p>
          <a:p>
            <a:pPr>
              <a:lnSpc>
                <a:spcPct val="150000"/>
              </a:lnSpc>
            </a:pPr>
            <a:r>
              <a:rPr kumimoji="1" lang="en-US" altLang="zh-CN" sz="3200" dirty="0">
                <a:latin typeface="Times New Roman" panose="02020603050405020304" pitchFamily="18" charset="0"/>
                <a:cs typeface="Times New Roman" panose="02020603050405020304" pitchFamily="18" charset="0"/>
              </a:rPr>
              <a:t>11 Reference Slide</a:t>
            </a:r>
          </a:p>
          <a:p>
            <a:pPr>
              <a:lnSpc>
                <a:spcPct val="150000"/>
              </a:lnSpc>
            </a:pPr>
            <a:endParaRPr kumimoji="1" lang="zh-CN"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3600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DADD20-12FE-74CE-579F-36ED3438A827}"/>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1 Athlete profile - basic information</a:t>
            </a:r>
            <a:endParaRPr kumimoji="1" lang="zh-CN" altLang="en-US" dirty="0"/>
          </a:p>
        </p:txBody>
      </p:sp>
      <p:sp>
        <p:nvSpPr>
          <p:cNvPr id="3" name="内容占位符 2">
            <a:extLst>
              <a:ext uri="{FF2B5EF4-FFF2-40B4-BE49-F238E27FC236}">
                <a16:creationId xmlns:a16="http://schemas.microsoft.com/office/drawing/2014/main" id="{83F93F8D-B7FA-EB81-BC66-4E45F03052FC}"/>
              </a:ext>
            </a:extLst>
          </p:cNvPr>
          <p:cNvSpPr>
            <a:spLocks noGrp="1"/>
          </p:cNvSpPr>
          <p:nvPr>
            <p:ph idx="1"/>
          </p:nvPr>
        </p:nvSpPr>
        <p:spPr>
          <a:xfrm>
            <a:off x="838200" y="1839802"/>
            <a:ext cx="10515600" cy="3506664"/>
          </a:xfrm>
        </p:spPr>
        <p:txBody>
          <a:bodyPr>
            <a:normAutofit/>
          </a:bodyPr>
          <a:lstStyle/>
          <a:p>
            <a:r>
              <a:rPr kumimoji="1" lang="en-US" altLang="zh-CN" sz="2400" dirty="0">
                <a:latin typeface="Times New Roman" panose="02020603050405020304" pitchFamily="18" charset="0"/>
                <a:cs typeface="Times New Roman" panose="02020603050405020304" pitchFamily="18" charset="0"/>
              </a:rPr>
              <a:t>Age: 31 years old</a:t>
            </a:r>
            <a:r>
              <a:rPr kumimoji="1" lang="zh-CN" altLang="en-US" sz="2400" dirty="0">
                <a:latin typeface="Times New Roman" panose="02020603050405020304" pitchFamily="18" charset="0"/>
                <a:cs typeface="Times New Roman" panose="02020603050405020304" pitchFamily="18" charset="0"/>
              </a:rPr>
              <a:t> </a:t>
            </a:r>
            <a:r>
              <a:rPr kumimoji="1" lang="en-US" altLang="zh-CN" sz="1600" dirty="0">
                <a:latin typeface="Times New Roman" panose="02020603050405020304" pitchFamily="18" charset="0"/>
                <a:cs typeface="Times New Roman" panose="02020603050405020304" pitchFamily="18" charset="0"/>
              </a:rPr>
              <a:t>[1]</a:t>
            </a:r>
            <a:r>
              <a:rPr kumimoji="1" lang="zh-CN" altLang="en-US" sz="1600" dirty="0">
                <a:latin typeface="Times New Roman" panose="02020603050405020304" pitchFamily="18" charset="0"/>
                <a:cs typeface="Times New Roman" panose="02020603050405020304" pitchFamily="18" charset="0"/>
              </a:rPr>
              <a:t>         </a:t>
            </a:r>
            <a:r>
              <a:rPr kumimoji="1" lang="en-US" altLang="zh-CN" sz="1600" dirty="0">
                <a:latin typeface="Times New Roman" panose="02020603050405020304" pitchFamily="18" charset="0"/>
                <a:cs typeface="Times New Roman" panose="02020603050405020304" pitchFamily="18" charset="0"/>
              </a:rPr>
              <a:t>            </a:t>
            </a:r>
            <a:r>
              <a:rPr kumimoji="1" lang="en-US" altLang="zh-CN" sz="2400" dirty="0">
                <a:latin typeface="Times New Roman" panose="02020603050405020304" pitchFamily="18" charset="0"/>
                <a:cs typeface="Times New Roman" panose="02020603050405020304" pitchFamily="18" charset="0"/>
              </a:rPr>
              <a:t>Weight: 66.68kg</a:t>
            </a:r>
            <a:r>
              <a:rPr kumimoji="1" lang="en-US" altLang="zh-CN" sz="1600" dirty="0">
                <a:latin typeface="Times New Roman" panose="02020603050405020304" pitchFamily="18" charset="0"/>
                <a:cs typeface="Times New Roman" panose="02020603050405020304" pitchFamily="18" charset="0"/>
              </a:rPr>
              <a:t>[4]</a:t>
            </a:r>
            <a:r>
              <a:rPr kumimoji="1" lang="en-US" altLang="zh-CN" sz="2400" dirty="0">
                <a:latin typeface="Times New Roman" panose="02020603050405020304" pitchFamily="18" charset="0"/>
                <a:cs typeface="Times New Roman" panose="02020603050405020304" pitchFamily="18" charset="0"/>
              </a:rPr>
              <a:t>                  Height: 161 cm</a:t>
            </a:r>
            <a:r>
              <a:rPr kumimoji="1" lang="en-US" altLang="zh-CN" sz="1600" dirty="0">
                <a:latin typeface="Times New Roman" panose="02020603050405020304" pitchFamily="18" charset="0"/>
                <a:cs typeface="Times New Roman" panose="02020603050405020304" pitchFamily="18" charset="0"/>
              </a:rPr>
              <a:t>[5]</a:t>
            </a:r>
          </a:p>
          <a:p>
            <a:endParaRPr kumimoji="1" lang="en-US" altLang="zh-CN" sz="2000" dirty="0">
              <a:latin typeface="Times New Roman" panose="02020603050405020304" pitchFamily="18" charset="0"/>
              <a:cs typeface="Times New Roman" panose="02020603050405020304" pitchFamily="18" charset="0"/>
            </a:endParaRPr>
          </a:p>
          <a:p>
            <a:r>
              <a:rPr kumimoji="1" lang="en-US" altLang="zh-CN" sz="2400" dirty="0">
                <a:latin typeface="Times New Roman" panose="02020603050405020304" pitchFamily="18" charset="0"/>
                <a:cs typeface="Times New Roman" panose="02020603050405020304" pitchFamily="18" charset="0"/>
              </a:rPr>
              <a:t>Gender: female</a:t>
            </a:r>
          </a:p>
          <a:p>
            <a:endParaRPr kumimoji="1" lang="en-US" altLang="zh-CN" sz="2400" dirty="0">
              <a:latin typeface="Times New Roman" panose="02020603050405020304" pitchFamily="18" charset="0"/>
              <a:cs typeface="Times New Roman" panose="02020603050405020304" pitchFamily="18" charset="0"/>
            </a:endParaRPr>
          </a:p>
          <a:p>
            <a:r>
              <a:rPr lang="en" altLang="zh-CN" sz="2400" dirty="0">
                <a:latin typeface="Times New Roman" panose="02020603050405020304" pitchFamily="18" charset="0"/>
                <a:cs typeface="Times New Roman" panose="02020603050405020304" pitchFamily="18" charset="0"/>
              </a:rPr>
              <a:t>Sport: endurance running (10 km / half-marathon level)</a:t>
            </a:r>
          </a:p>
          <a:p>
            <a:endParaRPr lang="en" altLang="zh-CN" sz="2400" dirty="0">
              <a:latin typeface="Times New Roman" panose="02020603050405020304" pitchFamily="18" charset="0"/>
              <a:cs typeface="Times New Roman" panose="02020603050405020304" pitchFamily="18" charset="0"/>
            </a:endParaRPr>
          </a:p>
          <a:p>
            <a:r>
              <a:rPr lang="en" altLang="zh-CN" sz="2400" dirty="0">
                <a:latin typeface="Times New Roman" panose="02020603050405020304" pitchFamily="18" charset="0"/>
                <a:cs typeface="Times New Roman" panose="02020603050405020304" pitchFamily="18" charset="0"/>
              </a:rPr>
              <a:t>Training cycle: Early return-to-training phase (10–12 weeks postpartum) — building base conditioning before entering pre-season race prep</a:t>
            </a:r>
            <a:endParaRPr kumimoji="1" lang="zh-CN" altLang="en-US" sz="2400"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92982164-76F1-C748-5CFB-427C797009D6}"/>
              </a:ext>
            </a:extLst>
          </p:cNvPr>
          <p:cNvSpPr txBox="1"/>
          <p:nvPr/>
        </p:nvSpPr>
        <p:spPr>
          <a:xfrm>
            <a:off x="273425" y="5702749"/>
            <a:ext cx="11645153" cy="600164"/>
          </a:xfrm>
          <a:prstGeom prst="rect">
            <a:avLst/>
          </a:prstGeom>
          <a:noFill/>
        </p:spPr>
        <p:txBody>
          <a:bodyPr wrap="square" rtlCol="0">
            <a:spAutoFit/>
          </a:bodyPr>
          <a:lstStyle/>
          <a:p>
            <a:r>
              <a:rPr lang="en" altLang="zh-CN" sz="1100" dirty="0">
                <a:latin typeface="Times New Roman" panose="02020603050405020304" pitchFamily="18" charset="0"/>
                <a:cs typeface="Times New Roman" panose="02020603050405020304" pitchFamily="18" charset="0"/>
              </a:rPr>
              <a:t>[1]Dietz, P., Legat, L., Sattler, M.C. et al. Triple careers of athletes: exploring the challenges of planning a pregnancy among female elite athletes using semi-structured interviews. BMC Pregnancy Childbirth 22, 643 (2022). </a:t>
            </a:r>
            <a:endParaRPr kumimoji="1" lang="zh-CN" altLang="en-US" sz="1100" dirty="0">
              <a:latin typeface="Times New Roman" panose="02020603050405020304" pitchFamily="18" charset="0"/>
              <a:cs typeface="Times New Roman" panose="02020603050405020304" pitchFamily="18" charset="0"/>
            </a:endParaRPr>
          </a:p>
          <a:p>
            <a:endParaRPr kumimoji="1" lang="zh-CN" altLang="en-US" sz="11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22AA01D0-492E-5D6A-743D-B3EDF5F3CCA2}"/>
              </a:ext>
            </a:extLst>
          </p:cNvPr>
          <p:cNvSpPr txBox="1"/>
          <p:nvPr/>
        </p:nvSpPr>
        <p:spPr>
          <a:xfrm>
            <a:off x="273422" y="6452027"/>
            <a:ext cx="9740154" cy="430887"/>
          </a:xfrm>
          <a:prstGeom prst="rect">
            <a:avLst/>
          </a:prstGeom>
          <a:noFill/>
        </p:spPr>
        <p:txBody>
          <a:bodyPr wrap="square">
            <a:spAutoFit/>
          </a:bodyPr>
          <a:lstStyle/>
          <a:p>
            <a:r>
              <a:rPr lang="en" altLang="zh-CN" sz="1100" dirty="0">
                <a:latin typeface="Times New Roman" panose="02020603050405020304" pitchFamily="18" charset="0"/>
                <a:cs typeface="Times New Roman" panose="02020603050405020304" pitchFamily="18" charset="0"/>
              </a:rPr>
              <a:t>[5]Baattaiah BA, Zedan HS,et al. Physical activity patterns among women during the postpartum period: an insight into the potential impact of perceived fatigue. BMC Pregnancy Childbirth. 2022 Sep 3;22(1):678. </a:t>
            </a:r>
            <a:endParaRPr lang="zh-CN" altLang="en-US" sz="11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4A348F1F-94DB-D644-3BE6-A38BB4261168}"/>
              </a:ext>
            </a:extLst>
          </p:cNvPr>
          <p:cNvSpPr txBox="1"/>
          <p:nvPr/>
        </p:nvSpPr>
        <p:spPr>
          <a:xfrm>
            <a:off x="273422" y="6061988"/>
            <a:ext cx="8304678" cy="430887"/>
          </a:xfrm>
          <a:prstGeom prst="rect">
            <a:avLst/>
          </a:prstGeom>
          <a:noFill/>
        </p:spPr>
        <p:txBody>
          <a:bodyPr wrap="square">
            <a:spAutoFit/>
          </a:bodyPr>
          <a:lstStyle/>
          <a:p>
            <a:pPr>
              <a:buNone/>
            </a:pPr>
            <a:r>
              <a:rPr lang="en" altLang="zh-CN" sz="1100" dirty="0">
                <a:latin typeface="Times New Roman" panose="02020603050405020304" pitchFamily="18" charset="0"/>
                <a:cs typeface="Times New Roman" panose="02020603050405020304" pitchFamily="18" charset="0"/>
              </a:rPr>
              <a:t>[4]Jiang, J., Li, </a:t>
            </a:r>
            <a:r>
              <a:rPr lang="en" altLang="zh-CN" sz="1100" dirty="0" err="1">
                <a:latin typeface="Times New Roman" panose="02020603050405020304" pitchFamily="18" charset="0"/>
                <a:cs typeface="Times New Roman" panose="02020603050405020304" pitchFamily="18" charset="0"/>
              </a:rPr>
              <a:t>C,el</a:t>
            </a:r>
            <a:r>
              <a:rPr lang="en" altLang="zh-CN" sz="1100" dirty="0">
                <a:latin typeface="Times New Roman" panose="02020603050405020304" pitchFamily="18" charset="0"/>
                <a:cs typeface="Times New Roman" panose="02020603050405020304" pitchFamily="18" charset="0"/>
              </a:rPr>
              <a:t> al. (2024) ‘Relationship between abnormal pelvic floor electromyography and obstetric factors in postpartum women: a cross-sectional study’, BMC Women’s Health, 24, p. 239. </a:t>
            </a:r>
          </a:p>
        </p:txBody>
      </p:sp>
    </p:spTree>
    <p:extLst>
      <p:ext uri="{BB962C8B-B14F-4D97-AF65-F5344CB8AC3E}">
        <p14:creationId xmlns:p14="http://schemas.microsoft.com/office/powerpoint/2010/main" val="412198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CD93D8-6BD3-B345-9B1A-5FA6BC6A7797}"/>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1 Athlete profile</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body composition &amp; lifestyle factors</a:t>
            </a:r>
            <a:endParaRPr kumimoji="1" lang="zh-CN" altLang="en-US" dirty="0"/>
          </a:p>
        </p:txBody>
      </p:sp>
      <p:graphicFrame>
        <p:nvGraphicFramePr>
          <p:cNvPr id="4" name="内容占位符 3">
            <a:extLst>
              <a:ext uri="{FF2B5EF4-FFF2-40B4-BE49-F238E27FC236}">
                <a16:creationId xmlns:a16="http://schemas.microsoft.com/office/drawing/2014/main" id="{88E08973-1E5A-E767-B27E-A726181DFFFB}"/>
              </a:ext>
            </a:extLst>
          </p:cNvPr>
          <p:cNvGraphicFramePr>
            <a:graphicFrameLocks noGrp="1"/>
          </p:cNvGraphicFramePr>
          <p:nvPr>
            <p:ph idx="1"/>
            <p:extLst>
              <p:ext uri="{D42A27DB-BD31-4B8C-83A1-F6EECF244321}">
                <p14:modId xmlns:p14="http://schemas.microsoft.com/office/powerpoint/2010/main" val="3002509384"/>
              </p:ext>
            </p:extLst>
          </p:nvPr>
        </p:nvGraphicFramePr>
        <p:xfrm>
          <a:off x="1194707" y="1841696"/>
          <a:ext cx="9802586" cy="4651179"/>
        </p:xfrm>
        <a:graphic>
          <a:graphicData uri="http://schemas.openxmlformats.org/drawingml/2006/table">
            <a:tbl>
              <a:tblPr/>
              <a:tblGrid>
                <a:gridCol w="3102429">
                  <a:extLst>
                    <a:ext uri="{9D8B030D-6E8A-4147-A177-3AD203B41FA5}">
                      <a16:colId xmlns:a16="http://schemas.microsoft.com/office/drawing/2014/main" val="711471599"/>
                    </a:ext>
                  </a:extLst>
                </a:gridCol>
                <a:gridCol w="6700157">
                  <a:extLst>
                    <a:ext uri="{9D8B030D-6E8A-4147-A177-3AD203B41FA5}">
                      <a16:colId xmlns:a16="http://schemas.microsoft.com/office/drawing/2014/main" val="225681718"/>
                    </a:ext>
                  </a:extLst>
                </a:gridCol>
              </a:tblGrid>
              <a:tr h="477044">
                <a:tc>
                  <a:txBody>
                    <a:bodyPr/>
                    <a:lstStyle/>
                    <a:p>
                      <a:pPr>
                        <a:buNone/>
                      </a:pPr>
                      <a:r>
                        <a:rPr lang="en" b="0" i="0">
                          <a:latin typeface="Times New Roman" panose="02020603050405020304" pitchFamily="18" charset="0"/>
                          <a:cs typeface="Times New Roman" panose="02020603050405020304" pitchFamily="18" charset="0"/>
                        </a:rPr>
                        <a:t>Factor</a:t>
                      </a:r>
                    </a:p>
                  </a:txBody>
                  <a:tcPr anchor="ctr">
                    <a:lnL>
                      <a:noFill/>
                    </a:lnL>
                    <a:lnR>
                      <a:noFill/>
                    </a:lnR>
                    <a:lnT>
                      <a:noFill/>
                    </a:lnT>
                    <a:lnB>
                      <a:noFill/>
                    </a:lnB>
                    <a:noFill/>
                  </a:tcPr>
                </a:tc>
                <a:tc>
                  <a:txBody>
                    <a:bodyPr/>
                    <a:lstStyle/>
                    <a:p>
                      <a:pPr>
                        <a:buNone/>
                      </a:pPr>
                      <a:r>
                        <a:rPr lang="en" b="0" i="0">
                          <a:latin typeface="Times New Roman" panose="02020603050405020304" pitchFamily="18" charset="0"/>
                          <a:cs typeface="Times New Roman" panose="02020603050405020304" pitchFamily="18" charset="0"/>
                        </a:rPr>
                        <a:t>Details</a:t>
                      </a:r>
                    </a:p>
                  </a:txBody>
                  <a:tcPr anchor="ctr">
                    <a:lnL>
                      <a:noFill/>
                    </a:lnL>
                    <a:lnR>
                      <a:noFill/>
                    </a:lnR>
                    <a:lnT>
                      <a:noFill/>
                    </a:lnT>
                    <a:lnB>
                      <a:noFill/>
                    </a:lnB>
                    <a:noFill/>
                  </a:tcPr>
                </a:tc>
                <a:extLst>
                  <a:ext uri="{0D108BD9-81ED-4DB2-BD59-A6C34878D82A}">
                    <a16:rowId xmlns:a16="http://schemas.microsoft.com/office/drawing/2014/main" val="909437435"/>
                  </a:ext>
                </a:extLst>
              </a:tr>
              <a:tr h="834827">
                <a:tc>
                  <a:txBody>
                    <a:bodyPr/>
                    <a:lstStyle/>
                    <a:p>
                      <a:pPr>
                        <a:buNone/>
                      </a:pPr>
                      <a:r>
                        <a:rPr lang="en" b="0" i="0" dirty="0">
                          <a:latin typeface="Times New Roman" panose="02020603050405020304" pitchFamily="18" charset="0"/>
                          <a:cs typeface="Times New Roman" panose="02020603050405020304" pitchFamily="18" charset="0"/>
                        </a:rPr>
                        <a:t>Body composition</a:t>
                      </a:r>
                    </a:p>
                  </a:txBody>
                  <a:tcPr anchor="ctr">
                    <a:lnL>
                      <a:noFill/>
                    </a:lnL>
                    <a:lnR>
                      <a:noFill/>
                    </a:lnR>
                    <a:lnT>
                      <a:noFill/>
                    </a:lnT>
                    <a:lnB>
                      <a:noFill/>
                    </a:lnB>
                    <a:noFill/>
                  </a:tcPr>
                </a:tc>
                <a:tc>
                  <a:txBody>
                    <a:bodyPr/>
                    <a:lstStyle/>
                    <a:p>
                      <a:pPr>
                        <a:buNone/>
                      </a:pPr>
                      <a:r>
                        <a:rPr lang="en" b="0" i="0" dirty="0">
                          <a:latin typeface="Times New Roman" panose="02020603050405020304" pitchFamily="18" charset="0"/>
                          <a:cs typeface="Times New Roman" panose="02020603050405020304" pitchFamily="18" charset="0"/>
                        </a:rPr>
                        <a:t>Slight postpartum weight retention; lean athletic baseline prior to pregnancy [2]</a:t>
                      </a:r>
                    </a:p>
                  </a:txBody>
                  <a:tcPr anchor="ctr">
                    <a:lnL>
                      <a:noFill/>
                    </a:lnL>
                    <a:lnR>
                      <a:noFill/>
                    </a:lnR>
                    <a:lnT>
                      <a:noFill/>
                    </a:lnT>
                    <a:lnB>
                      <a:noFill/>
                    </a:lnB>
                    <a:noFill/>
                  </a:tcPr>
                </a:tc>
                <a:extLst>
                  <a:ext uri="{0D108BD9-81ED-4DB2-BD59-A6C34878D82A}">
                    <a16:rowId xmlns:a16="http://schemas.microsoft.com/office/drawing/2014/main" val="3497512615"/>
                  </a:ext>
                </a:extLst>
              </a:tr>
              <a:tr h="834827">
                <a:tc>
                  <a:txBody>
                    <a:bodyPr/>
                    <a:lstStyle/>
                    <a:p>
                      <a:pPr>
                        <a:buNone/>
                      </a:pPr>
                      <a:r>
                        <a:rPr lang="en" b="0" i="0">
                          <a:latin typeface="Times New Roman" panose="02020603050405020304" pitchFamily="18" charset="0"/>
                          <a:cs typeface="Times New Roman" panose="02020603050405020304" pitchFamily="18" charset="0"/>
                        </a:rPr>
                        <a:t>Sleep</a:t>
                      </a:r>
                    </a:p>
                  </a:txBody>
                  <a:tcPr anchor="ctr">
                    <a:lnL>
                      <a:noFill/>
                    </a:lnL>
                    <a:lnR>
                      <a:noFill/>
                    </a:lnR>
                    <a:lnT>
                      <a:noFill/>
                    </a:lnT>
                    <a:lnB>
                      <a:noFill/>
                    </a:lnB>
                    <a:noFill/>
                  </a:tcPr>
                </a:tc>
                <a:tc>
                  <a:txBody>
                    <a:bodyPr/>
                    <a:lstStyle/>
                    <a:p>
                      <a:pPr>
                        <a:buNone/>
                      </a:pPr>
                      <a:r>
                        <a:rPr lang="en" b="0" i="0">
                          <a:latin typeface="Times New Roman" panose="02020603050405020304" pitchFamily="18" charset="0"/>
                          <a:cs typeface="Times New Roman" panose="02020603050405020304" pitchFamily="18" charset="0"/>
                        </a:rPr>
                        <a:t>Interrupted sleep (breastfeeding schedule + infant night waking) — ~5–6 hrs fragmented sleep/night</a:t>
                      </a:r>
                    </a:p>
                  </a:txBody>
                  <a:tcPr anchor="ctr">
                    <a:lnL>
                      <a:noFill/>
                    </a:lnL>
                    <a:lnR>
                      <a:noFill/>
                    </a:lnR>
                    <a:lnT>
                      <a:noFill/>
                    </a:lnT>
                    <a:lnB>
                      <a:noFill/>
                    </a:lnB>
                    <a:noFill/>
                  </a:tcPr>
                </a:tc>
                <a:extLst>
                  <a:ext uri="{0D108BD9-81ED-4DB2-BD59-A6C34878D82A}">
                    <a16:rowId xmlns:a16="http://schemas.microsoft.com/office/drawing/2014/main" val="1207636718"/>
                  </a:ext>
                </a:extLst>
              </a:tr>
              <a:tr h="1192610">
                <a:tc>
                  <a:txBody>
                    <a:bodyPr/>
                    <a:lstStyle/>
                    <a:p>
                      <a:pPr>
                        <a:buNone/>
                      </a:pPr>
                      <a:r>
                        <a:rPr lang="en" b="0" i="0">
                          <a:latin typeface="Times New Roman" panose="02020603050405020304" pitchFamily="18" charset="0"/>
                          <a:cs typeface="Times New Roman" panose="02020603050405020304" pitchFamily="18" charset="0"/>
                        </a:rPr>
                        <a:t>Schedule</a:t>
                      </a:r>
                    </a:p>
                  </a:txBody>
                  <a:tcPr anchor="ctr">
                    <a:lnL>
                      <a:noFill/>
                    </a:lnL>
                    <a:lnR>
                      <a:noFill/>
                    </a:lnR>
                    <a:lnT>
                      <a:noFill/>
                    </a:lnT>
                    <a:lnB>
                      <a:noFill/>
                    </a:lnB>
                    <a:noFill/>
                  </a:tcPr>
                </a:tc>
                <a:tc>
                  <a:txBody>
                    <a:bodyPr/>
                    <a:lstStyle/>
                    <a:p>
                      <a:pPr>
                        <a:buNone/>
                      </a:pPr>
                      <a:r>
                        <a:rPr lang="en" b="0" i="0">
                          <a:latin typeface="Times New Roman" panose="02020603050405020304" pitchFamily="18" charset="0"/>
                          <a:cs typeface="Times New Roman" panose="02020603050405020304" pitchFamily="18" charset="0"/>
                        </a:rPr>
                        <a:t>Training windows limited due to childcare; mix of stroller running, home strength sessions, and supervised runs</a:t>
                      </a:r>
                    </a:p>
                  </a:txBody>
                  <a:tcPr anchor="ctr">
                    <a:lnL>
                      <a:noFill/>
                    </a:lnL>
                    <a:lnR>
                      <a:noFill/>
                    </a:lnR>
                    <a:lnT>
                      <a:noFill/>
                    </a:lnT>
                    <a:lnB>
                      <a:noFill/>
                    </a:lnB>
                    <a:noFill/>
                  </a:tcPr>
                </a:tc>
                <a:extLst>
                  <a:ext uri="{0D108BD9-81ED-4DB2-BD59-A6C34878D82A}">
                    <a16:rowId xmlns:a16="http://schemas.microsoft.com/office/drawing/2014/main" val="3375727921"/>
                  </a:ext>
                </a:extLst>
              </a:tr>
              <a:tr h="477044">
                <a:tc>
                  <a:txBody>
                    <a:bodyPr/>
                    <a:lstStyle/>
                    <a:p>
                      <a:pPr>
                        <a:buNone/>
                      </a:pPr>
                      <a:r>
                        <a:rPr lang="en" b="0" i="0" dirty="0">
                          <a:latin typeface="Times New Roman" panose="02020603050405020304" pitchFamily="18" charset="0"/>
                          <a:cs typeface="Times New Roman" panose="02020603050405020304" pitchFamily="18" charset="0"/>
                        </a:rPr>
                        <a:t>Travel</a:t>
                      </a:r>
                    </a:p>
                  </a:txBody>
                  <a:tcPr anchor="ctr">
                    <a:lnL>
                      <a:noFill/>
                    </a:lnL>
                    <a:lnR>
                      <a:noFill/>
                    </a:lnR>
                    <a:lnT>
                      <a:noFill/>
                    </a:lnT>
                    <a:lnB>
                      <a:noFill/>
                    </a:lnB>
                    <a:noFill/>
                  </a:tcPr>
                </a:tc>
                <a:tc>
                  <a:txBody>
                    <a:bodyPr/>
                    <a:lstStyle/>
                    <a:p>
                      <a:pPr>
                        <a:buNone/>
                      </a:pPr>
                      <a:r>
                        <a:rPr lang="en" b="0" i="0">
                          <a:latin typeface="Times New Roman" panose="02020603050405020304" pitchFamily="18" charset="0"/>
                          <a:cs typeface="Times New Roman" panose="02020603050405020304" pitchFamily="18" charset="0"/>
                        </a:rPr>
                        <a:t>No major travel yet — local training only</a:t>
                      </a:r>
                    </a:p>
                  </a:txBody>
                  <a:tcPr anchor="ctr">
                    <a:lnL>
                      <a:noFill/>
                    </a:lnL>
                    <a:lnR>
                      <a:noFill/>
                    </a:lnR>
                    <a:lnT>
                      <a:noFill/>
                    </a:lnT>
                    <a:lnB>
                      <a:noFill/>
                    </a:lnB>
                    <a:noFill/>
                  </a:tcPr>
                </a:tc>
                <a:extLst>
                  <a:ext uri="{0D108BD9-81ED-4DB2-BD59-A6C34878D82A}">
                    <a16:rowId xmlns:a16="http://schemas.microsoft.com/office/drawing/2014/main" val="3359398941"/>
                  </a:ext>
                </a:extLst>
              </a:tr>
              <a:tr h="834827">
                <a:tc>
                  <a:txBody>
                    <a:bodyPr/>
                    <a:lstStyle/>
                    <a:p>
                      <a:pPr>
                        <a:buNone/>
                      </a:pPr>
                      <a:r>
                        <a:rPr lang="en" b="0" i="0" dirty="0">
                          <a:latin typeface="Times New Roman" panose="02020603050405020304" pitchFamily="18" charset="0"/>
                          <a:cs typeface="Times New Roman" panose="02020603050405020304" pitchFamily="18" charset="0"/>
                        </a:rPr>
                        <a:t>Medical clearance</a:t>
                      </a:r>
                    </a:p>
                  </a:txBody>
                  <a:tcPr anchor="ctr">
                    <a:lnL>
                      <a:noFill/>
                    </a:lnL>
                    <a:lnR>
                      <a:noFill/>
                    </a:lnR>
                    <a:lnT>
                      <a:noFill/>
                    </a:lnT>
                    <a:lnB>
                      <a:noFill/>
                    </a:lnB>
                    <a:noFill/>
                  </a:tcPr>
                </a:tc>
                <a:tc>
                  <a:txBody>
                    <a:bodyPr/>
                    <a:lstStyle/>
                    <a:p>
                      <a:pPr>
                        <a:buNone/>
                      </a:pPr>
                      <a:r>
                        <a:rPr lang="en" b="0" i="0" dirty="0">
                          <a:latin typeface="Times New Roman" panose="02020603050405020304" pitchFamily="18" charset="0"/>
                          <a:cs typeface="Times New Roman" panose="02020603050405020304" pitchFamily="18" charset="0"/>
                        </a:rPr>
                        <a:t>Cleared for progressive return to exercise; pelvic floor physio input</a:t>
                      </a:r>
                    </a:p>
                  </a:txBody>
                  <a:tcPr anchor="ctr">
                    <a:lnL>
                      <a:noFill/>
                    </a:lnL>
                    <a:lnR>
                      <a:noFill/>
                    </a:lnR>
                    <a:lnT>
                      <a:noFill/>
                    </a:lnT>
                    <a:lnB>
                      <a:noFill/>
                    </a:lnB>
                    <a:noFill/>
                  </a:tcPr>
                </a:tc>
                <a:extLst>
                  <a:ext uri="{0D108BD9-81ED-4DB2-BD59-A6C34878D82A}">
                    <a16:rowId xmlns:a16="http://schemas.microsoft.com/office/drawing/2014/main" val="2058755981"/>
                  </a:ext>
                </a:extLst>
              </a:tr>
            </a:tbl>
          </a:graphicData>
        </a:graphic>
      </p:graphicFrame>
    </p:spTree>
    <p:extLst>
      <p:ext uri="{BB962C8B-B14F-4D97-AF65-F5344CB8AC3E}">
        <p14:creationId xmlns:p14="http://schemas.microsoft.com/office/powerpoint/2010/main" val="722399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7A6A43-828B-E8A6-883E-A0F334832600}"/>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1 Athlete profile</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body composition &amp; lifestyle factors</a:t>
            </a:r>
            <a:endParaRPr kumimoji="1" lang="zh-CN" altLang="en-US" dirty="0"/>
          </a:p>
        </p:txBody>
      </p:sp>
      <p:pic>
        <p:nvPicPr>
          <p:cNvPr id="2050" name="Picture 2" descr="Figure 2">
            <a:extLst>
              <a:ext uri="{FF2B5EF4-FFF2-40B4-BE49-F238E27FC236}">
                <a16:creationId xmlns:a16="http://schemas.microsoft.com/office/drawing/2014/main" id="{995D0BF0-3EC8-4021-8E5F-E7075D8D435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690688"/>
            <a:ext cx="3686166" cy="3259347"/>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2EBF891D-E6FC-9340-6550-06DDC1DA6818}"/>
              </a:ext>
            </a:extLst>
          </p:cNvPr>
          <p:cNvSpPr txBox="1"/>
          <p:nvPr/>
        </p:nvSpPr>
        <p:spPr>
          <a:xfrm>
            <a:off x="83154" y="5058673"/>
            <a:ext cx="5430140" cy="954107"/>
          </a:xfrm>
          <a:prstGeom prst="rect">
            <a:avLst/>
          </a:prstGeom>
          <a:noFill/>
        </p:spPr>
        <p:txBody>
          <a:bodyPr wrap="square">
            <a:spAutoFit/>
          </a:bodyPr>
          <a:lstStyle/>
          <a:p>
            <a:r>
              <a:rPr lang="en" altLang="zh-CN" sz="1400" b="0" i="0" dirty="0">
                <a:solidFill>
                  <a:srgbClr val="1B1B1B"/>
                </a:solidFill>
                <a:effectLst/>
                <a:latin typeface="Cambria" panose="02040503050406030204" pitchFamily="18" charset="0"/>
              </a:rPr>
              <a:t>The estimated evolution of postpartum weight retention among women with normal weight, overweight and obesity based on the multivariate mixed model (N = 524 at 6 weeks, N = 395 at 6 months, N = 311 at 12 months postpartum).[2]</a:t>
            </a:r>
            <a:endParaRPr lang="zh-CN" altLang="en-US" sz="1400" dirty="0"/>
          </a:p>
        </p:txBody>
      </p:sp>
      <p:sp>
        <p:nvSpPr>
          <p:cNvPr id="6" name="文本框 5">
            <a:extLst>
              <a:ext uri="{FF2B5EF4-FFF2-40B4-BE49-F238E27FC236}">
                <a16:creationId xmlns:a16="http://schemas.microsoft.com/office/drawing/2014/main" id="{1A619FDF-768B-446E-68E8-9DC0CF8B249A}"/>
              </a:ext>
            </a:extLst>
          </p:cNvPr>
          <p:cNvSpPr txBox="1"/>
          <p:nvPr/>
        </p:nvSpPr>
        <p:spPr>
          <a:xfrm>
            <a:off x="85394" y="6121418"/>
            <a:ext cx="6096000" cy="938719"/>
          </a:xfrm>
          <a:prstGeom prst="rect">
            <a:avLst/>
          </a:prstGeom>
          <a:noFill/>
        </p:spPr>
        <p:txBody>
          <a:bodyPr wrap="square" rtlCol="0">
            <a:spAutoFit/>
          </a:bodyPr>
          <a:lstStyle/>
          <a:p>
            <a:r>
              <a:rPr lang="en" altLang="zh-CN" sz="1100" dirty="0"/>
              <a:t>[2]Bijlholt, Margriet et al. “Evolution of Postpartum Weight and Body Composition after Excessive Gestational Weight Gain: The Role of Lifestyle Behaviors-Data from the INTER-ACT Control Group.” International journal of environmental research and public health vol. 18,12 6344. 11 Jun. 2021.</a:t>
            </a:r>
            <a:endParaRPr lang="zh-CN" altLang="en-US" sz="1100" dirty="0"/>
          </a:p>
          <a:p>
            <a:endParaRPr kumimoji="1" lang="zh-CN" altLang="en-US" sz="1100" dirty="0"/>
          </a:p>
        </p:txBody>
      </p:sp>
      <p:pic>
        <p:nvPicPr>
          <p:cNvPr id="2052" name="Picture 4" descr="Fig. 2">
            <a:extLst>
              <a:ext uri="{FF2B5EF4-FFF2-40B4-BE49-F238E27FC236}">
                <a16:creationId xmlns:a16="http://schemas.microsoft.com/office/drawing/2014/main" id="{40B1C81E-77DD-F564-2AA5-27D27708B9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1394" y="1841327"/>
            <a:ext cx="4826002" cy="2878791"/>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5B4161E1-55F9-205C-3C45-3027443DBB84}"/>
              </a:ext>
            </a:extLst>
          </p:cNvPr>
          <p:cNvSpPr txBox="1"/>
          <p:nvPr/>
        </p:nvSpPr>
        <p:spPr>
          <a:xfrm>
            <a:off x="6093760" y="5058673"/>
            <a:ext cx="6098240" cy="523220"/>
          </a:xfrm>
          <a:prstGeom prst="rect">
            <a:avLst/>
          </a:prstGeom>
          <a:noFill/>
        </p:spPr>
        <p:txBody>
          <a:bodyPr wrap="square">
            <a:spAutoFit/>
          </a:bodyPr>
          <a:lstStyle/>
          <a:p>
            <a:r>
              <a:rPr lang="en" altLang="zh-CN" sz="1400" dirty="0">
                <a:solidFill>
                  <a:srgbClr val="1B1B1B"/>
                </a:solidFill>
                <a:latin typeface="Cambria" panose="02040503050406030204" pitchFamily="18" charset="0"/>
              </a:rPr>
              <a:t>Evolution of fatigue from T0 to T3 for the breastfeeding and bottle feeding groups. Fatigue Severity Scale (FSS); values are mean ± standard error[3]</a:t>
            </a:r>
            <a:endParaRPr lang="zh-CN" altLang="en-US" sz="1400" dirty="0">
              <a:solidFill>
                <a:srgbClr val="1B1B1B"/>
              </a:solidFill>
              <a:latin typeface="Cambria" panose="02040503050406030204" pitchFamily="18" charset="0"/>
            </a:endParaRPr>
          </a:p>
        </p:txBody>
      </p:sp>
      <p:sp>
        <p:nvSpPr>
          <p:cNvPr id="10" name="文本框 9">
            <a:extLst>
              <a:ext uri="{FF2B5EF4-FFF2-40B4-BE49-F238E27FC236}">
                <a16:creationId xmlns:a16="http://schemas.microsoft.com/office/drawing/2014/main" id="{0D29EA30-1D04-5768-078B-2ABE1F864BFB}"/>
              </a:ext>
            </a:extLst>
          </p:cNvPr>
          <p:cNvSpPr txBox="1"/>
          <p:nvPr/>
        </p:nvSpPr>
        <p:spPr>
          <a:xfrm>
            <a:off x="6096000" y="6121418"/>
            <a:ext cx="6098240" cy="600164"/>
          </a:xfrm>
          <a:prstGeom prst="rect">
            <a:avLst/>
          </a:prstGeom>
          <a:noFill/>
        </p:spPr>
        <p:txBody>
          <a:bodyPr wrap="square">
            <a:spAutoFit/>
          </a:bodyPr>
          <a:lstStyle/>
          <a:p>
            <a:r>
              <a:rPr lang="en" altLang="zh-CN" sz="1100" b="0" i="0" dirty="0">
                <a:solidFill>
                  <a:srgbClr val="212121"/>
                </a:solidFill>
                <a:effectLst/>
              </a:rPr>
              <a:t>[3]Mariman, An et al. “Longitudinal assessment of sleep and fatigue according to baby feeding method in postpartum women: a prospective observational study.” </a:t>
            </a:r>
            <a:r>
              <a:rPr lang="en" altLang="zh-CN" sz="1100" b="0" i="1" dirty="0">
                <a:solidFill>
                  <a:srgbClr val="212121"/>
                </a:solidFill>
                <a:effectLst/>
              </a:rPr>
              <a:t>BMC pregnancy and childbirth</a:t>
            </a:r>
            <a:r>
              <a:rPr lang="en" altLang="zh-CN" sz="1100" b="0" i="0" dirty="0">
                <a:solidFill>
                  <a:srgbClr val="212121"/>
                </a:solidFill>
                <a:effectLst/>
              </a:rPr>
              <a:t> vol. 24,1 529. 12 Aug. 2024</a:t>
            </a:r>
            <a:r>
              <a:rPr lang="en" altLang="zh-CN" sz="1100" dirty="0">
                <a:solidFill>
                  <a:srgbClr val="212121"/>
                </a:solidFill>
              </a:rPr>
              <a:t>.</a:t>
            </a:r>
            <a:endParaRPr lang="zh-CN" altLang="en-US" sz="1100" dirty="0"/>
          </a:p>
        </p:txBody>
      </p:sp>
    </p:spTree>
    <p:extLst>
      <p:ext uri="{BB962C8B-B14F-4D97-AF65-F5344CB8AC3E}">
        <p14:creationId xmlns:p14="http://schemas.microsoft.com/office/powerpoint/2010/main" val="38058309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2D6F87-0C85-C388-057C-D8A9101D8815}"/>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2 Current nutrition assessments</a:t>
            </a:r>
            <a:endParaRPr kumimoji="1" lang="zh-CN" altLang="en-US" dirty="0"/>
          </a:p>
        </p:txBody>
      </p:sp>
      <p:sp>
        <p:nvSpPr>
          <p:cNvPr id="3" name="内容占位符 2">
            <a:extLst>
              <a:ext uri="{FF2B5EF4-FFF2-40B4-BE49-F238E27FC236}">
                <a16:creationId xmlns:a16="http://schemas.microsoft.com/office/drawing/2014/main" id="{0B16CD23-D886-D0AB-3B62-6B6F8E01B7BC}"/>
              </a:ext>
            </a:extLst>
          </p:cNvPr>
          <p:cNvSpPr>
            <a:spLocks noGrp="1"/>
          </p:cNvSpPr>
          <p:nvPr>
            <p:ph idx="1"/>
          </p:nvPr>
        </p:nvSpPr>
        <p:spPr>
          <a:xfrm>
            <a:off x="838200" y="2141537"/>
            <a:ext cx="10515600" cy="4351338"/>
          </a:xfrm>
        </p:spPr>
        <p:txBody>
          <a:bodyPr/>
          <a:lstStyle/>
          <a:p>
            <a:pPr marL="0" indent="0">
              <a:buNone/>
            </a:pPr>
            <a:r>
              <a:rPr kumimoji="1" lang="en-US" altLang="zh-CN" dirty="0"/>
              <a:t>A - </a:t>
            </a:r>
            <a:r>
              <a:rPr lang="en" altLang="zh-CN" dirty="0"/>
              <a:t>Anthropometry</a:t>
            </a:r>
            <a:endParaRPr kumimoji="1" lang="en-US" altLang="zh-CN" dirty="0"/>
          </a:p>
          <a:p>
            <a:pPr marL="0" indent="0">
              <a:buNone/>
            </a:pPr>
            <a:endParaRPr kumimoji="1" lang="en-US" altLang="zh-CN" dirty="0"/>
          </a:p>
          <a:p>
            <a:pPr marL="0" indent="0">
              <a:buNone/>
            </a:pPr>
            <a:r>
              <a:rPr kumimoji="1" lang="en-US" altLang="zh-CN" dirty="0"/>
              <a:t>B - </a:t>
            </a:r>
            <a:r>
              <a:rPr lang="en" altLang="zh-CN" dirty="0"/>
              <a:t>Biochemistry</a:t>
            </a:r>
            <a:endParaRPr kumimoji="1" lang="en-US" altLang="zh-CN" dirty="0"/>
          </a:p>
          <a:p>
            <a:pPr marL="0" indent="0">
              <a:buNone/>
            </a:pPr>
            <a:endParaRPr kumimoji="1" lang="en-US" altLang="zh-CN" dirty="0"/>
          </a:p>
          <a:p>
            <a:pPr marL="0" indent="0">
              <a:buNone/>
            </a:pPr>
            <a:r>
              <a:rPr kumimoji="1" lang="en-US" altLang="zh-CN" dirty="0"/>
              <a:t>C - </a:t>
            </a:r>
            <a:r>
              <a:rPr lang="en" altLang="zh-CN" dirty="0"/>
              <a:t>Clinical history </a:t>
            </a:r>
            <a:endParaRPr kumimoji="1" lang="en-US" altLang="zh-CN" dirty="0"/>
          </a:p>
          <a:p>
            <a:pPr marL="0" indent="0">
              <a:buNone/>
            </a:pPr>
            <a:endParaRPr kumimoji="1" lang="en-US" altLang="zh-CN" dirty="0"/>
          </a:p>
          <a:p>
            <a:pPr marL="0" indent="0">
              <a:buNone/>
            </a:pPr>
            <a:r>
              <a:rPr kumimoji="1" lang="en-US" altLang="zh-CN" dirty="0"/>
              <a:t>D - </a:t>
            </a:r>
            <a:r>
              <a:rPr lang="en" altLang="zh-CN" dirty="0"/>
              <a:t>Dietary intake</a:t>
            </a:r>
          </a:p>
        </p:txBody>
      </p:sp>
    </p:spTree>
    <p:extLst>
      <p:ext uri="{BB962C8B-B14F-4D97-AF65-F5344CB8AC3E}">
        <p14:creationId xmlns:p14="http://schemas.microsoft.com/office/powerpoint/2010/main" val="4014676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F8D103-1B6E-8697-C4CE-6302C31530E2}"/>
              </a:ext>
            </a:extLst>
          </p:cNvPr>
          <p:cNvSpPr>
            <a:spLocks noGrp="1"/>
          </p:cNvSpPr>
          <p:nvPr>
            <p:ph type="title"/>
          </p:nvPr>
        </p:nvSpPr>
        <p:spPr/>
        <p:txBody>
          <a:bodyPr/>
          <a:lstStyle/>
          <a:p>
            <a:r>
              <a:rPr kumimoji="1" lang="en-US" altLang="zh-CN" dirty="0"/>
              <a:t>A - </a:t>
            </a:r>
            <a:r>
              <a:rPr lang="en" altLang="zh-CN" dirty="0"/>
              <a:t>Anthropometry</a:t>
            </a:r>
            <a:endParaRPr kumimoji="1" lang="zh-CN" altLang="en-US" dirty="0"/>
          </a:p>
        </p:txBody>
      </p:sp>
      <p:graphicFrame>
        <p:nvGraphicFramePr>
          <p:cNvPr id="4" name="内容占位符 3">
            <a:extLst>
              <a:ext uri="{FF2B5EF4-FFF2-40B4-BE49-F238E27FC236}">
                <a16:creationId xmlns:a16="http://schemas.microsoft.com/office/drawing/2014/main" id="{17E25341-7E5F-0FB0-470B-48FAE6AF8372}"/>
              </a:ext>
            </a:extLst>
          </p:cNvPr>
          <p:cNvGraphicFramePr>
            <a:graphicFrameLocks noGrp="1"/>
          </p:cNvGraphicFramePr>
          <p:nvPr>
            <p:ph idx="1"/>
            <p:extLst>
              <p:ext uri="{D42A27DB-BD31-4B8C-83A1-F6EECF244321}">
                <p14:modId xmlns:p14="http://schemas.microsoft.com/office/powerpoint/2010/main" val="1469098657"/>
              </p:ext>
            </p:extLst>
          </p:nvPr>
        </p:nvGraphicFramePr>
        <p:xfrm>
          <a:off x="709863" y="1620742"/>
          <a:ext cx="6961094" cy="5025183"/>
        </p:xfrm>
        <a:graphic>
          <a:graphicData uri="http://schemas.openxmlformats.org/drawingml/2006/table">
            <a:tbl>
              <a:tblPr/>
              <a:tblGrid>
                <a:gridCol w="3412958">
                  <a:extLst>
                    <a:ext uri="{9D8B030D-6E8A-4147-A177-3AD203B41FA5}">
                      <a16:colId xmlns:a16="http://schemas.microsoft.com/office/drawing/2014/main" val="2418212434"/>
                    </a:ext>
                  </a:extLst>
                </a:gridCol>
                <a:gridCol w="3548136">
                  <a:extLst>
                    <a:ext uri="{9D8B030D-6E8A-4147-A177-3AD203B41FA5}">
                      <a16:colId xmlns:a16="http://schemas.microsoft.com/office/drawing/2014/main" val="4027256867"/>
                    </a:ext>
                  </a:extLst>
                </a:gridCol>
              </a:tblGrid>
              <a:tr h="483280">
                <a:tc>
                  <a:txBody>
                    <a:bodyPr/>
                    <a:lstStyle/>
                    <a:p>
                      <a:pPr>
                        <a:buNone/>
                      </a:pPr>
                      <a:r>
                        <a:rPr lang="en-US" altLang="zh-CN" dirty="0"/>
                        <a:t>facts</a:t>
                      </a:r>
                      <a:endParaRPr lang="zh-CN" altLang="en-US" dirty="0"/>
                    </a:p>
                  </a:txBody>
                  <a:tcPr anchor="ctr">
                    <a:lnL>
                      <a:noFill/>
                    </a:lnL>
                    <a:lnR>
                      <a:noFill/>
                    </a:lnR>
                    <a:lnT>
                      <a:noFill/>
                    </a:lnT>
                    <a:lnB>
                      <a:noFill/>
                    </a:lnB>
                    <a:noFill/>
                  </a:tcPr>
                </a:tc>
                <a:tc>
                  <a:txBody>
                    <a:bodyPr/>
                    <a:lstStyle/>
                    <a:p>
                      <a:pPr>
                        <a:buNone/>
                      </a:pPr>
                      <a:r>
                        <a:rPr lang="en-US" altLang="zh-CN" dirty="0"/>
                        <a:t>data</a:t>
                      </a:r>
                      <a:endParaRPr lang="zh-CN" altLang="en-US" dirty="0"/>
                    </a:p>
                  </a:txBody>
                  <a:tcPr anchor="ctr">
                    <a:lnL>
                      <a:noFill/>
                    </a:lnL>
                    <a:lnR>
                      <a:noFill/>
                    </a:lnR>
                    <a:lnT>
                      <a:noFill/>
                    </a:lnT>
                    <a:lnB>
                      <a:noFill/>
                    </a:lnB>
                    <a:noFill/>
                  </a:tcPr>
                </a:tc>
                <a:extLst>
                  <a:ext uri="{0D108BD9-81ED-4DB2-BD59-A6C34878D82A}">
                    <a16:rowId xmlns:a16="http://schemas.microsoft.com/office/drawing/2014/main" val="3674160025"/>
                  </a:ext>
                </a:extLst>
              </a:tr>
              <a:tr h="697569">
                <a:tc>
                  <a:txBody>
                    <a:bodyPr/>
                    <a:lstStyle/>
                    <a:p>
                      <a:pPr>
                        <a:buNone/>
                      </a:pPr>
                      <a:r>
                        <a:rPr lang="en"/>
                        <a:t>Age</a:t>
                      </a:r>
                    </a:p>
                  </a:txBody>
                  <a:tcPr anchor="ctr">
                    <a:lnL>
                      <a:noFill/>
                    </a:lnL>
                    <a:lnR>
                      <a:noFill/>
                    </a:lnR>
                    <a:lnT>
                      <a:noFill/>
                    </a:lnT>
                    <a:lnB>
                      <a:noFill/>
                    </a:lnB>
                    <a:noFill/>
                  </a:tcPr>
                </a:tc>
                <a:tc>
                  <a:txBody>
                    <a:bodyPr/>
                    <a:lstStyle/>
                    <a:p>
                      <a:pPr>
                        <a:buNone/>
                      </a:pPr>
                      <a:r>
                        <a:rPr lang="en" b="1"/>
                        <a:t>31 years</a:t>
                      </a:r>
                      <a:endParaRPr lang="en"/>
                    </a:p>
                  </a:txBody>
                  <a:tcPr anchor="ctr">
                    <a:lnL>
                      <a:noFill/>
                    </a:lnL>
                    <a:lnR>
                      <a:noFill/>
                    </a:lnR>
                    <a:lnT>
                      <a:noFill/>
                    </a:lnT>
                    <a:lnB>
                      <a:noFill/>
                    </a:lnB>
                    <a:noFill/>
                  </a:tcPr>
                </a:tc>
                <a:extLst>
                  <a:ext uri="{0D108BD9-81ED-4DB2-BD59-A6C34878D82A}">
                    <a16:rowId xmlns:a16="http://schemas.microsoft.com/office/drawing/2014/main" val="3420221025"/>
                  </a:ext>
                </a:extLst>
              </a:tr>
              <a:tr h="743678">
                <a:tc>
                  <a:txBody>
                    <a:bodyPr/>
                    <a:lstStyle/>
                    <a:p>
                      <a:pPr>
                        <a:buNone/>
                      </a:pPr>
                      <a:r>
                        <a:rPr lang="en"/>
                        <a:t>Height</a:t>
                      </a:r>
                    </a:p>
                  </a:txBody>
                  <a:tcPr anchor="ctr">
                    <a:lnL>
                      <a:noFill/>
                    </a:lnL>
                    <a:lnR>
                      <a:noFill/>
                    </a:lnR>
                    <a:lnT>
                      <a:noFill/>
                    </a:lnT>
                    <a:lnB>
                      <a:noFill/>
                    </a:lnB>
                    <a:noFill/>
                  </a:tcPr>
                </a:tc>
                <a:tc>
                  <a:txBody>
                    <a:bodyPr/>
                    <a:lstStyle/>
                    <a:p>
                      <a:pPr>
                        <a:buNone/>
                      </a:pPr>
                      <a:r>
                        <a:rPr lang="en" b="1" dirty="0"/>
                        <a:t>161 cm</a:t>
                      </a:r>
                      <a:endParaRPr lang="en" dirty="0"/>
                    </a:p>
                  </a:txBody>
                  <a:tcPr anchor="ctr">
                    <a:lnL>
                      <a:noFill/>
                    </a:lnL>
                    <a:lnR>
                      <a:noFill/>
                    </a:lnR>
                    <a:lnT>
                      <a:noFill/>
                    </a:lnT>
                    <a:lnB>
                      <a:noFill/>
                    </a:lnB>
                    <a:noFill/>
                  </a:tcPr>
                </a:tc>
                <a:extLst>
                  <a:ext uri="{0D108BD9-81ED-4DB2-BD59-A6C34878D82A}">
                    <a16:rowId xmlns:a16="http://schemas.microsoft.com/office/drawing/2014/main" val="2402124454"/>
                  </a:ext>
                </a:extLst>
              </a:tr>
              <a:tr h="725619">
                <a:tc>
                  <a:txBody>
                    <a:bodyPr/>
                    <a:lstStyle/>
                    <a:p>
                      <a:pPr>
                        <a:buNone/>
                      </a:pPr>
                      <a:r>
                        <a:rPr lang="en"/>
                        <a:t>Weight</a:t>
                      </a:r>
                    </a:p>
                  </a:txBody>
                  <a:tcPr anchor="ctr">
                    <a:lnL>
                      <a:noFill/>
                    </a:lnL>
                    <a:lnR>
                      <a:noFill/>
                    </a:lnR>
                    <a:lnT>
                      <a:noFill/>
                    </a:lnT>
                    <a:lnB>
                      <a:noFill/>
                    </a:lnB>
                    <a:noFill/>
                  </a:tcPr>
                </a:tc>
                <a:tc>
                  <a:txBody>
                    <a:bodyPr/>
                    <a:lstStyle/>
                    <a:p>
                      <a:pPr>
                        <a:buNone/>
                      </a:pPr>
                      <a:r>
                        <a:rPr lang="en" b="1"/>
                        <a:t>66.68 kg</a:t>
                      </a:r>
                      <a:endParaRPr lang="en"/>
                    </a:p>
                  </a:txBody>
                  <a:tcPr anchor="ctr">
                    <a:lnL>
                      <a:noFill/>
                    </a:lnL>
                    <a:lnR>
                      <a:noFill/>
                    </a:lnR>
                    <a:lnT>
                      <a:noFill/>
                    </a:lnT>
                    <a:lnB>
                      <a:noFill/>
                    </a:lnB>
                    <a:noFill/>
                  </a:tcPr>
                </a:tc>
                <a:extLst>
                  <a:ext uri="{0D108BD9-81ED-4DB2-BD59-A6C34878D82A}">
                    <a16:rowId xmlns:a16="http://schemas.microsoft.com/office/drawing/2014/main" val="1726909507"/>
                  </a:ext>
                </a:extLst>
              </a:tr>
              <a:tr h="845739">
                <a:tc>
                  <a:txBody>
                    <a:bodyPr/>
                    <a:lstStyle/>
                    <a:p>
                      <a:pPr>
                        <a:buNone/>
                      </a:pPr>
                      <a:r>
                        <a:rPr lang="en"/>
                        <a:t>BMI</a:t>
                      </a:r>
                    </a:p>
                  </a:txBody>
                  <a:tcPr anchor="ctr">
                    <a:lnL>
                      <a:noFill/>
                    </a:lnL>
                    <a:lnR>
                      <a:noFill/>
                    </a:lnR>
                    <a:lnT>
                      <a:noFill/>
                    </a:lnT>
                    <a:lnB>
                      <a:noFill/>
                    </a:lnB>
                    <a:noFill/>
                  </a:tcPr>
                </a:tc>
                <a:tc>
                  <a:txBody>
                    <a:bodyPr/>
                    <a:lstStyle/>
                    <a:p>
                      <a:pPr>
                        <a:buNone/>
                      </a:pPr>
                      <a:r>
                        <a:rPr lang="en" b="1" dirty="0"/>
                        <a:t>25.7 kg/m²</a:t>
                      </a:r>
                      <a:endParaRPr lang="en" dirty="0"/>
                    </a:p>
                  </a:txBody>
                  <a:tcPr anchor="ctr">
                    <a:lnL>
                      <a:noFill/>
                    </a:lnL>
                    <a:lnR>
                      <a:noFill/>
                    </a:lnR>
                    <a:lnT>
                      <a:noFill/>
                    </a:lnT>
                    <a:lnB>
                      <a:noFill/>
                    </a:lnB>
                    <a:noFill/>
                  </a:tcPr>
                </a:tc>
                <a:extLst>
                  <a:ext uri="{0D108BD9-81ED-4DB2-BD59-A6C34878D82A}">
                    <a16:rowId xmlns:a16="http://schemas.microsoft.com/office/drawing/2014/main" val="4012575356"/>
                  </a:ext>
                </a:extLst>
              </a:tr>
              <a:tr h="683559">
                <a:tc>
                  <a:txBody>
                    <a:bodyPr/>
                    <a:lstStyle/>
                    <a:p>
                      <a:pPr>
                        <a:buNone/>
                      </a:pPr>
                      <a:r>
                        <a:rPr lang="en"/>
                        <a:t>Pre-pregnancy est. weight</a:t>
                      </a:r>
                    </a:p>
                  </a:txBody>
                  <a:tcPr anchor="ctr">
                    <a:lnL>
                      <a:noFill/>
                    </a:lnL>
                    <a:lnR>
                      <a:noFill/>
                    </a:lnR>
                    <a:lnT>
                      <a:noFill/>
                    </a:lnT>
                    <a:lnB>
                      <a:noFill/>
                    </a:lnB>
                    <a:noFill/>
                  </a:tcPr>
                </a:tc>
                <a:tc>
                  <a:txBody>
                    <a:bodyPr/>
                    <a:lstStyle/>
                    <a:p>
                      <a:pPr>
                        <a:buNone/>
                      </a:pPr>
                      <a:r>
                        <a:rPr lang="en"/>
                        <a:t>~</a:t>
                      </a:r>
                      <a:r>
                        <a:rPr lang="en" b="1"/>
                        <a:t>60–62 kg</a:t>
                      </a:r>
                      <a:endParaRPr lang="en"/>
                    </a:p>
                  </a:txBody>
                  <a:tcPr anchor="ctr">
                    <a:lnL>
                      <a:noFill/>
                    </a:lnL>
                    <a:lnR>
                      <a:noFill/>
                    </a:lnR>
                    <a:lnT>
                      <a:noFill/>
                    </a:lnT>
                    <a:lnB>
                      <a:noFill/>
                    </a:lnB>
                    <a:noFill/>
                  </a:tcPr>
                </a:tc>
                <a:extLst>
                  <a:ext uri="{0D108BD9-81ED-4DB2-BD59-A6C34878D82A}">
                    <a16:rowId xmlns:a16="http://schemas.microsoft.com/office/drawing/2014/main" val="49973365"/>
                  </a:ext>
                </a:extLst>
              </a:tr>
              <a:tr h="845739">
                <a:tc>
                  <a:txBody>
                    <a:bodyPr/>
                    <a:lstStyle/>
                    <a:p>
                      <a:pPr>
                        <a:buNone/>
                      </a:pPr>
                      <a:r>
                        <a:rPr lang="en"/>
                        <a:t>Body composition (expected)</a:t>
                      </a:r>
                    </a:p>
                  </a:txBody>
                  <a:tcPr anchor="ctr">
                    <a:lnL>
                      <a:noFill/>
                    </a:lnL>
                    <a:lnR>
                      <a:noFill/>
                    </a:lnR>
                    <a:lnT>
                      <a:noFill/>
                    </a:lnT>
                    <a:lnB>
                      <a:noFill/>
                    </a:lnB>
                    <a:noFill/>
                  </a:tcPr>
                </a:tc>
                <a:tc>
                  <a:txBody>
                    <a:bodyPr/>
                    <a:lstStyle/>
                    <a:p>
                      <a:pPr>
                        <a:buNone/>
                      </a:pPr>
                      <a:r>
                        <a:rPr lang="en" altLang="zh-CN" dirty="0"/>
                        <a:t>↓ Lean body mass and increase</a:t>
                      </a:r>
                      <a:r>
                        <a:rPr lang="zh-CN" altLang="en-US" dirty="0"/>
                        <a:t> </a:t>
                      </a:r>
                      <a:r>
                        <a:rPr lang="en" altLang="zh-CN" dirty="0"/>
                        <a:t>bone density change in stages</a:t>
                      </a:r>
                      <a:endParaRPr lang="zh-CN" altLang="en-US" dirty="0"/>
                    </a:p>
                  </a:txBody>
                  <a:tcPr anchor="ctr">
                    <a:lnL>
                      <a:noFill/>
                    </a:lnL>
                    <a:lnR>
                      <a:noFill/>
                    </a:lnR>
                    <a:lnT>
                      <a:noFill/>
                    </a:lnT>
                    <a:lnB>
                      <a:noFill/>
                    </a:lnB>
                    <a:noFill/>
                  </a:tcPr>
                </a:tc>
                <a:extLst>
                  <a:ext uri="{0D108BD9-81ED-4DB2-BD59-A6C34878D82A}">
                    <a16:rowId xmlns:a16="http://schemas.microsoft.com/office/drawing/2014/main" val="3952550689"/>
                  </a:ext>
                </a:extLst>
              </a:tr>
            </a:tbl>
          </a:graphicData>
        </a:graphic>
      </p:graphicFrame>
      <p:sp>
        <p:nvSpPr>
          <p:cNvPr id="6" name="文本框 5">
            <a:extLst>
              <a:ext uri="{FF2B5EF4-FFF2-40B4-BE49-F238E27FC236}">
                <a16:creationId xmlns:a16="http://schemas.microsoft.com/office/drawing/2014/main" id="{AEBF15B5-78EA-DDDC-1F44-3112F03CC6D4}"/>
              </a:ext>
            </a:extLst>
          </p:cNvPr>
          <p:cNvSpPr txBox="1"/>
          <p:nvPr/>
        </p:nvSpPr>
        <p:spPr>
          <a:xfrm>
            <a:off x="6998369" y="2946305"/>
            <a:ext cx="4675094" cy="1477328"/>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    </a:t>
            </a:r>
            <a:r>
              <a:rPr lang="en" altLang="zh-CN" dirty="0">
                <a:latin typeface="Times New Roman" panose="02020603050405020304" pitchFamily="18" charset="0"/>
                <a:cs typeface="Times New Roman" panose="02020603050405020304" pitchFamily="18" charset="0"/>
              </a:rPr>
              <a:t>12 weeks postpartum is in the stage of a slight increase in body fat and muscle mass to be restored; Focus on functional recovery rather than rapid weight loss, following progressive training &amp; reasonable energy supply.</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6680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8374F-08D1-6212-4641-34784D32FAFB}"/>
              </a:ext>
            </a:extLst>
          </p:cNvPr>
          <p:cNvSpPr>
            <a:spLocks noGrp="1"/>
          </p:cNvSpPr>
          <p:nvPr>
            <p:ph type="title"/>
          </p:nvPr>
        </p:nvSpPr>
        <p:spPr/>
        <p:txBody>
          <a:bodyPr/>
          <a:lstStyle/>
          <a:p>
            <a:r>
              <a:rPr kumimoji="1" lang="en-US" altLang="zh-CN" dirty="0"/>
              <a:t>B - </a:t>
            </a:r>
            <a:r>
              <a:rPr lang="en" altLang="zh-CN" dirty="0"/>
              <a:t>Biochemistry</a:t>
            </a:r>
            <a:endParaRPr kumimoji="1" lang="zh-CN" altLang="en-US" dirty="0"/>
          </a:p>
        </p:txBody>
      </p:sp>
      <p:graphicFrame>
        <p:nvGraphicFramePr>
          <p:cNvPr id="4" name="内容占位符 3">
            <a:extLst>
              <a:ext uri="{FF2B5EF4-FFF2-40B4-BE49-F238E27FC236}">
                <a16:creationId xmlns:a16="http://schemas.microsoft.com/office/drawing/2014/main" id="{03B578AA-B051-E08F-409D-E78627786DDA}"/>
              </a:ext>
            </a:extLst>
          </p:cNvPr>
          <p:cNvGraphicFramePr>
            <a:graphicFrameLocks noGrp="1"/>
          </p:cNvGraphicFramePr>
          <p:nvPr>
            <p:ph idx="1"/>
            <p:extLst>
              <p:ext uri="{D42A27DB-BD31-4B8C-83A1-F6EECF244321}">
                <p14:modId xmlns:p14="http://schemas.microsoft.com/office/powerpoint/2010/main" val="275353916"/>
              </p:ext>
            </p:extLst>
          </p:nvPr>
        </p:nvGraphicFramePr>
        <p:xfrm>
          <a:off x="705315" y="1690688"/>
          <a:ext cx="10781370" cy="4221491"/>
        </p:xfrm>
        <a:graphic>
          <a:graphicData uri="http://schemas.openxmlformats.org/drawingml/2006/table">
            <a:tbl>
              <a:tblPr/>
              <a:tblGrid>
                <a:gridCol w="2679569">
                  <a:extLst>
                    <a:ext uri="{9D8B030D-6E8A-4147-A177-3AD203B41FA5}">
                      <a16:colId xmlns:a16="http://schemas.microsoft.com/office/drawing/2014/main" val="570682639"/>
                    </a:ext>
                  </a:extLst>
                </a:gridCol>
                <a:gridCol w="3481137">
                  <a:extLst>
                    <a:ext uri="{9D8B030D-6E8A-4147-A177-3AD203B41FA5}">
                      <a16:colId xmlns:a16="http://schemas.microsoft.com/office/drawing/2014/main" val="584761901"/>
                    </a:ext>
                  </a:extLst>
                </a:gridCol>
                <a:gridCol w="4620664">
                  <a:extLst>
                    <a:ext uri="{9D8B030D-6E8A-4147-A177-3AD203B41FA5}">
                      <a16:colId xmlns:a16="http://schemas.microsoft.com/office/drawing/2014/main" val="4257944505"/>
                    </a:ext>
                  </a:extLst>
                </a:gridCol>
              </a:tblGrid>
              <a:tr h="483890">
                <a:tc>
                  <a:txBody>
                    <a:bodyPr/>
                    <a:lstStyle/>
                    <a:p>
                      <a:pPr>
                        <a:buNone/>
                      </a:pPr>
                      <a:r>
                        <a:rPr lang="en-US" altLang="zh-CN" dirty="0"/>
                        <a:t>facts</a:t>
                      </a:r>
                      <a:endParaRPr lang="zh-CN" altLang="en-US" dirty="0"/>
                    </a:p>
                  </a:txBody>
                  <a:tcPr anchor="ctr">
                    <a:lnL>
                      <a:noFill/>
                    </a:lnL>
                    <a:lnR>
                      <a:noFill/>
                    </a:lnR>
                    <a:lnT>
                      <a:noFill/>
                    </a:lnT>
                    <a:lnB>
                      <a:noFill/>
                    </a:lnB>
                    <a:noFill/>
                  </a:tcPr>
                </a:tc>
                <a:tc>
                  <a:txBody>
                    <a:bodyPr/>
                    <a:lstStyle/>
                    <a:p>
                      <a:pPr>
                        <a:buNone/>
                      </a:pPr>
                      <a:r>
                        <a:rPr lang="en" altLang="zh-CN" dirty="0"/>
                        <a:t>Focus</a:t>
                      </a:r>
                      <a:endParaRPr lang="zh-CN" altLang="en-US" dirty="0"/>
                    </a:p>
                  </a:txBody>
                  <a:tcPr anchor="ctr">
                    <a:lnL>
                      <a:noFill/>
                    </a:lnL>
                    <a:lnR>
                      <a:noFill/>
                    </a:lnR>
                    <a:lnT>
                      <a:noFill/>
                    </a:lnT>
                    <a:lnB>
                      <a:noFill/>
                    </a:lnB>
                    <a:noFill/>
                  </a:tcPr>
                </a:tc>
                <a:tc>
                  <a:txBody>
                    <a:bodyPr/>
                    <a:lstStyle/>
                    <a:p>
                      <a:pPr>
                        <a:buNone/>
                      </a:pPr>
                      <a:r>
                        <a:rPr lang="en" altLang="zh-CN" dirty="0"/>
                        <a:t>reason</a:t>
                      </a:r>
                      <a:endParaRPr lang="zh-CN" altLang="en-US" dirty="0"/>
                    </a:p>
                  </a:txBody>
                  <a:tcPr anchor="ctr">
                    <a:lnL>
                      <a:noFill/>
                    </a:lnL>
                    <a:lnR>
                      <a:noFill/>
                    </a:lnR>
                    <a:lnT>
                      <a:noFill/>
                    </a:lnT>
                    <a:lnB>
                      <a:noFill/>
                    </a:lnB>
                    <a:noFill/>
                  </a:tcPr>
                </a:tc>
                <a:extLst>
                  <a:ext uri="{0D108BD9-81ED-4DB2-BD59-A6C34878D82A}">
                    <a16:rowId xmlns:a16="http://schemas.microsoft.com/office/drawing/2014/main" val="3959096389"/>
                  </a:ext>
                </a:extLst>
              </a:tr>
              <a:tr h="1258170">
                <a:tc>
                  <a:txBody>
                    <a:bodyPr/>
                    <a:lstStyle/>
                    <a:p>
                      <a:pPr>
                        <a:buNone/>
                      </a:pPr>
                      <a:r>
                        <a:rPr lang="en" dirty="0"/>
                        <a:t>Ferritin / Iron</a:t>
                      </a:r>
                    </a:p>
                  </a:txBody>
                  <a:tcPr anchor="ctr">
                    <a:lnL>
                      <a:noFill/>
                    </a:lnL>
                    <a:lnR>
                      <a:noFill/>
                    </a:lnR>
                    <a:lnT>
                      <a:noFill/>
                    </a:lnT>
                    <a:lnB>
                      <a:noFill/>
                    </a:lnB>
                    <a:noFill/>
                  </a:tcPr>
                </a:tc>
                <a:tc>
                  <a:txBody>
                    <a:bodyPr/>
                    <a:lstStyle/>
                    <a:p>
                      <a:pPr>
                        <a:buNone/>
                      </a:pPr>
                      <a:r>
                        <a:rPr lang="en" altLang="zh-CN" dirty="0"/>
                        <a:t>may be low [6]</a:t>
                      </a:r>
                      <a:endParaRPr lang="zh-CN" altLang="en-US" dirty="0"/>
                    </a:p>
                  </a:txBody>
                  <a:tcPr anchor="ctr">
                    <a:lnL>
                      <a:noFill/>
                    </a:lnL>
                    <a:lnR>
                      <a:noFill/>
                    </a:lnR>
                    <a:lnT>
                      <a:noFill/>
                    </a:lnT>
                    <a:lnB>
                      <a:noFill/>
                    </a:lnB>
                    <a:noFill/>
                  </a:tcPr>
                </a:tc>
                <a:tc>
                  <a:txBody>
                    <a:bodyPr/>
                    <a:lstStyle/>
                    <a:p>
                      <a:pPr>
                        <a:buNone/>
                      </a:pPr>
                      <a:r>
                        <a:rPr lang="en" altLang="zh-CN" dirty="0"/>
                        <a:t>High iron requirements during pregnancy and postpartum periods further increase the risk of endurance training</a:t>
                      </a:r>
                      <a:endParaRPr lang="zh-CN" altLang="en-US" dirty="0"/>
                    </a:p>
                  </a:txBody>
                  <a:tcPr anchor="ctr">
                    <a:lnL>
                      <a:noFill/>
                    </a:lnL>
                    <a:lnR>
                      <a:noFill/>
                    </a:lnR>
                    <a:lnT>
                      <a:noFill/>
                    </a:lnT>
                    <a:lnB>
                      <a:noFill/>
                    </a:lnB>
                    <a:noFill/>
                  </a:tcPr>
                </a:tc>
                <a:extLst>
                  <a:ext uri="{0D108BD9-81ED-4DB2-BD59-A6C34878D82A}">
                    <a16:rowId xmlns:a16="http://schemas.microsoft.com/office/drawing/2014/main" val="234208765"/>
                  </a:ext>
                </a:extLst>
              </a:tr>
              <a:tr h="774459">
                <a:tc>
                  <a:txBody>
                    <a:bodyPr/>
                    <a:lstStyle/>
                    <a:p>
                      <a:pPr>
                        <a:buNone/>
                      </a:pPr>
                      <a:r>
                        <a:rPr lang="en" dirty="0"/>
                        <a:t>Vitamin D</a:t>
                      </a:r>
                    </a:p>
                  </a:txBody>
                  <a:tcPr anchor="ctr">
                    <a:lnL>
                      <a:noFill/>
                    </a:lnL>
                    <a:lnR>
                      <a:noFill/>
                    </a:lnR>
                    <a:lnT>
                      <a:noFill/>
                    </a:lnT>
                    <a:lnB>
                      <a:noFill/>
                    </a:lnB>
                    <a:noFill/>
                  </a:tcPr>
                </a:tc>
                <a:tc>
                  <a:txBody>
                    <a:bodyPr/>
                    <a:lstStyle/>
                    <a:p>
                      <a:pPr>
                        <a:buNone/>
                      </a:pPr>
                      <a:r>
                        <a:rPr lang="en" altLang="zh-CN" dirty="0"/>
                        <a:t>need to be restored [7]</a:t>
                      </a:r>
                      <a:endParaRPr lang="zh-CN" altLang="en-US" dirty="0"/>
                    </a:p>
                  </a:txBody>
                  <a:tcPr anchor="ctr">
                    <a:lnL>
                      <a:noFill/>
                    </a:lnL>
                    <a:lnR>
                      <a:noFill/>
                    </a:lnR>
                    <a:lnT>
                      <a:noFill/>
                    </a:lnT>
                    <a:lnB>
                      <a:noFill/>
                    </a:lnB>
                    <a:noFill/>
                  </a:tcPr>
                </a:tc>
                <a:tc>
                  <a:txBody>
                    <a:bodyPr/>
                    <a:lstStyle/>
                    <a:p>
                      <a:pPr>
                        <a:buNone/>
                      </a:pPr>
                      <a:r>
                        <a:rPr lang="en" altLang="zh-CN" dirty="0"/>
                        <a:t>It plays an important role in bone recovery and immunity</a:t>
                      </a:r>
                      <a:endParaRPr lang="zh-CN" altLang="en-US" dirty="0"/>
                    </a:p>
                  </a:txBody>
                  <a:tcPr anchor="ctr">
                    <a:lnL>
                      <a:noFill/>
                    </a:lnL>
                    <a:lnR>
                      <a:noFill/>
                    </a:lnR>
                    <a:lnT>
                      <a:noFill/>
                    </a:lnT>
                    <a:lnB>
                      <a:noFill/>
                    </a:lnB>
                    <a:noFill/>
                  </a:tcPr>
                </a:tc>
                <a:extLst>
                  <a:ext uri="{0D108BD9-81ED-4DB2-BD59-A6C34878D82A}">
                    <a16:rowId xmlns:a16="http://schemas.microsoft.com/office/drawing/2014/main" val="1878255254"/>
                  </a:ext>
                </a:extLst>
              </a:tr>
              <a:tr h="774459">
                <a:tc>
                  <a:txBody>
                    <a:bodyPr/>
                    <a:lstStyle/>
                    <a:p>
                      <a:pPr>
                        <a:buNone/>
                      </a:pPr>
                      <a:r>
                        <a:rPr lang="en"/>
                        <a:t>Calcium</a:t>
                      </a:r>
                    </a:p>
                  </a:txBody>
                  <a:tcPr anchor="ctr">
                    <a:lnL>
                      <a:noFill/>
                    </a:lnL>
                    <a:lnR>
                      <a:noFill/>
                    </a:lnR>
                    <a:lnT>
                      <a:noFill/>
                    </a:lnT>
                    <a:lnB>
                      <a:noFill/>
                    </a:lnB>
                    <a:noFill/>
                  </a:tcPr>
                </a:tc>
                <a:tc>
                  <a:txBody>
                    <a:bodyPr/>
                    <a:lstStyle/>
                    <a:p>
                      <a:pPr>
                        <a:buNone/>
                      </a:pPr>
                      <a:r>
                        <a:rPr lang="en" altLang="zh-CN" dirty="0"/>
                        <a:t>key Minerals [7]</a:t>
                      </a:r>
                      <a:endParaRPr lang="zh-CN" altLang="en-US" dirty="0"/>
                    </a:p>
                  </a:txBody>
                  <a:tcPr anchor="ctr">
                    <a:lnL>
                      <a:noFill/>
                    </a:lnL>
                    <a:lnR>
                      <a:noFill/>
                    </a:lnR>
                    <a:lnT>
                      <a:noFill/>
                    </a:lnT>
                    <a:lnB>
                      <a:noFill/>
                    </a:lnB>
                    <a:noFill/>
                  </a:tcPr>
                </a:tc>
                <a:tc>
                  <a:txBody>
                    <a:bodyPr/>
                    <a:lstStyle/>
                    <a:p>
                      <a:pPr>
                        <a:buNone/>
                      </a:pPr>
                      <a:r>
                        <a:rPr lang="en" altLang="zh-CN" dirty="0"/>
                        <a:t>Lactation + Bone Density Recovery Needs</a:t>
                      </a:r>
                      <a:endParaRPr lang="zh-CN" altLang="en-US" dirty="0"/>
                    </a:p>
                  </a:txBody>
                  <a:tcPr anchor="ctr">
                    <a:lnL>
                      <a:noFill/>
                    </a:lnL>
                    <a:lnR>
                      <a:noFill/>
                    </a:lnR>
                    <a:lnT>
                      <a:noFill/>
                    </a:lnT>
                    <a:lnB>
                      <a:noFill/>
                    </a:lnB>
                    <a:noFill/>
                  </a:tcPr>
                </a:tc>
                <a:extLst>
                  <a:ext uri="{0D108BD9-81ED-4DB2-BD59-A6C34878D82A}">
                    <a16:rowId xmlns:a16="http://schemas.microsoft.com/office/drawing/2014/main" val="3207937420"/>
                  </a:ext>
                </a:extLst>
              </a:tr>
              <a:tr h="930513">
                <a:tc>
                  <a:txBody>
                    <a:bodyPr/>
                    <a:lstStyle/>
                    <a:p>
                      <a:pPr>
                        <a:buNone/>
                      </a:pPr>
                      <a:r>
                        <a:rPr lang="en" dirty="0"/>
                        <a:t>TSH / Thyroid profile</a:t>
                      </a:r>
                    </a:p>
                  </a:txBody>
                  <a:tcPr anchor="ctr">
                    <a:lnL>
                      <a:noFill/>
                    </a:lnL>
                    <a:lnR>
                      <a:noFill/>
                    </a:lnR>
                    <a:lnT>
                      <a:noFill/>
                    </a:lnT>
                    <a:lnB>
                      <a:noFill/>
                    </a:lnB>
                    <a:noFill/>
                  </a:tcPr>
                </a:tc>
                <a:tc>
                  <a:txBody>
                    <a:bodyPr/>
                    <a:lstStyle/>
                    <a:p>
                      <a:pPr>
                        <a:buNone/>
                      </a:pPr>
                      <a:r>
                        <a:rPr lang="en" altLang="zh-CN" dirty="0"/>
                        <a:t>TSH fluctuations [8]</a:t>
                      </a:r>
                      <a:endParaRPr lang="zh-CN" altLang="en-US" dirty="0"/>
                    </a:p>
                  </a:txBody>
                  <a:tcPr anchor="ctr">
                    <a:lnL>
                      <a:noFill/>
                    </a:lnL>
                    <a:lnR>
                      <a:noFill/>
                    </a:lnR>
                    <a:lnT>
                      <a:noFill/>
                    </a:lnT>
                    <a:lnB>
                      <a:noFill/>
                    </a:lnB>
                    <a:noFill/>
                  </a:tcPr>
                </a:tc>
                <a:tc>
                  <a:txBody>
                    <a:bodyPr/>
                    <a:lstStyle/>
                    <a:p>
                      <a:pPr>
                        <a:buNone/>
                      </a:pPr>
                      <a:r>
                        <a:rPr lang="en" altLang="zh-CN" dirty="0"/>
                        <a:t>Postpartum thyroid loss can easily affect energy and weight</a:t>
                      </a:r>
                      <a:endParaRPr lang="zh-CN" altLang="en-US" dirty="0"/>
                    </a:p>
                  </a:txBody>
                  <a:tcPr anchor="ctr">
                    <a:lnL>
                      <a:noFill/>
                    </a:lnL>
                    <a:lnR>
                      <a:noFill/>
                    </a:lnR>
                    <a:lnT>
                      <a:noFill/>
                    </a:lnT>
                    <a:lnB>
                      <a:noFill/>
                    </a:lnB>
                    <a:noFill/>
                  </a:tcPr>
                </a:tc>
                <a:extLst>
                  <a:ext uri="{0D108BD9-81ED-4DB2-BD59-A6C34878D82A}">
                    <a16:rowId xmlns:a16="http://schemas.microsoft.com/office/drawing/2014/main" val="723373819"/>
                  </a:ext>
                </a:extLst>
              </a:tr>
            </a:tbl>
          </a:graphicData>
        </a:graphic>
      </p:graphicFrame>
      <p:sp>
        <p:nvSpPr>
          <p:cNvPr id="6" name="文本框 5">
            <a:extLst>
              <a:ext uri="{FF2B5EF4-FFF2-40B4-BE49-F238E27FC236}">
                <a16:creationId xmlns:a16="http://schemas.microsoft.com/office/drawing/2014/main" id="{E2F6EC7D-3FA8-5703-56D9-70220B9399A1}"/>
              </a:ext>
            </a:extLst>
          </p:cNvPr>
          <p:cNvSpPr txBox="1"/>
          <p:nvPr/>
        </p:nvSpPr>
        <p:spPr>
          <a:xfrm>
            <a:off x="705315" y="6136105"/>
            <a:ext cx="10648485" cy="738664"/>
          </a:xfrm>
          <a:prstGeom prst="rect">
            <a:avLst/>
          </a:prstGeom>
          <a:noFill/>
        </p:spPr>
        <p:txBody>
          <a:bodyPr wrap="square">
            <a:spAutoFit/>
          </a:bodyPr>
          <a:lstStyle/>
          <a:p>
            <a:r>
              <a:rPr lang="en" altLang="zh-CN" sz="1050" b="0" i="0" dirty="0">
                <a:solidFill>
                  <a:srgbClr val="1B1B1B"/>
                </a:solidFill>
                <a:effectLst/>
                <a:latin typeface="Roboto Mono Web"/>
              </a:rPr>
              <a:t>[6]Pengelly, Michael et al. “Iron deficiency, supplementation, and sports performance in female athletes: A systematic review.” </a:t>
            </a:r>
            <a:r>
              <a:rPr lang="en" altLang="zh-CN" sz="1050" b="0" i="1" dirty="0">
                <a:solidFill>
                  <a:srgbClr val="1B1B1B"/>
                </a:solidFill>
                <a:effectLst/>
                <a:latin typeface="Roboto Mono Web"/>
              </a:rPr>
              <a:t>Journal of sport and health science</a:t>
            </a:r>
            <a:r>
              <a:rPr lang="en" altLang="zh-CN" sz="1050" b="0" i="0" dirty="0">
                <a:solidFill>
                  <a:srgbClr val="1B1B1B"/>
                </a:solidFill>
                <a:effectLst/>
                <a:latin typeface="Roboto Mono Web"/>
              </a:rPr>
              <a:t>, vol. 14 101009. 12 Nov. 2024, [7]</a:t>
            </a:r>
            <a:r>
              <a:rPr lang="en" altLang="zh-CN" sz="1050" dirty="0">
                <a:solidFill>
                  <a:srgbClr val="1B1B1B"/>
                </a:solidFill>
                <a:latin typeface="Roboto Mono Web"/>
              </a:rPr>
              <a:t>Holtzman B, Ackerman KE. Recommendations and Nutritional Considerations for Female Athletes: Health and Performance. Sports Med. 2021;51(Suppl 1):43-57. [8]Jin, Ying et al. “Prevalence of thyroid dysfunction in postpartum women with suboptimal iodine and selenium and adequate iron status.” Clinical endocrinology vol. 95,6 (2021): 873-881. </a:t>
            </a:r>
            <a:endParaRPr lang="zh-CN" altLang="en-US" sz="1050" dirty="0">
              <a:solidFill>
                <a:srgbClr val="1B1B1B"/>
              </a:solidFill>
              <a:latin typeface="Roboto Mono Web"/>
            </a:endParaRPr>
          </a:p>
        </p:txBody>
      </p:sp>
    </p:spTree>
    <p:extLst>
      <p:ext uri="{BB962C8B-B14F-4D97-AF65-F5344CB8AC3E}">
        <p14:creationId xmlns:p14="http://schemas.microsoft.com/office/powerpoint/2010/main" val="1039190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014E14-D2D4-EAE7-C262-F2B6E3700580}"/>
              </a:ext>
            </a:extLst>
          </p:cNvPr>
          <p:cNvSpPr>
            <a:spLocks noGrp="1"/>
          </p:cNvSpPr>
          <p:nvPr>
            <p:ph type="title"/>
          </p:nvPr>
        </p:nvSpPr>
        <p:spPr/>
        <p:txBody>
          <a:bodyPr/>
          <a:lstStyle/>
          <a:p>
            <a:r>
              <a:rPr kumimoji="1" lang="en-US" altLang="zh-CN" dirty="0"/>
              <a:t>C - </a:t>
            </a:r>
            <a:r>
              <a:rPr lang="en" altLang="zh-CN" dirty="0"/>
              <a:t>Clinical history </a:t>
            </a:r>
            <a:endParaRPr kumimoji="1" lang="zh-CN" altLang="en-US" dirty="0"/>
          </a:p>
        </p:txBody>
      </p:sp>
      <p:graphicFrame>
        <p:nvGraphicFramePr>
          <p:cNvPr id="4" name="内容占位符 3">
            <a:extLst>
              <a:ext uri="{FF2B5EF4-FFF2-40B4-BE49-F238E27FC236}">
                <a16:creationId xmlns:a16="http://schemas.microsoft.com/office/drawing/2014/main" id="{007D1342-F0DD-71A0-081B-71A4A19F5424}"/>
              </a:ext>
            </a:extLst>
          </p:cNvPr>
          <p:cNvGraphicFramePr>
            <a:graphicFrameLocks noGrp="1"/>
          </p:cNvGraphicFramePr>
          <p:nvPr>
            <p:ph idx="1"/>
            <p:extLst>
              <p:ext uri="{D42A27DB-BD31-4B8C-83A1-F6EECF244321}">
                <p14:modId xmlns:p14="http://schemas.microsoft.com/office/powerpoint/2010/main" val="928590954"/>
              </p:ext>
            </p:extLst>
          </p:nvPr>
        </p:nvGraphicFramePr>
        <p:xfrm>
          <a:off x="838199" y="1690687"/>
          <a:ext cx="10652185" cy="4434068"/>
        </p:xfrm>
        <a:graphic>
          <a:graphicData uri="http://schemas.openxmlformats.org/drawingml/2006/table">
            <a:tbl>
              <a:tblPr/>
              <a:tblGrid>
                <a:gridCol w="2941436">
                  <a:extLst>
                    <a:ext uri="{9D8B030D-6E8A-4147-A177-3AD203B41FA5}">
                      <a16:colId xmlns:a16="http://schemas.microsoft.com/office/drawing/2014/main" val="3163188228"/>
                    </a:ext>
                  </a:extLst>
                </a:gridCol>
                <a:gridCol w="7710749">
                  <a:extLst>
                    <a:ext uri="{9D8B030D-6E8A-4147-A177-3AD203B41FA5}">
                      <a16:colId xmlns:a16="http://schemas.microsoft.com/office/drawing/2014/main" val="4030036953"/>
                    </a:ext>
                  </a:extLst>
                </a:gridCol>
              </a:tblGrid>
              <a:tr h="735971">
                <a:tc>
                  <a:txBody>
                    <a:bodyPr/>
                    <a:lstStyle/>
                    <a:p>
                      <a:pPr>
                        <a:buNone/>
                      </a:pPr>
                      <a:r>
                        <a:rPr lang="en-US" altLang="zh-CN" dirty="0"/>
                        <a:t>facts</a:t>
                      </a:r>
                      <a:endParaRPr lang="zh-CN" altLang="en-US" dirty="0"/>
                    </a:p>
                  </a:txBody>
                  <a:tcPr anchor="ctr">
                    <a:lnL>
                      <a:noFill/>
                    </a:lnL>
                    <a:lnR>
                      <a:noFill/>
                    </a:lnR>
                    <a:lnT>
                      <a:noFill/>
                    </a:lnT>
                    <a:lnB>
                      <a:noFill/>
                    </a:lnB>
                    <a:noFill/>
                  </a:tcPr>
                </a:tc>
                <a:tc>
                  <a:txBody>
                    <a:bodyPr/>
                    <a:lstStyle/>
                    <a:p>
                      <a:pPr>
                        <a:buNone/>
                      </a:pPr>
                      <a:r>
                        <a:rPr lang="en-US" altLang="zh-CN" dirty="0"/>
                        <a:t>details</a:t>
                      </a:r>
                      <a:endParaRPr lang="zh-CN" altLang="en-US" dirty="0"/>
                    </a:p>
                  </a:txBody>
                  <a:tcPr anchor="ctr">
                    <a:lnL>
                      <a:noFill/>
                    </a:lnL>
                    <a:lnR>
                      <a:noFill/>
                    </a:lnR>
                    <a:lnT>
                      <a:noFill/>
                    </a:lnT>
                    <a:lnB>
                      <a:noFill/>
                    </a:lnB>
                    <a:noFill/>
                  </a:tcPr>
                </a:tc>
                <a:extLst>
                  <a:ext uri="{0D108BD9-81ED-4DB2-BD59-A6C34878D82A}">
                    <a16:rowId xmlns:a16="http://schemas.microsoft.com/office/drawing/2014/main" val="733241726"/>
                  </a:ext>
                </a:extLst>
              </a:tr>
              <a:tr h="735971">
                <a:tc>
                  <a:txBody>
                    <a:bodyPr/>
                    <a:lstStyle/>
                    <a:p>
                      <a:pPr>
                        <a:buNone/>
                      </a:pPr>
                      <a:r>
                        <a:rPr lang="en"/>
                        <a:t>Delivery type</a:t>
                      </a:r>
                    </a:p>
                  </a:txBody>
                  <a:tcPr anchor="ctr">
                    <a:lnL>
                      <a:noFill/>
                    </a:lnL>
                    <a:lnR>
                      <a:noFill/>
                    </a:lnR>
                    <a:lnT>
                      <a:noFill/>
                    </a:lnT>
                    <a:lnB>
                      <a:noFill/>
                    </a:lnB>
                    <a:noFill/>
                  </a:tcPr>
                </a:tc>
                <a:tc>
                  <a:txBody>
                    <a:bodyPr/>
                    <a:lstStyle/>
                    <a:p>
                      <a:pPr>
                        <a:buNone/>
                      </a:pPr>
                      <a:r>
                        <a:rPr lang="en" altLang="zh-CN" dirty="0"/>
                        <a:t>Hypothesis: Vaginal delivery (no complications) / minor birth canal injury</a:t>
                      </a:r>
                      <a:endParaRPr lang="zh-CN" altLang="en-US" dirty="0"/>
                    </a:p>
                  </a:txBody>
                  <a:tcPr anchor="ctr">
                    <a:lnL>
                      <a:noFill/>
                    </a:lnL>
                    <a:lnR>
                      <a:noFill/>
                    </a:lnR>
                    <a:lnT>
                      <a:noFill/>
                    </a:lnT>
                    <a:lnB>
                      <a:noFill/>
                    </a:lnB>
                    <a:noFill/>
                  </a:tcPr>
                </a:tc>
                <a:extLst>
                  <a:ext uri="{0D108BD9-81ED-4DB2-BD59-A6C34878D82A}">
                    <a16:rowId xmlns:a16="http://schemas.microsoft.com/office/drawing/2014/main" val="1964646179"/>
                  </a:ext>
                </a:extLst>
              </a:tr>
              <a:tr h="735971">
                <a:tc>
                  <a:txBody>
                    <a:bodyPr/>
                    <a:lstStyle/>
                    <a:p>
                      <a:pPr>
                        <a:buNone/>
                      </a:pPr>
                      <a:r>
                        <a:rPr lang="en"/>
                        <a:t>Menstrual function</a:t>
                      </a:r>
                    </a:p>
                  </a:txBody>
                  <a:tcPr anchor="ctr">
                    <a:lnL>
                      <a:noFill/>
                    </a:lnL>
                    <a:lnR>
                      <a:noFill/>
                    </a:lnR>
                    <a:lnT>
                      <a:noFill/>
                    </a:lnT>
                    <a:lnB>
                      <a:noFill/>
                    </a:lnB>
                    <a:noFill/>
                  </a:tcPr>
                </a:tc>
                <a:tc>
                  <a:txBody>
                    <a:bodyPr/>
                    <a:lstStyle/>
                    <a:p>
                      <a:pPr>
                        <a:buNone/>
                      </a:pPr>
                      <a:r>
                        <a:rPr lang="en" altLang="zh-CN" dirty="0"/>
                        <a:t>may not have recovered yet</a:t>
                      </a:r>
                      <a:endParaRPr lang="zh-CN" altLang="en-US" dirty="0"/>
                    </a:p>
                  </a:txBody>
                  <a:tcPr anchor="ctr">
                    <a:lnL>
                      <a:noFill/>
                    </a:lnL>
                    <a:lnR>
                      <a:noFill/>
                    </a:lnR>
                    <a:lnT>
                      <a:noFill/>
                    </a:lnT>
                    <a:lnB>
                      <a:noFill/>
                    </a:lnB>
                    <a:noFill/>
                  </a:tcPr>
                </a:tc>
                <a:extLst>
                  <a:ext uri="{0D108BD9-81ED-4DB2-BD59-A6C34878D82A}">
                    <a16:rowId xmlns:a16="http://schemas.microsoft.com/office/drawing/2014/main" val="680865909"/>
                  </a:ext>
                </a:extLst>
              </a:tr>
              <a:tr h="754213">
                <a:tc>
                  <a:txBody>
                    <a:bodyPr/>
                    <a:lstStyle/>
                    <a:p>
                      <a:pPr>
                        <a:buNone/>
                      </a:pPr>
                      <a:r>
                        <a:rPr lang="en"/>
                        <a:t>Musculoskeletal</a:t>
                      </a:r>
                    </a:p>
                  </a:txBody>
                  <a:tcPr anchor="ctr">
                    <a:lnL>
                      <a:noFill/>
                    </a:lnL>
                    <a:lnR>
                      <a:noFill/>
                    </a:lnR>
                    <a:lnT>
                      <a:noFill/>
                    </a:lnT>
                    <a:lnB>
                      <a:noFill/>
                    </a:lnB>
                    <a:noFill/>
                  </a:tcPr>
                </a:tc>
                <a:tc>
                  <a:txBody>
                    <a:bodyPr/>
                    <a:lstStyle/>
                    <a:p>
                      <a:pPr>
                        <a:buNone/>
                      </a:pPr>
                      <a:r>
                        <a:rPr lang="en" altLang="zh-CN" dirty="0"/>
                        <a:t>Attention should be paid to core stability, pelvic alignment, and lumbopelvic control</a:t>
                      </a:r>
                      <a:endParaRPr lang="zh-CN" altLang="en-US" dirty="0"/>
                    </a:p>
                  </a:txBody>
                  <a:tcPr anchor="ctr">
                    <a:lnL>
                      <a:noFill/>
                    </a:lnL>
                    <a:lnR>
                      <a:noFill/>
                    </a:lnR>
                    <a:lnT>
                      <a:noFill/>
                    </a:lnT>
                    <a:lnB>
                      <a:noFill/>
                    </a:lnB>
                    <a:noFill/>
                  </a:tcPr>
                </a:tc>
                <a:extLst>
                  <a:ext uri="{0D108BD9-81ED-4DB2-BD59-A6C34878D82A}">
                    <a16:rowId xmlns:a16="http://schemas.microsoft.com/office/drawing/2014/main" val="3780180573"/>
                  </a:ext>
                </a:extLst>
              </a:tr>
              <a:tr h="735971">
                <a:tc>
                  <a:txBody>
                    <a:bodyPr/>
                    <a:lstStyle/>
                    <a:p>
                      <a:pPr>
                        <a:buNone/>
                      </a:pPr>
                      <a:r>
                        <a:rPr lang="en"/>
                        <a:t>Fatigue &amp; sleep</a:t>
                      </a:r>
                    </a:p>
                  </a:txBody>
                  <a:tcPr anchor="ctr">
                    <a:lnL>
                      <a:noFill/>
                    </a:lnL>
                    <a:lnR>
                      <a:noFill/>
                    </a:lnR>
                    <a:lnT>
                      <a:noFill/>
                    </a:lnT>
                    <a:lnB>
                      <a:noFill/>
                    </a:lnB>
                    <a:noFill/>
                  </a:tcPr>
                </a:tc>
                <a:tc>
                  <a:txBody>
                    <a:bodyPr/>
                    <a:lstStyle/>
                    <a:p>
                      <a:pPr>
                        <a:buNone/>
                      </a:pPr>
                      <a:r>
                        <a:rPr lang="en" altLang="zh-CN" dirty="0"/>
                        <a:t>Newborn care → Fragmented sleep, fatigue</a:t>
                      </a:r>
                      <a:endParaRPr lang="zh-CN" altLang="en-US" dirty="0"/>
                    </a:p>
                  </a:txBody>
                  <a:tcPr anchor="ctr">
                    <a:lnL>
                      <a:noFill/>
                    </a:lnL>
                    <a:lnR>
                      <a:noFill/>
                    </a:lnR>
                    <a:lnT>
                      <a:noFill/>
                    </a:lnT>
                    <a:lnB>
                      <a:noFill/>
                    </a:lnB>
                    <a:noFill/>
                  </a:tcPr>
                </a:tc>
                <a:extLst>
                  <a:ext uri="{0D108BD9-81ED-4DB2-BD59-A6C34878D82A}">
                    <a16:rowId xmlns:a16="http://schemas.microsoft.com/office/drawing/2014/main" val="1699534823"/>
                  </a:ext>
                </a:extLst>
              </a:tr>
              <a:tr h="735971">
                <a:tc>
                  <a:txBody>
                    <a:bodyPr/>
                    <a:lstStyle/>
                    <a:p>
                      <a:pPr>
                        <a:buNone/>
                      </a:pPr>
                      <a:r>
                        <a:rPr lang="en"/>
                        <a:t>Injury risk</a:t>
                      </a:r>
                    </a:p>
                  </a:txBody>
                  <a:tcPr anchor="ctr">
                    <a:lnL>
                      <a:noFill/>
                    </a:lnL>
                    <a:lnR>
                      <a:noFill/>
                    </a:lnR>
                    <a:lnT>
                      <a:noFill/>
                    </a:lnT>
                    <a:lnB>
                      <a:noFill/>
                    </a:lnB>
                    <a:noFill/>
                  </a:tcPr>
                </a:tc>
                <a:tc>
                  <a:txBody>
                    <a:bodyPr/>
                    <a:lstStyle/>
                    <a:p>
                      <a:pPr>
                        <a:buNone/>
                      </a:pPr>
                      <a:r>
                        <a:rPr lang="en" altLang="zh-CN" dirty="0"/>
                        <a:t>The postpartum ligament relaxation period requires gradual recovery</a:t>
                      </a:r>
                      <a:endParaRPr lang="zh-CN" altLang="en-US" dirty="0"/>
                    </a:p>
                  </a:txBody>
                  <a:tcPr anchor="ctr">
                    <a:lnL>
                      <a:noFill/>
                    </a:lnL>
                    <a:lnR>
                      <a:noFill/>
                    </a:lnR>
                    <a:lnT>
                      <a:noFill/>
                    </a:lnT>
                    <a:lnB>
                      <a:noFill/>
                    </a:lnB>
                    <a:noFill/>
                  </a:tcPr>
                </a:tc>
                <a:extLst>
                  <a:ext uri="{0D108BD9-81ED-4DB2-BD59-A6C34878D82A}">
                    <a16:rowId xmlns:a16="http://schemas.microsoft.com/office/drawing/2014/main" val="2689004397"/>
                  </a:ext>
                </a:extLst>
              </a:tr>
            </a:tbl>
          </a:graphicData>
        </a:graphic>
      </p:graphicFrame>
    </p:spTree>
    <p:extLst>
      <p:ext uri="{BB962C8B-B14F-4D97-AF65-F5344CB8AC3E}">
        <p14:creationId xmlns:p14="http://schemas.microsoft.com/office/powerpoint/2010/main" val="4059435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1CFEF0-D774-2C68-5ECA-48FE16BD8AB3}"/>
              </a:ext>
            </a:extLst>
          </p:cNvPr>
          <p:cNvSpPr>
            <a:spLocks noGrp="1"/>
          </p:cNvSpPr>
          <p:nvPr>
            <p:ph type="title"/>
          </p:nvPr>
        </p:nvSpPr>
        <p:spPr/>
        <p:txBody>
          <a:bodyPr/>
          <a:lstStyle/>
          <a:p>
            <a:r>
              <a:rPr kumimoji="1" lang="en-US" altLang="zh-CN" dirty="0"/>
              <a:t>D - </a:t>
            </a:r>
            <a:r>
              <a:rPr lang="en" altLang="zh-CN" dirty="0"/>
              <a:t>Dietary intake</a:t>
            </a:r>
            <a:endParaRPr kumimoji="1" lang="zh-CN" altLang="en-US" dirty="0"/>
          </a:p>
        </p:txBody>
      </p:sp>
      <p:sp>
        <p:nvSpPr>
          <p:cNvPr id="3" name="内容占位符 2">
            <a:extLst>
              <a:ext uri="{FF2B5EF4-FFF2-40B4-BE49-F238E27FC236}">
                <a16:creationId xmlns:a16="http://schemas.microsoft.com/office/drawing/2014/main" id="{8205EACD-EEFE-BE37-FEDC-57966FC56704}"/>
              </a:ext>
            </a:extLst>
          </p:cNvPr>
          <p:cNvSpPr>
            <a:spLocks noGrp="1"/>
          </p:cNvSpPr>
          <p:nvPr>
            <p:ph idx="1"/>
          </p:nvPr>
        </p:nvSpPr>
        <p:spPr>
          <a:xfrm>
            <a:off x="838200" y="1877383"/>
            <a:ext cx="10696074" cy="4333635"/>
          </a:xfrm>
        </p:spPr>
        <p:txBody>
          <a:bodyPr>
            <a:normAutofit/>
          </a:bodyPr>
          <a:lstStyle/>
          <a:p>
            <a:pPr marL="0" indent="0">
              <a:buNone/>
            </a:pPr>
            <a:r>
              <a:rPr lang="en" altLang="zh-CN" sz="2400" dirty="0">
                <a:latin typeface="Times New Roman" panose="02020603050405020304" pitchFamily="18" charset="0"/>
                <a:cs typeface="Times New Roman" panose="02020603050405020304" pitchFamily="18" charset="0"/>
              </a:rPr>
              <a:t>Insufficient energy intake: risk: REDS</a:t>
            </a:r>
            <a:r>
              <a:rPr lang="en" altLang="zh-CN" sz="1100" dirty="0">
                <a:latin typeface="Times New Roman" panose="02020603050405020304" pitchFamily="18" charset="0"/>
                <a:cs typeface="Times New Roman" panose="02020603050405020304" pitchFamily="18" charset="0"/>
              </a:rPr>
              <a:t>(Relative Energy Deficiency in Sport) </a:t>
            </a:r>
            <a:r>
              <a:rPr lang="en" altLang="zh-CN" sz="2400" dirty="0">
                <a:latin typeface="Times New Roman" panose="02020603050405020304" pitchFamily="18" charset="0"/>
                <a:cs typeface="Times New Roman" panose="02020603050405020304" pitchFamily="18" charset="0"/>
              </a:rPr>
              <a:t> / decreased lactation / poor recovery</a:t>
            </a:r>
          </a:p>
          <a:p>
            <a:pPr marL="0" indent="0">
              <a:buNone/>
            </a:pPr>
            <a:r>
              <a:rPr lang="en" altLang="zh-CN" sz="2400" dirty="0">
                <a:latin typeface="Times New Roman" panose="02020603050405020304" pitchFamily="18" charset="0"/>
                <a:cs typeface="Times New Roman" panose="02020603050405020304" pitchFamily="18" charset="0"/>
              </a:rPr>
              <a:t>
Inadequate protein distribution (4 meal allocations not reached)</a:t>
            </a:r>
          </a:p>
          <a:p>
            <a:pPr marL="0" indent="0">
              <a:buNone/>
            </a:pPr>
            <a:r>
              <a:rPr lang="en" altLang="zh-CN" sz="2400" dirty="0">
                <a:latin typeface="Times New Roman" panose="02020603050405020304" pitchFamily="18" charset="0"/>
                <a:cs typeface="Times New Roman" panose="02020603050405020304" pitchFamily="18" charset="0"/>
              </a:rPr>
              <a:t>
Carb deficiency: affects training recovery &amp; milk production</a:t>
            </a:r>
          </a:p>
          <a:p>
            <a:pPr marL="0" indent="0">
              <a:buNone/>
            </a:pPr>
            <a:r>
              <a:rPr lang="en" altLang="zh-CN" sz="2400" dirty="0">
                <a:latin typeface="Times New Roman" panose="02020603050405020304" pitchFamily="18" charset="0"/>
                <a:cs typeface="Times New Roman" panose="02020603050405020304" pitchFamily="18" charset="0"/>
              </a:rPr>
              <a:t>
Low intake of iron, calcium, and vitamin D. Lack of hydration</a:t>
            </a:r>
          </a:p>
          <a:p>
            <a:pPr marL="0" indent="0">
              <a:buNone/>
            </a:pPr>
            <a:r>
              <a:rPr lang="en" altLang="zh-CN" sz="2400" dirty="0">
                <a:latin typeface="Times New Roman" panose="02020603050405020304" pitchFamily="18" charset="0"/>
                <a:cs typeface="Times New Roman" panose="02020603050405020304" pitchFamily="18" charset="0"/>
              </a:rPr>
              <a:t>(postpartum breastfeeding + exercise)</a:t>
            </a:r>
            <a:endParaRPr kumimoji="1"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8775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ACE76D-5739-1502-9526-9F9BFAF52802}"/>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3 Energy requirements – Harris-Benedict</a:t>
            </a:r>
            <a:endParaRPr kumimoji="1"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542008B-1CD4-0291-9867-8A7E37289392}"/>
                  </a:ext>
                </a:extLst>
              </p:cNvPr>
              <p:cNvSpPr>
                <a:spLocks noGrp="1"/>
              </p:cNvSpPr>
              <p:nvPr>
                <p:ph idx="1"/>
              </p:nvPr>
            </p:nvSpPr>
            <p:spPr>
              <a:xfrm>
                <a:off x="627647" y="2295233"/>
                <a:ext cx="10936705" cy="3545304"/>
              </a:xfrm>
            </p:spPr>
            <p:txBody>
              <a:bodyPr>
                <a:normAutofit/>
              </a:bodyPr>
              <a:lstStyle/>
              <a:p>
                <a:pPr marL="0" indent="0" algn="ctr">
                  <a:buNone/>
                </a:pPr>
                <a:r>
                  <a:rPr lang="en" altLang="zh-CN" dirty="0">
                    <a:latin typeface="Times New Roman" panose="02020603050405020304" pitchFamily="18" charset="0"/>
                    <a:cs typeface="Times New Roman" panose="02020603050405020304" pitchFamily="18" charset="0"/>
                  </a:rPr>
                  <a:t>BMR=(10×</a:t>
                </a:r>
                <a:r>
                  <a:rPr lang="en-US" altLang="zh-CN" dirty="0">
                    <a:latin typeface="Times New Roman" panose="02020603050405020304" pitchFamily="18" charset="0"/>
                    <a:cs typeface="Times New Roman" panose="02020603050405020304" pitchFamily="18" charset="0"/>
                  </a:rPr>
                  <a:t>weight(</a:t>
                </a:r>
                <a:r>
                  <a:rPr lang="en" altLang="zh-CN" dirty="0">
                    <a:latin typeface="Times New Roman" panose="02020603050405020304" pitchFamily="18" charset="0"/>
                    <a:cs typeface="Times New Roman" panose="02020603050405020304" pitchFamily="18" charset="0"/>
                  </a:rPr>
                  <a:t>kg))+(6.25×</a:t>
                </a:r>
                <a:r>
                  <a:rPr lang="en-US" altLang="zh-CN" dirty="0">
                    <a:latin typeface="Times New Roman" panose="02020603050405020304" pitchFamily="18" charset="0"/>
                    <a:cs typeface="Times New Roman" panose="02020603050405020304" pitchFamily="18" charset="0"/>
                  </a:rPr>
                  <a:t>hight(</a:t>
                </a:r>
                <a:r>
                  <a:rPr lang="en" altLang="zh-CN" dirty="0">
                    <a:latin typeface="Times New Roman" panose="02020603050405020304" pitchFamily="18" charset="0"/>
                    <a:cs typeface="Times New Roman" panose="02020603050405020304" pitchFamily="18" charset="0"/>
                  </a:rPr>
                  <a:t>cm))−(5×</a:t>
                </a:r>
                <a:r>
                  <a:rPr lang="en-US" altLang="zh-CN" dirty="0">
                    <a:latin typeface="Times New Roman" panose="02020603050405020304" pitchFamily="18" charset="0"/>
                    <a:cs typeface="Times New Roman" panose="02020603050405020304" pitchFamily="18" charset="0"/>
                  </a:rPr>
                  <a:t>age)−161</a:t>
                </a:r>
              </a:p>
              <a:p>
                <a:pPr marL="0" indent="0">
                  <a:buNone/>
                </a:pPr>
                <a:endParaRPr lang="en-US" altLang="zh-CN" dirty="0">
                  <a:latin typeface="Times New Roman" panose="02020603050405020304" pitchFamily="18" charset="0"/>
                  <a:cs typeface="Times New Roman" panose="02020603050405020304" pitchFamily="18" charset="0"/>
                </a:endParaRPr>
              </a:p>
              <a:p>
                <a:pPr marL="0" indent="0" algn="ctr">
                  <a:buNone/>
                </a:pPr>
                <a:r>
                  <a:rPr lang="en" altLang="zh-CN" dirty="0">
                    <a:latin typeface="Times New Roman" panose="02020603050405020304" pitchFamily="18" charset="0"/>
                    <a:cs typeface="Times New Roman" panose="02020603050405020304" pitchFamily="18" charset="0"/>
                  </a:rPr>
                  <a:t>BMR=(10×6</a:t>
                </a:r>
                <a:r>
                  <a:rPr lang="en-US" altLang="zh-CN" dirty="0">
                    <a:latin typeface="Times New Roman" panose="02020603050405020304" pitchFamily="18" charset="0"/>
                    <a:cs typeface="Times New Roman" panose="02020603050405020304" pitchFamily="18" charset="0"/>
                  </a:rPr>
                  <a:t>6.68</a:t>
                </a:r>
                <a:r>
                  <a:rPr lang="en" altLang="zh-CN" dirty="0">
                    <a:latin typeface="Times New Roman" panose="02020603050405020304" pitchFamily="18" charset="0"/>
                    <a:cs typeface="Times New Roman" panose="02020603050405020304" pitchFamily="18" charset="0"/>
                  </a:rPr>
                  <a:t>)+(6.25×16</a:t>
                </a:r>
                <a:r>
                  <a:rPr lang="en-US" altLang="zh-CN" dirty="0">
                    <a:latin typeface="Times New Roman" panose="02020603050405020304" pitchFamily="18" charset="0"/>
                    <a:cs typeface="Times New Roman" panose="02020603050405020304" pitchFamily="18" charset="0"/>
                  </a:rPr>
                  <a:t>1</a:t>
                </a:r>
                <a:r>
                  <a:rPr lang="en" altLang="zh-CN" dirty="0">
                    <a:latin typeface="Times New Roman" panose="02020603050405020304" pitchFamily="18" charset="0"/>
                    <a:cs typeface="Times New Roman" panose="02020603050405020304" pitchFamily="18" charset="0"/>
                  </a:rPr>
                  <a:t>)−(5×3</a:t>
                </a:r>
                <a:r>
                  <a:rPr lang="en-US" altLang="zh-CN" dirty="0">
                    <a:latin typeface="Times New Roman" panose="02020603050405020304" pitchFamily="18" charset="0"/>
                    <a:cs typeface="Times New Roman" panose="02020603050405020304" pitchFamily="18" charset="0"/>
                  </a:rPr>
                  <a:t>1</a:t>
                </a:r>
                <a:r>
                  <a:rPr lang="en" altLang="zh-CN" dirty="0">
                    <a:latin typeface="Times New Roman" panose="02020603050405020304" pitchFamily="18" charset="0"/>
                    <a:cs typeface="Times New Roman" panose="02020603050405020304" pitchFamily="18" charset="0"/>
                  </a:rPr>
                  <a:t>)−161 </a:t>
                </a:r>
              </a:p>
              <a:p>
                <a:pPr marL="0" indent="0">
                  <a:buNone/>
                </a:pPr>
                <a:endParaRPr lang="en" altLang="zh-CN"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
                    </m:oMathParaPr>
                    <m:oMath xmlns:m="http://schemas.openxmlformats.org/officeDocument/2006/math">
                      <m:r>
                        <m:rPr>
                          <m:sty m:val="p"/>
                        </m:rPr>
                        <a:rPr lang="en" altLang="zh-CN" b="0" i="0" smtClean="0">
                          <a:latin typeface="Cambria Math" panose="02040503050406030204" pitchFamily="18" charset="0"/>
                        </a:rPr>
                        <m:t>BMR</m:t>
                      </m:r>
                      <m:r>
                        <a:rPr lang="en" altLang="zh-CN" b="0" i="0" smtClean="0">
                          <a:latin typeface="Cambria Math" panose="02040503050406030204" pitchFamily="18" charset="0"/>
                        </a:rPr>
                        <m:t>=666.8+1006.25−155−161=135</m:t>
                      </m:r>
                      <m:r>
                        <m:rPr>
                          <m:nor/>
                        </m:rPr>
                        <a:rPr lang="en-US" altLang="zh-CN" b="0" i="0" smtClean="0">
                          <a:latin typeface="Cambria Math" panose="02040503050406030204" pitchFamily="18" charset="0"/>
                        </a:rPr>
                        <m:t>7.05</m:t>
                      </m:r>
                      <m:r>
                        <m:rPr>
                          <m:nor/>
                        </m:rPr>
                        <a:rPr lang="en" altLang="zh-CN">
                          <a:latin typeface="Times New Roman" panose="02020603050405020304" pitchFamily="18" charset="0"/>
                          <a:cs typeface="Times New Roman" panose="02020603050405020304" pitchFamily="18" charset="0"/>
                        </a:rPr>
                        <m:t> </m:t>
                      </m:r>
                      <m:r>
                        <m:rPr>
                          <m:nor/>
                        </m:rPr>
                        <a:rPr lang="en" altLang="zh-CN">
                          <a:latin typeface="Times New Roman" panose="02020603050405020304" pitchFamily="18" charset="0"/>
                          <a:cs typeface="Times New Roman" panose="02020603050405020304" pitchFamily="18" charset="0"/>
                        </a:rPr>
                        <m:t>kcal</m:t>
                      </m:r>
                      <m:r>
                        <m:rPr>
                          <m:nor/>
                        </m:rPr>
                        <a:rPr lang="en" altLang="zh-CN">
                          <a:latin typeface="Times New Roman" panose="02020603050405020304" pitchFamily="18" charset="0"/>
                          <a:cs typeface="Times New Roman" panose="02020603050405020304" pitchFamily="18" charset="0"/>
                        </a:rPr>
                        <m:t>/</m:t>
                      </m:r>
                      <m:r>
                        <m:rPr>
                          <m:nor/>
                        </m:rPr>
                        <a:rPr lang="en" altLang="zh-CN">
                          <a:latin typeface="Times New Roman" panose="02020603050405020304" pitchFamily="18" charset="0"/>
                          <a:cs typeface="Times New Roman" panose="02020603050405020304" pitchFamily="18" charset="0"/>
                        </a:rPr>
                        <m:t>day</m:t>
                      </m:r>
                    </m:oMath>
                  </m:oMathPara>
                </a14:m>
                <a:endParaRPr lang="en" altLang="zh-CN" dirty="0">
                  <a:latin typeface="Times New Roman" panose="02020603050405020304" pitchFamily="18" charset="0"/>
                  <a:cs typeface="Times New Roman" panose="02020603050405020304" pitchFamily="18" charset="0"/>
                </a:endParaRPr>
              </a:p>
              <a:p>
                <a:pPr marL="0" indent="0" algn="ctr">
                  <a:buNone/>
                </a:pPr>
                <a:r>
                  <a:rPr lang="zh-CN" altLang="en" dirty="0">
                    <a:latin typeface="Times New Roman" panose="02020603050405020304" pitchFamily="18" charset="0"/>
                    <a:cs typeface="Times New Roman" panose="02020603050405020304" pitchFamily="18" charset="0"/>
                  </a:rPr>
                  <a:t>（</a:t>
                </a:r>
                <a:r>
                  <a:rPr lang="en" altLang="zh-CN" dirty="0">
                    <a:latin typeface="Times New Roman" panose="02020603050405020304" pitchFamily="18" charset="0"/>
                    <a:cs typeface="Times New Roman" panose="02020603050405020304" pitchFamily="18" charset="0"/>
                  </a:rPr>
                  <a:t>PAL = 1.5</a:t>
                </a:r>
                <a:r>
                  <a:rPr lang="zh-CN" altLang="en" dirty="0">
                    <a:latin typeface="Times New Roman" panose="02020603050405020304" pitchFamily="18" charset="0"/>
                    <a:cs typeface="Times New Roman" panose="02020603050405020304" pitchFamily="18" charset="0"/>
                  </a:rPr>
                  <a:t>）</a:t>
                </a:r>
                <a:endParaRPr lang="en" altLang="zh-CN" dirty="0">
                  <a:latin typeface="Times New Roman" panose="02020603050405020304" pitchFamily="18" charset="0"/>
                  <a:cs typeface="Times New Roman" panose="02020603050405020304" pitchFamily="18" charset="0"/>
                </a:endParaRPr>
              </a:p>
              <a:p>
                <a:pPr marL="0" indent="0" algn="ctr">
                  <a:buNone/>
                </a:pPr>
                <a:r>
                  <a:rPr lang="en" altLang="zh-CN" dirty="0">
                    <a:latin typeface="Times New Roman" panose="02020603050405020304" pitchFamily="18" charset="0"/>
                    <a:cs typeface="Times New Roman" panose="02020603050405020304" pitchFamily="18" charset="0"/>
                  </a:rPr>
                  <a:t>TDEEnormal​=BMR×PAL=1</a:t>
                </a:r>
                <a:r>
                  <a:rPr lang="en-US" altLang="zh-CN" dirty="0">
                    <a:latin typeface="Times New Roman" panose="02020603050405020304" pitchFamily="18" charset="0"/>
                    <a:cs typeface="Times New Roman" panose="02020603050405020304" pitchFamily="18" charset="0"/>
                  </a:rPr>
                  <a:t>357.05</a:t>
                </a:r>
                <a:r>
                  <a:rPr lang="en" altLang="zh-CN" dirty="0">
                    <a:latin typeface="Times New Roman" panose="02020603050405020304" pitchFamily="18" charset="0"/>
                    <a:cs typeface="Times New Roman" panose="02020603050405020304" pitchFamily="18" charset="0"/>
                  </a:rPr>
                  <a:t>×1.5≈203</a:t>
                </a:r>
                <a:r>
                  <a:rPr lang="en-US" altLang="zh-CN" dirty="0">
                    <a:latin typeface="Times New Roman" panose="02020603050405020304" pitchFamily="18" charset="0"/>
                    <a:cs typeface="Times New Roman" panose="02020603050405020304" pitchFamily="18" charset="0"/>
                  </a:rPr>
                  <a:t>5.575</a:t>
                </a:r>
                <a:r>
                  <a:rPr lang="en" altLang="zh-CN" dirty="0">
                    <a:latin typeface="Times New Roman" panose="02020603050405020304" pitchFamily="18" charset="0"/>
                    <a:cs typeface="Times New Roman" panose="02020603050405020304" pitchFamily="18" charset="0"/>
                  </a:rPr>
                  <a:t> kcal/day</a:t>
                </a:r>
              </a:p>
              <a:p>
                <a:pPr marL="0" indent="0" algn="ctr">
                  <a:buNone/>
                </a:pPr>
                <a:endParaRPr lang="en" altLang="zh-CN" dirty="0"/>
              </a:p>
              <a:p>
                <a:pPr marL="0" indent="0">
                  <a:buNone/>
                </a:pPr>
                <a:endParaRPr kumimoji="1"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a:extLst>
                  <a:ext uri="{FF2B5EF4-FFF2-40B4-BE49-F238E27FC236}">
                    <a16:creationId xmlns:a16="http://schemas.microsoft.com/office/drawing/2014/main" id="{4542008B-1CD4-0291-9867-8A7E37289392}"/>
                  </a:ext>
                </a:extLst>
              </p:cNvPr>
              <p:cNvSpPr>
                <a:spLocks noGrp="1" noRot="1" noChangeAspect="1" noMove="1" noResize="1" noEditPoints="1" noAdjustHandles="1" noChangeArrowheads="1" noChangeShapeType="1" noTextEdit="1"/>
              </p:cNvSpPr>
              <p:nvPr>
                <p:ph idx="1"/>
              </p:nvPr>
            </p:nvSpPr>
            <p:spPr>
              <a:xfrm>
                <a:off x="627647" y="2295233"/>
                <a:ext cx="10936705" cy="3545304"/>
              </a:xfrm>
              <a:blipFill>
                <a:blip r:embed="rId3"/>
                <a:stretch>
                  <a:fillRect t="-3214" b="-10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67628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9549EB-B9A1-CA52-A7A0-2BE76FCB6FF0}"/>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3 Energy requirements – Harris-Benedict</a:t>
            </a:r>
            <a:endParaRPr kumimoji="1"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E09D08A-F8D6-8794-0C8B-F271A391A30B}"/>
                  </a:ext>
                </a:extLst>
              </p:cNvPr>
              <p:cNvSpPr>
                <a:spLocks noGrp="1"/>
              </p:cNvSpPr>
              <p:nvPr>
                <p:ph idx="1"/>
              </p:nvPr>
            </p:nvSpPr>
            <p:spPr>
              <a:xfrm>
                <a:off x="838200" y="1690688"/>
                <a:ext cx="10515600" cy="4351338"/>
              </a:xfrm>
            </p:spPr>
            <p:txBody>
              <a:bodyPr/>
              <a:lstStyle/>
              <a:p>
                <a:pPr marL="0" indent="0">
                  <a:buNone/>
                </a:pPr>
                <a:r>
                  <a:rPr lang="en" altLang="zh-CN" dirty="0">
                    <a:latin typeface="Times New Roman" panose="02020603050405020304" pitchFamily="18" charset="0"/>
                    <a:cs typeface="Times New Roman" panose="02020603050405020304" pitchFamily="18" charset="0"/>
                  </a:rPr>
                  <a:t>Suppose daily endurance training consumes 300 kcal:</a:t>
                </a:r>
              </a:p>
              <a:p>
                <a:pPr marL="0" indent="0">
                  <a:buNone/>
                </a:pPr>
                <a:endParaRPr lang="en-US" altLang="zh-CN"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n" altLang="zh-CN" b="0" i="0">
                          <a:latin typeface="Cambria Math" panose="02040503050406030204" pitchFamily="18" charset="0"/>
                        </a:rPr>
                        <m:t>TDE</m:t>
                      </m:r>
                      <m:sSub>
                        <m:sSubPr>
                          <m:ctrlPr>
                            <a:rPr lang="ar-AE" altLang="zh-CN" i="1" smtClean="0">
                              <a:latin typeface="Cambria Math" panose="02040503050406030204" pitchFamily="18" charset="0"/>
                            </a:rPr>
                          </m:ctrlPr>
                        </m:sSubPr>
                        <m:e>
                          <m:r>
                            <m:rPr>
                              <m:sty m:val="p"/>
                            </m:rPr>
                            <a:rPr lang="ar-AE" altLang="zh-CN" b="0" i="0">
                              <a:latin typeface="Cambria Math" panose="02040503050406030204" pitchFamily="18" charset="0"/>
                            </a:rPr>
                            <m:t>E</m:t>
                          </m:r>
                        </m:e>
                        <m:sub>
                          <m:r>
                            <m:rPr>
                              <m:nor/>
                            </m:rPr>
                            <a:rPr lang="en" altLang="zh-CN">
                              <a:latin typeface="Times New Roman" panose="02020603050405020304" pitchFamily="18" charset="0"/>
                              <a:cs typeface="Times New Roman" panose="02020603050405020304" pitchFamily="18" charset="0"/>
                            </a:rPr>
                            <m:t>total</m:t>
                          </m:r>
                        </m:sub>
                      </m:sSub>
                      <m:r>
                        <a:rPr lang="ar-AE" altLang="zh-CN" b="0" i="0">
                          <a:latin typeface="Cambria Math" panose="02040503050406030204" pitchFamily="18" charset="0"/>
                        </a:rPr>
                        <m:t>=</m:t>
                      </m:r>
                      <m:r>
                        <m:rPr>
                          <m:nor/>
                        </m:rPr>
                        <a:rPr lang="en" altLang="zh-CN" dirty="0">
                          <a:latin typeface="Times New Roman" panose="02020603050405020304" pitchFamily="18" charset="0"/>
                          <a:cs typeface="Times New Roman" panose="02020603050405020304" pitchFamily="18" charset="0"/>
                        </a:rPr>
                        <m:t>203</m:t>
                      </m:r>
                      <m:r>
                        <m:rPr>
                          <m:nor/>
                        </m:rPr>
                        <a:rPr lang="en-US" altLang="zh-CN" b="0" i="0" dirty="0" smtClean="0">
                          <a:latin typeface="Times New Roman" panose="02020603050405020304" pitchFamily="18" charset="0"/>
                          <a:cs typeface="Times New Roman" panose="02020603050405020304" pitchFamily="18" charset="0"/>
                        </a:rPr>
                        <m:t>5</m:t>
                      </m:r>
                      <m:r>
                        <m:rPr>
                          <m:nor/>
                        </m:rPr>
                        <a:rPr lang="en" altLang="zh-CN" dirty="0">
                          <a:latin typeface="Times New Roman" panose="02020603050405020304" pitchFamily="18" charset="0"/>
                          <a:cs typeface="Times New Roman" panose="02020603050405020304" pitchFamily="18" charset="0"/>
                        </a:rPr>
                        <m:t>.</m:t>
                      </m:r>
                      <m:r>
                        <m:rPr>
                          <m:nor/>
                        </m:rPr>
                        <a:rPr lang="en-US" altLang="zh-CN" b="0" i="0" dirty="0" smtClean="0">
                          <a:latin typeface="Times New Roman" panose="02020603050405020304" pitchFamily="18" charset="0"/>
                          <a:cs typeface="Times New Roman" panose="02020603050405020304" pitchFamily="18" charset="0"/>
                        </a:rPr>
                        <m:t>5</m:t>
                      </m:r>
                      <m:r>
                        <m:rPr>
                          <m:nor/>
                        </m:rPr>
                        <a:rPr lang="en" altLang="zh-CN" dirty="0">
                          <a:latin typeface="Times New Roman" panose="02020603050405020304" pitchFamily="18" charset="0"/>
                          <a:cs typeface="Times New Roman" panose="02020603050405020304" pitchFamily="18" charset="0"/>
                        </a:rPr>
                        <m:t>75</m:t>
                      </m:r>
                      <m:r>
                        <a:rPr lang="ar-AE" altLang="zh-CN" b="0" i="0" smtClean="0">
                          <a:latin typeface="Cambria Math" panose="02040503050406030204" pitchFamily="18" charset="0"/>
                        </a:rPr>
                        <m:t>+</m:t>
                      </m:r>
                      <m:r>
                        <a:rPr lang="en-US" altLang="zh-CN" b="0" i="0" smtClean="0">
                          <a:latin typeface="Cambria Math" panose="02040503050406030204" pitchFamily="18" charset="0"/>
                        </a:rPr>
                        <m:t>3</m:t>
                      </m:r>
                      <m:r>
                        <a:rPr lang="ar-AE" altLang="zh-CN" b="0" i="0">
                          <a:latin typeface="Cambria Math" panose="02040503050406030204" pitchFamily="18" charset="0"/>
                        </a:rPr>
                        <m:t>00≈2</m:t>
                      </m:r>
                      <m:r>
                        <a:rPr lang="en-US" altLang="zh-CN" b="0" i="0" smtClean="0">
                          <a:latin typeface="Cambria Math" panose="02040503050406030204" pitchFamily="18" charset="0"/>
                        </a:rPr>
                        <m:t>335.575</m:t>
                      </m:r>
                      <m:r>
                        <m:rPr>
                          <m:nor/>
                        </m:rPr>
                        <a:rPr lang="ar-AE" altLang="zh-CN">
                          <a:latin typeface="Times New Roman" panose="02020603050405020304" pitchFamily="18" charset="0"/>
                          <a:cs typeface="Times New Roman" panose="02020603050405020304" pitchFamily="18" charset="0"/>
                        </a:rPr>
                        <m:t> </m:t>
                      </m:r>
                      <m:r>
                        <m:rPr>
                          <m:nor/>
                        </m:rPr>
                        <a:rPr lang="en" altLang="zh-CN">
                          <a:latin typeface="Times New Roman" panose="02020603050405020304" pitchFamily="18" charset="0"/>
                          <a:cs typeface="Times New Roman" panose="02020603050405020304" pitchFamily="18" charset="0"/>
                        </a:rPr>
                        <m:t>kcal</m:t>
                      </m:r>
                      <m:r>
                        <m:rPr>
                          <m:nor/>
                        </m:rPr>
                        <a:rPr lang="en" altLang="zh-CN">
                          <a:latin typeface="Times New Roman" panose="02020603050405020304" pitchFamily="18" charset="0"/>
                          <a:cs typeface="Times New Roman" panose="02020603050405020304" pitchFamily="18" charset="0"/>
                        </a:rPr>
                        <m:t>/</m:t>
                      </m:r>
                      <m:r>
                        <m:rPr>
                          <m:nor/>
                        </m:rPr>
                        <a:rPr lang="en" altLang="zh-CN">
                          <a:latin typeface="Times New Roman" panose="02020603050405020304" pitchFamily="18" charset="0"/>
                          <a:cs typeface="Times New Roman" panose="02020603050405020304" pitchFamily="18" charset="0"/>
                        </a:rPr>
                        <m:t>day</m:t>
                      </m:r>
                    </m:oMath>
                  </m:oMathPara>
                </a14:m>
                <a:endParaRPr lang="en" altLang="zh-CN" dirty="0"/>
              </a:p>
              <a:p>
                <a:pPr marL="0" indent="0">
                  <a:buNone/>
                </a:pPr>
                <a:br>
                  <a:rPr lang="en" altLang="zh-CN" dirty="0"/>
                </a:br>
                <a:endParaRPr lang="en" altLang="zh-CN" dirty="0"/>
              </a:p>
              <a:p>
                <a:pPr marL="0" indent="0">
                  <a:buNone/>
                </a:pPr>
                <a:r>
                  <a:rPr lang="en" altLang="zh-CN" dirty="0">
                    <a:latin typeface="Times New Roman" panose="02020603050405020304" pitchFamily="18" charset="0"/>
                    <a:cs typeface="Times New Roman" panose="02020603050405020304" pitchFamily="18" charset="0"/>
                  </a:rPr>
                  <a:t>Breastfeeding consumes an additional </a:t>
                </a:r>
                <a:r>
                  <a:rPr lang="en-US" altLang="zh-CN" dirty="0">
                    <a:latin typeface="Times New Roman" panose="02020603050405020304" pitchFamily="18" charset="0"/>
                    <a:cs typeface="Times New Roman" panose="02020603050405020304" pitchFamily="18" charset="0"/>
                  </a:rPr>
                  <a:t>670</a:t>
                </a:r>
                <a:r>
                  <a:rPr lang="en" altLang="zh-CN" dirty="0">
                    <a:latin typeface="Times New Roman" panose="02020603050405020304" pitchFamily="18" charset="0"/>
                    <a:cs typeface="Times New Roman" panose="02020603050405020304" pitchFamily="18" charset="0"/>
                  </a:rPr>
                  <a:t> kcal/day</a:t>
                </a:r>
                <a:r>
                  <a:rPr lang="en" altLang="zh-CN" sz="2000" dirty="0">
                    <a:latin typeface="Times New Roman" panose="02020603050405020304" pitchFamily="18" charset="0"/>
                    <a:cs typeface="Times New Roman" panose="02020603050405020304" pitchFamily="18" charset="0"/>
                  </a:rPr>
                  <a:t>[9]</a:t>
                </a:r>
                <a:r>
                  <a:rPr lang="zh-CN" altLang="e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indent="0">
                  <a:buNone/>
                </a:pPr>
                <a:endParaRPr lang="zh-CN" altLang="en"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n" altLang="zh-CN" b="0" i="0">
                          <a:latin typeface="Cambria Math" panose="02040503050406030204" pitchFamily="18" charset="0"/>
                        </a:rPr>
                        <m:t>TDE</m:t>
                      </m:r>
                      <m:sSub>
                        <m:sSubPr>
                          <m:ctrlPr>
                            <a:rPr lang="ar-AE" altLang="zh-CN" i="1">
                              <a:latin typeface="Cambria Math" panose="02040503050406030204" pitchFamily="18" charset="0"/>
                            </a:rPr>
                          </m:ctrlPr>
                        </m:sSubPr>
                        <m:e>
                          <m:r>
                            <m:rPr>
                              <m:sty m:val="p"/>
                            </m:rPr>
                            <a:rPr lang="ar-AE" altLang="zh-CN" b="0" i="0">
                              <a:latin typeface="Cambria Math" panose="02040503050406030204" pitchFamily="18" charset="0"/>
                            </a:rPr>
                            <m:t>E</m:t>
                          </m:r>
                        </m:e>
                        <m:sub>
                          <m:r>
                            <m:rPr>
                              <m:nor/>
                            </m:rPr>
                            <a:rPr lang="en" altLang="zh-CN">
                              <a:latin typeface="Times New Roman" panose="02020603050405020304" pitchFamily="18" charset="0"/>
                              <a:cs typeface="Times New Roman" panose="02020603050405020304" pitchFamily="18" charset="0"/>
                            </a:rPr>
                            <m:t>postpartum</m:t>
                          </m:r>
                        </m:sub>
                      </m:sSub>
                      <m:r>
                        <a:rPr lang="ar-AE" altLang="zh-CN" b="0" i="0">
                          <a:latin typeface="Cambria Math" panose="02040503050406030204" pitchFamily="18" charset="0"/>
                        </a:rPr>
                        <m:t>=</m:t>
                      </m:r>
                      <m:r>
                        <a:rPr lang="ar-AE" altLang="zh-CN">
                          <a:latin typeface="Cambria Math" panose="02040503050406030204" pitchFamily="18" charset="0"/>
                        </a:rPr>
                        <m:t>2</m:t>
                      </m:r>
                      <m:r>
                        <a:rPr lang="en-US" altLang="zh-CN">
                          <a:latin typeface="Cambria Math" panose="02040503050406030204" pitchFamily="18" charset="0"/>
                        </a:rPr>
                        <m:t>33</m:t>
                      </m:r>
                      <m:r>
                        <a:rPr lang="en-US" altLang="zh-CN" b="0" i="0" smtClean="0">
                          <a:latin typeface="Cambria Math" panose="02040503050406030204" pitchFamily="18" charset="0"/>
                        </a:rPr>
                        <m:t>5</m:t>
                      </m:r>
                      <m:r>
                        <a:rPr lang="en-US" altLang="zh-CN">
                          <a:latin typeface="Cambria Math" panose="02040503050406030204" pitchFamily="18" charset="0"/>
                        </a:rPr>
                        <m:t>.</m:t>
                      </m:r>
                      <m:r>
                        <a:rPr lang="en-US" altLang="zh-CN" b="0" i="0" smtClean="0">
                          <a:latin typeface="Cambria Math" panose="02040503050406030204" pitchFamily="18" charset="0"/>
                        </a:rPr>
                        <m:t>5</m:t>
                      </m:r>
                      <m:r>
                        <a:rPr lang="en-US" altLang="zh-CN">
                          <a:latin typeface="Cambria Math" panose="02040503050406030204" pitchFamily="18" charset="0"/>
                        </a:rPr>
                        <m:t>75</m:t>
                      </m:r>
                      <m:r>
                        <a:rPr lang="ar-AE" altLang="zh-CN" b="0" i="0">
                          <a:latin typeface="Cambria Math" panose="02040503050406030204" pitchFamily="18" charset="0"/>
                        </a:rPr>
                        <m:t>+</m:t>
                      </m:r>
                      <m:r>
                        <a:rPr lang="en-US" altLang="zh-CN" b="0" i="0">
                          <a:latin typeface="Cambria Math" panose="02040503050406030204" pitchFamily="18" charset="0"/>
                        </a:rPr>
                        <m:t>670</m:t>
                      </m:r>
                      <m:r>
                        <a:rPr lang="ar-AE" altLang="zh-CN" b="0" i="0">
                          <a:latin typeface="Cambria Math" panose="02040503050406030204" pitchFamily="18" charset="0"/>
                        </a:rPr>
                        <m:t>≈</m:t>
                      </m:r>
                      <m:r>
                        <m:rPr>
                          <m:nor/>
                        </m:rPr>
                        <a:rPr lang="en-US" altLang="zh-CN" b="0" i="0" smtClean="0">
                          <a:latin typeface="Cambria Math" panose="02040503050406030204" pitchFamily="18" charset="0"/>
                        </a:rPr>
                        <m:t>3005.575</m:t>
                      </m:r>
                      <m:r>
                        <m:rPr>
                          <m:nor/>
                        </m:rPr>
                        <a:rPr lang="ar-AE" altLang="zh-CN">
                          <a:latin typeface="Times New Roman" panose="02020603050405020304" pitchFamily="18" charset="0"/>
                          <a:cs typeface="Times New Roman" panose="02020603050405020304" pitchFamily="18" charset="0"/>
                        </a:rPr>
                        <m:t> </m:t>
                      </m:r>
                      <m:r>
                        <m:rPr>
                          <m:nor/>
                        </m:rPr>
                        <a:rPr lang="en" altLang="zh-CN">
                          <a:latin typeface="Times New Roman" panose="02020603050405020304" pitchFamily="18" charset="0"/>
                          <a:cs typeface="Times New Roman" panose="02020603050405020304" pitchFamily="18" charset="0"/>
                        </a:rPr>
                        <m:t>kcal</m:t>
                      </m:r>
                      <m:r>
                        <m:rPr>
                          <m:nor/>
                        </m:rPr>
                        <a:rPr lang="en" altLang="zh-CN">
                          <a:latin typeface="Times New Roman" panose="02020603050405020304" pitchFamily="18" charset="0"/>
                          <a:cs typeface="Times New Roman" panose="02020603050405020304" pitchFamily="18" charset="0"/>
                        </a:rPr>
                        <m:t>/</m:t>
                      </m:r>
                      <m:r>
                        <m:rPr>
                          <m:nor/>
                        </m:rPr>
                        <a:rPr lang="en" altLang="zh-CN">
                          <a:latin typeface="Times New Roman" panose="02020603050405020304" pitchFamily="18" charset="0"/>
                          <a:cs typeface="Times New Roman" panose="02020603050405020304" pitchFamily="18" charset="0"/>
                        </a:rPr>
                        <m:t>day</m:t>
                      </m:r>
                    </m:oMath>
                  </m:oMathPara>
                </a14:m>
                <a:endParaRPr lang="en" altLang="zh-CN" dirty="0">
                  <a:latin typeface="Times New Roman" panose="02020603050405020304" pitchFamily="18" charset="0"/>
                  <a:cs typeface="Times New Roman" panose="02020603050405020304" pitchFamily="18" charset="0"/>
                </a:endParaRPr>
              </a:p>
              <a:p>
                <a:endParaRPr kumimoji="1" lang="zh-CN" altLang="en-US" dirty="0"/>
              </a:p>
            </p:txBody>
          </p:sp>
        </mc:Choice>
        <mc:Fallback xmlns="">
          <p:sp>
            <p:nvSpPr>
              <p:cNvPr id="3" name="内容占位符 2">
                <a:extLst>
                  <a:ext uri="{FF2B5EF4-FFF2-40B4-BE49-F238E27FC236}">
                    <a16:creationId xmlns:a16="http://schemas.microsoft.com/office/drawing/2014/main" id="{2E09D08A-F8D6-8794-0C8B-F271A391A30B}"/>
                  </a:ext>
                </a:extLst>
              </p:cNvPr>
              <p:cNvSpPr>
                <a:spLocks noGrp="1" noRot="1" noChangeAspect="1" noMove="1" noResize="1" noEditPoints="1" noAdjustHandles="1" noChangeArrowheads="1" noChangeShapeType="1" noTextEdit="1"/>
              </p:cNvSpPr>
              <p:nvPr>
                <p:ph idx="1"/>
              </p:nvPr>
            </p:nvSpPr>
            <p:spPr>
              <a:xfrm>
                <a:off x="838200" y="1690688"/>
                <a:ext cx="10515600" cy="4351338"/>
              </a:xfrm>
              <a:blipFill>
                <a:blip r:embed="rId3"/>
                <a:stretch>
                  <a:fillRect l="-1206" t="-2326"/>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42A22765-126E-BDB2-0FC5-6F9C326E3EBB}"/>
              </a:ext>
            </a:extLst>
          </p:cNvPr>
          <p:cNvSpPr txBox="1"/>
          <p:nvPr/>
        </p:nvSpPr>
        <p:spPr>
          <a:xfrm>
            <a:off x="58152" y="6492875"/>
            <a:ext cx="12075695" cy="307777"/>
          </a:xfrm>
          <a:prstGeom prst="rect">
            <a:avLst/>
          </a:prstGeom>
          <a:noFill/>
        </p:spPr>
        <p:txBody>
          <a:bodyPr wrap="square" rtlCol="0">
            <a:spAutoFit/>
          </a:bodyPr>
          <a:lstStyle/>
          <a:p>
            <a:r>
              <a:rPr lang="en-US" altLang="zh-CN" sz="1400" dirty="0"/>
              <a:t>[9]</a:t>
            </a:r>
            <a:r>
              <a:rPr lang="en" altLang="zh-CN" sz="1400" dirty="0"/>
              <a:t>Dewey, K G. “Energy and protein requirements during lactation.” </a:t>
            </a:r>
            <a:r>
              <a:rPr lang="en" altLang="zh-CN" sz="1400" i="1" dirty="0"/>
              <a:t>Annual review of nutrition</a:t>
            </a:r>
            <a:r>
              <a:rPr lang="en" altLang="zh-CN" sz="1400" dirty="0"/>
              <a:t> vol. 17 (1997): 19-36. doi:10.1146/annurev.nutr.17.1.19</a:t>
            </a:r>
            <a:endParaRPr kumimoji="1" lang="zh-CN" altLang="en-US" sz="1400" dirty="0"/>
          </a:p>
        </p:txBody>
      </p:sp>
    </p:spTree>
    <p:extLst>
      <p:ext uri="{BB962C8B-B14F-4D97-AF65-F5344CB8AC3E}">
        <p14:creationId xmlns:p14="http://schemas.microsoft.com/office/powerpoint/2010/main" val="4222637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582C27-9741-74C3-50D1-D1D12DB6510A}"/>
              </a:ext>
            </a:extLst>
          </p:cNvPr>
          <p:cNvSpPr>
            <a:spLocks noGrp="1"/>
          </p:cNvSpPr>
          <p:nvPr>
            <p:ph type="title"/>
          </p:nvPr>
        </p:nvSpPr>
        <p:spPr>
          <a:xfrm>
            <a:off x="721401" y="395105"/>
            <a:ext cx="10749197" cy="1325563"/>
          </a:xfrm>
        </p:spPr>
        <p:txBody>
          <a:bodyPr>
            <a:normAutofit/>
          </a:bodyPr>
          <a:lstStyle/>
          <a:p>
            <a:r>
              <a:rPr kumimoji="1" lang="en-US" altLang="zh-CN" dirty="0">
                <a:latin typeface="Times New Roman" panose="02020603050405020304" pitchFamily="18" charset="0"/>
                <a:cs typeface="Times New Roman" panose="02020603050405020304" pitchFamily="18" charset="0"/>
              </a:rPr>
              <a:t>4 </a:t>
            </a:r>
            <a:r>
              <a:rPr kumimoji="1" lang="en-US" altLang="zh-CN" dirty="0">
                <a:highlight>
                  <a:srgbClr val="FFFF00"/>
                </a:highlight>
                <a:latin typeface="Times New Roman" panose="02020603050405020304" pitchFamily="18" charset="0"/>
                <a:cs typeface="Times New Roman" panose="02020603050405020304" pitchFamily="18" charset="0"/>
              </a:rPr>
              <a:t>Macronutrient</a:t>
            </a:r>
            <a:r>
              <a:rPr kumimoji="1" lang="en-US" altLang="zh-CN" dirty="0">
                <a:latin typeface="Times New Roman" panose="02020603050405020304" pitchFamily="18" charset="0"/>
                <a:cs typeface="Times New Roman" panose="02020603050405020304" pitchFamily="18" charset="0"/>
              </a:rPr>
              <a:t> prescription &amp; Micronutrients</a:t>
            </a:r>
            <a:endParaRPr kumimoji="1" lang="zh-CN" altLang="en-US" dirty="0"/>
          </a:p>
        </p:txBody>
      </p:sp>
      <p:sp>
        <p:nvSpPr>
          <p:cNvPr id="3" name="内容占位符 2">
            <a:extLst>
              <a:ext uri="{FF2B5EF4-FFF2-40B4-BE49-F238E27FC236}">
                <a16:creationId xmlns:a16="http://schemas.microsoft.com/office/drawing/2014/main" id="{FBD10968-1F2B-7908-A3B4-FD1AB425308E}"/>
              </a:ext>
            </a:extLst>
          </p:cNvPr>
          <p:cNvSpPr>
            <a:spLocks noGrp="1"/>
          </p:cNvSpPr>
          <p:nvPr>
            <p:ph idx="1"/>
          </p:nvPr>
        </p:nvSpPr>
        <p:spPr>
          <a:xfrm>
            <a:off x="838199" y="2111557"/>
            <a:ext cx="10515600" cy="4351338"/>
          </a:xfrm>
        </p:spPr>
        <p:txBody>
          <a:bodyPr/>
          <a:lstStyle/>
          <a:p>
            <a:r>
              <a:rPr kumimoji="1" lang="en-US" altLang="zh-CN" dirty="0"/>
              <a:t>Carbohydrate</a:t>
            </a:r>
          </a:p>
          <a:p>
            <a:endParaRPr kumimoji="1" lang="en-US" altLang="zh-CN" dirty="0"/>
          </a:p>
          <a:p>
            <a:endParaRPr kumimoji="1" lang="en-US" altLang="zh-CN" dirty="0"/>
          </a:p>
          <a:p>
            <a:r>
              <a:rPr kumimoji="1" lang="en-US" altLang="zh-CN" dirty="0"/>
              <a:t>Protein</a:t>
            </a:r>
          </a:p>
          <a:p>
            <a:endParaRPr kumimoji="1" lang="en-US" altLang="zh-CN" dirty="0"/>
          </a:p>
          <a:p>
            <a:endParaRPr kumimoji="1" lang="en-US" altLang="zh-CN" dirty="0"/>
          </a:p>
          <a:p>
            <a:r>
              <a:rPr kumimoji="1" lang="en-US" altLang="zh-CN" dirty="0"/>
              <a:t>Fat </a:t>
            </a:r>
            <a:endParaRPr kumimoji="1" lang="zh-CN" altLang="en-US" dirty="0"/>
          </a:p>
        </p:txBody>
      </p:sp>
    </p:spTree>
    <p:extLst>
      <p:ext uri="{BB962C8B-B14F-4D97-AF65-F5344CB8AC3E}">
        <p14:creationId xmlns:p14="http://schemas.microsoft.com/office/powerpoint/2010/main" val="2354704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71F818-8A71-247B-970F-BBFB27C98A90}"/>
              </a:ext>
            </a:extLst>
          </p:cNvPr>
          <p:cNvSpPr>
            <a:spLocks noGrp="1"/>
          </p:cNvSpPr>
          <p:nvPr>
            <p:ph type="title"/>
          </p:nvPr>
        </p:nvSpPr>
        <p:spPr/>
        <p:txBody>
          <a:bodyPr/>
          <a:lstStyle/>
          <a:p>
            <a:r>
              <a:rPr lang="en" altLang="zh-CN" dirty="0">
                <a:latin typeface="Times New Roman" panose="02020603050405020304" pitchFamily="18" charset="0"/>
                <a:cs typeface="Times New Roman" panose="02020603050405020304" pitchFamily="18" charset="0"/>
              </a:rPr>
              <a:t>Carbohydrate</a:t>
            </a:r>
            <a:endParaRPr kumimoji="1"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9AC203B-5CCA-E0EF-FD1C-B4486F44DA90}"/>
                  </a:ext>
                </a:extLst>
              </p:cNvPr>
              <p:cNvSpPr>
                <a:spLocks noGrp="1"/>
              </p:cNvSpPr>
              <p:nvPr>
                <p:ph idx="1"/>
              </p:nvPr>
            </p:nvSpPr>
            <p:spPr>
              <a:xfrm>
                <a:off x="760540" y="1690688"/>
                <a:ext cx="6368144" cy="3661460"/>
              </a:xfrm>
            </p:spPr>
            <p:txBody>
              <a:bodyPr>
                <a:noAutofit/>
              </a:bodyPr>
              <a:lstStyle/>
              <a:p>
                <a:pPr>
                  <a:lnSpc>
                    <a:spcPct val="150000"/>
                  </a:lnSpc>
                </a:pPr>
                <a:r>
                  <a:rPr lang="en" altLang="zh-CN" sz="2400" dirty="0">
                    <a:latin typeface="Times New Roman" panose="02020603050405020304" pitchFamily="18" charset="0"/>
                    <a:cs typeface="Times New Roman" panose="02020603050405020304" pitchFamily="18" charset="0"/>
                  </a:rPr>
                  <a:t>Stable glycogen energy supply
High energy requirements in the early postpartum period
At TDEE≈</a:t>
                </a:r>
                <a:r>
                  <a:rPr lang="en-US" altLang="zh-CN" sz="2400" dirty="0"/>
                  <a:t> </a:t>
                </a:r>
                <a14:m>
                  <m:oMath xmlns:m="http://schemas.openxmlformats.org/officeDocument/2006/math">
                    <m:r>
                      <m:rPr>
                        <m:nor/>
                      </m:rPr>
                      <a:rPr lang="en-US" altLang="zh-CN" sz="2400">
                        <a:latin typeface="Cambria Math" panose="02040503050406030204" pitchFamily="18" charset="0"/>
                      </a:rPr>
                      <m:t>300</m:t>
                    </m:r>
                    <m:r>
                      <m:rPr>
                        <m:nor/>
                      </m:rPr>
                      <a:rPr lang="en-US" altLang="zh-CN" sz="2400" b="0" i="0" smtClean="0">
                        <a:latin typeface="Cambria Math" panose="02040503050406030204" pitchFamily="18" charset="0"/>
                      </a:rPr>
                      <m:t>5</m:t>
                    </m:r>
                    <m:r>
                      <m:rPr>
                        <m:nor/>
                      </m:rPr>
                      <a:rPr lang="en-US" altLang="zh-CN" sz="2400">
                        <a:latin typeface="Cambria Math" panose="02040503050406030204" pitchFamily="18" charset="0"/>
                      </a:rPr>
                      <m:t>.</m:t>
                    </m:r>
                    <m:r>
                      <m:rPr>
                        <m:nor/>
                      </m:rPr>
                      <a:rPr lang="en-US" altLang="zh-CN" sz="2400" b="0" i="0" smtClean="0">
                        <a:latin typeface="Cambria Math" panose="02040503050406030204" pitchFamily="18" charset="0"/>
                      </a:rPr>
                      <m:t>5</m:t>
                    </m:r>
                    <m:r>
                      <m:rPr>
                        <m:nor/>
                      </m:rPr>
                      <a:rPr lang="en-US" altLang="zh-CN" sz="2400">
                        <a:latin typeface="Cambria Math" panose="02040503050406030204" pitchFamily="18" charset="0"/>
                      </a:rPr>
                      <m:t>75</m:t>
                    </m:r>
                    <m:r>
                      <m:rPr>
                        <m:nor/>
                      </m:rPr>
                      <a:rPr lang="ar-AE" altLang="zh-CN" sz="2400">
                        <a:latin typeface="Times New Roman" panose="02020603050405020304" pitchFamily="18" charset="0"/>
                        <a:cs typeface="Times New Roman" panose="02020603050405020304" pitchFamily="18" charset="0"/>
                      </a:rPr>
                      <m:t> </m:t>
                    </m:r>
                    <m:r>
                      <m:rPr>
                        <m:nor/>
                      </m:rPr>
                      <a:rPr lang="en" altLang="zh-CN" sz="2400">
                        <a:latin typeface="Times New Roman" panose="02020603050405020304" pitchFamily="18" charset="0"/>
                        <a:cs typeface="Times New Roman" panose="02020603050405020304" pitchFamily="18" charset="0"/>
                      </a:rPr>
                      <m:t>kcal</m:t>
                    </m:r>
                  </m:oMath>
                </a14:m>
                <a:r>
                  <a:rPr lang="en" altLang="zh-CN" sz="2400" dirty="0">
                    <a:latin typeface="Times New Roman" panose="02020603050405020304" pitchFamily="18" charset="0"/>
                    <a:cs typeface="Times New Roman" panose="02020603050405020304" pitchFamily="18" charset="0"/>
                  </a:rPr>
                  <a:t>, 5–6 g/kg of carbohydrates can support training and postpartum recovery</a:t>
                </a:r>
                <a:endParaRPr kumimoji="1" lang="zh-CN" altLang="en-US" sz="2400" dirty="0"/>
              </a:p>
            </p:txBody>
          </p:sp>
        </mc:Choice>
        <mc:Fallback xmlns="">
          <p:sp>
            <p:nvSpPr>
              <p:cNvPr id="3" name="内容占位符 2">
                <a:extLst>
                  <a:ext uri="{FF2B5EF4-FFF2-40B4-BE49-F238E27FC236}">
                    <a16:creationId xmlns:a16="http://schemas.microsoft.com/office/drawing/2014/main" id="{C9AC203B-5CCA-E0EF-FD1C-B4486F44DA90}"/>
                  </a:ext>
                </a:extLst>
              </p:cNvPr>
              <p:cNvSpPr>
                <a:spLocks noGrp="1" noRot="1" noChangeAspect="1" noMove="1" noResize="1" noEditPoints="1" noAdjustHandles="1" noChangeArrowheads="1" noChangeShapeType="1" noTextEdit="1"/>
              </p:cNvSpPr>
              <p:nvPr>
                <p:ph idx="1"/>
              </p:nvPr>
            </p:nvSpPr>
            <p:spPr>
              <a:xfrm>
                <a:off x="760540" y="1690688"/>
                <a:ext cx="6368144" cy="3661460"/>
              </a:xfrm>
              <a:blipFill>
                <a:blip r:embed="rId3"/>
                <a:stretch>
                  <a:fillRect l="-1394" b="-3448"/>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1542AE95-0A2A-3F20-9F84-1A47786F0B83}"/>
              </a:ext>
            </a:extLst>
          </p:cNvPr>
          <p:cNvSpPr txBox="1"/>
          <p:nvPr/>
        </p:nvSpPr>
        <p:spPr>
          <a:xfrm>
            <a:off x="838200" y="5586125"/>
            <a:ext cx="10714463" cy="584775"/>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[10]</a:t>
            </a:r>
            <a:r>
              <a:rPr lang="en" altLang="zh-CN" sz="1600" dirty="0">
                <a:latin typeface="Times New Roman" panose="02020603050405020304" pitchFamily="18" charset="0"/>
                <a:cs typeface="Times New Roman" panose="02020603050405020304" pitchFamily="18" charset="0"/>
              </a:rPr>
              <a:t> Burke, L. M., Hawley, J. A., Wong, S. H., &amp; Jeukendrup, A. E. (2011). Carbohydrates for training and competition. Journal of sports sciences, 29 Suppl 1, S17–S27. </a:t>
            </a:r>
            <a:endParaRPr lang="zh-CN" altLang="en-US" sz="16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C2EE954B-578B-2014-D88F-287C50BEA258}"/>
              </a:ext>
            </a:extLst>
          </p:cNvPr>
          <p:cNvSpPr txBox="1"/>
          <p:nvPr/>
        </p:nvSpPr>
        <p:spPr>
          <a:xfrm>
            <a:off x="838200" y="6273225"/>
            <a:ext cx="10515600" cy="584775"/>
          </a:xfrm>
          <a:prstGeom prst="rect">
            <a:avLst/>
          </a:prstGeom>
          <a:noFill/>
        </p:spPr>
        <p:txBody>
          <a:bodyPr wrap="square" rtlCol="0">
            <a:spAutoFit/>
          </a:bodyPr>
          <a:lstStyle/>
          <a:p>
            <a:r>
              <a:rPr lang="en" altLang="zh-CN" sz="1600" dirty="0">
                <a:latin typeface="Times New Roman" panose="02020603050405020304" pitchFamily="18" charset="0"/>
                <a:cs typeface="Times New Roman" panose="02020603050405020304" pitchFamily="18" charset="0"/>
              </a:rPr>
              <a:t>[11]Butte, N. F., &amp; King, J. C. (2005). Energy requirements during pregnancy and lactation. Public health nutrition, 8(7A), 1010–1027. </a:t>
            </a:r>
            <a:endParaRPr lang="zh-CN" altLang="en-US" sz="160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9BC50EFE-1AE0-21BF-C0E6-D85A17A802B0}"/>
              </a:ext>
            </a:extLst>
          </p:cNvPr>
          <p:cNvPicPr>
            <a:picLocks noChangeAspect="1"/>
          </p:cNvPicPr>
          <p:nvPr/>
        </p:nvPicPr>
        <p:blipFill>
          <a:blip r:embed="rId4"/>
          <a:stretch>
            <a:fillRect/>
          </a:stretch>
        </p:blipFill>
        <p:spPr>
          <a:xfrm>
            <a:off x="6195431" y="1573739"/>
            <a:ext cx="5236029" cy="3778409"/>
          </a:xfrm>
          <a:prstGeom prst="rect">
            <a:avLst/>
          </a:prstGeom>
        </p:spPr>
      </p:pic>
    </p:spTree>
    <p:extLst>
      <p:ext uri="{BB962C8B-B14F-4D97-AF65-F5344CB8AC3E}">
        <p14:creationId xmlns:p14="http://schemas.microsoft.com/office/powerpoint/2010/main" val="2454002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2A8749-2BF8-C98F-B1E2-E590DDC6363E}"/>
              </a:ext>
            </a:extLst>
          </p:cNvPr>
          <p:cNvSpPr>
            <a:spLocks noGrp="1"/>
          </p:cNvSpPr>
          <p:nvPr>
            <p:ph type="title"/>
          </p:nvPr>
        </p:nvSpPr>
        <p:spPr>
          <a:xfrm>
            <a:off x="838200" y="580653"/>
            <a:ext cx="10515600" cy="1325563"/>
          </a:xfrm>
        </p:spPr>
        <p:txBody>
          <a:bodyPr/>
          <a:lstStyle/>
          <a:p>
            <a:r>
              <a:rPr kumimoji="1" lang="en-US" altLang="zh-CN" dirty="0"/>
              <a:t>Recommend</a:t>
            </a:r>
            <a:endParaRPr kumimoji="1" lang="zh-CN" altLang="en-US" dirty="0"/>
          </a:p>
        </p:txBody>
      </p:sp>
      <p:sp>
        <p:nvSpPr>
          <p:cNvPr id="3" name="内容占位符 2">
            <a:extLst>
              <a:ext uri="{FF2B5EF4-FFF2-40B4-BE49-F238E27FC236}">
                <a16:creationId xmlns:a16="http://schemas.microsoft.com/office/drawing/2014/main" id="{2376827A-0B21-7C2D-329A-177B4299421E}"/>
              </a:ext>
            </a:extLst>
          </p:cNvPr>
          <p:cNvSpPr>
            <a:spLocks noGrp="1"/>
          </p:cNvSpPr>
          <p:nvPr>
            <p:ph idx="1"/>
          </p:nvPr>
        </p:nvSpPr>
        <p:spPr>
          <a:xfrm>
            <a:off x="838200" y="2121746"/>
            <a:ext cx="10515600" cy="3622449"/>
          </a:xfrm>
        </p:spPr>
        <p:txBody>
          <a:bodyPr/>
          <a:lstStyle/>
          <a:p>
            <a:r>
              <a:rPr lang="en" altLang="zh-CN" dirty="0">
                <a:latin typeface="Times New Roman" panose="02020603050405020304" pitchFamily="18" charset="0"/>
                <a:cs typeface="Times New Roman" panose="02020603050405020304" pitchFamily="18" charset="0"/>
              </a:rPr>
              <a:t>Meals: Oats + fruit, brown rice, potatoes,</a:t>
            </a:r>
          </a:p>
          <a:p>
            <a:r>
              <a:rPr lang="en" altLang="zh-CN" dirty="0">
                <a:latin typeface="Times New Roman" panose="02020603050405020304" pitchFamily="18" charset="0"/>
                <a:cs typeface="Times New Roman" panose="02020603050405020304" pitchFamily="18" charset="0"/>
              </a:rPr>
              <a:t>Snacks: Banana, yogurt + cereal, whole grain bread</a:t>
            </a:r>
          </a:p>
          <a:p>
            <a:endParaRPr lang="en-US" altLang="zh-CN" dirty="0">
              <a:latin typeface="Times New Roman" panose="02020603050405020304" pitchFamily="18" charset="0"/>
              <a:cs typeface="Times New Roman" panose="02020603050405020304" pitchFamily="18" charset="0"/>
            </a:endParaRPr>
          </a:p>
          <a:p>
            <a:r>
              <a:rPr lang="en" altLang="zh-CN" dirty="0">
                <a:latin typeface="Times New Roman" panose="02020603050405020304" pitchFamily="18" charset="0"/>
                <a:cs typeface="Times New Roman" panose="02020603050405020304" pitchFamily="18" charset="0"/>
              </a:rPr>
              <a:t>Long-run First 2–3 hours</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1–2 </a:t>
            </a:r>
            <a:r>
              <a:rPr lang="en" altLang="zh-CN" dirty="0">
                <a:latin typeface="Times New Roman" panose="02020603050405020304" pitchFamily="18" charset="0"/>
                <a:cs typeface="Times New Roman" panose="02020603050405020304" pitchFamily="18" charset="0"/>
              </a:rPr>
              <a:t>g/kg Carbs</a:t>
            </a:r>
            <a:endParaRPr lang="en-US" altLang="zh-CN" dirty="0">
              <a:latin typeface="Times New Roman" panose="02020603050405020304" pitchFamily="18" charset="0"/>
              <a:cs typeface="Times New Roman" panose="02020603050405020304" pitchFamily="18" charset="0"/>
            </a:endParaRPr>
          </a:p>
          <a:p>
            <a:r>
              <a:rPr lang="en" altLang="zh-CN" dirty="0">
                <a:latin typeface="Times New Roman" panose="02020603050405020304" pitchFamily="18" charset="0"/>
                <a:cs typeface="Times New Roman" panose="02020603050405020304" pitchFamily="18" charset="0"/>
              </a:rPr>
              <a:t>30–60 minutes after the run</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1 </a:t>
            </a:r>
            <a:r>
              <a:rPr lang="en" altLang="zh-CN" dirty="0">
                <a:latin typeface="Times New Roman" panose="02020603050405020304" pitchFamily="18" charset="0"/>
                <a:cs typeface="Times New Roman" panose="02020603050405020304" pitchFamily="18" charset="0"/>
              </a:rPr>
              <a:t>g/kg Used for sugar supplementation</a:t>
            </a:r>
            <a:endParaRPr lang="en-US" altLang="zh-CN" dirty="0">
              <a:latin typeface="Times New Roman" panose="02020603050405020304" pitchFamily="18" charset="0"/>
              <a:cs typeface="Times New Roman" panose="02020603050405020304" pitchFamily="18" charset="0"/>
            </a:endParaRPr>
          </a:p>
          <a:p>
            <a:pPr marL="0" indent="0">
              <a:buNone/>
            </a:pPr>
            <a:endParaRPr lang="en-US" altLang="zh-CN" dirty="0">
              <a:latin typeface="Times New Roman" panose="02020603050405020304" pitchFamily="18" charset="0"/>
              <a:cs typeface="Times New Roman" panose="02020603050405020304" pitchFamily="18" charset="0"/>
            </a:endParaRPr>
          </a:p>
          <a:p>
            <a:r>
              <a:rPr lang="en" altLang="zh-CN" dirty="0">
                <a:latin typeface="Times New Roman" panose="02020603050405020304" pitchFamily="18" charset="0"/>
                <a:cs typeface="Times New Roman" panose="02020603050405020304" pitchFamily="18" charset="0"/>
              </a:rPr>
              <a:t>5–6 g/kg/day → ≈ 333–400 g/day</a:t>
            </a:r>
            <a:r>
              <a:rPr lang="zh-CN" altLang="en" dirty="0">
                <a:latin typeface="Times New Roman" panose="02020603050405020304" pitchFamily="18" charset="0"/>
                <a:cs typeface="Times New Roman" panose="02020603050405020304" pitchFamily="18" charset="0"/>
              </a:rPr>
              <a:t>（</a:t>
            </a:r>
            <a:r>
              <a:rPr lang="en" altLang="zh-CN" dirty="0">
                <a:latin typeface="Times New Roman" panose="02020603050405020304" pitchFamily="18" charset="0"/>
                <a:cs typeface="Times New Roman" panose="02020603050405020304" pitchFamily="18" charset="0"/>
              </a:rPr>
              <a:t>Based on 66.68 kg</a:t>
            </a:r>
            <a:r>
              <a:rPr lang="zh-CN" altLang="en" dirty="0">
                <a:latin typeface="Times New Roman" panose="02020603050405020304" pitchFamily="18" charset="0"/>
                <a:cs typeface="Times New Roman" panose="02020603050405020304" pitchFamily="18" charset="0"/>
              </a:rPr>
              <a:t>）</a:t>
            </a:r>
          </a:p>
          <a:p>
            <a:endParaRPr lang="zh-CN" altLang="en-US"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914EDBEA-E2DB-9CC8-95C4-F6046E99DF2D}"/>
              </a:ext>
            </a:extLst>
          </p:cNvPr>
          <p:cNvSpPr txBox="1"/>
          <p:nvPr/>
        </p:nvSpPr>
        <p:spPr>
          <a:xfrm>
            <a:off x="354466" y="6175254"/>
            <a:ext cx="11483068" cy="584775"/>
          </a:xfrm>
          <a:prstGeom prst="rect">
            <a:avLst/>
          </a:prstGeom>
          <a:noFill/>
        </p:spPr>
        <p:txBody>
          <a:bodyPr wrap="square">
            <a:spAutoFit/>
          </a:bodyPr>
          <a:lstStyle/>
          <a:p>
            <a:r>
              <a:rPr lang="en-US" altLang="zh-CN" sz="1600" b="0" i="0" dirty="0">
                <a:solidFill>
                  <a:srgbClr val="212121"/>
                </a:solidFill>
                <a:effectLst/>
                <a:latin typeface="system-ui"/>
              </a:rPr>
              <a:t>[12]</a:t>
            </a:r>
            <a:r>
              <a:rPr lang="en" altLang="zh-CN" sz="1600" b="0" i="0" dirty="0">
                <a:solidFill>
                  <a:srgbClr val="212121"/>
                </a:solidFill>
                <a:effectLst/>
                <a:latin typeface="system-ui"/>
              </a:rPr>
              <a:t>Thomas, D Travis et al. “Position of the Academy of Nutrition and Dietetics, Dietitians of Canada, and the American College of Sports Medicine: Nutrition and Athletic Performance.” </a:t>
            </a:r>
            <a:r>
              <a:rPr lang="en" altLang="zh-CN" sz="1600" b="0" i="1" dirty="0">
                <a:solidFill>
                  <a:srgbClr val="212121"/>
                </a:solidFill>
                <a:effectLst/>
                <a:latin typeface="system-ui"/>
              </a:rPr>
              <a:t>Journal of the Academy of Nutrition and Dietetics</a:t>
            </a:r>
            <a:r>
              <a:rPr lang="en" altLang="zh-CN" sz="1600" b="0" i="0" dirty="0">
                <a:solidFill>
                  <a:srgbClr val="212121"/>
                </a:solidFill>
                <a:effectLst/>
                <a:latin typeface="system-ui"/>
              </a:rPr>
              <a:t> vol. 116,3 (2016): 501-528. </a:t>
            </a:r>
            <a:endParaRPr lang="zh-CN" altLang="en-US" sz="1600" dirty="0"/>
          </a:p>
        </p:txBody>
      </p:sp>
    </p:spTree>
    <p:extLst>
      <p:ext uri="{BB962C8B-B14F-4D97-AF65-F5344CB8AC3E}">
        <p14:creationId xmlns:p14="http://schemas.microsoft.com/office/powerpoint/2010/main" val="2302484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C5450A-CF86-C352-258E-0DB6DC3DC567}"/>
              </a:ext>
            </a:extLst>
          </p:cNvPr>
          <p:cNvSpPr>
            <a:spLocks noGrp="1"/>
          </p:cNvSpPr>
          <p:nvPr>
            <p:ph type="title"/>
          </p:nvPr>
        </p:nvSpPr>
        <p:spPr/>
        <p:txBody>
          <a:bodyPr/>
          <a:lstStyle/>
          <a:p>
            <a:r>
              <a:rPr lang="en" altLang="zh-CN" dirty="0">
                <a:latin typeface="Times New Roman" panose="02020603050405020304" pitchFamily="18" charset="0"/>
                <a:cs typeface="Times New Roman" panose="02020603050405020304" pitchFamily="18" charset="0"/>
              </a:rPr>
              <a:t>Protein</a:t>
            </a:r>
            <a:endParaRPr kumimoji="1"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4B39EFD-7E38-F54E-F016-DDC29E8B03EE}"/>
                  </a:ext>
                </a:extLst>
              </p:cNvPr>
              <p:cNvSpPr>
                <a:spLocks noGrp="1"/>
              </p:cNvSpPr>
              <p:nvPr>
                <p:ph idx="1"/>
              </p:nvPr>
            </p:nvSpPr>
            <p:spPr>
              <a:xfrm>
                <a:off x="397329" y="1666876"/>
                <a:ext cx="5698671" cy="4351338"/>
              </a:xfrm>
            </p:spPr>
            <p:txBody>
              <a:bodyPr>
                <a:normAutofit/>
              </a:bodyPr>
              <a:lstStyle/>
              <a:p>
                <a:pPr>
                  <a:lnSpc>
                    <a:spcPct val="150000"/>
                  </a:lnSpc>
                </a:pPr>
                <a:r>
                  <a:rPr lang="en" altLang="zh-CN" dirty="0">
                    <a:latin typeface="Times New Roman" panose="02020603050405020304" pitchFamily="18" charset="0"/>
                    <a:cs typeface="Times New Roman" panose="02020603050405020304" pitchFamily="18" charset="0"/>
                  </a:rPr>
                  <a:t>Higher protein to support tissue repair and maintain muscle mass.</a:t>
                </a:r>
              </a:p>
              <a:p>
                <a:pPr>
                  <a:lnSpc>
                    <a:spcPct val="150000"/>
                  </a:lnSpc>
                </a:pPr>
                <a:r>
                  <a:rPr lang="en" altLang="zh-CN" dirty="0">
                    <a:latin typeface="Times New Roman" panose="02020603050405020304" pitchFamily="18" charset="0"/>
                    <a:cs typeface="Times New Roman" panose="02020603050405020304" pitchFamily="18" charset="0"/>
                  </a:rPr>
                  <a:t>requires sufficient protein for adaptation</a:t>
                </a:r>
                <a:r>
                  <a:rPr lang="en-US" altLang="zh-CN" dirty="0">
                    <a:latin typeface="Times New Roman" panose="02020603050405020304" pitchFamily="18" charset="0"/>
                    <a:cs typeface="Times New Roman" panose="02020603050405020304" pitchFamily="18" charset="0"/>
                  </a:rPr>
                  <a:t>
 </a:t>
                </a:r>
                <a:r>
                  <a:rPr lang="en" altLang="zh-CN" dirty="0">
                    <a:latin typeface="Times New Roman" panose="02020603050405020304" pitchFamily="18" charset="0"/>
                    <a:cs typeface="Times New Roman" panose="02020603050405020304" pitchFamily="18" charset="0"/>
                  </a:rPr>
                  <a:t>With </a:t>
                </a:r>
                <a14:m>
                  <m:oMath xmlns:m="http://schemas.openxmlformats.org/officeDocument/2006/math">
                    <m:r>
                      <m:rPr>
                        <m:nor/>
                      </m:rPr>
                      <a:rPr lang="en-US" altLang="zh-CN">
                        <a:latin typeface="Cambria Math" panose="02040503050406030204" pitchFamily="18" charset="0"/>
                      </a:rPr>
                      <m:t>300</m:t>
                    </m:r>
                    <m:r>
                      <m:rPr>
                        <m:nor/>
                      </m:rPr>
                      <a:rPr lang="en-US" altLang="zh-CN" b="0" i="0" smtClean="0">
                        <a:latin typeface="Cambria Math" panose="02040503050406030204" pitchFamily="18" charset="0"/>
                      </a:rPr>
                      <m:t>5</m:t>
                    </m:r>
                    <m:r>
                      <m:rPr>
                        <m:nor/>
                      </m:rPr>
                      <a:rPr lang="en-US" altLang="zh-CN">
                        <a:latin typeface="Cambria Math" panose="02040503050406030204" pitchFamily="18" charset="0"/>
                      </a:rPr>
                      <m:t>.</m:t>
                    </m:r>
                    <m:r>
                      <m:rPr>
                        <m:nor/>
                      </m:rPr>
                      <a:rPr lang="en-US" altLang="zh-CN" b="0" i="0" smtClean="0">
                        <a:latin typeface="Cambria Math" panose="02040503050406030204" pitchFamily="18" charset="0"/>
                      </a:rPr>
                      <m:t>5</m:t>
                    </m:r>
                    <m:r>
                      <m:rPr>
                        <m:nor/>
                      </m:rPr>
                      <a:rPr lang="en-US" altLang="zh-CN">
                        <a:latin typeface="Cambria Math" panose="02040503050406030204" pitchFamily="18" charset="0"/>
                      </a:rPr>
                      <m:t>75</m:t>
                    </m:r>
                    <m:r>
                      <m:rPr>
                        <m:nor/>
                      </m:rPr>
                      <a:rPr lang="ar-AE" altLang="zh-CN">
                        <a:latin typeface="Times New Roman" panose="02020603050405020304" pitchFamily="18" charset="0"/>
                        <a:cs typeface="Times New Roman" panose="02020603050405020304" pitchFamily="18" charset="0"/>
                      </a:rPr>
                      <m:t> </m:t>
                    </m:r>
                    <m:r>
                      <m:rPr>
                        <m:nor/>
                      </m:rPr>
                      <a:rPr lang="en" altLang="zh-CN">
                        <a:latin typeface="Times New Roman" panose="02020603050405020304" pitchFamily="18" charset="0"/>
                        <a:cs typeface="Times New Roman" panose="02020603050405020304" pitchFamily="18" charset="0"/>
                      </a:rPr>
                      <m:t>kcal</m:t>
                    </m:r>
                  </m:oMath>
                </a14:m>
                <a:r>
                  <a:rPr lang="en" altLang="zh-CN" dirty="0">
                    <a:latin typeface="Times New Roman" panose="02020603050405020304" pitchFamily="18" charset="0"/>
                    <a:cs typeface="Times New Roman" panose="02020603050405020304" pitchFamily="18" charset="0"/>
                  </a:rPr>
                  <a:t>, 1.4–1.6 g/kg protein helps maintain lean mass.</a:t>
                </a:r>
              </a:p>
              <a:p>
                <a:endParaRPr kumimoji="1" lang="zh-CN" altLang="en-US" dirty="0"/>
              </a:p>
            </p:txBody>
          </p:sp>
        </mc:Choice>
        <mc:Fallback xmlns="">
          <p:sp>
            <p:nvSpPr>
              <p:cNvPr id="3" name="内容占位符 2">
                <a:extLst>
                  <a:ext uri="{FF2B5EF4-FFF2-40B4-BE49-F238E27FC236}">
                    <a16:creationId xmlns:a16="http://schemas.microsoft.com/office/drawing/2014/main" id="{94B39EFD-7E38-F54E-F016-DDC29E8B03EE}"/>
                  </a:ext>
                </a:extLst>
              </p:cNvPr>
              <p:cNvSpPr>
                <a:spLocks noGrp="1" noRot="1" noChangeAspect="1" noMove="1" noResize="1" noEditPoints="1" noAdjustHandles="1" noChangeArrowheads="1" noChangeShapeType="1" noTextEdit="1"/>
              </p:cNvSpPr>
              <p:nvPr>
                <p:ph idx="1"/>
              </p:nvPr>
            </p:nvSpPr>
            <p:spPr>
              <a:xfrm>
                <a:off x="397329" y="1666876"/>
                <a:ext cx="5698671" cy="4351338"/>
              </a:xfrm>
              <a:blipFill>
                <a:blip r:embed="rId3"/>
                <a:stretch>
                  <a:fillRect l="-2000" b="-583"/>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321CC4C-4D51-1327-B7DD-F462E8EC4077}"/>
              </a:ext>
            </a:extLst>
          </p:cNvPr>
          <p:cNvSpPr txBox="1"/>
          <p:nvPr/>
        </p:nvSpPr>
        <p:spPr>
          <a:xfrm>
            <a:off x="571500" y="6042026"/>
            <a:ext cx="11049000" cy="523220"/>
          </a:xfrm>
          <a:prstGeom prst="rect">
            <a:avLst/>
          </a:prstGeom>
          <a:noFill/>
        </p:spPr>
        <p:txBody>
          <a:bodyPr wrap="square">
            <a:spAutoFit/>
          </a:bodyPr>
          <a:lstStyle/>
          <a:p>
            <a:r>
              <a:rPr lang="en-US" altLang="zh-CN" sz="1400" u="none" strike="noStrike" dirty="0">
                <a:solidFill>
                  <a:srgbClr val="1B1B1B"/>
                </a:solidFill>
                <a:effectLst/>
                <a:latin typeface="Times New Roman" panose="02020603050405020304" pitchFamily="18" charset="0"/>
                <a:cs typeface="Times New Roman" panose="02020603050405020304" pitchFamily="18" charset="0"/>
              </a:rPr>
              <a:t>[13]</a:t>
            </a:r>
            <a:r>
              <a:rPr lang="en" altLang="zh-CN" sz="1400" u="none" strike="noStrike" dirty="0">
                <a:solidFill>
                  <a:srgbClr val="1B1B1B"/>
                </a:solidFill>
                <a:effectLst/>
                <a:latin typeface="Times New Roman" panose="02020603050405020304" pitchFamily="18" charset="0"/>
                <a:cs typeface="Times New Roman" panose="02020603050405020304" pitchFamily="18" charset="0"/>
              </a:rPr>
              <a:t>Jäger R, Kerksick CM, Campbell BI, et al. International Society of Sports Nutrition Position Stand: protein and exercise. J Int Soc Sports Nutr. 2017;14:20. </a:t>
            </a:r>
            <a:endParaRPr lang="zh-CN" altLang="en-US" sz="140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3FF418FB-0766-43C9-9263-16D5F27D75CC}"/>
              </a:ext>
            </a:extLst>
          </p:cNvPr>
          <p:cNvPicPr>
            <a:picLocks noChangeAspect="1"/>
          </p:cNvPicPr>
          <p:nvPr/>
        </p:nvPicPr>
        <p:blipFill>
          <a:blip r:embed="rId4"/>
          <a:srcRect l="14846" r="7773"/>
          <a:stretch>
            <a:fillRect/>
          </a:stretch>
        </p:blipFill>
        <p:spPr>
          <a:xfrm>
            <a:off x="5894614" y="1690688"/>
            <a:ext cx="6014357" cy="4031284"/>
          </a:xfrm>
          <a:prstGeom prst="rect">
            <a:avLst/>
          </a:prstGeom>
        </p:spPr>
      </p:pic>
    </p:spTree>
    <p:extLst>
      <p:ext uri="{BB962C8B-B14F-4D97-AF65-F5344CB8AC3E}">
        <p14:creationId xmlns:p14="http://schemas.microsoft.com/office/powerpoint/2010/main" val="11193548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9C4385-E37A-65D9-3241-D645DB0AD52B}"/>
              </a:ext>
            </a:extLst>
          </p:cNvPr>
          <p:cNvSpPr>
            <a:spLocks noGrp="1"/>
          </p:cNvSpPr>
          <p:nvPr>
            <p:ph type="title"/>
          </p:nvPr>
        </p:nvSpPr>
        <p:spPr/>
        <p:txBody>
          <a:bodyPr/>
          <a:lstStyle/>
          <a:p>
            <a:r>
              <a:rPr kumimoji="1" lang="en-US" altLang="zh-CN" dirty="0"/>
              <a:t>Recommend</a:t>
            </a:r>
            <a:endParaRPr kumimoji="1" lang="zh-CN" altLang="en-US" dirty="0"/>
          </a:p>
        </p:txBody>
      </p:sp>
      <p:sp>
        <p:nvSpPr>
          <p:cNvPr id="3" name="内容占位符 2">
            <a:extLst>
              <a:ext uri="{FF2B5EF4-FFF2-40B4-BE49-F238E27FC236}">
                <a16:creationId xmlns:a16="http://schemas.microsoft.com/office/drawing/2014/main" id="{1E28971E-A7B2-DF78-6CB0-46BE6F65D1FC}"/>
              </a:ext>
            </a:extLst>
          </p:cNvPr>
          <p:cNvSpPr>
            <a:spLocks noGrp="1"/>
          </p:cNvSpPr>
          <p:nvPr>
            <p:ph idx="1"/>
          </p:nvPr>
        </p:nvSpPr>
        <p:spPr>
          <a:xfrm>
            <a:off x="838200" y="2052411"/>
            <a:ext cx="10515600" cy="4351338"/>
          </a:xfrm>
        </p:spPr>
        <p:txBody>
          <a:bodyPr>
            <a:normAutofit lnSpcReduction="10000"/>
          </a:bodyPr>
          <a:lstStyle/>
          <a:p>
            <a:r>
              <a:rPr lang="en" altLang="zh-CN" dirty="0"/>
              <a:t>Eggs, chicken breast, fish, lean beef, tofu, Greek yoghurt</a:t>
            </a:r>
          </a:p>
          <a:p>
            <a:endParaRPr lang="en-US" altLang="zh-CN" dirty="0"/>
          </a:p>
          <a:p>
            <a:r>
              <a:rPr lang="en" altLang="zh-CN" dirty="0">
                <a:latin typeface="Times New Roman" panose="02020603050405020304" pitchFamily="18" charset="0"/>
                <a:cs typeface="Times New Roman" panose="02020603050405020304" pitchFamily="18" charset="0"/>
              </a:rPr>
              <a:t>Snacks: </a:t>
            </a:r>
            <a:r>
              <a:rPr lang="en" altLang="zh-CN" dirty="0">
                <a:cs typeface="Times New Roman" panose="02020603050405020304" pitchFamily="18" charset="0"/>
              </a:rPr>
              <a:t>Protein powder shakes, milk, cheese, soy milk</a:t>
            </a:r>
            <a:endParaRPr lang="en-US" altLang="zh-CN" dirty="0">
              <a:cs typeface="Times New Roman" panose="02020603050405020304" pitchFamily="18" charset="0"/>
            </a:endParaRPr>
          </a:p>
          <a:p>
            <a:endParaRPr lang="en-US" altLang="zh-CN" dirty="0"/>
          </a:p>
          <a:p>
            <a:r>
              <a:rPr lang="en" altLang="zh-CN" dirty="0">
                <a:latin typeface="Times New Roman" panose="02020603050405020304" pitchFamily="18" charset="0"/>
                <a:cs typeface="Times New Roman" panose="02020603050405020304" pitchFamily="18" charset="0"/>
              </a:rPr>
              <a:t>Post-run: </a:t>
            </a:r>
            <a:r>
              <a:rPr lang="en" altLang="zh-CN" dirty="0"/>
              <a:t>20–25 g protein within 1 hour</a:t>
            </a:r>
            <a:endParaRPr lang="en-US" altLang="zh-CN" dirty="0"/>
          </a:p>
          <a:p>
            <a:r>
              <a:rPr lang="en" altLang="zh-CN" dirty="0">
                <a:latin typeface="Times New Roman" panose="02020603050405020304" pitchFamily="18" charset="0"/>
                <a:cs typeface="Times New Roman" panose="02020603050405020304" pitchFamily="18" charset="0"/>
              </a:rPr>
              <a:t>Before bed (optional): </a:t>
            </a:r>
            <a:r>
              <a:rPr lang="en" altLang="zh-CN" dirty="0"/>
              <a:t>Casein yoghurt promotes muscle recovery at night</a:t>
            </a:r>
            <a:endParaRPr lang="en-US" altLang="zh-CN" dirty="0"/>
          </a:p>
          <a:p>
            <a:endParaRPr lang="en-US" altLang="zh-CN" dirty="0"/>
          </a:p>
          <a:p>
            <a:r>
              <a:rPr lang="en" altLang="zh-CN" dirty="0">
                <a:latin typeface="Times New Roman" panose="02020603050405020304" pitchFamily="18" charset="0"/>
                <a:cs typeface="Times New Roman" panose="02020603050405020304" pitchFamily="18" charset="0"/>
              </a:rPr>
              <a:t>1.4–1.6 g/kg/day → ≈ 93–107 g/day</a:t>
            </a:r>
          </a:p>
          <a:p>
            <a:endParaRPr lang="zh-CN" altLang="en-US" dirty="0"/>
          </a:p>
          <a:p>
            <a:endParaRPr kumimoji="1" lang="zh-CN" altLang="en-US" dirty="0"/>
          </a:p>
        </p:txBody>
      </p:sp>
    </p:spTree>
    <p:extLst>
      <p:ext uri="{BB962C8B-B14F-4D97-AF65-F5344CB8AC3E}">
        <p14:creationId xmlns:p14="http://schemas.microsoft.com/office/powerpoint/2010/main" val="3805567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D73F8-8290-D7B4-ECFD-DC561F207D39}"/>
              </a:ext>
            </a:extLst>
          </p:cNvPr>
          <p:cNvSpPr>
            <a:spLocks noGrp="1"/>
          </p:cNvSpPr>
          <p:nvPr>
            <p:ph type="title"/>
          </p:nvPr>
        </p:nvSpPr>
        <p:spPr/>
        <p:txBody>
          <a:bodyPr/>
          <a:lstStyle/>
          <a:p>
            <a:r>
              <a:rPr lang="en" altLang="zh-CN" dirty="0">
                <a:latin typeface="Times New Roman" panose="02020603050405020304" pitchFamily="18" charset="0"/>
                <a:cs typeface="Times New Roman" panose="02020603050405020304" pitchFamily="18" charset="0"/>
              </a:rPr>
              <a:t>Fat</a:t>
            </a:r>
            <a:endParaRPr kumimoji="1" lang="zh-CN" altLang="en-US"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59F4A545-92A0-61B2-FBDA-696898B51B53}"/>
              </a:ext>
            </a:extLst>
          </p:cNvPr>
          <p:cNvSpPr txBox="1"/>
          <p:nvPr/>
        </p:nvSpPr>
        <p:spPr>
          <a:xfrm>
            <a:off x="0" y="5639972"/>
            <a:ext cx="12192000" cy="553998"/>
          </a:xfrm>
          <a:prstGeom prst="rect">
            <a:avLst/>
          </a:prstGeom>
          <a:noFill/>
        </p:spPr>
        <p:txBody>
          <a:bodyPr wrap="square" rtlCol="0">
            <a:spAutoFit/>
          </a:bodyPr>
          <a:lstStyle/>
          <a:p>
            <a:r>
              <a:rPr lang="en-US" altLang="zh-CN" sz="1600" dirty="0"/>
              <a:t>[</a:t>
            </a:r>
            <a:r>
              <a:rPr lang="en-US" altLang="zh-CN" sz="1400" dirty="0">
                <a:solidFill>
                  <a:srgbClr val="212121"/>
                </a:solidFill>
                <a:latin typeface="system-ui"/>
              </a:rPr>
              <a:t>13]</a:t>
            </a:r>
            <a:r>
              <a:rPr lang="en" altLang="zh-CN" sz="1400" dirty="0">
                <a:solidFill>
                  <a:srgbClr val="212121"/>
                </a:solidFill>
                <a:latin typeface="system-ui"/>
              </a:rPr>
              <a:t>Thomas DT, Erdman KA, Burke LM. Position of the Academy of Nutrition and Dietetics, Dietitians of Canada, and the American College of Sports Medicine: Nutrition and Athletic Performance. J </a:t>
            </a:r>
            <a:r>
              <a:rPr lang="en" altLang="zh-CN" sz="1400" dirty="0" err="1">
                <a:solidFill>
                  <a:srgbClr val="212121"/>
                </a:solidFill>
                <a:latin typeface="system-ui"/>
              </a:rPr>
              <a:t>Acad</a:t>
            </a:r>
            <a:r>
              <a:rPr lang="en" altLang="zh-CN" sz="1400" dirty="0">
                <a:solidFill>
                  <a:srgbClr val="212121"/>
                </a:solidFill>
                <a:latin typeface="system-ui"/>
              </a:rPr>
              <a:t> Nutr Diet. 2016 Mar;116(3):501-528. </a:t>
            </a:r>
            <a:endParaRPr lang="zh-CN" altLang="en-US" sz="1400" dirty="0">
              <a:solidFill>
                <a:srgbClr val="212121"/>
              </a:solidFill>
              <a:latin typeface="system-ui"/>
            </a:endParaRPr>
          </a:p>
        </p:txBody>
      </p:sp>
      <p:sp>
        <p:nvSpPr>
          <p:cNvPr id="12" name="AutoShape 4" descr="Simplified schematic of steroid hormone biosynthesis. A cholesterol... |  Download Scientific Diagram">
            <a:extLst>
              <a:ext uri="{FF2B5EF4-FFF2-40B4-BE49-F238E27FC236}">
                <a16:creationId xmlns:a16="http://schemas.microsoft.com/office/drawing/2014/main" id="{EDE57182-C44D-9660-4E99-D545FAF976D2}"/>
              </a:ext>
            </a:extLst>
          </p:cNvPr>
          <p:cNvSpPr>
            <a:spLocks noChangeAspect="1" noChangeArrowheads="1"/>
          </p:cNvSpPr>
          <p:nvPr/>
        </p:nvSpPr>
        <p:spPr bwMode="auto">
          <a:xfrm>
            <a:off x="3331029" y="664029"/>
            <a:ext cx="2917371" cy="29173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8198" name="Picture 6" descr="Steroid Hormone - an overview | ScienceDirect Topics">
            <a:extLst>
              <a:ext uri="{FF2B5EF4-FFF2-40B4-BE49-F238E27FC236}">
                <a16:creationId xmlns:a16="http://schemas.microsoft.com/office/drawing/2014/main" id="{B98F1994-A8DF-5F39-B087-C266B175CF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079" y="1545627"/>
            <a:ext cx="5600700" cy="3766745"/>
          </a:xfrm>
          <a:prstGeom prst="rect">
            <a:avLst/>
          </a:prstGeom>
          <a:noFill/>
          <a:extLst>
            <a:ext uri="{909E8E84-426E-40DD-AFC4-6F175D3DCCD1}">
              <a14:hiddenFill xmlns:a14="http://schemas.microsoft.com/office/drawing/2010/main">
                <a:solidFill>
                  <a:srgbClr val="FFFFFF"/>
                </a:solidFill>
              </a14:hiddenFill>
            </a:ext>
          </a:extLst>
        </p:spPr>
      </p:pic>
      <p:sp>
        <p:nvSpPr>
          <p:cNvPr id="13" name="AutoShape 8" descr="The classical picture of Brooks and Mercier's “Crossover concept”... |  Download Scientific Diagram">
            <a:extLst>
              <a:ext uri="{FF2B5EF4-FFF2-40B4-BE49-F238E27FC236}">
                <a16:creationId xmlns:a16="http://schemas.microsoft.com/office/drawing/2014/main" id="{35D2E4B9-8436-4397-CE77-F58A29245D5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AutoShape 10" descr="The classical picture of Brooks and Mercier’s “Crossover concept” redrawn from our personal database of more than 5000 exercise calorimetries (see text). This hypothesis assumes that there is a major shift in the balance of substrates used for oxidation during exercise grossly around 50% of the maximal aerobic capacity, when carbohydrates represent more than 70% of the sources of energy for the exercising body. Oxidative use of fat culminates below this level, and close to it or slightly above it, blood lactate increases and the ventilatory threshold occurs. Note that the ordinates for % of fat oxidation and % of CHO oxidation are not symmetric, in order to better visualize the crossover. In a series of more than 5000 exercise calorimetries, we find that the crossover point is, on average, at 55.1% of VO2max but exhibits a wide variability among individuals.">
            <a:extLst>
              <a:ext uri="{FF2B5EF4-FFF2-40B4-BE49-F238E27FC236}">
                <a16:creationId xmlns:a16="http://schemas.microsoft.com/office/drawing/2014/main" id="{30379FD7-ED36-32A4-C7EB-E3AB488F2FC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5" name="图片 14">
            <a:extLst>
              <a:ext uri="{FF2B5EF4-FFF2-40B4-BE49-F238E27FC236}">
                <a16:creationId xmlns:a16="http://schemas.microsoft.com/office/drawing/2014/main" id="{A0A8FBB0-9A79-158D-3FAC-85496AA85984}"/>
              </a:ext>
            </a:extLst>
          </p:cNvPr>
          <p:cNvPicPr>
            <a:picLocks noChangeAspect="1"/>
          </p:cNvPicPr>
          <p:nvPr/>
        </p:nvPicPr>
        <p:blipFill>
          <a:blip r:embed="rId4"/>
          <a:stretch>
            <a:fillRect/>
          </a:stretch>
        </p:blipFill>
        <p:spPr>
          <a:xfrm>
            <a:off x="5943600" y="1545627"/>
            <a:ext cx="6028494" cy="3766745"/>
          </a:xfrm>
          <a:prstGeom prst="rect">
            <a:avLst/>
          </a:prstGeom>
        </p:spPr>
      </p:pic>
      <p:sp>
        <p:nvSpPr>
          <p:cNvPr id="16" name="文本框 15">
            <a:extLst>
              <a:ext uri="{FF2B5EF4-FFF2-40B4-BE49-F238E27FC236}">
                <a16:creationId xmlns:a16="http://schemas.microsoft.com/office/drawing/2014/main" id="{788316CC-1AFA-420B-02EC-7221F287BF4C}"/>
              </a:ext>
            </a:extLst>
          </p:cNvPr>
          <p:cNvSpPr txBox="1"/>
          <p:nvPr/>
        </p:nvSpPr>
        <p:spPr>
          <a:xfrm>
            <a:off x="0" y="6193970"/>
            <a:ext cx="12192000" cy="584775"/>
          </a:xfrm>
          <a:prstGeom prst="rect">
            <a:avLst/>
          </a:prstGeom>
          <a:noFill/>
        </p:spPr>
        <p:txBody>
          <a:bodyPr wrap="square" rtlCol="0">
            <a:spAutoFit/>
          </a:bodyPr>
          <a:lstStyle/>
          <a:p>
            <a:r>
              <a:rPr lang="en-US" altLang="zh-CN" sz="1600" dirty="0"/>
              <a:t>[14]</a:t>
            </a:r>
            <a:r>
              <a:rPr lang="en" altLang="zh-CN" sz="1600" dirty="0"/>
              <a:t> Jean FB, et al. Beyond the Calorie Paradigm: Taking into Account in Practice the Balance of Fat and Carbohydrate Oxidation during Exercise?, Nutrients. 2020 14(1605).</a:t>
            </a:r>
            <a:endParaRPr lang="zh-CN" altLang="en-US" sz="1600" dirty="0"/>
          </a:p>
        </p:txBody>
      </p:sp>
    </p:spTree>
    <p:extLst>
      <p:ext uri="{BB962C8B-B14F-4D97-AF65-F5344CB8AC3E}">
        <p14:creationId xmlns:p14="http://schemas.microsoft.com/office/powerpoint/2010/main" val="35584586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A2BD2C-1E3B-781B-7009-F9213E65D5BD}"/>
              </a:ext>
            </a:extLst>
          </p:cNvPr>
          <p:cNvSpPr>
            <a:spLocks noGrp="1"/>
          </p:cNvSpPr>
          <p:nvPr>
            <p:ph type="title"/>
          </p:nvPr>
        </p:nvSpPr>
        <p:spPr/>
        <p:txBody>
          <a:bodyPr/>
          <a:lstStyle/>
          <a:p>
            <a:r>
              <a:rPr kumimoji="1" lang="en-US" altLang="zh-CN" dirty="0"/>
              <a:t>Recommend</a:t>
            </a:r>
            <a:endParaRPr kumimoji="1" lang="zh-CN" altLang="en-US" dirty="0"/>
          </a:p>
        </p:txBody>
      </p:sp>
      <p:sp>
        <p:nvSpPr>
          <p:cNvPr id="3" name="内容占位符 2">
            <a:extLst>
              <a:ext uri="{FF2B5EF4-FFF2-40B4-BE49-F238E27FC236}">
                <a16:creationId xmlns:a16="http://schemas.microsoft.com/office/drawing/2014/main" id="{E2A9125D-FA6A-9CD2-308E-BAED382771D6}"/>
              </a:ext>
            </a:extLst>
          </p:cNvPr>
          <p:cNvSpPr>
            <a:spLocks noGrp="1"/>
          </p:cNvSpPr>
          <p:nvPr>
            <p:ph idx="1"/>
          </p:nvPr>
        </p:nvSpPr>
        <p:spPr/>
        <p:txBody>
          <a:bodyPr>
            <a:normAutofit lnSpcReduction="10000"/>
          </a:bodyPr>
          <a:lstStyle/>
          <a:p>
            <a:r>
              <a:rPr lang="en" altLang="zh-CN" dirty="0"/>
              <a:t>Avocado, olive oil, nuts, salmon</a:t>
            </a:r>
          </a:p>
          <a:p>
            <a:endParaRPr lang="en" altLang="zh-CN" dirty="0"/>
          </a:p>
          <a:p>
            <a:r>
              <a:rPr lang="en" altLang="zh-CN" b="1" dirty="0"/>
              <a:t>Meals:</a:t>
            </a:r>
            <a:r>
              <a:rPr lang="en" altLang="zh-CN" dirty="0"/>
              <a:t> Salmon with brown rice, avocado sandwich, nuts + yoghurt</a:t>
            </a:r>
          </a:p>
          <a:p>
            <a:endParaRPr lang="en-US" altLang="zh-CN" dirty="0"/>
          </a:p>
          <a:p>
            <a:r>
              <a:rPr lang="en" altLang="zh-CN" b="1" dirty="0"/>
              <a:t>Avoid:</a:t>
            </a:r>
            <a:r>
              <a:rPr lang="en" altLang="zh-CN" dirty="0"/>
              <a:t> Trans fats, too many fried foods, </a:t>
            </a:r>
          </a:p>
          <a:p>
            <a:r>
              <a:rPr lang="en" altLang="zh-CN" dirty="0"/>
              <a:t>In case</a:t>
            </a:r>
            <a:r>
              <a:rPr lang="zh-CN" altLang="en-US"/>
              <a:t> </a:t>
            </a:r>
            <a:r>
              <a:rPr lang="en" altLang="zh-CN"/>
              <a:t>to </a:t>
            </a:r>
            <a:r>
              <a:rPr lang="en" altLang="zh-CN" dirty="0"/>
              <a:t>protect cardiovascular and weight management</a:t>
            </a:r>
            <a:endParaRPr lang="en-US" altLang="zh-CN" dirty="0"/>
          </a:p>
          <a:p>
            <a:endParaRPr lang="en-US" altLang="zh-CN" dirty="0"/>
          </a:p>
          <a:p>
            <a:r>
              <a:rPr lang="en" altLang="zh-CN" b="1" dirty="0"/>
              <a:t>25–30% of total kcal/day</a:t>
            </a:r>
            <a:r>
              <a:rPr lang="en" altLang="zh-CN" dirty="0"/>
              <a:t> → </a:t>
            </a:r>
            <a:r>
              <a:rPr lang="en" altLang="zh-CN" b="1" dirty="0"/>
              <a:t>≈ 75</a:t>
            </a:r>
            <a:r>
              <a:rPr lang="en-US" altLang="zh-CN" b="1" dirty="0"/>
              <a:t>1</a:t>
            </a:r>
            <a:r>
              <a:rPr lang="en" altLang="zh-CN" b="1" dirty="0"/>
              <a:t>–8</a:t>
            </a:r>
            <a:r>
              <a:rPr lang="en-US" altLang="zh-CN" b="1" dirty="0"/>
              <a:t>88</a:t>
            </a:r>
            <a:r>
              <a:rPr lang="en" altLang="zh-CN" b="1" dirty="0"/>
              <a:t> kcal/day</a:t>
            </a:r>
            <a:r>
              <a:rPr lang="zh-CN" altLang="en" b="1" dirty="0"/>
              <a:t>（</a:t>
            </a:r>
            <a:r>
              <a:rPr lang="en" altLang="zh-CN" b="1" dirty="0"/>
              <a:t>82–98 g/day</a:t>
            </a:r>
            <a:r>
              <a:rPr lang="zh-CN" altLang="en" b="1" dirty="0"/>
              <a:t>）</a:t>
            </a:r>
            <a:endParaRPr lang="en" altLang="zh-CN" dirty="0"/>
          </a:p>
          <a:p>
            <a:endParaRPr lang="zh-CN" altLang="en-US" dirty="0"/>
          </a:p>
          <a:p>
            <a:endParaRPr kumimoji="1" lang="zh-CN" altLang="en-US" dirty="0"/>
          </a:p>
        </p:txBody>
      </p:sp>
    </p:spTree>
    <p:extLst>
      <p:ext uri="{BB962C8B-B14F-4D97-AF65-F5344CB8AC3E}">
        <p14:creationId xmlns:p14="http://schemas.microsoft.com/office/powerpoint/2010/main" val="32332406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21F2D-5B09-DE39-FADD-7CE847667DE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F4CC5F-5D6D-0959-ABB4-A1746AABAAC3}"/>
              </a:ext>
            </a:extLst>
          </p:cNvPr>
          <p:cNvSpPr>
            <a:spLocks noGrp="1"/>
          </p:cNvSpPr>
          <p:nvPr>
            <p:ph type="title"/>
          </p:nvPr>
        </p:nvSpPr>
        <p:spPr>
          <a:xfrm>
            <a:off x="721401" y="395105"/>
            <a:ext cx="10749197" cy="1325563"/>
          </a:xfrm>
        </p:spPr>
        <p:txBody>
          <a:bodyPr>
            <a:normAutofit/>
          </a:bodyPr>
          <a:lstStyle/>
          <a:p>
            <a:r>
              <a:rPr kumimoji="1" lang="en-US" altLang="zh-CN" dirty="0">
                <a:latin typeface="Times New Roman" panose="02020603050405020304" pitchFamily="18" charset="0"/>
                <a:cs typeface="Times New Roman" panose="02020603050405020304" pitchFamily="18" charset="0"/>
              </a:rPr>
              <a:t>4 Macronutrient prescription &amp; </a:t>
            </a:r>
            <a:r>
              <a:rPr kumimoji="1" lang="en-US" altLang="zh-CN" dirty="0">
                <a:highlight>
                  <a:srgbClr val="FFFF00"/>
                </a:highlight>
                <a:latin typeface="Times New Roman" panose="02020603050405020304" pitchFamily="18" charset="0"/>
                <a:cs typeface="Times New Roman" panose="02020603050405020304" pitchFamily="18" charset="0"/>
              </a:rPr>
              <a:t>Micronutrients</a:t>
            </a:r>
            <a:endParaRPr kumimoji="1" lang="zh-CN" altLang="en-US" dirty="0">
              <a:highlight>
                <a:srgbClr val="FFFF00"/>
              </a:highlight>
            </a:endParaRPr>
          </a:p>
        </p:txBody>
      </p:sp>
      <p:sp>
        <p:nvSpPr>
          <p:cNvPr id="3" name="内容占位符 2">
            <a:extLst>
              <a:ext uri="{FF2B5EF4-FFF2-40B4-BE49-F238E27FC236}">
                <a16:creationId xmlns:a16="http://schemas.microsoft.com/office/drawing/2014/main" id="{E0A7422F-78C7-4DD6-1913-6FC9D126485C}"/>
              </a:ext>
            </a:extLst>
          </p:cNvPr>
          <p:cNvSpPr>
            <a:spLocks noGrp="1"/>
          </p:cNvSpPr>
          <p:nvPr>
            <p:ph idx="1"/>
          </p:nvPr>
        </p:nvSpPr>
        <p:spPr/>
        <p:txBody>
          <a:bodyPr>
            <a:normAutofit lnSpcReduction="10000"/>
          </a:bodyPr>
          <a:lstStyle/>
          <a:p>
            <a:r>
              <a:rPr kumimoji="1" lang="en-US" altLang="zh-CN" dirty="0"/>
              <a:t>Calcium</a:t>
            </a:r>
          </a:p>
          <a:p>
            <a:endParaRPr kumimoji="1" lang="en-US" altLang="zh-CN" dirty="0"/>
          </a:p>
          <a:p>
            <a:r>
              <a:rPr kumimoji="1" lang="en-US" altLang="zh-CN" dirty="0"/>
              <a:t>Iron </a:t>
            </a:r>
          </a:p>
          <a:p>
            <a:endParaRPr kumimoji="1" lang="en-US" altLang="zh-CN" dirty="0"/>
          </a:p>
          <a:p>
            <a:r>
              <a:rPr kumimoji="1" lang="en-US" altLang="zh-CN" dirty="0"/>
              <a:t>Vitamin D</a:t>
            </a:r>
          </a:p>
          <a:p>
            <a:endParaRPr kumimoji="1" lang="en-US" altLang="zh-CN" dirty="0"/>
          </a:p>
          <a:p>
            <a:r>
              <a:rPr kumimoji="1" lang="en-US" altLang="zh-CN" dirty="0"/>
              <a:t>Folate(Vitamin B9)/Vitamin B12</a:t>
            </a:r>
          </a:p>
          <a:p>
            <a:pPr marL="0" indent="0">
              <a:buNone/>
            </a:pPr>
            <a:endParaRPr kumimoji="1" lang="en-US" altLang="zh-CN" dirty="0"/>
          </a:p>
          <a:p>
            <a:r>
              <a:rPr kumimoji="1" lang="en-US" altLang="zh-CN" dirty="0"/>
              <a:t>Magnesium</a:t>
            </a:r>
            <a:endParaRPr kumimoji="1" lang="zh-CN" altLang="en-US" dirty="0"/>
          </a:p>
        </p:txBody>
      </p:sp>
    </p:spTree>
    <p:extLst>
      <p:ext uri="{BB962C8B-B14F-4D97-AF65-F5344CB8AC3E}">
        <p14:creationId xmlns:p14="http://schemas.microsoft.com/office/powerpoint/2010/main" val="22868964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067A12-0D07-2E25-8FB9-E525F20884A7}"/>
              </a:ext>
            </a:extLst>
          </p:cNvPr>
          <p:cNvSpPr>
            <a:spLocks noGrp="1"/>
          </p:cNvSpPr>
          <p:nvPr>
            <p:ph type="title"/>
          </p:nvPr>
        </p:nvSpPr>
        <p:spPr>
          <a:xfrm>
            <a:off x="250372" y="243904"/>
            <a:ext cx="10515600" cy="1325563"/>
          </a:xfrm>
        </p:spPr>
        <p:txBody>
          <a:bodyPr/>
          <a:lstStyle/>
          <a:p>
            <a:r>
              <a:rPr lang="en" altLang="zh-CN" dirty="0">
                <a:latin typeface="Times New Roman" panose="02020603050405020304" pitchFamily="18" charset="0"/>
                <a:cs typeface="Times New Roman" panose="02020603050405020304" pitchFamily="18" charset="0"/>
              </a:rPr>
              <a:t>Calcium</a:t>
            </a:r>
            <a:endParaRPr kumimoji="1" lang="zh-CN" altLang="en-US"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273F696B-0DF5-C3C1-4E56-14AFFC0B6737}"/>
              </a:ext>
            </a:extLst>
          </p:cNvPr>
          <p:cNvSpPr>
            <a:spLocks noGrp="1"/>
          </p:cNvSpPr>
          <p:nvPr>
            <p:ph idx="1"/>
          </p:nvPr>
        </p:nvSpPr>
        <p:spPr>
          <a:xfrm>
            <a:off x="250372" y="1736993"/>
            <a:ext cx="11586940" cy="4082369"/>
          </a:xfrm>
        </p:spPr>
        <p:txBody>
          <a:bodyPr>
            <a:normAutofit/>
          </a:bodyPr>
          <a:lstStyle/>
          <a:p>
            <a:pPr marL="0" indent="0">
              <a:buNone/>
            </a:pPr>
            <a:r>
              <a:rPr lang="en-US" altLang="zh-CN" dirty="0">
                <a:latin typeface="Times New Roman" panose="02020603050405020304" pitchFamily="18" charset="0"/>
                <a:cs typeface="Times New Roman" panose="02020603050405020304" pitchFamily="18" charset="0"/>
              </a:rPr>
              <a:t>Valuable point </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 altLang="zh-CN" dirty="0"/>
              <a:t>Postpartum women are in the recovery period of bone density
With vitamin D to promote bone metabolism</a:t>
            </a:r>
            <a:br>
              <a:rPr lang="zh-CN" altLang="en-US" dirty="0"/>
            </a:br>
            <a:endParaRPr lang="zh-CN" altLang="en-US" dirty="0"/>
          </a:p>
          <a:p>
            <a:pPr marL="0" indent="0">
              <a:buNone/>
            </a:pPr>
            <a:r>
              <a:rPr lang="en" altLang="zh-CN" dirty="0">
                <a:latin typeface="Times New Roman" panose="02020603050405020304" pitchFamily="18" charset="0"/>
                <a:cs typeface="Times New Roman" panose="02020603050405020304" pitchFamily="18" charset="0"/>
              </a:rPr>
              <a:t>Deficiency risks</a:t>
            </a:r>
            <a:r>
              <a:rPr lang="zh-CN" altLang="en-US" dirty="0">
                <a:latin typeface="Times New Roman" panose="02020603050405020304" pitchFamily="18" charset="0"/>
                <a:cs typeface="Times New Roman" panose="02020603050405020304" pitchFamily="18" charset="0"/>
              </a:rPr>
              <a:t>：</a:t>
            </a:r>
            <a:endParaRPr lang="en" altLang="zh-CN" dirty="0">
              <a:latin typeface="Times New Roman" panose="02020603050405020304" pitchFamily="18" charset="0"/>
              <a:cs typeface="Times New Roman" panose="02020603050405020304" pitchFamily="18" charset="0"/>
            </a:endParaRPr>
          </a:p>
          <a:p>
            <a:r>
              <a:rPr lang="en" altLang="zh-CN" dirty="0"/>
              <a:t>Loss of bone density, risk of osteoporosis due to irregular menstruation (common in female athletes)
Stress fracture</a:t>
            </a:r>
            <a:r>
              <a:rPr lang="zh-CN" altLang="en" dirty="0"/>
              <a:t>（</a:t>
            </a:r>
            <a:r>
              <a:rPr lang="en" altLang="zh-CN" dirty="0"/>
              <a:t>mentioned in the general fitness course</a:t>
            </a:r>
            <a:r>
              <a:rPr lang="zh-CN" altLang="en" dirty="0"/>
              <a:t>）</a:t>
            </a:r>
            <a:endParaRPr kumimoji="1" lang="zh-CN" altLang="en-US" dirty="0"/>
          </a:p>
        </p:txBody>
      </p:sp>
      <p:sp>
        <p:nvSpPr>
          <p:cNvPr id="6" name="文本框 5">
            <a:extLst>
              <a:ext uri="{FF2B5EF4-FFF2-40B4-BE49-F238E27FC236}">
                <a16:creationId xmlns:a16="http://schemas.microsoft.com/office/drawing/2014/main" id="{74ED72AE-64B2-5832-392A-CAD77F723FA1}"/>
              </a:ext>
            </a:extLst>
          </p:cNvPr>
          <p:cNvSpPr txBox="1"/>
          <p:nvPr/>
        </p:nvSpPr>
        <p:spPr>
          <a:xfrm>
            <a:off x="46773" y="5986888"/>
            <a:ext cx="12098454" cy="830997"/>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[15 ]</a:t>
            </a:r>
            <a:r>
              <a:rPr lang="en" altLang="zh-CN" sz="1600" dirty="0">
                <a:latin typeface="Times New Roman" panose="02020603050405020304" pitchFamily="18" charset="0"/>
                <a:cs typeface="Times New Roman" panose="02020603050405020304" pitchFamily="18" charset="0"/>
              </a:rPr>
              <a:t>Wahlquist, A. E., Blanke, H. H., Asghari, G., Baatz, J. E., Ebeling, M., Shary, J. R., Howard, C. R., Lawrence, R. A., Hollis, B. W., &amp; Wagner, C. L. (2024). Factors Affecting Postpartum Bone Mineral Density in a Clinical Trial of Vitamin D Supplementation. Journal of women's health (2002), 33(7), 887–900. </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479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826001-F98B-8A81-0769-8F61C25672C2}"/>
              </a:ext>
            </a:extLst>
          </p:cNvPr>
          <p:cNvSpPr>
            <a:spLocks noGrp="1"/>
          </p:cNvSpPr>
          <p:nvPr>
            <p:ph type="title"/>
          </p:nvPr>
        </p:nvSpPr>
        <p:spPr>
          <a:xfrm>
            <a:off x="315686" y="577396"/>
            <a:ext cx="10515600" cy="1325563"/>
          </a:xfrm>
        </p:spPr>
        <p:txBody>
          <a:bodyPr/>
          <a:lstStyle/>
          <a:p>
            <a:r>
              <a:rPr lang="en" altLang="zh-CN" b="1" dirty="0"/>
              <a:t>Vitamin D</a:t>
            </a:r>
            <a:endParaRPr kumimoji="1" lang="zh-CN" altLang="en-US" dirty="0"/>
          </a:p>
        </p:txBody>
      </p:sp>
      <p:sp>
        <p:nvSpPr>
          <p:cNvPr id="3" name="内容占位符 2">
            <a:extLst>
              <a:ext uri="{FF2B5EF4-FFF2-40B4-BE49-F238E27FC236}">
                <a16:creationId xmlns:a16="http://schemas.microsoft.com/office/drawing/2014/main" id="{6BBADD00-4FCF-4C4E-5B76-CAFF6B01A2D4}"/>
              </a:ext>
            </a:extLst>
          </p:cNvPr>
          <p:cNvSpPr>
            <a:spLocks noGrp="1"/>
          </p:cNvSpPr>
          <p:nvPr>
            <p:ph idx="1"/>
          </p:nvPr>
        </p:nvSpPr>
        <p:spPr>
          <a:xfrm>
            <a:off x="315686" y="2070332"/>
            <a:ext cx="11876314" cy="4351338"/>
          </a:xfrm>
        </p:spPr>
        <p:txBody>
          <a:bodyPr>
            <a:normAutofit/>
          </a:bodyPr>
          <a:lstStyle/>
          <a:p>
            <a:pPr marL="0" indent="0">
              <a:lnSpc>
                <a:spcPct val="100000"/>
              </a:lnSpc>
              <a:buNone/>
            </a:pPr>
            <a:r>
              <a:rPr lang="en-US" altLang="zh-CN" sz="3000" dirty="0">
                <a:latin typeface="Times New Roman" panose="02020603050405020304" pitchFamily="18" charset="0"/>
                <a:cs typeface="Times New Roman" panose="02020603050405020304" pitchFamily="18" charset="0"/>
              </a:rPr>
              <a:t>Valuable</a:t>
            </a:r>
            <a:r>
              <a:rPr lang="zh-CN" altLang="en-US" sz="3000" dirty="0">
                <a:latin typeface="Times New Roman" panose="02020603050405020304" pitchFamily="18" charset="0"/>
                <a:cs typeface="Times New Roman" panose="02020603050405020304" pitchFamily="18" charset="0"/>
              </a:rPr>
              <a:t> </a:t>
            </a:r>
            <a:r>
              <a:rPr lang="en-US" altLang="zh-CN" sz="3000" dirty="0">
                <a:latin typeface="Times New Roman" panose="02020603050405020304" pitchFamily="18" charset="0"/>
                <a:cs typeface="Times New Roman" panose="02020603050405020304" pitchFamily="18" charset="0"/>
              </a:rPr>
              <a:t>point</a:t>
            </a:r>
            <a:r>
              <a:rPr lang="zh-CN" altLang="en-US" sz="3000" dirty="0">
                <a:latin typeface="Times New Roman" panose="02020603050405020304" pitchFamily="18" charset="0"/>
                <a:cs typeface="Times New Roman" panose="02020603050405020304" pitchFamily="18" charset="0"/>
              </a:rPr>
              <a:t>：</a:t>
            </a:r>
            <a:endParaRPr lang="en" altLang="zh-CN" sz="3000" dirty="0">
              <a:latin typeface="Times New Roman" panose="02020603050405020304" pitchFamily="18" charset="0"/>
              <a:cs typeface="Times New Roman" panose="02020603050405020304" pitchFamily="18" charset="0"/>
            </a:endParaRPr>
          </a:p>
          <a:p>
            <a:r>
              <a:rPr lang="en" altLang="zh-CN" sz="2600" dirty="0"/>
              <a:t>Vitamin D supports bone health, which is particularly essential for postpartum women and endurance runners who experience high-impact loading.</a:t>
            </a:r>
          </a:p>
          <a:p>
            <a:r>
              <a:rPr lang="en" altLang="zh-CN" sz="2600" dirty="0"/>
              <a:t>Regulates immune function—important during postpartum recovery when immunity may be weakened.</a:t>
            </a:r>
          </a:p>
          <a:p>
            <a:pPr marL="0" indent="0">
              <a:buNone/>
            </a:pPr>
            <a:endParaRPr lang="en" altLang="zh-CN" dirty="0"/>
          </a:p>
          <a:p>
            <a:pPr marL="0" indent="0">
              <a:lnSpc>
                <a:spcPct val="100000"/>
              </a:lnSpc>
              <a:buNone/>
            </a:pPr>
            <a:r>
              <a:rPr lang="en" altLang="zh-CN" sz="3000" dirty="0">
                <a:latin typeface="Times New Roman" panose="02020603050405020304" pitchFamily="18" charset="0"/>
                <a:cs typeface="Times New Roman" panose="02020603050405020304" pitchFamily="18" charset="0"/>
              </a:rPr>
              <a:t>Deficiency risks</a:t>
            </a:r>
            <a:r>
              <a:rPr lang="zh-CN" altLang="en-US" sz="3000" dirty="0">
                <a:latin typeface="Times New Roman" panose="02020603050405020304" pitchFamily="18" charset="0"/>
                <a:cs typeface="Times New Roman" panose="02020603050405020304" pitchFamily="18" charset="0"/>
              </a:rPr>
              <a:t>：</a:t>
            </a:r>
            <a:endParaRPr lang="en" altLang="zh-CN" sz="3000" dirty="0">
              <a:latin typeface="Times New Roman" panose="02020603050405020304" pitchFamily="18" charset="0"/>
              <a:cs typeface="Times New Roman" panose="02020603050405020304" pitchFamily="18" charset="0"/>
            </a:endParaRPr>
          </a:p>
          <a:p>
            <a:r>
              <a:rPr lang="en" altLang="zh-CN" sz="2400" dirty="0"/>
              <a:t>Muscle weakness, slower recovery</a:t>
            </a:r>
          </a:p>
          <a:p>
            <a:r>
              <a:rPr lang="en" altLang="zh-CN" sz="2400" dirty="0"/>
              <a:t>Mood disturbances (postpartum women are already vulnerable)</a:t>
            </a:r>
          </a:p>
          <a:p>
            <a:pPr marL="0" indent="0">
              <a:buNone/>
            </a:pPr>
            <a:endParaRPr lang="en" altLang="zh-CN" dirty="0"/>
          </a:p>
        </p:txBody>
      </p:sp>
    </p:spTree>
    <p:extLst>
      <p:ext uri="{BB962C8B-B14F-4D97-AF65-F5344CB8AC3E}">
        <p14:creationId xmlns:p14="http://schemas.microsoft.com/office/powerpoint/2010/main" val="19262092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58CBE6-4F30-6461-BFB7-9357BC9A3BF4}"/>
              </a:ext>
            </a:extLst>
          </p:cNvPr>
          <p:cNvSpPr>
            <a:spLocks noGrp="1"/>
          </p:cNvSpPr>
          <p:nvPr>
            <p:ph type="title"/>
          </p:nvPr>
        </p:nvSpPr>
        <p:spPr>
          <a:xfrm>
            <a:off x="153911" y="230655"/>
            <a:ext cx="10515600" cy="1325563"/>
          </a:xfrm>
        </p:spPr>
        <p:txBody>
          <a:bodyPr/>
          <a:lstStyle/>
          <a:p>
            <a:r>
              <a:rPr lang="en" altLang="zh-CN" b="1" dirty="0"/>
              <a:t>Iron</a:t>
            </a:r>
            <a:endParaRPr kumimoji="1" lang="zh-CN" altLang="en-US" dirty="0"/>
          </a:p>
        </p:txBody>
      </p:sp>
      <p:sp>
        <p:nvSpPr>
          <p:cNvPr id="3" name="内容占位符 2">
            <a:extLst>
              <a:ext uri="{FF2B5EF4-FFF2-40B4-BE49-F238E27FC236}">
                <a16:creationId xmlns:a16="http://schemas.microsoft.com/office/drawing/2014/main" id="{2737CB3F-7598-0169-10A2-73322B5BD879}"/>
              </a:ext>
            </a:extLst>
          </p:cNvPr>
          <p:cNvSpPr>
            <a:spLocks noGrp="1"/>
          </p:cNvSpPr>
          <p:nvPr>
            <p:ph idx="1"/>
          </p:nvPr>
        </p:nvSpPr>
        <p:spPr>
          <a:xfrm>
            <a:off x="153911" y="1471895"/>
            <a:ext cx="11884177" cy="4719889"/>
          </a:xfrm>
        </p:spPr>
        <p:txBody>
          <a:bodyPr>
            <a:normAutofit/>
          </a:bodyPr>
          <a:lstStyle/>
          <a:p>
            <a:pPr marL="0" indent="0">
              <a:buNone/>
            </a:pPr>
            <a:r>
              <a:rPr lang="en-US" altLang="zh-CN" dirty="0">
                <a:latin typeface="Times New Roman" panose="02020603050405020304" pitchFamily="18" charset="0"/>
                <a:cs typeface="Times New Roman" panose="02020603050405020304" pitchFamily="18" charset="0"/>
              </a:rPr>
              <a:t>Valuable point </a:t>
            </a:r>
            <a:r>
              <a:rPr lang="zh-CN" altLang="en-US" dirty="0">
                <a:latin typeface="Times New Roman" panose="02020603050405020304" pitchFamily="18" charset="0"/>
                <a:cs typeface="Times New Roman" panose="02020603050405020304" pitchFamily="18" charset="0"/>
              </a:rPr>
              <a:t>：</a:t>
            </a:r>
            <a:endParaRPr lang="en" altLang="zh-CN" dirty="0">
              <a:latin typeface="Times New Roman" panose="02020603050405020304" pitchFamily="18" charset="0"/>
              <a:cs typeface="Times New Roman" panose="02020603050405020304" pitchFamily="18" charset="0"/>
            </a:endParaRPr>
          </a:p>
          <a:p>
            <a:r>
              <a:rPr lang="en" altLang="zh-CN" dirty="0">
                <a:cs typeface="Times New Roman" panose="02020603050405020304" pitchFamily="18" charset="0"/>
              </a:rPr>
              <a:t>Iron is a key component of haemoglobin and myoglobin and is essential for oxygen transport.
Adequate iron levels optimise VO2 MAX, aerobic capacity, and fatigue resistance.</a:t>
            </a:r>
          </a:p>
          <a:p>
            <a:endParaRPr lang="en" altLang="zh-CN" dirty="0">
              <a:latin typeface="Times New Roman" panose="02020603050405020304" pitchFamily="18" charset="0"/>
              <a:cs typeface="Times New Roman" panose="02020603050405020304" pitchFamily="18" charset="0"/>
            </a:endParaRPr>
          </a:p>
          <a:p>
            <a:pPr marL="0" indent="0">
              <a:buNone/>
            </a:pPr>
            <a:r>
              <a:rPr lang="en" altLang="zh-CN" dirty="0">
                <a:latin typeface="Times New Roman" panose="02020603050405020304" pitchFamily="18" charset="0"/>
                <a:cs typeface="Times New Roman" panose="02020603050405020304" pitchFamily="18" charset="0"/>
              </a:rPr>
              <a:t>Deficiency risks</a:t>
            </a:r>
            <a:r>
              <a:rPr lang="zh-CN" altLang="en-US" dirty="0">
                <a:latin typeface="Times New Roman" panose="02020603050405020304" pitchFamily="18" charset="0"/>
                <a:cs typeface="Times New Roman" panose="02020603050405020304" pitchFamily="18" charset="0"/>
              </a:rPr>
              <a:t>：</a:t>
            </a:r>
            <a:endParaRPr lang="en" altLang="zh-CN" dirty="0">
              <a:latin typeface="Times New Roman" panose="02020603050405020304" pitchFamily="18" charset="0"/>
              <a:cs typeface="Times New Roman" panose="02020603050405020304" pitchFamily="18" charset="0"/>
            </a:endParaRPr>
          </a:p>
          <a:p>
            <a:pPr lvl="0" fontAlgn="base">
              <a:spcAft>
                <a:spcPct val="0"/>
              </a:spcAft>
            </a:pPr>
            <a:r>
              <a:rPr lang="zh-CN" altLang="zh-CN" dirty="0">
                <a:cs typeface="Times New Roman" panose="02020603050405020304" pitchFamily="18" charset="0"/>
              </a:rPr>
              <a:t>Worsening of postpartum fatigue.</a:t>
            </a:r>
          </a:p>
          <a:p>
            <a:pPr lvl="0" fontAlgn="base">
              <a:spcAft>
                <a:spcPct val="0"/>
              </a:spcAft>
            </a:pPr>
            <a:r>
              <a:rPr lang="zh-CN" altLang="zh-CN" dirty="0">
                <a:cs typeface="Times New Roman" panose="02020603050405020304" pitchFamily="18" charset="0"/>
              </a:rPr>
              <a:t>Risk of developing iron-deficiency </a:t>
            </a:r>
            <a:r>
              <a:rPr lang="en" altLang="zh-CN" dirty="0" err="1">
                <a:cs typeface="Times New Roman" panose="02020603050405020304" pitchFamily="18" charset="0"/>
              </a:rPr>
              <a:t>anaemia</a:t>
            </a:r>
            <a:r>
              <a:rPr lang="zh-CN" altLang="zh-CN" dirty="0">
                <a:cs typeface="Times New Roman" panose="02020603050405020304" pitchFamily="18" charset="0"/>
              </a:rPr>
              <a:t> if unaddressed.</a:t>
            </a:r>
          </a:p>
          <a:p>
            <a:pPr marL="0" indent="0">
              <a:buNone/>
            </a:pPr>
            <a:endParaRPr lang="en" altLang="zh-CN"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0BA5D8B2-78A6-00BD-38B9-CC12AD2419E4}"/>
              </a:ext>
            </a:extLst>
          </p:cNvPr>
          <p:cNvSpPr txBox="1"/>
          <p:nvPr/>
        </p:nvSpPr>
        <p:spPr>
          <a:xfrm>
            <a:off x="273422" y="6042570"/>
            <a:ext cx="11452413"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[16]</a:t>
            </a:r>
            <a:r>
              <a:rPr lang="en" altLang="zh-CN" sz="1600" dirty="0">
                <a:latin typeface="Times New Roman" panose="02020603050405020304" pitchFamily="18" charset="0"/>
                <a:cs typeface="Times New Roman" panose="02020603050405020304" pitchFamily="18" charset="0"/>
              </a:rPr>
              <a:t>Keller, K., Friedrich, O., Treiber, J., </a:t>
            </a:r>
            <a:r>
              <a:rPr lang="en" altLang="zh-CN" sz="1600" dirty="0" err="1">
                <a:latin typeface="Times New Roman" panose="02020603050405020304" pitchFamily="18" charset="0"/>
                <a:cs typeface="Times New Roman" panose="02020603050405020304" pitchFamily="18" charset="0"/>
              </a:rPr>
              <a:t>Quermann</a:t>
            </a:r>
            <a:r>
              <a:rPr lang="en" altLang="zh-CN" sz="1600" dirty="0">
                <a:latin typeface="Times New Roman" panose="02020603050405020304" pitchFamily="18" charset="0"/>
                <a:cs typeface="Times New Roman" panose="02020603050405020304" pitchFamily="18" charset="0"/>
              </a:rPr>
              <a:t>, A., &amp; Friedmann-Bette, B. (2024). Iron deficiency in athletes: Prevalence and impact on VO2 peak. Nutrition (Burbank, Los Angeles County, Calif.), 126, 112516. </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72016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EA5BBA-96FB-9010-A180-EBBF5549EF0A}"/>
              </a:ext>
            </a:extLst>
          </p:cNvPr>
          <p:cNvSpPr>
            <a:spLocks noGrp="1"/>
          </p:cNvSpPr>
          <p:nvPr>
            <p:ph type="title"/>
          </p:nvPr>
        </p:nvSpPr>
        <p:spPr>
          <a:xfrm>
            <a:off x="201386" y="528411"/>
            <a:ext cx="10515600" cy="1325563"/>
          </a:xfrm>
        </p:spPr>
        <p:txBody>
          <a:bodyPr/>
          <a:lstStyle/>
          <a:p>
            <a:r>
              <a:rPr lang="en" altLang="zh-CN" b="1" dirty="0"/>
              <a:t>Folate (Vitamin B9) / Vitamin B12</a:t>
            </a:r>
            <a:endParaRPr kumimoji="1" lang="zh-CN" altLang="en-US" dirty="0"/>
          </a:p>
        </p:txBody>
      </p:sp>
      <p:sp>
        <p:nvSpPr>
          <p:cNvPr id="3" name="内容占位符 2">
            <a:extLst>
              <a:ext uri="{FF2B5EF4-FFF2-40B4-BE49-F238E27FC236}">
                <a16:creationId xmlns:a16="http://schemas.microsoft.com/office/drawing/2014/main" id="{77DBE308-EC78-6958-D85F-6A1730BE48CF}"/>
              </a:ext>
            </a:extLst>
          </p:cNvPr>
          <p:cNvSpPr>
            <a:spLocks noGrp="1"/>
          </p:cNvSpPr>
          <p:nvPr>
            <p:ph idx="1"/>
          </p:nvPr>
        </p:nvSpPr>
        <p:spPr>
          <a:xfrm>
            <a:off x="201386" y="1978251"/>
            <a:ext cx="10515600" cy="4351338"/>
          </a:xfrm>
        </p:spPr>
        <p:txBody>
          <a:bodyPr>
            <a:normAutofit/>
          </a:bodyPr>
          <a:lstStyle/>
          <a:p>
            <a:pPr marL="0" indent="0">
              <a:buNone/>
            </a:pPr>
            <a:r>
              <a:rPr lang="en-US" altLang="zh-CN" dirty="0">
                <a:latin typeface="Times New Roman" panose="02020603050405020304" pitchFamily="18" charset="0"/>
                <a:cs typeface="Times New Roman" panose="02020603050405020304" pitchFamily="18" charset="0"/>
              </a:rPr>
              <a:t>Valuable</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point</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r>
              <a:rPr lang="en" altLang="zh-CN" sz="2400" dirty="0"/>
              <a:t>Supports red blood cell production, directly related to endurance performance
B vitamins are more likely to be deficient after pregnancy and breastfeeding</a:t>
            </a:r>
            <a:br>
              <a:rPr lang="en" altLang="zh-CN" dirty="0"/>
            </a:br>
            <a:endParaRPr lang="en" altLang="zh-CN" dirty="0"/>
          </a:p>
          <a:p>
            <a:pPr marL="0" indent="0">
              <a:buNone/>
            </a:pPr>
            <a:r>
              <a:rPr lang="en" altLang="zh-CN" dirty="0">
                <a:latin typeface="Times New Roman" panose="02020603050405020304" pitchFamily="18" charset="0"/>
                <a:cs typeface="Times New Roman" panose="02020603050405020304" pitchFamily="18" charset="0"/>
              </a:rPr>
              <a:t>Deficiency risks</a:t>
            </a:r>
            <a:r>
              <a:rPr lang="zh-CN" altLang="en-US" dirty="0">
                <a:latin typeface="Times New Roman" panose="02020603050405020304" pitchFamily="18" charset="0"/>
                <a:cs typeface="Times New Roman" panose="02020603050405020304" pitchFamily="18" charset="0"/>
              </a:rPr>
              <a:t>：</a:t>
            </a:r>
            <a:endParaRPr lang="en" altLang="zh-CN" dirty="0">
              <a:latin typeface="Times New Roman" panose="02020603050405020304" pitchFamily="18" charset="0"/>
              <a:cs typeface="Times New Roman" panose="02020603050405020304" pitchFamily="18" charset="0"/>
            </a:endParaRPr>
          </a:p>
          <a:p>
            <a:r>
              <a:rPr lang="en" altLang="zh-CN" sz="2400" dirty="0"/>
              <a:t>Increased risk of </a:t>
            </a:r>
            <a:r>
              <a:rPr lang="en" altLang="zh-CN" sz="2400" dirty="0" err="1"/>
              <a:t>anaemia</a:t>
            </a:r>
            <a:r>
              <a:rPr lang="en" altLang="zh-CN" sz="2400" dirty="0"/>
              <a:t> 
Mood swings (common postpartum)</a:t>
            </a:r>
            <a:endParaRPr kumimoji="1" lang="zh-CN" altLang="en-US" sz="2400" dirty="0"/>
          </a:p>
        </p:txBody>
      </p:sp>
      <p:sp>
        <p:nvSpPr>
          <p:cNvPr id="4" name="文本框 3">
            <a:extLst>
              <a:ext uri="{FF2B5EF4-FFF2-40B4-BE49-F238E27FC236}">
                <a16:creationId xmlns:a16="http://schemas.microsoft.com/office/drawing/2014/main" id="{28BD3BD4-9A4E-079A-BAB6-165142B92476}"/>
              </a:ext>
            </a:extLst>
          </p:cNvPr>
          <p:cNvSpPr txBox="1"/>
          <p:nvPr/>
        </p:nvSpPr>
        <p:spPr>
          <a:xfrm>
            <a:off x="369794" y="5744814"/>
            <a:ext cx="11452412"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[17]</a:t>
            </a:r>
            <a:r>
              <a:rPr lang="en" altLang="zh-CN" sz="1600" dirty="0">
                <a:latin typeface="Times New Roman" panose="02020603050405020304" pitchFamily="18" charset="0"/>
                <a:cs typeface="Times New Roman" panose="02020603050405020304" pitchFamily="18" charset="0"/>
              </a:rPr>
              <a:t>Koury, M. J., &amp; Ponka, P. (2004). New insights into erythropoiesis: the roles of folate, vitamin B12, and iron. Annual review of nutrition, 24, 105–131. </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99119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056FEC-E0E4-5AFB-F93A-9EDCBD2B6AA5}"/>
              </a:ext>
            </a:extLst>
          </p:cNvPr>
          <p:cNvSpPr>
            <a:spLocks noGrp="1"/>
          </p:cNvSpPr>
          <p:nvPr>
            <p:ph type="title"/>
          </p:nvPr>
        </p:nvSpPr>
        <p:spPr>
          <a:xfrm>
            <a:off x="413657" y="549047"/>
            <a:ext cx="10515600" cy="1325563"/>
          </a:xfrm>
        </p:spPr>
        <p:txBody>
          <a:bodyPr/>
          <a:lstStyle/>
          <a:p>
            <a:r>
              <a:rPr lang="en" altLang="zh-CN" b="1" dirty="0"/>
              <a:t>Magnesium</a:t>
            </a:r>
            <a:endParaRPr kumimoji="1" lang="zh-CN" altLang="en-US" dirty="0"/>
          </a:p>
        </p:txBody>
      </p:sp>
      <p:sp>
        <p:nvSpPr>
          <p:cNvPr id="3" name="内容占位符 2">
            <a:extLst>
              <a:ext uri="{FF2B5EF4-FFF2-40B4-BE49-F238E27FC236}">
                <a16:creationId xmlns:a16="http://schemas.microsoft.com/office/drawing/2014/main" id="{8BF389C0-32A8-863F-2D45-C0F963325FAF}"/>
              </a:ext>
            </a:extLst>
          </p:cNvPr>
          <p:cNvSpPr>
            <a:spLocks noGrp="1"/>
          </p:cNvSpPr>
          <p:nvPr>
            <p:ph idx="1"/>
          </p:nvPr>
        </p:nvSpPr>
        <p:spPr>
          <a:xfrm>
            <a:off x="413657" y="1874610"/>
            <a:ext cx="10515600" cy="4091443"/>
          </a:xfrm>
        </p:spPr>
        <p:txBody>
          <a:bodyPr>
            <a:normAutofit/>
          </a:bodyPr>
          <a:lstStyle/>
          <a:p>
            <a:r>
              <a:rPr lang="en" altLang="zh-CN" dirty="0">
                <a:latin typeface="Times New Roman" panose="02020603050405020304" pitchFamily="18" charset="0"/>
                <a:cs typeface="Times New Roman" panose="02020603050405020304" pitchFamily="18" charset="0"/>
              </a:rPr>
              <a:t>Valuable</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point</a:t>
            </a:r>
            <a:r>
              <a:rPr lang="zh-CN" altLang="en-US" dirty="0">
                <a:latin typeface="Times New Roman" panose="02020603050405020304" pitchFamily="18" charset="0"/>
                <a:cs typeface="Times New Roman" panose="02020603050405020304" pitchFamily="18" charset="0"/>
              </a:rPr>
              <a:t>：</a:t>
            </a:r>
            <a:r>
              <a:rPr lang="en" altLang="zh-CN" dirty="0"/>
              <a:t>
</a:t>
            </a:r>
            <a:r>
              <a:rPr lang="en" altLang="zh-CN" sz="2400" dirty="0"/>
              <a:t>Helps sleep quality 
Running for long periods of time can lead to a loss of magnesium through sweat</a:t>
            </a:r>
          </a:p>
          <a:p>
            <a:endParaRPr lang="en-US" altLang="zh-CN" dirty="0"/>
          </a:p>
          <a:p>
            <a:r>
              <a:rPr lang="en" altLang="zh-CN" dirty="0">
                <a:latin typeface="Times New Roman" panose="02020603050405020304" pitchFamily="18" charset="0"/>
                <a:cs typeface="Times New Roman" panose="02020603050405020304" pitchFamily="18" charset="0"/>
              </a:rPr>
              <a:t>Deficiency risks</a:t>
            </a:r>
            <a:r>
              <a:rPr lang="zh-CN" altLang="en-US" dirty="0">
                <a:latin typeface="Times New Roman" panose="02020603050405020304" pitchFamily="18" charset="0"/>
                <a:cs typeface="Times New Roman" panose="02020603050405020304" pitchFamily="18" charset="0"/>
              </a:rPr>
              <a:t>：</a:t>
            </a:r>
            <a:endParaRPr lang="en" altLang="zh-CN" dirty="0">
              <a:latin typeface="Times New Roman" panose="02020603050405020304" pitchFamily="18" charset="0"/>
              <a:cs typeface="Times New Roman" panose="02020603050405020304" pitchFamily="18" charset="0"/>
            </a:endParaRPr>
          </a:p>
          <a:p>
            <a:r>
              <a:rPr lang="en" altLang="zh-CN" sz="2400" dirty="0"/>
              <a:t>Muscle cramps, fatigue
Training adaptability becomes poor</a:t>
            </a:r>
            <a:endParaRPr lang="zh-CN" altLang="en-US" sz="2400" dirty="0"/>
          </a:p>
          <a:p>
            <a:endParaRPr kumimoji="1" lang="zh-CN" altLang="en-US" dirty="0"/>
          </a:p>
        </p:txBody>
      </p:sp>
      <p:sp>
        <p:nvSpPr>
          <p:cNvPr id="4" name="文本框 3">
            <a:extLst>
              <a:ext uri="{FF2B5EF4-FFF2-40B4-BE49-F238E27FC236}">
                <a16:creationId xmlns:a16="http://schemas.microsoft.com/office/drawing/2014/main" id="{820F05C4-4ED7-6941-3A9C-D4D29CFA81D4}"/>
              </a:ext>
            </a:extLst>
          </p:cNvPr>
          <p:cNvSpPr txBox="1"/>
          <p:nvPr/>
        </p:nvSpPr>
        <p:spPr>
          <a:xfrm>
            <a:off x="413657" y="5966053"/>
            <a:ext cx="11452411"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[18]</a:t>
            </a:r>
            <a:r>
              <a:rPr lang="en" altLang="zh-CN" sz="1600" dirty="0">
                <a:latin typeface="Times New Roman" panose="02020603050405020304" pitchFamily="18" charset="0"/>
                <a:cs typeface="Times New Roman" panose="02020603050405020304" pitchFamily="18" charset="0"/>
              </a:rPr>
              <a:t>Luo, X., Tang, M., Wei, X., &amp; Peng, Y. (2024). Association between magnesium deficiency score and sleep quality in adults: A population-based cross-sectional study. Journal of affective disorders, 358, 105–112. </a:t>
            </a:r>
            <a:endParaRPr lang="zh-CN" altLang="en-US" dirty="0"/>
          </a:p>
        </p:txBody>
      </p:sp>
    </p:spTree>
    <p:extLst>
      <p:ext uri="{BB962C8B-B14F-4D97-AF65-F5344CB8AC3E}">
        <p14:creationId xmlns:p14="http://schemas.microsoft.com/office/powerpoint/2010/main" val="18188365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09EA87-570B-387D-E77F-A883526E102D}"/>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5 Hydration strategy</a:t>
            </a:r>
            <a:endParaRPr kumimoji="1" lang="zh-CN" altLang="en-US" dirty="0"/>
          </a:p>
        </p:txBody>
      </p:sp>
      <p:sp>
        <p:nvSpPr>
          <p:cNvPr id="3" name="内容占位符 2">
            <a:extLst>
              <a:ext uri="{FF2B5EF4-FFF2-40B4-BE49-F238E27FC236}">
                <a16:creationId xmlns:a16="http://schemas.microsoft.com/office/drawing/2014/main" id="{6CEB1A4B-FBEF-7745-AC36-B30F6652AF90}"/>
              </a:ext>
            </a:extLst>
          </p:cNvPr>
          <p:cNvSpPr>
            <a:spLocks noGrp="1"/>
          </p:cNvSpPr>
          <p:nvPr>
            <p:ph idx="1"/>
          </p:nvPr>
        </p:nvSpPr>
        <p:spPr>
          <a:xfrm>
            <a:off x="838200" y="2686237"/>
            <a:ext cx="8395447" cy="2710516"/>
          </a:xfrm>
        </p:spPr>
        <p:txBody>
          <a:bodyPr>
            <a:normAutofit fontScale="92500"/>
          </a:bodyPr>
          <a:lstStyle/>
          <a:p>
            <a:r>
              <a:rPr kumimoji="1" lang="en-US" altLang="zh-CN" sz="3200" dirty="0"/>
              <a:t>Sweet Rate Test </a:t>
            </a:r>
          </a:p>
          <a:p>
            <a:endParaRPr kumimoji="1" lang="en-US" altLang="zh-CN" sz="3200" dirty="0"/>
          </a:p>
          <a:p>
            <a:r>
              <a:rPr lang="en" altLang="zh-CN" sz="3200" dirty="0"/>
              <a:t>Special Considerations for Postpartum Runners</a:t>
            </a:r>
          </a:p>
          <a:p>
            <a:endParaRPr lang="en" altLang="zh-CN" sz="3200" dirty="0"/>
          </a:p>
          <a:p>
            <a:r>
              <a:rPr lang="en" altLang="zh-CN" sz="3200" dirty="0"/>
              <a:t>Final hydration target</a:t>
            </a:r>
          </a:p>
          <a:p>
            <a:endParaRPr kumimoji="1" lang="zh-CN" altLang="en-US" sz="3200" dirty="0"/>
          </a:p>
        </p:txBody>
      </p:sp>
    </p:spTree>
    <p:extLst>
      <p:ext uri="{BB962C8B-B14F-4D97-AF65-F5344CB8AC3E}">
        <p14:creationId xmlns:p14="http://schemas.microsoft.com/office/powerpoint/2010/main" val="2040672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AAEE62-321D-C50B-C8C9-A195105E568D}"/>
              </a:ext>
            </a:extLst>
          </p:cNvPr>
          <p:cNvSpPr>
            <a:spLocks noGrp="1"/>
          </p:cNvSpPr>
          <p:nvPr>
            <p:ph type="title"/>
          </p:nvPr>
        </p:nvSpPr>
        <p:spPr/>
        <p:txBody>
          <a:bodyPr/>
          <a:lstStyle/>
          <a:p>
            <a:r>
              <a:rPr lang="en" altLang="zh-CN" b="1" dirty="0"/>
              <a:t>Sweat Rate Test</a:t>
            </a:r>
            <a:endParaRPr kumimoji="1" lang="zh-CN" altLang="en-US" dirty="0"/>
          </a:p>
        </p:txBody>
      </p:sp>
      <p:sp>
        <p:nvSpPr>
          <p:cNvPr id="3" name="内容占位符 2">
            <a:extLst>
              <a:ext uri="{FF2B5EF4-FFF2-40B4-BE49-F238E27FC236}">
                <a16:creationId xmlns:a16="http://schemas.microsoft.com/office/drawing/2014/main" id="{A93803B5-59D3-B0E8-139E-211FAC4569BA}"/>
              </a:ext>
            </a:extLst>
          </p:cNvPr>
          <p:cNvSpPr>
            <a:spLocks noGrp="1"/>
          </p:cNvSpPr>
          <p:nvPr>
            <p:ph idx="1"/>
          </p:nvPr>
        </p:nvSpPr>
        <p:spPr>
          <a:xfrm>
            <a:off x="838200" y="2057213"/>
            <a:ext cx="10515600" cy="4351338"/>
          </a:xfrm>
        </p:spPr>
        <p:txBody>
          <a:bodyPr/>
          <a:lstStyle/>
          <a:p>
            <a:pPr marL="0" indent="0">
              <a:buNone/>
            </a:pPr>
            <a:r>
              <a:rPr lang="en" altLang="zh-CN" dirty="0"/>
              <a:t>Weigh yourself before training</a:t>
            </a:r>
          </a:p>
          <a:p>
            <a:pPr marL="0" indent="0">
              <a:buNone/>
            </a:pPr>
            <a:endParaRPr lang="en" altLang="zh-CN" dirty="0"/>
          </a:p>
          <a:p>
            <a:pPr marL="0" indent="0">
              <a:buNone/>
            </a:pPr>
            <a:r>
              <a:rPr lang="en" altLang="zh-CN" dirty="0"/>
              <a:t>
Run for 60 minutes (record water intake)</a:t>
            </a:r>
          </a:p>
          <a:p>
            <a:pPr marL="0" indent="0">
              <a:buNone/>
            </a:pPr>
            <a:endParaRPr lang="en" altLang="zh-CN" dirty="0"/>
          </a:p>
          <a:p>
            <a:pPr marL="0" indent="0">
              <a:buNone/>
            </a:pPr>
            <a:r>
              <a:rPr lang="en" altLang="zh-CN" dirty="0"/>
              <a:t>
Weigh yourself after training</a:t>
            </a:r>
            <a:endParaRPr kumimoji="1" lang="zh-CN" altLang="en-US" dirty="0"/>
          </a:p>
        </p:txBody>
      </p:sp>
      <p:sp>
        <p:nvSpPr>
          <p:cNvPr id="6" name="下箭头 5">
            <a:extLst>
              <a:ext uri="{FF2B5EF4-FFF2-40B4-BE49-F238E27FC236}">
                <a16:creationId xmlns:a16="http://schemas.microsoft.com/office/drawing/2014/main" id="{80DB1040-D382-092E-9109-A37C039ADAAF}"/>
              </a:ext>
            </a:extLst>
          </p:cNvPr>
          <p:cNvSpPr/>
          <p:nvPr/>
        </p:nvSpPr>
        <p:spPr>
          <a:xfrm>
            <a:off x="3048000" y="2563906"/>
            <a:ext cx="502023" cy="86509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下箭头 6">
            <a:extLst>
              <a:ext uri="{FF2B5EF4-FFF2-40B4-BE49-F238E27FC236}">
                <a16:creationId xmlns:a16="http://schemas.microsoft.com/office/drawing/2014/main" id="{6E41FCEC-FE9B-21B0-BCE9-667E6B1708E7}"/>
              </a:ext>
            </a:extLst>
          </p:cNvPr>
          <p:cNvSpPr/>
          <p:nvPr/>
        </p:nvSpPr>
        <p:spPr>
          <a:xfrm>
            <a:off x="3047999" y="4232882"/>
            <a:ext cx="502023" cy="86509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223614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496EB1-C45E-BA45-C8A4-AD58507D91D9}"/>
              </a:ext>
            </a:extLst>
          </p:cNvPr>
          <p:cNvSpPr>
            <a:spLocks noGrp="1"/>
          </p:cNvSpPr>
          <p:nvPr>
            <p:ph type="title"/>
          </p:nvPr>
        </p:nvSpPr>
        <p:spPr>
          <a:xfrm>
            <a:off x="489857" y="365125"/>
            <a:ext cx="11212286" cy="1325563"/>
          </a:xfrm>
        </p:spPr>
        <p:txBody>
          <a:bodyPr>
            <a:normAutofit/>
          </a:bodyPr>
          <a:lstStyle/>
          <a:p>
            <a:r>
              <a:rPr lang="en" altLang="zh-CN" dirty="0"/>
              <a:t>Special Considerations for Postpartum Runners</a:t>
            </a:r>
            <a:endParaRPr kumimoji="1" lang="zh-CN" altLang="en-US" dirty="0"/>
          </a:p>
        </p:txBody>
      </p:sp>
      <p:sp>
        <p:nvSpPr>
          <p:cNvPr id="3" name="内容占位符 2">
            <a:extLst>
              <a:ext uri="{FF2B5EF4-FFF2-40B4-BE49-F238E27FC236}">
                <a16:creationId xmlns:a16="http://schemas.microsoft.com/office/drawing/2014/main" id="{FF630302-D6F1-74BE-A321-38440C100456}"/>
              </a:ext>
            </a:extLst>
          </p:cNvPr>
          <p:cNvSpPr>
            <a:spLocks noGrp="1"/>
          </p:cNvSpPr>
          <p:nvPr>
            <p:ph idx="1"/>
          </p:nvPr>
        </p:nvSpPr>
        <p:spPr>
          <a:xfrm>
            <a:off x="489857" y="2262373"/>
            <a:ext cx="6341249" cy="3305739"/>
          </a:xfrm>
        </p:spPr>
        <p:txBody>
          <a:bodyPr>
            <a:normAutofit/>
          </a:bodyPr>
          <a:lstStyle/>
          <a:p>
            <a:pPr marL="0" indent="0">
              <a:buNone/>
            </a:pPr>
            <a:r>
              <a:rPr lang="en" altLang="zh-CN" sz="2400" b="1" dirty="0"/>
              <a:t>A. Postpartum fluid and hormone fluctuations</a:t>
            </a:r>
            <a:endParaRPr lang="en-US" altLang="zh-CN" sz="2400" b="1" dirty="0"/>
          </a:p>
          <a:p>
            <a:pPr marL="0" indent="0">
              <a:buNone/>
            </a:pPr>
            <a:endParaRPr lang="en" altLang="zh-CN" sz="1800" b="1" dirty="0"/>
          </a:p>
          <a:p>
            <a:pPr marL="0" indent="0">
              <a:buNone/>
            </a:pPr>
            <a:endParaRPr lang="en" altLang="zh-CN" sz="1800" b="1" dirty="0"/>
          </a:p>
          <a:p>
            <a:pPr marL="0" indent="0">
              <a:buNone/>
            </a:pPr>
            <a:r>
              <a:rPr lang="en" altLang="zh-CN" sz="1800" b="1" dirty="0"/>
              <a:t>
Unstable fluid regulation → more prone to dehydration
Testosterone and estrogen levels do not recover → thermoregulation decreases</a:t>
            </a:r>
            <a:br>
              <a:rPr lang="zh-CN" altLang="en-US" sz="1800" dirty="0"/>
            </a:br>
            <a:endParaRPr lang="zh-CN" altLang="en-US" sz="1800" dirty="0"/>
          </a:p>
        </p:txBody>
      </p:sp>
      <p:sp>
        <p:nvSpPr>
          <p:cNvPr id="4" name="文本框 3">
            <a:extLst>
              <a:ext uri="{FF2B5EF4-FFF2-40B4-BE49-F238E27FC236}">
                <a16:creationId xmlns:a16="http://schemas.microsoft.com/office/drawing/2014/main" id="{DCDDC389-E6E9-FB95-B810-38D2B5B493CE}"/>
              </a:ext>
            </a:extLst>
          </p:cNvPr>
          <p:cNvSpPr txBox="1"/>
          <p:nvPr/>
        </p:nvSpPr>
        <p:spPr>
          <a:xfrm>
            <a:off x="448230" y="6139797"/>
            <a:ext cx="11295539"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[20]</a:t>
            </a:r>
            <a:r>
              <a:rPr lang="en" altLang="zh-CN" sz="1600" dirty="0">
                <a:latin typeface="Times New Roman" panose="02020603050405020304" pitchFamily="18" charset="0"/>
                <a:cs typeface="Times New Roman" panose="02020603050405020304" pitchFamily="18" charset="0"/>
              </a:rPr>
              <a:t>Hendrick, V., Altshuler, L. L., &amp; Suri, R. (1998). Hormonal changes in the postpartum and implications for postpartum depression. Psychosomatics, 39(2), 93–101. </a:t>
            </a:r>
            <a:endParaRPr lang="zh-CN" altLang="en-US" sz="1600"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D3B0E356-50FB-11F0-1256-5C33F7A1C4E0}"/>
              </a:ext>
            </a:extLst>
          </p:cNvPr>
          <p:cNvPicPr>
            <a:picLocks noChangeAspect="1"/>
          </p:cNvPicPr>
          <p:nvPr/>
        </p:nvPicPr>
        <p:blipFill>
          <a:blip r:embed="rId3"/>
          <a:stretch>
            <a:fillRect/>
          </a:stretch>
        </p:blipFill>
        <p:spPr>
          <a:xfrm>
            <a:off x="6615953" y="2116978"/>
            <a:ext cx="5360894" cy="3305739"/>
          </a:xfrm>
          <a:prstGeom prst="rect">
            <a:avLst/>
          </a:prstGeom>
        </p:spPr>
      </p:pic>
    </p:spTree>
    <p:extLst>
      <p:ext uri="{BB962C8B-B14F-4D97-AF65-F5344CB8AC3E}">
        <p14:creationId xmlns:p14="http://schemas.microsoft.com/office/powerpoint/2010/main" val="3081272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2573A-400E-F7C2-D7E0-FDA0ADF4E1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19885B2-6DC8-0EE5-AC61-AC3341DA3B3A}"/>
              </a:ext>
            </a:extLst>
          </p:cNvPr>
          <p:cNvSpPr>
            <a:spLocks noGrp="1"/>
          </p:cNvSpPr>
          <p:nvPr>
            <p:ph type="title"/>
          </p:nvPr>
        </p:nvSpPr>
        <p:spPr>
          <a:xfrm>
            <a:off x="419100" y="365125"/>
            <a:ext cx="11353800" cy="1325563"/>
          </a:xfrm>
        </p:spPr>
        <p:txBody>
          <a:bodyPr>
            <a:normAutofit/>
          </a:bodyPr>
          <a:lstStyle/>
          <a:p>
            <a:r>
              <a:rPr lang="en" altLang="zh-CN" dirty="0"/>
              <a:t>Special Considerations for Postpartum Runners</a:t>
            </a:r>
            <a:endParaRPr kumimoji="1" lang="zh-CN" altLang="en-US" dirty="0"/>
          </a:p>
        </p:txBody>
      </p:sp>
      <p:sp>
        <p:nvSpPr>
          <p:cNvPr id="3" name="内容占位符 2">
            <a:extLst>
              <a:ext uri="{FF2B5EF4-FFF2-40B4-BE49-F238E27FC236}">
                <a16:creationId xmlns:a16="http://schemas.microsoft.com/office/drawing/2014/main" id="{2A6BA8A0-7EEC-0CF2-D56A-3833F3979029}"/>
              </a:ext>
            </a:extLst>
          </p:cNvPr>
          <p:cNvSpPr>
            <a:spLocks noGrp="1"/>
          </p:cNvSpPr>
          <p:nvPr>
            <p:ph idx="1"/>
          </p:nvPr>
        </p:nvSpPr>
        <p:spPr>
          <a:xfrm>
            <a:off x="419100" y="2318403"/>
            <a:ext cx="10515600" cy="4351338"/>
          </a:xfrm>
        </p:spPr>
        <p:txBody>
          <a:bodyPr>
            <a:normAutofit/>
          </a:bodyPr>
          <a:lstStyle/>
          <a:p>
            <a:pPr marL="0" indent="0">
              <a:buNone/>
            </a:pPr>
            <a:r>
              <a:rPr lang="en" altLang="zh-CN" sz="2400" b="1" dirty="0"/>
              <a:t>B. Postpartum fatigue is more likely to be amplified by dehydration</a:t>
            </a:r>
          </a:p>
          <a:p>
            <a:pPr marL="0" indent="0">
              <a:buNone/>
            </a:pPr>
            <a:endParaRPr lang="en" altLang="zh-CN" sz="1800" b="1" dirty="0"/>
          </a:p>
          <a:p>
            <a:pPr marL="0" indent="0">
              <a:buNone/>
            </a:pPr>
            <a:r>
              <a:rPr lang="en" altLang="zh-CN" sz="1800" b="1" dirty="0"/>
              <a:t>
Mild dehydration causes:
Abnormally high heart rate
More irritating RPE (subjective fatigue sensation)
Decreased movement speed
Dizziness, headache</a:t>
            </a:r>
            <a:endParaRPr kumimoji="1" lang="zh-CN" altLang="en-US" sz="1800" dirty="0"/>
          </a:p>
        </p:txBody>
      </p:sp>
      <p:pic>
        <p:nvPicPr>
          <p:cNvPr id="4" name="图片 3">
            <a:extLst>
              <a:ext uri="{FF2B5EF4-FFF2-40B4-BE49-F238E27FC236}">
                <a16:creationId xmlns:a16="http://schemas.microsoft.com/office/drawing/2014/main" id="{FC99E4A8-3770-CE16-4A7F-1CEEE246138F}"/>
              </a:ext>
            </a:extLst>
          </p:cNvPr>
          <p:cNvPicPr>
            <a:picLocks noChangeAspect="1"/>
          </p:cNvPicPr>
          <p:nvPr/>
        </p:nvPicPr>
        <p:blipFill>
          <a:blip r:embed="rId3"/>
          <a:srcRect l="5352" t="10294" r="2725"/>
          <a:stretch>
            <a:fillRect/>
          </a:stretch>
        </p:blipFill>
        <p:spPr>
          <a:xfrm>
            <a:off x="5822576" y="3429000"/>
            <a:ext cx="6199096" cy="1822824"/>
          </a:xfrm>
          <a:prstGeom prst="rect">
            <a:avLst/>
          </a:prstGeom>
        </p:spPr>
      </p:pic>
      <p:sp>
        <p:nvSpPr>
          <p:cNvPr id="6" name="文本框 5">
            <a:extLst>
              <a:ext uri="{FF2B5EF4-FFF2-40B4-BE49-F238E27FC236}">
                <a16:creationId xmlns:a16="http://schemas.microsoft.com/office/drawing/2014/main" id="{DCEBF77C-231A-003A-0A53-8BC4E6DF0BF4}"/>
              </a:ext>
            </a:extLst>
          </p:cNvPr>
          <p:cNvSpPr txBox="1"/>
          <p:nvPr/>
        </p:nvSpPr>
        <p:spPr>
          <a:xfrm>
            <a:off x="6093760" y="5218954"/>
            <a:ext cx="6098240" cy="430887"/>
          </a:xfrm>
          <a:prstGeom prst="rect">
            <a:avLst/>
          </a:prstGeom>
          <a:noFill/>
        </p:spPr>
        <p:txBody>
          <a:bodyPr wrap="square">
            <a:spAutoFit/>
          </a:bodyPr>
          <a:lstStyle/>
          <a:p>
            <a:r>
              <a:rPr lang="en" altLang="zh-CN" sz="1100" b="0" i="0" u="none" strike="noStrike" dirty="0">
                <a:solidFill>
                  <a:srgbClr val="1B1B1B"/>
                </a:solidFill>
                <a:effectLst/>
                <a:latin typeface="Cambria" panose="02040503050406030204" pitchFamily="18" charset="0"/>
              </a:rPr>
              <a:t>Each baroreflex trial consisted of 5 min of rest; then a bolus of sodium nitroprusside was administered, followed 1 min later by a bolus of phenylephrine.</a:t>
            </a:r>
            <a:endParaRPr lang="zh-CN" altLang="en-US" sz="1100" dirty="0"/>
          </a:p>
        </p:txBody>
      </p:sp>
      <p:sp>
        <p:nvSpPr>
          <p:cNvPr id="11" name="文本框 10">
            <a:extLst>
              <a:ext uri="{FF2B5EF4-FFF2-40B4-BE49-F238E27FC236}">
                <a16:creationId xmlns:a16="http://schemas.microsoft.com/office/drawing/2014/main" id="{F7D267F7-9CE2-25AE-FA29-D8F9979A1DB2}"/>
              </a:ext>
            </a:extLst>
          </p:cNvPr>
          <p:cNvSpPr txBox="1"/>
          <p:nvPr/>
        </p:nvSpPr>
        <p:spPr>
          <a:xfrm>
            <a:off x="445990" y="6070033"/>
            <a:ext cx="11295539" cy="584775"/>
          </a:xfrm>
          <a:prstGeom prst="rect">
            <a:avLst/>
          </a:prstGeom>
          <a:noFill/>
        </p:spPr>
        <p:txBody>
          <a:bodyPr wrap="square">
            <a:spAutoFit/>
          </a:bodyPr>
          <a:lstStyle/>
          <a:p>
            <a:r>
              <a:rPr lang="en" altLang="zh-CN" sz="1600" dirty="0">
                <a:latin typeface="Times New Roman" panose="02020603050405020304" pitchFamily="18" charset="0"/>
                <a:cs typeface="Times New Roman" panose="02020603050405020304" pitchFamily="18" charset="0"/>
              </a:rPr>
              <a:t>[19]</a:t>
            </a:r>
            <a:r>
              <a:rPr lang="en" altLang="zh-CN" sz="1600" dirty="0" err="1">
                <a:latin typeface="Times New Roman" panose="02020603050405020304" pitchFamily="18" charset="0"/>
                <a:cs typeface="Times New Roman" panose="02020603050405020304" pitchFamily="18" charset="0"/>
              </a:rPr>
              <a:t>Charkoudian</a:t>
            </a:r>
            <a:r>
              <a:rPr lang="en" altLang="zh-CN" sz="1600" dirty="0">
                <a:latin typeface="Times New Roman" panose="02020603050405020304" pitchFamily="18" charset="0"/>
                <a:cs typeface="Times New Roman" panose="02020603050405020304" pitchFamily="18" charset="0"/>
              </a:rPr>
              <a:t> N, Halliwill JR, Morgan BJ, Eisenach JH, Joyner MJ. Influences of hydration on post-exercise cardiovascular control in humans. J Physiol. 2003;552(Pt 2):635-644. </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30135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46CDE3-44ED-AD94-38B4-6B99CAE7A22C}"/>
              </a:ext>
            </a:extLst>
          </p:cNvPr>
          <p:cNvSpPr>
            <a:spLocks noGrp="1"/>
          </p:cNvSpPr>
          <p:nvPr>
            <p:ph type="title"/>
          </p:nvPr>
        </p:nvSpPr>
        <p:spPr/>
        <p:txBody>
          <a:bodyPr/>
          <a:lstStyle/>
          <a:p>
            <a:r>
              <a:rPr lang="en" altLang="zh-CN" dirty="0"/>
              <a:t>Final hydration target</a:t>
            </a:r>
            <a:endParaRPr kumimoji="1" lang="zh-CN" altLang="en-US" dirty="0"/>
          </a:p>
        </p:txBody>
      </p:sp>
      <p:sp>
        <p:nvSpPr>
          <p:cNvPr id="3" name="内容占位符 2">
            <a:extLst>
              <a:ext uri="{FF2B5EF4-FFF2-40B4-BE49-F238E27FC236}">
                <a16:creationId xmlns:a16="http://schemas.microsoft.com/office/drawing/2014/main" id="{F41DCCFB-C6FF-99F4-C721-1E8CA0C8A1F9}"/>
              </a:ext>
            </a:extLst>
          </p:cNvPr>
          <p:cNvSpPr>
            <a:spLocks noGrp="1"/>
          </p:cNvSpPr>
          <p:nvPr>
            <p:ph idx="1"/>
          </p:nvPr>
        </p:nvSpPr>
        <p:spPr>
          <a:xfrm>
            <a:off x="838200" y="2141537"/>
            <a:ext cx="10515600" cy="4351338"/>
          </a:xfrm>
        </p:spPr>
        <p:txBody>
          <a:bodyPr/>
          <a:lstStyle/>
          <a:p>
            <a:r>
              <a:rPr kumimoji="1" lang="en-US" altLang="zh-CN" dirty="0">
                <a:latin typeface="Times New Roman" panose="02020603050405020304" pitchFamily="18" charset="0"/>
                <a:cs typeface="Times New Roman" panose="02020603050405020304" pitchFamily="18" charset="0"/>
              </a:rPr>
              <a:t>Pre-hydration</a:t>
            </a:r>
          </a:p>
          <a:p>
            <a:endParaRPr kumimoji="1" lang="en-US" altLang="zh-CN" dirty="0">
              <a:latin typeface="Times New Roman" panose="02020603050405020304" pitchFamily="18" charset="0"/>
              <a:cs typeface="Times New Roman" panose="02020603050405020304" pitchFamily="18" charset="0"/>
            </a:endParaRPr>
          </a:p>
          <a:p>
            <a:endParaRPr kumimoji="1" lang="en-US" altLang="zh-CN" dirty="0">
              <a:latin typeface="Times New Roman" panose="02020603050405020304" pitchFamily="18" charset="0"/>
              <a:cs typeface="Times New Roman" panose="02020603050405020304" pitchFamily="18" charset="0"/>
            </a:endParaRPr>
          </a:p>
          <a:p>
            <a:r>
              <a:rPr kumimoji="1" lang="en-US" altLang="zh-CN" dirty="0">
                <a:latin typeface="Times New Roman" panose="02020603050405020304" pitchFamily="18" charset="0"/>
                <a:cs typeface="Times New Roman" panose="02020603050405020304" pitchFamily="18" charset="0"/>
              </a:rPr>
              <a:t>During running</a:t>
            </a:r>
          </a:p>
          <a:p>
            <a:endParaRPr kumimoji="1" lang="en-US" altLang="zh-CN" dirty="0">
              <a:latin typeface="Times New Roman" panose="02020603050405020304" pitchFamily="18" charset="0"/>
              <a:cs typeface="Times New Roman" panose="02020603050405020304" pitchFamily="18" charset="0"/>
            </a:endParaRPr>
          </a:p>
          <a:p>
            <a:endParaRPr kumimoji="1" lang="en-US" altLang="zh-CN" dirty="0">
              <a:latin typeface="Times New Roman" panose="02020603050405020304" pitchFamily="18" charset="0"/>
              <a:cs typeface="Times New Roman" panose="02020603050405020304" pitchFamily="18" charset="0"/>
            </a:endParaRPr>
          </a:p>
          <a:p>
            <a:r>
              <a:rPr kumimoji="1" lang="en-US" altLang="zh-CN" dirty="0">
                <a:latin typeface="Times New Roman" panose="02020603050405020304" pitchFamily="18" charset="0"/>
                <a:cs typeface="Times New Roman" panose="02020603050405020304" pitchFamily="18" charset="0"/>
              </a:rPr>
              <a:t>Post-run hydration</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46100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5C4A7B-1A25-D82C-6EF6-27CDBA4355F3}"/>
              </a:ext>
            </a:extLst>
          </p:cNvPr>
          <p:cNvSpPr>
            <a:spLocks noGrp="1"/>
          </p:cNvSpPr>
          <p:nvPr>
            <p:ph type="title"/>
          </p:nvPr>
        </p:nvSpPr>
        <p:spPr/>
        <p:txBody>
          <a:bodyPr/>
          <a:lstStyle/>
          <a:p>
            <a:r>
              <a:rPr kumimoji="1" lang="en-US" altLang="zh-CN" dirty="0">
                <a:latin typeface="Times New Roman" panose="02020603050405020304" pitchFamily="18" charset="0"/>
                <a:cs typeface="Times New Roman" panose="02020603050405020304" pitchFamily="18" charset="0"/>
              </a:rPr>
              <a:t>6 Recovery strategy (4Rs)</a:t>
            </a:r>
            <a:endParaRPr kumimoji="1" lang="zh-CN" altLang="en-US" dirty="0"/>
          </a:p>
        </p:txBody>
      </p:sp>
      <p:sp>
        <p:nvSpPr>
          <p:cNvPr id="3" name="内容占位符 2">
            <a:extLst>
              <a:ext uri="{FF2B5EF4-FFF2-40B4-BE49-F238E27FC236}">
                <a16:creationId xmlns:a16="http://schemas.microsoft.com/office/drawing/2014/main" id="{3D0716C5-2017-6A87-3B72-57B0FB302AA5}"/>
              </a:ext>
            </a:extLst>
          </p:cNvPr>
          <p:cNvSpPr>
            <a:spLocks noGrp="1"/>
          </p:cNvSpPr>
          <p:nvPr>
            <p:ph idx="1"/>
          </p:nvPr>
        </p:nvSpPr>
        <p:spPr>
          <a:xfrm>
            <a:off x="1107141" y="2982072"/>
            <a:ext cx="4988859" cy="2168152"/>
          </a:xfrm>
        </p:spPr>
        <p:txBody>
          <a:bodyPr/>
          <a:lstStyle/>
          <a:p>
            <a:r>
              <a:rPr lang="en" altLang="zh-CN" b="1" dirty="0"/>
              <a:t>1. Rehydrate</a:t>
            </a:r>
          </a:p>
          <a:p>
            <a:r>
              <a:rPr lang="en" altLang="zh-CN" b="1" dirty="0"/>
              <a:t>2. Refuel</a:t>
            </a:r>
          </a:p>
          <a:p>
            <a:r>
              <a:rPr lang="en" altLang="zh-CN" b="1" dirty="0"/>
              <a:t>3. Repair</a:t>
            </a:r>
          </a:p>
          <a:p>
            <a:r>
              <a:rPr lang="en" altLang="zh-CN" b="1" dirty="0"/>
              <a:t>4. Rest &amp; Regeneration</a:t>
            </a:r>
          </a:p>
          <a:p>
            <a:endParaRPr kumimoji="1" lang="zh-CN" altLang="en-US" dirty="0"/>
          </a:p>
        </p:txBody>
      </p:sp>
    </p:spTree>
    <p:extLst>
      <p:ext uri="{BB962C8B-B14F-4D97-AF65-F5344CB8AC3E}">
        <p14:creationId xmlns:p14="http://schemas.microsoft.com/office/powerpoint/2010/main" val="1993278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ADA1C093-913F-E122-9F97-BEC180B2CFAD}"/>
              </a:ext>
            </a:extLst>
          </p:cNvPr>
          <p:cNvGraphicFramePr>
            <a:graphicFrameLocks noGrp="1"/>
          </p:cNvGraphicFramePr>
          <p:nvPr>
            <p:ph idx="1"/>
            <p:extLst>
              <p:ext uri="{D42A27DB-BD31-4B8C-83A1-F6EECF244321}">
                <p14:modId xmlns:p14="http://schemas.microsoft.com/office/powerpoint/2010/main" val="955896976"/>
              </p:ext>
            </p:extLst>
          </p:nvPr>
        </p:nvGraphicFramePr>
        <p:xfrm>
          <a:off x="344701" y="691923"/>
          <a:ext cx="11502597" cy="5474154"/>
        </p:xfrm>
        <a:graphic>
          <a:graphicData uri="http://schemas.openxmlformats.org/drawingml/2006/table">
            <a:tbl>
              <a:tblPr/>
              <a:tblGrid>
                <a:gridCol w="2235213">
                  <a:extLst>
                    <a:ext uri="{9D8B030D-6E8A-4147-A177-3AD203B41FA5}">
                      <a16:colId xmlns:a16="http://schemas.microsoft.com/office/drawing/2014/main" val="1750643351"/>
                    </a:ext>
                  </a:extLst>
                </a:gridCol>
                <a:gridCol w="4000500">
                  <a:extLst>
                    <a:ext uri="{9D8B030D-6E8A-4147-A177-3AD203B41FA5}">
                      <a16:colId xmlns:a16="http://schemas.microsoft.com/office/drawing/2014/main" val="1406010801"/>
                    </a:ext>
                  </a:extLst>
                </a:gridCol>
                <a:gridCol w="5266884">
                  <a:extLst>
                    <a:ext uri="{9D8B030D-6E8A-4147-A177-3AD203B41FA5}">
                      <a16:colId xmlns:a16="http://schemas.microsoft.com/office/drawing/2014/main" val="1241405122"/>
                    </a:ext>
                  </a:extLst>
                </a:gridCol>
              </a:tblGrid>
              <a:tr h="934612">
                <a:tc>
                  <a:txBody>
                    <a:bodyPr/>
                    <a:lstStyle/>
                    <a:p>
                      <a:pPr>
                        <a:buNone/>
                      </a:pPr>
                      <a:r>
                        <a:rPr lang="en" b="1"/>
                        <a:t>4R</a:t>
                      </a:r>
                      <a:endParaRPr lang="en"/>
                    </a:p>
                  </a:txBody>
                  <a:tcPr anchor="ctr">
                    <a:lnL>
                      <a:noFill/>
                    </a:lnL>
                    <a:lnR>
                      <a:noFill/>
                    </a:lnR>
                    <a:lnT>
                      <a:noFill/>
                    </a:lnT>
                    <a:lnB>
                      <a:noFill/>
                    </a:lnB>
                    <a:noFill/>
                  </a:tcPr>
                </a:tc>
                <a:tc>
                  <a:txBody>
                    <a:bodyPr/>
                    <a:lstStyle/>
                    <a:p>
                      <a:pPr>
                        <a:buNone/>
                      </a:pPr>
                      <a:r>
                        <a:rPr lang="en" b="1"/>
                        <a:t>What to do</a:t>
                      </a:r>
                      <a:endParaRPr lang="en"/>
                    </a:p>
                  </a:txBody>
                  <a:tcPr anchor="ctr">
                    <a:lnL>
                      <a:noFill/>
                    </a:lnL>
                    <a:lnR>
                      <a:noFill/>
                    </a:lnR>
                    <a:lnT>
                      <a:noFill/>
                    </a:lnT>
                    <a:lnB>
                      <a:noFill/>
                    </a:lnB>
                    <a:noFill/>
                  </a:tcPr>
                </a:tc>
                <a:tc>
                  <a:txBody>
                    <a:bodyPr/>
                    <a:lstStyle/>
                    <a:p>
                      <a:pPr>
                        <a:buNone/>
                      </a:pPr>
                      <a:r>
                        <a:rPr lang="en" b="1"/>
                        <a:t>Why important (postpartum runner)</a:t>
                      </a:r>
                      <a:endParaRPr lang="en"/>
                    </a:p>
                  </a:txBody>
                  <a:tcPr anchor="ctr">
                    <a:lnL>
                      <a:noFill/>
                    </a:lnL>
                    <a:lnR>
                      <a:noFill/>
                    </a:lnR>
                    <a:lnT>
                      <a:noFill/>
                    </a:lnT>
                    <a:lnB>
                      <a:noFill/>
                    </a:lnB>
                    <a:noFill/>
                  </a:tcPr>
                </a:tc>
                <a:extLst>
                  <a:ext uri="{0D108BD9-81ED-4DB2-BD59-A6C34878D82A}">
                    <a16:rowId xmlns:a16="http://schemas.microsoft.com/office/drawing/2014/main" val="960955329"/>
                  </a:ext>
                </a:extLst>
              </a:tr>
              <a:tr h="1335159">
                <a:tc>
                  <a:txBody>
                    <a:bodyPr/>
                    <a:lstStyle/>
                    <a:p>
                      <a:pPr>
                        <a:buNone/>
                      </a:pPr>
                      <a:r>
                        <a:rPr lang="en" b="1"/>
                        <a:t>Rehydrate</a:t>
                      </a:r>
                      <a:endParaRPr lang="en"/>
                    </a:p>
                  </a:txBody>
                  <a:tcPr anchor="ctr">
                    <a:lnL>
                      <a:noFill/>
                    </a:lnL>
                    <a:lnR>
                      <a:noFill/>
                    </a:lnR>
                    <a:lnT>
                      <a:noFill/>
                    </a:lnT>
                    <a:lnB>
                      <a:noFill/>
                    </a:lnB>
                    <a:noFill/>
                  </a:tcPr>
                </a:tc>
                <a:tc>
                  <a:txBody>
                    <a:bodyPr/>
                    <a:lstStyle/>
                    <a:p>
                      <a:pPr>
                        <a:buNone/>
                      </a:pPr>
                      <a:r>
                        <a:rPr lang="en" dirty="0"/>
                        <a:t>add electrolytes; extra fluids if breastfeeding</a:t>
                      </a:r>
                    </a:p>
                  </a:txBody>
                  <a:tcPr anchor="ctr">
                    <a:lnL>
                      <a:noFill/>
                    </a:lnL>
                    <a:lnR>
                      <a:noFill/>
                    </a:lnR>
                    <a:lnT>
                      <a:noFill/>
                    </a:lnT>
                    <a:lnB>
                      <a:noFill/>
                    </a:lnB>
                    <a:noFill/>
                  </a:tcPr>
                </a:tc>
                <a:tc>
                  <a:txBody>
                    <a:bodyPr/>
                    <a:lstStyle/>
                    <a:p>
                      <a:pPr>
                        <a:buNone/>
                      </a:pPr>
                      <a:r>
                        <a:rPr lang="en" altLang="zh-CN" dirty="0"/>
                        <a:t>Unstable fluid regulation + more prone to dehydration + affects heart rate and recovery</a:t>
                      </a:r>
                      <a:endParaRPr lang="zh-CN" altLang="en-US" dirty="0"/>
                    </a:p>
                  </a:txBody>
                  <a:tcPr anchor="ctr">
                    <a:lnL>
                      <a:noFill/>
                    </a:lnL>
                    <a:lnR>
                      <a:noFill/>
                    </a:lnR>
                    <a:lnT>
                      <a:noFill/>
                    </a:lnT>
                    <a:lnB>
                      <a:noFill/>
                    </a:lnB>
                    <a:noFill/>
                  </a:tcPr>
                </a:tc>
                <a:extLst>
                  <a:ext uri="{0D108BD9-81ED-4DB2-BD59-A6C34878D82A}">
                    <a16:rowId xmlns:a16="http://schemas.microsoft.com/office/drawing/2014/main" val="397476316"/>
                  </a:ext>
                </a:extLst>
              </a:tr>
              <a:tr h="1335159">
                <a:tc>
                  <a:txBody>
                    <a:bodyPr/>
                    <a:lstStyle/>
                    <a:p>
                      <a:pPr>
                        <a:buNone/>
                      </a:pPr>
                      <a:r>
                        <a:rPr lang="en" b="1" dirty="0"/>
                        <a:t>Refuel</a:t>
                      </a:r>
                      <a:endParaRPr lang="en" dirty="0"/>
                    </a:p>
                  </a:txBody>
                  <a:tcPr anchor="ctr">
                    <a:lnL>
                      <a:noFill/>
                    </a:lnL>
                    <a:lnR>
                      <a:noFill/>
                    </a:lnR>
                    <a:lnT>
                      <a:noFill/>
                    </a:lnT>
                    <a:lnB>
                      <a:noFill/>
                    </a:lnB>
                    <a:noFill/>
                  </a:tcPr>
                </a:tc>
                <a:tc>
                  <a:txBody>
                    <a:bodyPr/>
                    <a:lstStyle/>
                    <a:p>
                      <a:pPr>
                        <a:buNone/>
                      </a:pPr>
                      <a:r>
                        <a:rPr lang="en" dirty="0"/>
                        <a:t>1 g/kg carbs + 20–25 g protein within 30–60 min; carb </a:t>
                      </a:r>
                      <a:r>
                        <a:rPr lang="en" dirty="0" err="1"/>
                        <a:t>periodisation</a:t>
                      </a:r>
                      <a:endParaRPr lang="en" dirty="0"/>
                    </a:p>
                  </a:txBody>
                  <a:tcPr anchor="ctr">
                    <a:lnL>
                      <a:noFill/>
                    </a:lnL>
                    <a:lnR>
                      <a:noFill/>
                    </a:lnR>
                    <a:lnT>
                      <a:noFill/>
                    </a:lnT>
                    <a:lnB>
                      <a:noFill/>
                    </a:lnB>
                    <a:noFill/>
                  </a:tcPr>
                </a:tc>
                <a:tc>
                  <a:txBody>
                    <a:bodyPr/>
                    <a:lstStyle/>
                    <a:p>
                      <a:pPr>
                        <a:buNone/>
                      </a:pPr>
                      <a:r>
                        <a:rPr lang="en" altLang="zh-CN" dirty="0"/>
                        <a:t>Supplement sugar and prevent fatigue; Support half marathon training</a:t>
                      </a:r>
                      <a:endParaRPr lang="zh-CN" altLang="en-US" dirty="0"/>
                    </a:p>
                  </a:txBody>
                  <a:tcPr anchor="ctr">
                    <a:lnL>
                      <a:noFill/>
                    </a:lnL>
                    <a:lnR>
                      <a:noFill/>
                    </a:lnR>
                    <a:lnT>
                      <a:noFill/>
                    </a:lnT>
                    <a:lnB>
                      <a:noFill/>
                    </a:lnB>
                    <a:noFill/>
                  </a:tcPr>
                </a:tc>
                <a:extLst>
                  <a:ext uri="{0D108BD9-81ED-4DB2-BD59-A6C34878D82A}">
                    <a16:rowId xmlns:a16="http://schemas.microsoft.com/office/drawing/2014/main" val="160353300"/>
                  </a:ext>
                </a:extLst>
              </a:tr>
              <a:tr h="934612">
                <a:tc>
                  <a:txBody>
                    <a:bodyPr/>
                    <a:lstStyle/>
                    <a:p>
                      <a:pPr>
                        <a:buNone/>
                      </a:pPr>
                      <a:r>
                        <a:rPr lang="en" b="1"/>
                        <a:t>Repair</a:t>
                      </a:r>
                      <a:endParaRPr lang="en"/>
                    </a:p>
                  </a:txBody>
                  <a:tcPr anchor="ctr">
                    <a:lnL>
                      <a:noFill/>
                    </a:lnL>
                    <a:lnR>
                      <a:noFill/>
                    </a:lnR>
                    <a:lnT>
                      <a:noFill/>
                    </a:lnT>
                    <a:lnB>
                      <a:noFill/>
                    </a:lnB>
                    <a:noFill/>
                  </a:tcPr>
                </a:tc>
                <a:tc>
                  <a:txBody>
                    <a:bodyPr/>
                    <a:lstStyle/>
                    <a:p>
                      <a:pPr>
                        <a:buNone/>
                      </a:pPr>
                      <a:r>
                        <a:rPr lang="en" dirty="0"/>
                        <a:t>1.4–1.6 g/kg/day protein, evenly distributed; night-time protein</a:t>
                      </a:r>
                    </a:p>
                  </a:txBody>
                  <a:tcPr anchor="ctr">
                    <a:lnL>
                      <a:noFill/>
                    </a:lnL>
                    <a:lnR>
                      <a:noFill/>
                    </a:lnR>
                    <a:lnT>
                      <a:noFill/>
                    </a:lnT>
                    <a:lnB>
                      <a:noFill/>
                    </a:lnB>
                    <a:noFill/>
                  </a:tcPr>
                </a:tc>
                <a:tc>
                  <a:txBody>
                    <a:bodyPr/>
                    <a:lstStyle/>
                    <a:p>
                      <a:pPr>
                        <a:buNone/>
                      </a:pPr>
                      <a:r>
                        <a:rPr lang="en" altLang="zh-CN" dirty="0"/>
                        <a:t>Postpartum muscle and connective tissue repair is in high demand</a:t>
                      </a:r>
                      <a:endParaRPr lang="zh-CN" altLang="en-US" dirty="0"/>
                    </a:p>
                  </a:txBody>
                  <a:tcPr anchor="ctr">
                    <a:lnL>
                      <a:noFill/>
                    </a:lnL>
                    <a:lnR>
                      <a:noFill/>
                    </a:lnR>
                    <a:lnT>
                      <a:noFill/>
                    </a:lnT>
                    <a:lnB>
                      <a:noFill/>
                    </a:lnB>
                    <a:noFill/>
                  </a:tcPr>
                </a:tc>
                <a:extLst>
                  <a:ext uri="{0D108BD9-81ED-4DB2-BD59-A6C34878D82A}">
                    <a16:rowId xmlns:a16="http://schemas.microsoft.com/office/drawing/2014/main" val="4138633751"/>
                  </a:ext>
                </a:extLst>
              </a:tr>
              <a:tr h="934612">
                <a:tc>
                  <a:txBody>
                    <a:bodyPr/>
                    <a:lstStyle/>
                    <a:p>
                      <a:pPr>
                        <a:buNone/>
                      </a:pPr>
                      <a:r>
                        <a:rPr lang="en" b="1"/>
                        <a:t>Rest &amp; Regenerate</a:t>
                      </a:r>
                      <a:endParaRPr lang="en"/>
                    </a:p>
                  </a:txBody>
                  <a:tcPr anchor="ctr">
                    <a:lnL>
                      <a:noFill/>
                    </a:lnL>
                    <a:lnR>
                      <a:noFill/>
                    </a:lnR>
                    <a:lnT>
                      <a:noFill/>
                    </a:lnT>
                    <a:lnB>
                      <a:noFill/>
                    </a:lnB>
                    <a:noFill/>
                  </a:tcPr>
                </a:tc>
                <a:tc>
                  <a:txBody>
                    <a:bodyPr/>
                    <a:lstStyle/>
                    <a:p>
                      <a:pPr>
                        <a:buNone/>
                      </a:pPr>
                      <a:r>
                        <a:rPr lang="en"/>
                        <a:t>Sleep 7–9 hours; naps; mobility; 80/20 training; foam rolling</a:t>
                      </a:r>
                    </a:p>
                  </a:txBody>
                  <a:tcPr anchor="ctr">
                    <a:lnL>
                      <a:noFill/>
                    </a:lnL>
                    <a:lnR>
                      <a:noFill/>
                    </a:lnR>
                    <a:lnT>
                      <a:noFill/>
                    </a:lnT>
                    <a:lnB>
                      <a:noFill/>
                    </a:lnB>
                    <a:noFill/>
                  </a:tcPr>
                </a:tc>
                <a:tc>
                  <a:txBody>
                    <a:bodyPr/>
                    <a:lstStyle/>
                    <a:p>
                      <a:pPr>
                        <a:buNone/>
                      </a:pPr>
                      <a:r>
                        <a:rPr lang="en" altLang="zh-CN" dirty="0"/>
                        <a:t>Sleep deprivation + pelvic instability + increased risk of injury</a:t>
                      </a:r>
                      <a:endParaRPr lang="zh-CN" altLang="en-US" dirty="0"/>
                    </a:p>
                  </a:txBody>
                  <a:tcPr anchor="ctr">
                    <a:lnL>
                      <a:noFill/>
                    </a:lnL>
                    <a:lnR>
                      <a:noFill/>
                    </a:lnR>
                    <a:lnT>
                      <a:noFill/>
                    </a:lnT>
                    <a:lnB>
                      <a:noFill/>
                    </a:lnB>
                    <a:noFill/>
                  </a:tcPr>
                </a:tc>
                <a:extLst>
                  <a:ext uri="{0D108BD9-81ED-4DB2-BD59-A6C34878D82A}">
                    <a16:rowId xmlns:a16="http://schemas.microsoft.com/office/drawing/2014/main" val="2222030229"/>
                  </a:ext>
                </a:extLst>
              </a:tr>
            </a:tbl>
          </a:graphicData>
        </a:graphic>
      </p:graphicFrame>
    </p:spTree>
    <p:extLst>
      <p:ext uri="{BB962C8B-B14F-4D97-AF65-F5344CB8AC3E}">
        <p14:creationId xmlns:p14="http://schemas.microsoft.com/office/powerpoint/2010/main" val="31389848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3397EB-5198-CDD4-3688-673ECFAFA914}"/>
              </a:ext>
            </a:extLst>
          </p:cNvPr>
          <p:cNvSpPr>
            <a:spLocks noGrp="1"/>
          </p:cNvSpPr>
          <p:nvPr>
            <p:ph type="title"/>
          </p:nvPr>
        </p:nvSpPr>
        <p:spPr/>
        <p:txBody>
          <a:bodyPr/>
          <a:lstStyle/>
          <a:p>
            <a:r>
              <a:rPr lang="en-US" altLang="zh-CN" b="1" dirty="0"/>
              <a:t>7.</a:t>
            </a:r>
            <a:r>
              <a:rPr lang="en" altLang="zh-CN" b="1" dirty="0"/>
              <a:t>Ergogenic Aids</a:t>
            </a:r>
            <a:endParaRPr kumimoji="1" lang="zh-CN" altLang="en-US" dirty="0"/>
          </a:p>
        </p:txBody>
      </p:sp>
      <p:sp>
        <p:nvSpPr>
          <p:cNvPr id="3" name="内容占位符 2">
            <a:extLst>
              <a:ext uri="{FF2B5EF4-FFF2-40B4-BE49-F238E27FC236}">
                <a16:creationId xmlns:a16="http://schemas.microsoft.com/office/drawing/2014/main" id="{821DB89F-FBC4-8321-A9E6-3CE0D6A87492}"/>
              </a:ext>
            </a:extLst>
          </p:cNvPr>
          <p:cNvSpPr>
            <a:spLocks noGrp="1"/>
          </p:cNvSpPr>
          <p:nvPr>
            <p:ph idx="1"/>
          </p:nvPr>
        </p:nvSpPr>
        <p:spPr>
          <a:xfrm>
            <a:off x="838200" y="2431255"/>
            <a:ext cx="10515600" cy="3230563"/>
          </a:xfrm>
        </p:spPr>
        <p:txBody>
          <a:bodyPr/>
          <a:lstStyle/>
          <a:p>
            <a:pPr marL="0" indent="0">
              <a:buNone/>
            </a:pPr>
            <a:r>
              <a:rPr lang="en" altLang="zh-CN" dirty="0"/>
              <a:t>Why</a:t>
            </a:r>
            <a:r>
              <a:rPr lang="zh-CN" altLang="en-US" dirty="0"/>
              <a:t> </a:t>
            </a:r>
            <a:r>
              <a:rPr lang="en-US" altLang="zh-CN" dirty="0"/>
              <a:t>choose</a:t>
            </a:r>
            <a:r>
              <a:rPr lang="zh-CN" altLang="en-US" dirty="0"/>
              <a:t>：</a:t>
            </a:r>
            <a:endParaRPr lang="en" altLang="zh-CN" dirty="0"/>
          </a:p>
          <a:p>
            <a:r>
              <a:rPr lang="en-US" altLang="zh-CN" dirty="0"/>
              <a:t>1</a:t>
            </a:r>
            <a:r>
              <a:rPr lang="en" altLang="zh-CN" dirty="0"/>
              <a:t>. Nitrate / Beetroot</a:t>
            </a:r>
          </a:p>
          <a:p>
            <a:endParaRPr kumimoji="1" lang="en" altLang="zh-CN" dirty="0"/>
          </a:p>
          <a:p>
            <a:pPr marL="0" indent="0">
              <a:buNone/>
            </a:pPr>
            <a:r>
              <a:rPr kumimoji="1" lang="en-US" altLang="zh-CN" dirty="0"/>
              <a:t>Why</a:t>
            </a:r>
            <a:r>
              <a:rPr kumimoji="1" lang="zh-CN" altLang="en-US" dirty="0"/>
              <a:t> </a:t>
            </a:r>
            <a:r>
              <a:rPr kumimoji="1" lang="en-US" altLang="zh-CN" dirty="0"/>
              <a:t>not</a:t>
            </a:r>
            <a:r>
              <a:rPr kumimoji="1" lang="zh-CN" altLang="en-US" dirty="0"/>
              <a:t> </a:t>
            </a:r>
            <a:r>
              <a:rPr kumimoji="1" lang="en-US" altLang="zh-CN" dirty="0"/>
              <a:t>choose</a:t>
            </a:r>
            <a:r>
              <a:rPr kumimoji="1" lang="zh-CN" altLang="en-US" dirty="0"/>
              <a:t>：</a:t>
            </a:r>
            <a:endParaRPr kumimoji="1" lang="en-US" altLang="zh-CN" dirty="0"/>
          </a:p>
          <a:p>
            <a:r>
              <a:rPr lang="en-US" altLang="zh-CN" dirty="0"/>
              <a:t>1.</a:t>
            </a:r>
            <a:r>
              <a:rPr lang="zh-CN" altLang="en-US" dirty="0"/>
              <a:t> </a:t>
            </a:r>
            <a:r>
              <a:rPr lang="en" altLang="zh-CN" dirty="0"/>
              <a:t>Creatine </a:t>
            </a:r>
          </a:p>
          <a:p>
            <a:r>
              <a:rPr kumimoji="1" lang="en-US" altLang="zh-CN" dirty="0"/>
              <a:t>2.</a:t>
            </a:r>
            <a:r>
              <a:rPr lang="en" altLang="zh-CN" dirty="0"/>
              <a:t> Sodium Bicarbonate</a:t>
            </a:r>
            <a:endParaRPr kumimoji="1" lang="zh-CN" altLang="en-US" dirty="0"/>
          </a:p>
        </p:txBody>
      </p:sp>
    </p:spTree>
    <p:extLst>
      <p:ext uri="{BB962C8B-B14F-4D97-AF65-F5344CB8AC3E}">
        <p14:creationId xmlns:p14="http://schemas.microsoft.com/office/powerpoint/2010/main" val="41409124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B3C93D-5D4A-EA50-9BD7-F9DFF969CB2C}"/>
              </a:ext>
            </a:extLst>
          </p:cNvPr>
          <p:cNvSpPr>
            <a:spLocks noGrp="1"/>
          </p:cNvSpPr>
          <p:nvPr>
            <p:ph type="title"/>
          </p:nvPr>
        </p:nvSpPr>
        <p:spPr/>
        <p:txBody>
          <a:bodyPr/>
          <a:lstStyle/>
          <a:p>
            <a:r>
              <a:rPr lang="en" altLang="zh-CN" dirty="0"/>
              <a:t>Nitrate / Beetroot</a:t>
            </a:r>
            <a:endParaRPr kumimoji="1" lang="zh-CN" altLang="en-US" dirty="0"/>
          </a:p>
        </p:txBody>
      </p:sp>
      <p:sp>
        <p:nvSpPr>
          <p:cNvPr id="4" name="Rectangle 1">
            <a:extLst>
              <a:ext uri="{FF2B5EF4-FFF2-40B4-BE49-F238E27FC236}">
                <a16:creationId xmlns:a16="http://schemas.microsoft.com/office/drawing/2014/main" id="{D0AF83BB-F70C-C292-2CA9-BF9DE95CA1A0}"/>
              </a:ext>
            </a:extLst>
          </p:cNvPr>
          <p:cNvSpPr>
            <a:spLocks noGrp="1" noChangeArrowheads="1"/>
          </p:cNvSpPr>
          <p:nvPr>
            <p:ph idx="1"/>
          </p:nvPr>
        </p:nvSpPr>
        <p:spPr bwMode="auto">
          <a:xfrm>
            <a:off x="838200" y="1690688"/>
            <a:ext cx="10515600"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zh-CN" altLang="zh-CN" sz="2400" b="1" i="0" u="none" strike="noStrike" cap="none" normalizeH="0" baseline="0" dirty="0">
                <a:ln>
                  <a:noFill/>
                </a:ln>
                <a:solidFill>
                  <a:schemeClr val="tx1"/>
                </a:solidFill>
                <a:effectLst/>
                <a:latin typeface="Arial" panose="020B0604020202020204" pitchFamily="34" charset="0"/>
              </a:rPr>
              <a:t>Running Economy:</a:t>
            </a:r>
            <a:r>
              <a:rPr kumimoji="0" lang="zh-CN" altLang="zh-CN" sz="2400" b="0" i="0" u="none" strike="noStrike" cap="none" normalizeH="0" baseline="0" dirty="0">
                <a:ln>
                  <a:noFill/>
                </a:ln>
                <a:solidFill>
                  <a:schemeClr val="tx1"/>
                </a:solidFill>
                <a:effectLst/>
                <a:latin typeface="Arial" panose="020B0604020202020204" pitchFamily="34" charset="0"/>
              </a:rPr>
              <a:t> </a:t>
            </a:r>
            <a:endParaRPr kumimoji="0" lang="en-US" altLang="zh-CN"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lang="en" altLang="zh-CN" sz="2000" dirty="0">
                <a:latin typeface="Arial" panose="020B0604020202020204" pitchFamily="34" charset="0"/>
              </a:rPr>
              <a:t>Nitrate is converted into nitric oxide (NO) in the body, causing blood vessels to dilate, increasing blood flow to the muscles. More importantly, it reduces oxygen consumption by mitochondria during ATP production.</a:t>
            </a:r>
            <a:endParaRPr lang="en-US" altLang="zh-CN"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zh-CN" sz="2400" b="1" i="0" u="none" strike="noStrike" cap="none" normalizeH="0" baseline="0" dirty="0">
                <a:ln>
                  <a:noFill/>
                </a:ln>
                <a:solidFill>
                  <a:schemeClr val="tx1"/>
                </a:solidFill>
                <a:effectLst/>
                <a:latin typeface="Arial" panose="020B0604020202020204" pitchFamily="34" charset="0"/>
              </a:rPr>
              <a:t>facts</a:t>
            </a:r>
            <a:r>
              <a:rPr kumimoji="0" lang="zh-CN" altLang="zh-CN" sz="2400" b="1" i="0" u="none" strike="noStrike" cap="none" normalizeH="0" baseline="0" dirty="0">
                <a:ln>
                  <a:noFill/>
                </a:ln>
                <a:solidFill>
                  <a:schemeClr val="tx1"/>
                </a:solidFill>
                <a:effectLst/>
                <a:latin typeface="Arial" panose="020B0604020202020204" pitchFamily="34" charset="0"/>
              </a:rPr>
              <a:t>:</a:t>
            </a:r>
            <a:r>
              <a:rPr kumimoji="0" lang="zh-CN" altLang="zh-CN" sz="2400" b="0" i="0" u="none" strike="noStrike" cap="none" normalizeH="0" baseline="0" dirty="0">
                <a:ln>
                  <a:noFill/>
                </a:ln>
                <a:solidFill>
                  <a:schemeClr val="tx1"/>
                </a:solidFill>
                <a:effectLst/>
                <a:latin typeface="Arial" panose="020B0604020202020204" pitchFamily="34" charset="0"/>
              </a:rPr>
              <a:t> </a:t>
            </a:r>
            <a:endParaRPr kumimoji="0" lang="en-US" altLang="zh-CN"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lang="en" altLang="zh-CN" sz="2000" dirty="0">
                <a:latin typeface="Arial" panose="020B0604020202020204" pitchFamily="34" charset="0"/>
              </a:rPr>
              <a:t>This means that the athlete consumes less oxygen and may have a lower heart rate when running at the same pace. This is valuable during the Base Conditioning phase, allowing her to build up her runs more efficiently.</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sp>
        <p:nvSpPr>
          <p:cNvPr id="3" name="文本框 2">
            <a:extLst>
              <a:ext uri="{FF2B5EF4-FFF2-40B4-BE49-F238E27FC236}">
                <a16:creationId xmlns:a16="http://schemas.microsoft.com/office/drawing/2014/main" id="{B4EC9A5E-9DEA-419D-3FA1-253D50C60006}"/>
              </a:ext>
            </a:extLst>
          </p:cNvPr>
          <p:cNvSpPr txBox="1"/>
          <p:nvPr/>
        </p:nvSpPr>
        <p:spPr>
          <a:xfrm>
            <a:off x="193281" y="6027003"/>
            <a:ext cx="11998719" cy="830997"/>
          </a:xfrm>
          <a:prstGeom prst="rect">
            <a:avLst/>
          </a:prstGeom>
          <a:noFill/>
        </p:spPr>
        <p:txBody>
          <a:bodyPr wrap="square">
            <a:spAutoFit/>
          </a:bodyPr>
          <a:lstStyle/>
          <a:p>
            <a:r>
              <a:rPr lang="en" altLang="zh-CN" sz="1600" b="0" i="0" dirty="0">
                <a:solidFill>
                  <a:srgbClr val="212121"/>
                </a:solidFill>
                <a:effectLst/>
                <a:latin typeface="Times New Roman" panose="02020603050405020304" pitchFamily="18" charset="0"/>
                <a:cs typeface="Times New Roman" panose="02020603050405020304" pitchFamily="18" charset="0"/>
              </a:rPr>
              <a:t>[22]Bailey SJ, </a:t>
            </a:r>
            <a:r>
              <a:rPr lang="en" altLang="zh-CN" sz="1600" b="0" i="0" dirty="0" err="1">
                <a:solidFill>
                  <a:srgbClr val="212121"/>
                </a:solidFill>
                <a:effectLst/>
                <a:latin typeface="Times New Roman" panose="02020603050405020304" pitchFamily="18" charset="0"/>
                <a:cs typeface="Times New Roman" panose="02020603050405020304" pitchFamily="18" charset="0"/>
              </a:rPr>
              <a:t>Winyard</a:t>
            </a:r>
            <a:r>
              <a:rPr lang="en" altLang="zh-CN" sz="1600" b="0" i="0" dirty="0">
                <a:solidFill>
                  <a:srgbClr val="212121"/>
                </a:solidFill>
                <a:effectLst/>
                <a:latin typeface="Times New Roman" panose="02020603050405020304" pitchFamily="18" charset="0"/>
                <a:cs typeface="Times New Roman" panose="02020603050405020304" pitchFamily="18" charset="0"/>
              </a:rPr>
              <a:t> P, Vanhatalo A, Blackwell JR, Dimenna FJ, Wilkerson DP, Tarr J, Benjamin N, Jones AM. Dietary nitrate supplementation reduces the O2 cost of low-intensity exercise and enhances tolerance to high-intensity exercise in humans. J Appl </a:t>
            </a:r>
            <a:r>
              <a:rPr lang="en" altLang="zh-CN" sz="1600" b="0" i="0" dirty="0" err="1">
                <a:solidFill>
                  <a:srgbClr val="212121"/>
                </a:solidFill>
                <a:effectLst/>
                <a:latin typeface="Times New Roman" panose="02020603050405020304" pitchFamily="18" charset="0"/>
                <a:cs typeface="Times New Roman" panose="02020603050405020304" pitchFamily="18" charset="0"/>
              </a:rPr>
              <a:t>Physiol</a:t>
            </a:r>
            <a:r>
              <a:rPr lang="en" altLang="zh-CN" sz="1600" b="0" i="0" dirty="0">
                <a:solidFill>
                  <a:srgbClr val="212121"/>
                </a:solidFill>
                <a:effectLst/>
                <a:latin typeface="Times New Roman" panose="02020603050405020304" pitchFamily="18" charset="0"/>
                <a:cs typeface="Times New Roman" panose="02020603050405020304" pitchFamily="18" charset="0"/>
              </a:rPr>
              <a:t> (1985). 2009 Oct;107(4):1144-55. </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2682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6581-DBBA-437B-88D8-AD79AA6D868B}"/>
              </a:ext>
            </a:extLst>
          </p:cNvPr>
          <p:cNvSpPr>
            <a:spLocks noGrp="1"/>
          </p:cNvSpPr>
          <p:nvPr>
            <p:ph type="title"/>
          </p:nvPr>
        </p:nvSpPr>
        <p:spPr>
          <a:xfrm>
            <a:off x="651710" y="946944"/>
            <a:ext cx="10515600" cy="1325563"/>
          </a:xfrm>
        </p:spPr>
        <p:txBody>
          <a:bodyPr/>
          <a:lstStyle/>
          <a:p>
            <a:r>
              <a:rPr kumimoji="1" lang="en-US" altLang="zh-CN" dirty="0"/>
              <a:t>Why</a:t>
            </a:r>
            <a:r>
              <a:rPr kumimoji="1" lang="zh-CN" altLang="en-US" dirty="0"/>
              <a:t> </a:t>
            </a:r>
            <a:r>
              <a:rPr kumimoji="1" lang="en-US" altLang="zh-CN" dirty="0"/>
              <a:t>not</a:t>
            </a:r>
            <a:r>
              <a:rPr kumimoji="1" lang="zh-CN" altLang="en-US" dirty="0"/>
              <a:t> </a:t>
            </a:r>
            <a:r>
              <a:rPr kumimoji="1" lang="en-US" altLang="zh-CN" dirty="0"/>
              <a:t>choose</a:t>
            </a:r>
            <a:endParaRPr kumimoji="1" lang="zh-CN" altLang="en-US" dirty="0"/>
          </a:p>
        </p:txBody>
      </p:sp>
      <p:graphicFrame>
        <p:nvGraphicFramePr>
          <p:cNvPr id="4" name="内容占位符 3">
            <a:extLst>
              <a:ext uri="{FF2B5EF4-FFF2-40B4-BE49-F238E27FC236}">
                <a16:creationId xmlns:a16="http://schemas.microsoft.com/office/drawing/2014/main" id="{ECF9E850-C73D-76C0-F931-4E36FC35B753}"/>
              </a:ext>
            </a:extLst>
          </p:cNvPr>
          <p:cNvGraphicFramePr>
            <a:graphicFrameLocks noGrp="1"/>
          </p:cNvGraphicFramePr>
          <p:nvPr>
            <p:ph idx="1"/>
            <p:extLst>
              <p:ext uri="{D42A27DB-BD31-4B8C-83A1-F6EECF244321}">
                <p14:modId xmlns:p14="http://schemas.microsoft.com/office/powerpoint/2010/main" val="4253431970"/>
              </p:ext>
            </p:extLst>
          </p:nvPr>
        </p:nvGraphicFramePr>
        <p:xfrm>
          <a:off x="651710" y="2272507"/>
          <a:ext cx="10888580" cy="3530834"/>
        </p:xfrm>
        <a:graphic>
          <a:graphicData uri="http://schemas.openxmlformats.org/drawingml/2006/table">
            <a:tbl>
              <a:tblPr/>
              <a:tblGrid>
                <a:gridCol w="2646126">
                  <a:extLst>
                    <a:ext uri="{9D8B030D-6E8A-4147-A177-3AD203B41FA5}">
                      <a16:colId xmlns:a16="http://schemas.microsoft.com/office/drawing/2014/main" val="928374223"/>
                    </a:ext>
                  </a:extLst>
                </a:gridCol>
                <a:gridCol w="8242454">
                  <a:extLst>
                    <a:ext uri="{9D8B030D-6E8A-4147-A177-3AD203B41FA5}">
                      <a16:colId xmlns:a16="http://schemas.microsoft.com/office/drawing/2014/main" val="4222774929"/>
                    </a:ext>
                  </a:extLst>
                </a:gridCol>
              </a:tblGrid>
              <a:tr h="3530834">
                <a:tc>
                  <a:txBody>
                    <a:bodyPr/>
                    <a:lstStyle/>
                    <a:p>
                      <a:pPr rtl="0">
                        <a:buNone/>
                      </a:pPr>
                      <a:r>
                        <a:rPr lang="en" sz="3200" b="1" dirty="0">
                          <a:solidFill>
                            <a:srgbClr val="1F1F1F"/>
                          </a:solidFill>
                          <a:effectLst/>
                          <a:latin typeface="Google Sans Text"/>
                        </a:rPr>
                        <a:t> Creatine </a:t>
                      </a:r>
                      <a:endParaRPr lang="zh-CN" altLang="en-US" sz="3200"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lnSpc>
                          <a:spcPct val="150000"/>
                        </a:lnSpc>
                        <a:buNone/>
                      </a:pPr>
                      <a:r>
                        <a:rPr lang="en" altLang="zh-CN" sz="2000" dirty="0">
                          <a:solidFill>
                            <a:srgbClr val="1F1F1F"/>
                          </a:solidFill>
                          <a:effectLst/>
                          <a:latin typeface="Google Sans Text"/>
                        </a:rPr>
                        <a:t>While creatine is helpful for postpartum recovery (pelvic floor muscles, cognitive function under sleep deprivation), it can lead to water retention (weight gain of 1-2kg). For a 66kg long-distance runner, the extra weight can increase joint stress.</a:t>
                      </a:r>
                      <a:endParaRPr lang="zh-CN" altLang="en-US" sz="2000"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09764641"/>
                  </a:ext>
                </a:extLst>
              </a:tr>
            </a:tbl>
          </a:graphicData>
        </a:graphic>
      </p:graphicFrame>
      <p:sp>
        <p:nvSpPr>
          <p:cNvPr id="3" name="文本框 2">
            <a:extLst>
              <a:ext uri="{FF2B5EF4-FFF2-40B4-BE49-F238E27FC236}">
                <a16:creationId xmlns:a16="http://schemas.microsoft.com/office/drawing/2014/main" id="{53D92F36-5B8D-A345-22E8-8B03C8121686}"/>
              </a:ext>
            </a:extLst>
          </p:cNvPr>
          <p:cNvSpPr txBox="1"/>
          <p:nvPr/>
        </p:nvSpPr>
        <p:spPr>
          <a:xfrm>
            <a:off x="651710" y="6519446"/>
            <a:ext cx="11998719" cy="338554"/>
          </a:xfrm>
          <a:prstGeom prst="rect">
            <a:avLst/>
          </a:prstGeom>
          <a:noFill/>
        </p:spPr>
        <p:txBody>
          <a:bodyPr wrap="square">
            <a:spAutoFit/>
          </a:bodyPr>
          <a:lstStyle/>
          <a:p>
            <a:r>
              <a:rPr lang="en-US" altLang="zh-CN" sz="1600" dirty="0">
                <a:solidFill>
                  <a:srgbClr val="212121"/>
                </a:solidFill>
                <a:latin typeface="Times New Roman" panose="02020603050405020304" pitchFamily="18" charset="0"/>
                <a:cs typeface="Times New Roman" panose="02020603050405020304" pitchFamily="18" charset="0"/>
              </a:rPr>
              <a:t>[23]</a:t>
            </a:r>
            <a:r>
              <a:rPr lang="en" altLang="zh-CN" sz="1600" dirty="0">
                <a:solidFill>
                  <a:srgbClr val="212121"/>
                </a:solidFill>
                <a:latin typeface="Times New Roman" panose="02020603050405020304" pitchFamily="18" charset="0"/>
                <a:cs typeface="Times New Roman" panose="02020603050405020304" pitchFamily="18" charset="0"/>
              </a:rPr>
              <a:t>Hall M, Manetta E, Tupper K. Creatine Supplementation: An Update. Curr Sports Med Rep. 2021 Jul 1;20(7):338-344. </a:t>
            </a:r>
            <a:endParaRPr lang="zh-CN" altLang="en-US" sz="1600" dirty="0">
              <a:solidFill>
                <a:srgbClr val="21212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8143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6102A-106A-EC62-C097-259B2C526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A76716E-097A-A442-9EFB-6CC3DC9D497F}"/>
              </a:ext>
            </a:extLst>
          </p:cNvPr>
          <p:cNvSpPr>
            <a:spLocks noGrp="1"/>
          </p:cNvSpPr>
          <p:nvPr>
            <p:ph type="title"/>
          </p:nvPr>
        </p:nvSpPr>
        <p:spPr>
          <a:xfrm>
            <a:off x="539646" y="1144615"/>
            <a:ext cx="10515600" cy="1325563"/>
          </a:xfrm>
        </p:spPr>
        <p:txBody>
          <a:bodyPr/>
          <a:lstStyle/>
          <a:p>
            <a:r>
              <a:rPr kumimoji="1" lang="en-US" altLang="zh-CN" dirty="0"/>
              <a:t>Why</a:t>
            </a:r>
            <a:r>
              <a:rPr kumimoji="1" lang="zh-CN" altLang="en-US" dirty="0"/>
              <a:t> </a:t>
            </a:r>
            <a:r>
              <a:rPr kumimoji="1" lang="en-US" altLang="zh-CN" dirty="0"/>
              <a:t>not</a:t>
            </a:r>
            <a:r>
              <a:rPr kumimoji="1" lang="zh-CN" altLang="en-US" dirty="0"/>
              <a:t> </a:t>
            </a:r>
            <a:r>
              <a:rPr kumimoji="1" lang="en-US" altLang="zh-CN" dirty="0"/>
              <a:t>choose</a:t>
            </a:r>
            <a:endParaRPr kumimoji="1" lang="zh-CN" altLang="en-US" dirty="0"/>
          </a:p>
        </p:txBody>
      </p:sp>
      <p:graphicFrame>
        <p:nvGraphicFramePr>
          <p:cNvPr id="4" name="内容占位符 3">
            <a:extLst>
              <a:ext uri="{FF2B5EF4-FFF2-40B4-BE49-F238E27FC236}">
                <a16:creationId xmlns:a16="http://schemas.microsoft.com/office/drawing/2014/main" id="{89E769C2-47CA-B0D5-C3C8-B514D7829D93}"/>
              </a:ext>
            </a:extLst>
          </p:cNvPr>
          <p:cNvGraphicFramePr>
            <a:graphicFrameLocks noGrp="1"/>
          </p:cNvGraphicFramePr>
          <p:nvPr>
            <p:ph idx="1"/>
            <p:extLst>
              <p:ext uri="{D42A27DB-BD31-4B8C-83A1-F6EECF244321}">
                <p14:modId xmlns:p14="http://schemas.microsoft.com/office/powerpoint/2010/main" val="3086078537"/>
              </p:ext>
            </p:extLst>
          </p:nvPr>
        </p:nvGraphicFramePr>
        <p:xfrm>
          <a:off x="539646" y="2353454"/>
          <a:ext cx="11540290" cy="3359931"/>
        </p:xfrm>
        <a:graphic>
          <a:graphicData uri="http://schemas.openxmlformats.org/drawingml/2006/table">
            <a:tbl>
              <a:tblPr/>
              <a:tblGrid>
                <a:gridCol w="4329691">
                  <a:extLst>
                    <a:ext uri="{9D8B030D-6E8A-4147-A177-3AD203B41FA5}">
                      <a16:colId xmlns:a16="http://schemas.microsoft.com/office/drawing/2014/main" val="928374223"/>
                    </a:ext>
                  </a:extLst>
                </a:gridCol>
                <a:gridCol w="7210599">
                  <a:extLst>
                    <a:ext uri="{9D8B030D-6E8A-4147-A177-3AD203B41FA5}">
                      <a16:colId xmlns:a16="http://schemas.microsoft.com/office/drawing/2014/main" val="4222774929"/>
                    </a:ext>
                  </a:extLst>
                </a:gridCol>
              </a:tblGrid>
              <a:tr h="3359931">
                <a:tc>
                  <a:txBody>
                    <a:bodyPr/>
                    <a:lstStyle/>
                    <a:p>
                      <a:pPr rtl="0">
                        <a:buNone/>
                      </a:pPr>
                      <a:r>
                        <a:rPr lang="en" sz="3200" b="1" dirty="0">
                          <a:solidFill>
                            <a:srgbClr val="1F1F1F"/>
                          </a:solidFill>
                          <a:effectLst/>
                          <a:latin typeface="Google Sans Text"/>
                        </a:rPr>
                        <a:t>Sodium Bicarbonate </a:t>
                      </a:r>
                      <a:endParaRPr lang="zh-CN" altLang="en-US" sz="3200" dirty="0">
                        <a:solidFill>
                          <a:srgbClr val="1F1F1F"/>
                        </a:solidFill>
                        <a:effectLst/>
                        <a:latin typeface="Google Sans Text"/>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marL="0" algn="l" defTabSz="914400" rtl="0" eaLnBrk="1" latinLnBrk="0" hangingPunct="1">
                        <a:lnSpc>
                          <a:spcPct val="150000"/>
                        </a:lnSpc>
                        <a:buNone/>
                      </a:pPr>
                      <a:r>
                        <a:rPr lang="en" altLang="zh-CN" sz="2000" kern="1200" dirty="0">
                          <a:solidFill>
                            <a:srgbClr val="1F1F1F"/>
                          </a:solidFill>
                          <a:effectLst/>
                          <a:latin typeface="Google Sans Text"/>
                          <a:ea typeface="+mn-ea"/>
                          <a:cs typeface="+mn-cs"/>
                        </a:rPr>
                        <a:t>Not recommended. Baking soda is mainly used to buffer the acidic environment generated by high-intensity anaerobic exercise such as 800m - 3000m or interval running. </a:t>
                      </a:r>
                      <a:endParaRPr lang="zh-CN" altLang="en-US" sz="2000" kern="1200" dirty="0">
                        <a:solidFill>
                          <a:srgbClr val="1F1F1F"/>
                        </a:solidFill>
                        <a:effectLst/>
                        <a:latin typeface="Google Sans Text"/>
                        <a:ea typeface="+mn-ea"/>
                        <a:cs typeface="+mn-cs"/>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0485817"/>
                  </a:ext>
                </a:extLst>
              </a:tr>
            </a:tbl>
          </a:graphicData>
        </a:graphic>
      </p:graphicFrame>
      <p:sp>
        <p:nvSpPr>
          <p:cNvPr id="6" name="文本框 5">
            <a:extLst>
              <a:ext uri="{FF2B5EF4-FFF2-40B4-BE49-F238E27FC236}">
                <a16:creationId xmlns:a16="http://schemas.microsoft.com/office/drawing/2014/main" id="{34E38AF9-8711-3402-5BC7-7A0105594DDA}"/>
              </a:ext>
            </a:extLst>
          </p:cNvPr>
          <p:cNvSpPr txBox="1"/>
          <p:nvPr/>
        </p:nvSpPr>
        <p:spPr>
          <a:xfrm>
            <a:off x="539646" y="6102790"/>
            <a:ext cx="11998719" cy="584775"/>
          </a:xfrm>
          <a:prstGeom prst="rect">
            <a:avLst/>
          </a:prstGeom>
          <a:noFill/>
        </p:spPr>
        <p:txBody>
          <a:bodyPr wrap="square">
            <a:spAutoFit/>
          </a:bodyPr>
          <a:lstStyle/>
          <a:p>
            <a:r>
              <a:rPr lang="en" altLang="zh-CN" sz="1600" dirty="0">
                <a:solidFill>
                  <a:srgbClr val="212121"/>
                </a:solidFill>
                <a:latin typeface="Times New Roman" panose="02020603050405020304" pitchFamily="18" charset="0"/>
                <a:cs typeface="Times New Roman" panose="02020603050405020304" pitchFamily="18" charset="0"/>
              </a:rPr>
              <a:t>[24]Carr AJ, Slater GJ, Gore CJ, Dawson B, Burke LM. Effect of sodium bicarbonate on [HCO3-], pH, and gastrointestinal symptoms. Int J Sport </a:t>
            </a:r>
            <a:r>
              <a:rPr lang="en" altLang="zh-CN" sz="1600" dirty="0" err="1">
                <a:solidFill>
                  <a:srgbClr val="212121"/>
                </a:solidFill>
                <a:latin typeface="Times New Roman" panose="02020603050405020304" pitchFamily="18" charset="0"/>
                <a:cs typeface="Times New Roman" panose="02020603050405020304" pitchFamily="18" charset="0"/>
              </a:rPr>
              <a:t>Nutr</a:t>
            </a:r>
            <a:r>
              <a:rPr lang="en" altLang="zh-CN" sz="1600" dirty="0">
                <a:solidFill>
                  <a:srgbClr val="212121"/>
                </a:solidFill>
                <a:latin typeface="Times New Roman" panose="02020603050405020304" pitchFamily="18" charset="0"/>
                <a:cs typeface="Times New Roman" panose="02020603050405020304" pitchFamily="18" charset="0"/>
              </a:rPr>
              <a:t> </a:t>
            </a:r>
            <a:r>
              <a:rPr lang="en" altLang="zh-CN" sz="1600" dirty="0" err="1">
                <a:solidFill>
                  <a:srgbClr val="212121"/>
                </a:solidFill>
                <a:latin typeface="Times New Roman" panose="02020603050405020304" pitchFamily="18" charset="0"/>
                <a:cs typeface="Times New Roman" panose="02020603050405020304" pitchFamily="18" charset="0"/>
              </a:rPr>
              <a:t>Exerc</a:t>
            </a:r>
            <a:r>
              <a:rPr lang="en" altLang="zh-CN" sz="1600" dirty="0">
                <a:solidFill>
                  <a:srgbClr val="212121"/>
                </a:solidFill>
                <a:latin typeface="Times New Roman" panose="02020603050405020304" pitchFamily="18" charset="0"/>
                <a:cs typeface="Times New Roman" panose="02020603050405020304" pitchFamily="18" charset="0"/>
              </a:rPr>
              <a:t> </a:t>
            </a:r>
            <a:r>
              <a:rPr lang="en" altLang="zh-CN" sz="1600" dirty="0" err="1">
                <a:solidFill>
                  <a:srgbClr val="212121"/>
                </a:solidFill>
                <a:latin typeface="Times New Roman" panose="02020603050405020304" pitchFamily="18" charset="0"/>
                <a:cs typeface="Times New Roman" panose="02020603050405020304" pitchFamily="18" charset="0"/>
              </a:rPr>
              <a:t>Metab</a:t>
            </a:r>
            <a:r>
              <a:rPr lang="en" altLang="zh-CN" sz="1600" dirty="0">
                <a:solidFill>
                  <a:srgbClr val="212121"/>
                </a:solidFill>
                <a:latin typeface="Times New Roman" panose="02020603050405020304" pitchFamily="18" charset="0"/>
                <a:cs typeface="Times New Roman" panose="02020603050405020304" pitchFamily="18" charset="0"/>
              </a:rPr>
              <a:t>. 2011 Jun;21(3):189-94. </a:t>
            </a:r>
            <a:endParaRPr lang="zh-CN" altLang="en-US" sz="1600" dirty="0">
              <a:solidFill>
                <a:srgbClr val="21212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37551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6D5071-D2D9-6196-54B9-B1C599CA64EC}"/>
              </a:ext>
            </a:extLst>
          </p:cNvPr>
          <p:cNvSpPr>
            <a:spLocks noGrp="1"/>
          </p:cNvSpPr>
          <p:nvPr>
            <p:ph type="title"/>
          </p:nvPr>
        </p:nvSpPr>
        <p:spPr/>
        <p:txBody>
          <a:bodyPr/>
          <a:lstStyle/>
          <a:p>
            <a:r>
              <a:rPr lang="en-US" altLang="zh-CN" dirty="0"/>
              <a:t>7.</a:t>
            </a:r>
            <a:r>
              <a:rPr lang="en" altLang="zh-CN" dirty="0"/>
              <a:t>Nutrition Across Contexts</a:t>
            </a:r>
            <a:endParaRPr kumimoji="1" lang="zh-CN" altLang="en-US" dirty="0"/>
          </a:p>
        </p:txBody>
      </p:sp>
      <p:sp>
        <p:nvSpPr>
          <p:cNvPr id="3" name="内容占位符 2">
            <a:extLst>
              <a:ext uri="{FF2B5EF4-FFF2-40B4-BE49-F238E27FC236}">
                <a16:creationId xmlns:a16="http://schemas.microsoft.com/office/drawing/2014/main" id="{4808F809-E34A-863E-7DBD-37F0AE2D2D5A}"/>
              </a:ext>
            </a:extLst>
          </p:cNvPr>
          <p:cNvSpPr>
            <a:spLocks noGrp="1"/>
          </p:cNvSpPr>
          <p:nvPr>
            <p:ph idx="1"/>
          </p:nvPr>
        </p:nvSpPr>
        <p:spPr>
          <a:xfrm>
            <a:off x="838200" y="2262307"/>
            <a:ext cx="10515600" cy="4351338"/>
          </a:xfrm>
        </p:spPr>
        <p:txBody>
          <a:bodyPr>
            <a:normAutofit/>
          </a:bodyPr>
          <a:lstStyle/>
          <a:p>
            <a:r>
              <a:rPr lang="en-US" altLang="zh-CN" dirty="0"/>
              <a:t>1. </a:t>
            </a:r>
            <a:r>
              <a:rPr lang="en-US" altLang="zh-CN" dirty="0">
                <a:latin typeface="Times New Roman" panose="02020603050405020304" pitchFamily="18" charset="0"/>
                <a:cs typeface="Times New Roman" panose="02020603050405020304" pitchFamily="18" charset="0"/>
              </a:rPr>
              <a:t>For athletes (31-year-old women, endurance running, postpartum recovery), nutrition strategies must not be "one-size-fits-all". We need to introduce the concept of "nutritional </a:t>
            </a:r>
            <a:r>
              <a:rPr lang="en-US" altLang="zh-CN" dirty="0" err="1">
                <a:latin typeface="Times New Roman" panose="02020603050405020304" pitchFamily="18" charset="0"/>
                <a:cs typeface="Times New Roman" panose="02020603050405020304" pitchFamily="18" charset="0"/>
              </a:rPr>
              <a:t>periodisation</a:t>
            </a:r>
            <a:r>
              <a:rPr lang="en-US" altLang="zh-CN" dirty="0">
                <a:latin typeface="Times New Roman" panose="02020603050405020304" pitchFamily="18" charset="0"/>
                <a:cs typeface="Times New Roman" panose="02020603050405020304" pitchFamily="18" charset="0"/>
              </a:rPr>
              <a:t>" – "replenishing energy based on the amount of exercise needed".</a:t>
            </a:r>
          </a:p>
          <a:p>
            <a:pPr marL="0" indent="0">
              <a:buNone/>
            </a:pPr>
            <a:endParaRPr lang="zh-CN" altLang="en" dirty="0"/>
          </a:p>
          <a:p>
            <a:r>
              <a:rPr lang="en-US" altLang="zh-CN" dirty="0"/>
              <a:t>2. </a:t>
            </a:r>
            <a:r>
              <a:rPr lang="en-US" altLang="zh-CN" dirty="0">
                <a:latin typeface="Times New Roman" panose="02020603050405020304" pitchFamily="18" charset="0"/>
                <a:cs typeface="Times New Roman" panose="02020603050405020304" pitchFamily="18" charset="0"/>
              </a:rPr>
              <a:t>Considering that she is 10-12 weeks postpartum, all strategies must be superimposed with a "recovery and lactation protective layer" to ensure that hormone recovery or milk production is not affected during caloric adjustments.</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411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D46740A8-B506-E68E-A06E-65DC7A1763D2}"/>
              </a:ext>
            </a:extLst>
          </p:cNvPr>
          <p:cNvGraphicFramePr>
            <a:graphicFrameLocks noGrp="1"/>
          </p:cNvGraphicFramePr>
          <p:nvPr>
            <p:ph idx="1"/>
            <p:extLst>
              <p:ext uri="{D42A27DB-BD31-4B8C-83A1-F6EECF244321}">
                <p14:modId xmlns:p14="http://schemas.microsoft.com/office/powerpoint/2010/main" val="2488854696"/>
              </p:ext>
            </p:extLst>
          </p:nvPr>
        </p:nvGraphicFramePr>
        <p:xfrm>
          <a:off x="112296" y="0"/>
          <a:ext cx="12079704" cy="6902249"/>
        </p:xfrm>
        <a:graphic>
          <a:graphicData uri="http://schemas.openxmlformats.org/drawingml/2006/table">
            <a:tbl>
              <a:tblPr/>
              <a:tblGrid>
                <a:gridCol w="2139043">
                  <a:extLst>
                    <a:ext uri="{9D8B030D-6E8A-4147-A177-3AD203B41FA5}">
                      <a16:colId xmlns:a16="http://schemas.microsoft.com/office/drawing/2014/main" val="3210615537"/>
                    </a:ext>
                  </a:extLst>
                </a:gridCol>
                <a:gridCol w="3053443">
                  <a:extLst>
                    <a:ext uri="{9D8B030D-6E8A-4147-A177-3AD203B41FA5}">
                      <a16:colId xmlns:a16="http://schemas.microsoft.com/office/drawing/2014/main" val="2113751241"/>
                    </a:ext>
                  </a:extLst>
                </a:gridCol>
                <a:gridCol w="3494314">
                  <a:extLst>
                    <a:ext uri="{9D8B030D-6E8A-4147-A177-3AD203B41FA5}">
                      <a16:colId xmlns:a16="http://schemas.microsoft.com/office/drawing/2014/main" val="1210620127"/>
                    </a:ext>
                  </a:extLst>
                </a:gridCol>
                <a:gridCol w="3392904">
                  <a:extLst>
                    <a:ext uri="{9D8B030D-6E8A-4147-A177-3AD203B41FA5}">
                      <a16:colId xmlns:a16="http://schemas.microsoft.com/office/drawing/2014/main" val="1487742287"/>
                    </a:ext>
                  </a:extLst>
                </a:gridCol>
              </a:tblGrid>
              <a:tr h="630102">
                <a:tc>
                  <a:txBody>
                    <a:bodyPr/>
                    <a:lstStyle/>
                    <a:p>
                      <a:pPr rtl="0">
                        <a:buNone/>
                      </a:pPr>
                      <a:r>
                        <a:rPr lang="en" altLang="zh-CN" sz="1600" b="1" dirty="0">
                          <a:solidFill>
                            <a:srgbClr val="1F1F1F"/>
                          </a:solidFill>
                          <a:effectLst/>
                          <a:latin typeface="Google Sans Text"/>
                        </a:rPr>
                        <a:t>dimension</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sz="1600" b="1" dirty="0">
                          <a:solidFill>
                            <a:srgbClr val="1F1F1F"/>
                          </a:solidFill>
                          <a:effectLst/>
                          <a:latin typeface="Google Sans Text"/>
                        </a:rPr>
                        <a:t>Rest Day</a:t>
                      </a:r>
                      <a:endParaRPr lang="en"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Training Day (Current Phase: Cardio Foundation Building)</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Race Day (Race Day) (10km / Half Marathon)</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65839793"/>
                  </a:ext>
                </a:extLst>
              </a:tr>
              <a:tr h="630102">
                <a:tc>
                  <a:txBody>
                    <a:bodyPr/>
                    <a:lstStyle/>
                    <a:p>
                      <a:pPr rtl="0">
                        <a:buNone/>
                      </a:pPr>
                      <a:r>
                        <a:rPr lang="en" altLang="zh-CN" sz="1600" b="1" dirty="0">
                          <a:solidFill>
                            <a:srgbClr val="1F1F1F"/>
                          </a:solidFill>
                          <a:effectLst/>
                          <a:latin typeface="Google Sans Text"/>
                        </a:rPr>
                        <a:t>Main objectives:</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dirty="0">
                          <a:solidFill>
                            <a:srgbClr val="1F1F1F"/>
                          </a:solidFill>
                          <a:effectLst/>
                          <a:latin typeface="Google Sans Text"/>
                        </a:rPr>
                        <a:t>Deep recovery, control of inflammation, replenishment of trace elements.</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dirty="0">
                          <a:solidFill>
                            <a:srgbClr val="1F1F1F"/>
                          </a:solidFill>
                          <a:effectLst/>
                          <a:latin typeface="Google Sans Text"/>
                        </a:rPr>
                        <a:t>Ensure training quality, optimize glycogen reserves, and recover quickly after exercise.</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dirty="0">
                          <a:solidFill>
                            <a:srgbClr val="1F1F1F"/>
                          </a:solidFill>
                          <a:effectLst/>
                          <a:latin typeface="Google Sans Text"/>
                        </a:rPr>
                        <a:t>There are only two goals: maximum performance &amp; gastrointestinal comfort.</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13853848"/>
                  </a:ext>
                </a:extLst>
              </a:tr>
              <a:tr h="1344356">
                <a:tc>
                  <a:txBody>
                    <a:bodyPr/>
                    <a:lstStyle/>
                    <a:p>
                      <a:pPr rtl="0">
                        <a:buNone/>
                      </a:pPr>
                      <a:r>
                        <a:rPr lang="en" altLang="zh-CN" sz="1600" b="1" dirty="0">
                          <a:solidFill>
                            <a:srgbClr val="1F1F1F"/>
                          </a:solidFill>
                          <a:effectLst/>
                          <a:latin typeface="Google Sans Text"/>
                        </a:rPr>
                        <a:t>carbohydrates</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Low - Medium (3-4 g/kg)</a:t>
                      </a:r>
                      <a:br>
                        <a:rPr lang="en" sz="1600" dirty="0">
                          <a:solidFill>
                            <a:srgbClr val="1F1F1F"/>
                          </a:solidFill>
                          <a:effectLst/>
                          <a:latin typeface="Google Sans Text"/>
                        </a:rPr>
                      </a:br>
                      <a:endParaRPr lang="en" sz="1600" dirty="0">
                        <a:solidFill>
                          <a:srgbClr val="1F1F1F"/>
                        </a:solidFill>
                        <a:effectLst/>
                        <a:latin typeface="Google Sans Text"/>
                      </a:endParaRPr>
                    </a:p>
                    <a:p>
                      <a:pPr rtl="0">
                        <a:buNone/>
                      </a:pPr>
                      <a:r>
                        <a:rPr lang="en" altLang="zh-CN" sz="1600" dirty="0">
                          <a:solidFill>
                            <a:srgbClr val="1F1F1F"/>
                          </a:solidFill>
                          <a:effectLst/>
                          <a:latin typeface="Google Sans Text"/>
                        </a:rPr>
                        <a:t>Focus on high-fiber, low-GI foods (whole grains, lots of vegetables).</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Medium - High (5-7 g/kg)</a:t>
                      </a:r>
                      <a:br>
                        <a:rPr lang="en" sz="1600" dirty="0">
                          <a:solidFill>
                            <a:srgbClr val="1F1F1F"/>
                          </a:solidFill>
                          <a:effectLst/>
                          <a:latin typeface="Google Sans Text"/>
                        </a:rPr>
                      </a:br>
                      <a:endParaRPr lang="en" sz="1600" dirty="0">
                        <a:solidFill>
                          <a:srgbClr val="1F1F1F"/>
                        </a:solidFill>
                        <a:effectLst/>
                        <a:latin typeface="Google Sans Text"/>
                      </a:endParaRPr>
                    </a:p>
                    <a:p>
                      <a:pPr rtl="0">
                        <a:buNone/>
                      </a:pPr>
                      <a:r>
                        <a:rPr lang="en" altLang="zh-CN" sz="1600" dirty="0">
                          <a:solidFill>
                            <a:srgbClr val="1F1F1F"/>
                          </a:solidFill>
                          <a:effectLst/>
                          <a:latin typeface="Google Sans Text"/>
                        </a:rPr>
                        <a:t>Around intake before and after training. Eating extra meals after exercise is essential.</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High (Pre-Race Meal)</a:t>
                      </a:r>
                      <a:br>
                        <a:rPr lang="en-US" altLang="zh-CN" sz="1600" dirty="0">
                          <a:solidFill>
                            <a:srgbClr val="1F1F1F"/>
                          </a:solidFill>
                          <a:effectLst/>
                          <a:latin typeface="Google Sans Text"/>
                        </a:rPr>
                      </a:br>
                      <a:endParaRPr lang="en-US" altLang="zh-CN" sz="1600" dirty="0">
                        <a:solidFill>
                          <a:srgbClr val="1F1F1F"/>
                        </a:solidFill>
                        <a:effectLst/>
                        <a:latin typeface="Google Sans Text"/>
                      </a:endParaRPr>
                    </a:p>
                    <a:p>
                      <a:pPr rtl="0">
                        <a:buNone/>
                      </a:pPr>
                      <a:r>
                        <a:rPr lang="en" altLang="zh-CN" sz="1600" dirty="0">
                          <a:solidFill>
                            <a:srgbClr val="1F1F1F"/>
                          </a:solidFill>
                          <a:effectLst/>
                          <a:latin typeface="Google Sans Text"/>
                        </a:rPr>
                        <a:t>Choose low-</a:t>
                      </a:r>
                      <a:r>
                        <a:rPr lang="en" altLang="zh-CN" sz="1600" dirty="0" err="1">
                          <a:solidFill>
                            <a:srgbClr val="1F1F1F"/>
                          </a:solidFill>
                          <a:effectLst/>
                          <a:latin typeface="Google Sans Text"/>
                        </a:rPr>
                        <a:t>fibre</a:t>
                      </a:r>
                      <a:r>
                        <a:rPr lang="en" altLang="zh-CN" sz="1600" dirty="0">
                          <a:solidFill>
                            <a:srgbClr val="1F1F1F"/>
                          </a:solidFill>
                          <a:effectLst/>
                          <a:latin typeface="Google Sans Text"/>
                        </a:rPr>
                        <a:t>, easily digestible carbohydrates (white bread, bananas, sports drinks).</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49455739"/>
                  </a:ext>
                </a:extLst>
              </a:tr>
              <a:tr h="1344356">
                <a:tc>
                  <a:txBody>
                    <a:bodyPr/>
                    <a:lstStyle/>
                    <a:p>
                      <a:pPr rtl="0">
                        <a:buNone/>
                      </a:pPr>
                      <a:r>
                        <a:rPr lang="en" altLang="zh-CN" sz="1600" b="1" dirty="0">
                          <a:solidFill>
                            <a:srgbClr val="1F1F1F"/>
                          </a:solidFill>
                          <a:effectLst/>
                          <a:latin typeface="Google Sans Text"/>
                        </a:rPr>
                        <a:t>protein</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Stable (1.6-2.0 g/kg)</a:t>
                      </a:r>
                      <a:br>
                        <a:rPr lang="en" sz="1600" dirty="0">
                          <a:solidFill>
                            <a:srgbClr val="1F1F1F"/>
                          </a:solidFill>
                          <a:effectLst/>
                          <a:latin typeface="Google Sans Text"/>
                        </a:rPr>
                      </a:br>
                      <a:endParaRPr lang="en" sz="1600" dirty="0">
                        <a:solidFill>
                          <a:srgbClr val="1F1F1F"/>
                        </a:solidFill>
                        <a:effectLst/>
                        <a:latin typeface="Google Sans Text"/>
                      </a:endParaRPr>
                    </a:p>
                    <a:p>
                      <a:pPr rtl="0">
                        <a:buNone/>
                      </a:pPr>
                      <a:r>
                        <a:rPr lang="en" altLang="zh-CN" sz="1600" dirty="0">
                          <a:solidFill>
                            <a:srgbClr val="1F1F1F"/>
                          </a:solidFill>
                          <a:effectLst/>
                          <a:latin typeface="Google Sans Text"/>
                        </a:rPr>
                        <a:t>Approximately 20-30g per meal, evenly distributed throughout the day, to prevent muscle loss.</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Stay stable</a:t>
                      </a:r>
                      <a:br>
                        <a:rPr lang="zh-CN" altLang="en-US" sz="1600" dirty="0">
                          <a:solidFill>
                            <a:srgbClr val="1F1F1F"/>
                          </a:solidFill>
                          <a:effectLst/>
                          <a:latin typeface="Google Sans Text"/>
                        </a:rPr>
                      </a:br>
                      <a:endParaRPr lang="zh-CN" altLang="en-US" sz="1600" dirty="0">
                        <a:solidFill>
                          <a:srgbClr val="1F1F1F"/>
                        </a:solidFill>
                        <a:effectLst/>
                        <a:latin typeface="Google Sans Text"/>
                      </a:endParaRPr>
                    </a:p>
                    <a:p>
                      <a:pPr rtl="0">
                        <a:buNone/>
                      </a:pPr>
                      <a:r>
                        <a:rPr lang="en" altLang="zh-CN" sz="1600" dirty="0">
                          <a:solidFill>
                            <a:srgbClr val="1F1F1F"/>
                          </a:solidFill>
                          <a:effectLst/>
                          <a:latin typeface="Google Sans Text"/>
                        </a:rPr>
                        <a:t>The focus is on consuming 20g of high-quality protein within 30 minutes of exercise.</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ltLang="zh-CN" sz="1600" b="1" dirty="0">
                          <a:solidFill>
                            <a:srgbClr val="1F1F1F"/>
                          </a:solidFill>
                          <a:effectLst/>
                          <a:latin typeface="Google Sans Text"/>
                        </a:rPr>
                        <a:t>moderate</a:t>
                      </a:r>
                      <a:endParaRPr lang="zh-CN" altLang="en-US" sz="1600" dirty="0">
                        <a:solidFill>
                          <a:srgbClr val="1F1F1F"/>
                        </a:solidFill>
                        <a:effectLst/>
                        <a:latin typeface="Google Sans Text"/>
                      </a:endParaRPr>
                    </a:p>
                    <a:p>
                      <a:pPr rtl="0">
                        <a:buNone/>
                      </a:pPr>
                      <a:br>
                        <a:rPr lang="zh-CN" altLang="en-US" sz="1600" dirty="0">
                          <a:solidFill>
                            <a:srgbClr val="1F1F1F"/>
                          </a:solidFill>
                          <a:effectLst/>
                          <a:latin typeface="Google Sans Text"/>
                        </a:rPr>
                      </a:br>
                      <a:endParaRPr lang="zh-CN" altLang="en-US" sz="1600" dirty="0">
                        <a:solidFill>
                          <a:srgbClr val="1F1F1F"/>
                        </a:solidFill>
                        <a:effectLst/>
                        <a:latin typeface="Google Sans Text"/>
                      </a:endParaRPr>
                    </a:p>
                    <a:p>
                      <a:pPr rtl="0">
                        <a:buNone/>
                      </a:pPr>
                      <a:r>
                        <a:rPr lang="en" altLang="zh-CN" sz="1600" dirty="0">
                          <a:solidFill>
                            <a:srgbClr val="1F1F1F"/>
                          </a:solidFill>
                          <a:effectLst/>
                          <a:latin typeface="Google Sans Text"/>
                        </a:rPr>
                        <a:t>eat a small amount of pre-race meals to avoid excessive satiety; Replenishment is required immediately after the game.</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13325160"/>
                  </a:ext>
                </a:extLst>
              </a:tr>
              <a:tr h="1291256">
                <a:tc>
                  <a:txBody>
                    <a:bodyPr/>
                    <a:lstStyle/>
                    <a:p>
                      <a:pPr rtl="0">
                        <a:buNone/>
                      </a:pPr>
                      <a:r>
                        <a:rPr lang="en" altLang="zh-CN" sz="1600" b="1" dirty="0">
                          <a:solidFill>
                            <a:srgbClr val="1F1F1F"/>
                          </a:solidFill>
                          <a:effectLst/>
                          <a:latin typeface="Google Sans Text"/>
                        </a:rPr>
                        <a:t>fat</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Moderate increase</a:t>
                      </a:r>
                      <a:br>
                        <a:rPr lang="zh-CN" altLang="en-US" sz="1600" dirty="0">
                          <a:solidFill>
                            <a:srgbClr val="1F1F1F"/>
                          </a:solidFill>
                          <a:effectLst/>
                          <a:latin typeface="Google Sans Text"/>
                        </a:rPr>
                      </a:br>
                      <a:endParaRPr lang="zh-CN" altLang="en-US" sz="1600" dirty="0">
                        <a:solidFill>
                          <a:srgbClr val="1F1F1F"/>
                        </a:solidFill>
                        <a:effectLst/>
                        <a:latin typeface="Google Sans Text"/>
                      </a:endParaRPr>
                    </a:p>
                    <a:p>
                      <a:pPr rtl="0">
                        <a:buNone/>
                      </a:pPr>
                      <a:r>
                        <a:rPr lang="en" altLang="zh-CN" sz="1600" dirty="0">
                          <a:solidFill>
                            <a:srgbClr val="1F1F1F"/>
                          </a:solidFill>
                          <a:effectLst/>
                          <a:latin typeface="Google Sans Text"/>
                        </a:rPr>
                        <a:t>As the main source of satiety (avocado, nuts, fish oil)</a:t>
                      </a:r>
                      <a:r>
                        <a:rPr lang="zh-CN" altLang="en-US" sz="1600" dirty="0">
                          <a:solidFill>
                            <a:srgbClr val="1F1F1F"/>
                          </a:solidFill>
                          <a:effectLst/>
                          <a:latin typeface="Google Sans Text"/>
                        </a:rPr>
                        <a:t>。</a:t>
                      </a: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Medium</a:t>
                      </a:r>
                      <a:br>
                        <a:rPr lang="zh-CN" altLang="en-US" sz="1600" dirty="0">
                          <a:solidFill>
                            <a:srgbClr val="1F1F1F"/>
                          </a:solidFill>
                          <a:effectLst/>
                          <a:latin typeface="Google Sans Text"/>
                        </a:rPr>
                      </a:br>
                      <a:endParaRPr lang="zh-CN" altLang="en-US" sz="1600" dirty="0">
                        <a:solidFill>
                          <a:srgbClr val="1F1F1F"/>
                        </a:solidFill>
                        <a:effectLst/>
                        <a:latin typeface="Google Sans Text"/>
                      </a:endParaRPr>
                    </a:p>
                    <a:p>
                      <a:pPr rtl="0">
                        <a:buNone/>
                      </a:pPr>
                      <a:r>
                        <a:rPr lang="en" altLang="zh-CN" sz="1600" dirty="0">
                          <a:solidFill>
                            <a:srgbClr val="1F1F1F"/>
                          </a:solidFill>
                          <a:effectLst/>
                          <a:latin typeface="Google Sans Text"/>
                        </a:rPr>
                        <a:t>Avoid eating too much fat 1-2 hours before training to avoid indigestion.</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Very low (pre-race)</a:t>
                      </a:r>
                      <a:br>
                        <a:rPr lang="en-US" altLang="zh-CN" sz="1600" dirty="0">
                          <a:solidFill>
                            <a:srgbClr val="1F1F1F"/>
                          </a:solidFill>
                          <a:effectLst/>
                          <a:latin typeface="Google Sans Text"/>
                        </a:rPr>
                      </a:br>
                      <a:endParaRPr lang="en-US" altLang="zh-CN" sz="1600" dirty="0">
                        <a:solidFill>
                          <a:srgbClr val="1F1F1F"/>
                        </a:solidFill>
                        <a:effectLst/>
                        <a:latin typeface="Google Sans Text"/>
                      </a:endParaRPr>
                    </a:p>
                    <a:p>
                      <a:pPr rtl="0">
                        <a:buNone/>
                      </a:pPr>
                      <a:r>
                        <a:rPr lang="en" altLang="zh-CN" sz="1600" dirty="0">
                          <a:solidFill>
                            <a:srgbClr val="1F1F1F"/>
                          </a:solidFill>
                          <a:effectLst/>
                          <a:latin typeface="Google Sans Text"/>
                        </a:rPr>
                        <a:t>Try to avoid fat 2-3 hours before the race in case of gastrointestinal upset during the race.</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19475043"/>
                  </a:ext>
                </a:extLst>
              </a:tr>
              <a:tr h="1296465">
                <a:tc>
                  <a:txBody>
                    <a:bodyPr/>
                    <a:lstStyle/>
                    <a:p>
                      <a:pPr rtl="0">
                        <a:buNone/>
                      </a:pPr>
                      <a:r>
                        <a:rPr lang="en" altLang="zh-CN" sz="1600" b="1" dirty="0">
                          <a:solidFill>
                            <a:srgbClr val="1F1F1F"/>
                          </a:solidFill>
                          <a:effectLst/>
                          <a:latin typeface="Google Sans Text"/>
                        </a:rPr>
                        <a:t>Pay special attention after childbirth</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Don't over-diet.</a:t>
                      </a:r>
                      <a:br>
                        <a:rPr lang="zh-CN" altLang="en-US" sz="1600" dirty="0">
                          <a:solidFill>
                            <a:srgbClr val="1F1F1F"/>
                          </a:solidFill>
                          <a:effectLst/>
                          <a:latin typeface="Google Sans Text"/>
                        </a:rPr>
                      </a:br>
                      <a:endParaRPr lang="zh-CN" altLang="en-US" sz="1600" dirty="0">
                        <a:solidFill>
                          <a:srgbClr val="1F1F1F"/>
                        </a:solidFill>
                        <a:effectLst/>
                        <a:latin typeface="Google Sans Text"/>
                      </a:endParaRPr>
                    </a:p>
                    <a:p>
                      <a:pPr rtl="0">
                        <a:buNone/>
                      </a:pPr>
                      <a:r>
                        <a:rPr lang="en" altLang="zh-CN" sz="1600" dirty="0">
                          <a:solidFill>
                            <a:srgbClr val="1F1F1F"/>
                          </a:solidFill>
                          <a:effectLst/>
                          <a:latin typeface="Google Sans Text"/>
                        </a:rPr>
                        <a:t>Even on rest days, if you are breastfeeding, you still need about 300-500kcal extra.</a:t>
                      </a:r>
                      <a:endParaRPr lang="en"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sz="1600" b="1" dirty="0">
                          <a:solidFill>
                            <a:srgbClr val="1F1F1F"/>
                          </a:solidFill>
                          <a:effectLst/>
                          <a:latin typeface="Google Sans Text"/>
                        </a:rPr>
                        <a:t>Hydration</a:t>
                      </a:r>
                      <a:endParaRPr lang="en" sz="1600" dirty="0">
                        <a:solidFill>
                          <a:srgbClr val="1F1F1F"/>
                        </a:solidFill>
                        <a:effectLst/>
                        <a:latin typeface="Google Sans Text"/>
                      </a:endParaRPr>
                    </a:p>
                    <a:p>
                      <a:pPr rtl="0">
                        <a:buNone/>
                      </a:pPr>
                      <a:br>
                        <a:rPr lang="en" sz="1600" dirty="0">
                          <a:solidFill>
                            <a:srgbClr val="1F1F1F"/>
                          </a:solidFill>
                          <a:effectLst/>
                          <a:latin typeface="Google Sans Text"/>
                        </a:rPr>
                      </a:br>
                      <a:r>
                        <a:rPr lang="en" altLang="zh-CN" sz="1600" dirty="0">
                          <a:solidFill>
                            <a:srgbClr val="1F1F1F"/>
                          </a:solidFill>
                          <a:effectLst/>
                          <a:latin typeface="Google Sans Text"/>
                        </a:rPr>
                        <a:t>Postpartum sweating rates may change, and lactation consumes water, requiring additional attention to urine color.</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endParaRPr lang="zh-CN" altLang="en-US" sz="1600" dirty="0">
                        <a:solidFill>
                          <a:srgbClr val="1F1F1F"/>
                        </a:solidFill>
                        <a:effectLst/>
                        <a:latin typeface="Google Sans Text"/>
                      </a:endParaRPr>
                    </a:p>
                    <a:p>
                      <a:pPr rtl="0">
                        <a:buNone/>
                      </a:pPr>
                      <a:r>
                        <a:rPr lang="en" altLang="zh-CN" sz="1600" dirty="0">
                          <a:solidFill>
                            <a:srgbClr val="1F1F1F"/>
                          </a:solidFill>
                          <a:effectLst/>
                          <a:latin typeface="Google Sans Text"/>
                        </a:rPr>
                        <a:t>As mentioned earlier, caffeine intake on game days should be combined with a lactation schedule.</a:t>
                      </a:r>
                      <a:endParaRPr lang="zh-CN" altLang="en-US" sz="1600" dirty="0">
                        <a:solidFill>
                          <a:srgbClr val="1F1F1F"/>
                        </a:solidFill>
                        <a:effectLst/>
                        <a:latin typeface="Google Sans Text"/>
                      </a:endParaRPr>
                    </a:p>
                  </a:txBody>
                  <a:tcPr marL="54392" marR="54392" marT="36261" marB="3626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96883942"/>
                  </a:ext>
                </a:extLst>
              </a:tr>
            </a:tbl>
          </a:graphicData>
        </a:graphic>
      </p:graphicFrame>
    </p:spTree>
    <p:extLst>
      <p:ext uri="{BB962C8B-B14F-4D97-AF65-F5344CB8AC3E}">
        <p14:creationId xmlns:p14="http://schemas.microsoft.com/office/powerpoint/2010/main" val="3675600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16474C-7822-6970-0518-74E71667DBB5}"/>
              </a:ext>
            </a:extLst>
          </p:cNvPr>
          <p:cNvSpPr>
            <a:spLocks noGrp="1"/>
          </p:cNvSpPr>
          <p:nvPr>
            <p:ph type="title"/>
          </p:nvPr>
        </p:nvSpPr>
        <p:spPr>
          <a:xfrm>
            <a:off x="3554185" y="2766218"/>
            <a:ext cx="5083629" cy="1325563"/>
          </a:xfrm>
        </p:spPr>
        <p:txBody>
          <a:bodyPr/>
          <a:lstStyle/>
          <a:p>
            <a:r>
              <a:rPr lang="en" altLang="zh-CN" b="1" dirty="0"/>
              <a:t>Sample 1-Day Menu</a:t>
            </a:r>
            <a:endParaRPr kumimoji="1" lang="zh-CN" altLang="en-US" dirty="0"/>
          </a:p>
        </p:txBody>
      </p:sp>
    </p:spTree>
    <p:extLst>
      <p:ext uri="{BB962C8B-B14F-4D97-AF65-F5344CB8AC3E}">
        <p14:creationId xmlns:p14="http://schemas.microsoft.com/office/powerpoint/2010/main" val="24650503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059C1-0858-70A9-0D97-301D08932297}"/>
            </a:ext>
          </a:extLst>
        </p:cNvPr>
        <p:cNvGrpSpPr/>
        <p:nvPr/>
      </p:nvGrpSpPr>
      <p:grpSpPr>
        <a:xfrm>
          <a:off x="0" y="0"/>
          <a:ext cx="0" cy="0"/>
          <a:chOff x="0" y="0"/>
          <a:chExt cx="0" cy="0"/>
        </a:xfrm>
      </p:grpSpPr>
      <p:graphicFrame>
        <p:nvGraphicFramePr>
          <p:cNvPr id="7" name="内容占位符 6">
            <a:extLst>
              <a:ext uri="{FF2B5EF4-FFF2-40B4-BE49-F238E27FC236}">
                <a16:creationId xmlns:a16="http://schemas.microsoft.com/office/drawing/2014/main" id="{A3EEA81F-3A65-B8C2-498C-27F1D7A42585}"/>
              </a:ext>
            </a:extLst>
          </p:cNvPr>
          <p:cNvGraphicFramePr>
            <a:graphicFrameLocks noGrp="1"/>
          </p:cNvGraphicFramePr>
          <p:nvPr>
            <p:ph idx="1"/>
            <p:extLst>
              <p:ext uri="{D42A27DB-BD31-4B8C-83A1-F6EECF244321}">
                <p14:modId xmlns:p14="http://schemas.microsoft.com/office/powerpoint/2010/main" val="2325411930"/>
              </p:ext>
            </p:extLst>
          </p:nvPr>
        </p:nvGraphicFramePr>
        <p:xfrm>
          <a:off x="159204" y="241815"/>
          <a:ext cx="11873592" cy="6369176"/>
        </p:xfrm>
        <a:graphic>
          <a:graphicData uri="http://schemas.openxmlformats.org/drawingml/2006/table">
            <a:tbl>
              <a:tblPr/>
              <a:tblGrid>
                <a:gridCol w="1610737">
                  <a:extLst>
                    <a:ext uri="{9D8B030D-6E8A-4147-A177-3AD203B41FA5}">
                      <a16:colId xmlns:a16="http://schemas.microsoft.com/office/drawing/2014/main" val="702014291"/>
                    </a:ext>
                  </a:extLst>
                </a:gridCol>
                <a:gridCol w="2018814">
                  <a:extLst>
                    <a:ext uri="{9D8B030D-6E8A-4147-A177-3AD203B41FA5}">
                      <a16:colId xmlns:a16="http://schemas.microsoft.com/office/drawing/2014/main" val="3927494300"/>
                    </a:ext>
                  </a:extLst>
                </a:gridCol>
                <a:gridCol w="3415464">
                  <a:extLst>
                    <a:ext uri="{9D8B030D-6E8A-4147-A177-3AD203B41FA5}">
                      <a16:colId xmlns:a16="http://schemas.microsoft.com/office/drawing/2014/main" val="942081406"/>
                    </a:ext>
                  </a:extLst>
                </a:gridCol>
                <a:gridCol w="3290670">
                  <a:extLst>
                    <a:ext uri="{9D8B030D-6E8A-4147-A177-3AD203B41FA5}">
                      <a16:colId xmlns:a16="http://schemas.microsoft.com/office/drawing/2014/main" val="395126589"/>
                    </a:ext>
                  </a:extLst>
                </a:gridCol>
                <a:gridCol w="1537907">
                  <a:extLst>
                    <a:ext uri="{9D8B030D-6E8A-4147-A177-3AD203B41FA5}">
                      <a16:colId xmlns:a16="http://schemas.microsoft.com/office/drawing/2014/main" val="125806899"/>
                    </a:ext>
                  </a:extLst>
                </a:gridCol>
              </a:tblGrid>
              <a:tr h="359511">
                <a:tc>
                  <a:txBody>
                    <a:bodyPr/>
                    <a:lstStyle/>
                    <a:p>
                      <a:pPr rtl="0">
                        <a:buNone/>
                      </a:pPr>
                      <a:r>
                        <a:rPr lang="en" altLang="zh-CN" sz="1600" b="1" dirty="0">
                          <a:solidFill>
                            <a:srgbClr val="1F1F1F"/>
                          </a:solidFill>
                          <a:effectLst/>
                          <a:latin typeface="Google Sans Text"/>
                        </a:rPr>
                        <a:t>Time</a:t>
                      </a:r>
                      <a:endParaRPr lang="zh-CN" altLang="en-US"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sz="1600" b="1" dirty="0">
                          <a:solidFill>
                            <a:srgbClr val="1F1F1F"/>
                          </a:solidFill>
                          <a:effectLst/>
                          <a:latin typeface="Google Sans Text"/>
                        </a:rPr>
                        <a:t>Phase</a:t>
                      </a:r>
                      <a:endParaRPr lang="en"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sz="1600" b="1" dirty="0">
                          <a:solidFill>
                            <a:srgbClr val="1F1F1F"/>
                          </a:solidFill>
                          <a:effectLst/>
                          <a:latin typeface="Google Sans Text"/>
                        </a:rPr>
                        <a:t>Food &amp; Fluid</a:t>
                      </a:r>
                      <a:endParaRPr lang="en"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sz="1600" b="1" dirty="0">
                          <a:solidFill>
                            <a:srgbClr val="1F1F1F"/>
                          </a:solidFill>
                          <a:effectLst/>
                          <a:latin typeface="Google Sans Text"/>
                        </a:rPr>
                        <a:t>Key Action Items</a:t>
                      </a:r>
                      <a:endParaRPr lang="en"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sz="1600" b="1" dirty="0">
                          <a:solidFill>
                            <a:srgbClr val="1F1F1F"/>
                          </a:solidFill>
                          <a:effectLst/>
                          <a:latin typeface="Google Sans Text"/>
                        </a:rPr>
                        <a:t>Log</a:t>
                      </a:r>
                      <a:endParaRPr lang="en"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31826322"/>
                  </a:ext>
                </a:extLst>
              </a:tr>
              <a:tr h="1762312">
                <a:tc>
                  <a:txBody>
                    <a:bodyPr/>
                    <a:lstStyle/>
                    <a:p>
                      <a:pPr rtl="0">
                        <a:buNone/>
                      </a:pPr>
                      <a:r>
                        <a:rPr lang="en-US" altLang="zh-CN" sz="1600" b="1" dirty="0">
                          <a:solidFill>
                            <a:srgbClr val="1F1F1F"/>
                          </a:solidFill>
                          <a:effectLst/>
                          <a:latin typeface="Google Sans Text"/>
                        </a:rPr>
                        <a:t>07:30</a:t>
                      </a:r>
                      <a:endParaRPr lang="zh-CN" altLang="en-US"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Breakfast</a:t>
                      </a:r>
                      <a:endParaRPr lang="zh-CN" altLang="en-US"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Oatmeal (boiled in milk/soy milk) + chia seeds</a:t>
                      </a:r>
                      <a:endParaRPr lang="zh-CN" altLang="en-US" sz="1600" dirty="0">
                        <a:solidFill>
                          <a:srgbClr val="1F1F1F"/>
                        </a:solidFill>
                        <a:effectLst/>
                        <a:latin typeface="Google Sans Text"/>
                      </a:endParaRPr>
                    </a:p>
                    <a:p>
                      <a:pPr rtl="0">
                        <a:buNone/>
                      </a:pPr>
                      <a:r>
                        <a:rPr lang="zh-CN" altLang="en-US" sz="1600" dirty="0">
                          <a:solidFill>
                            <a:srgbClr val="1F1F1F"/>
                          </a:solidFill>
                          <a:effectLst/>
                          <a:latin typeface="Google Sans Text"/>
                        </a:rPr>
                        <a:t>🥚 </a:t>
                      </a:r>
                      <a:r>
                        <a:rPr lang="en-US" altLang="zh-CN" sz="1600" b="1" dirty="0">
                          <a:solidFill>
                            <a:srgbClr val="1F1F1F"/>
                          </a:solidFill>
                          <a:effectLst/>
                          <a:latin typeface="Google Sans Text"/>
                        </a:rPr>
                        <a:t>2 hard-boiled eggs</a:t>
                      </a:r>
                      <a:endParaRPr lang="zh-CN" altLang="en-US" sz="1600" dirty="0">
                        <a:solidFill>
                          <a:srgbClr val="1F1F1F"/>
                        </a:solidFill>
                        <a:effectLst/>
                        <a:latin typeface="Google Sans Text"/>
                      </a:endParaRPr>
                    </a:p>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Blueberries/strawberries</a:t>
                      </a:r>
                      <a:endParaRPr lang="zh-CN" altLang="en-US"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dirty="0">
                          <a:solidFill>
                            <a:srgbClr val="1F1F1F"/>
                          </a:solidFill>
                          <a:effectLst/>
                          <a:latin typeface="Google Sans Text"/>
                        </a:rPr>
                        <a:t>✅ </a:t>
                      </a:r>
                      <a:r>
                        <a:rPr lang="en" altLang="zh-CN" sz="1600" dirty="0">
                          <a:solidFill>
                            <a:srgbClr val="1F1F1F"/>
                          </a:solidFill>
                          <a:effectLst/>
                          <a:latin typeface="Google Sans Text"/>
                        </a:rPr>
                        <a:t>Make sure to consume protein and calcium</a:t>
                      </a:r>
                      <a:endParaRPr lang="zh-CN" altLang="en-US" sz="1600" dirty="0">
                        <a:solidFill>
                          <a:srgbClr val="1F1F1F"/>
                        </a:solidFill>
                        <a:effectLst/>
                        <a:latin typeface="Google Sans Text"/>
                      </a:endParaRPr>
                    </a:p>
                    <a:p>
                      <a:pPr rtl="0">
                        <a:buNone/>
                      </a:pPr>
                      <a:r>
                        <a:rPr lang="zh-CN" altLang="en-US" sz="1600" dirty="0">
                          <a:solidFill>
                            <a:srgbClr val="1F1F1F"/>
                          </a:solidFill>
                          <a:effectLst/>
                          <a:latin typeface="Google Sans Text"/>
                        </a:rPr>
                        <a:t>✅ </a:t>
                      </a:r>
                      <a:r>
                        <a:rPr lang="en" altLang="zh-CN" sz="1600" dirty="0">
                          <a:solidFill>
                            <a:srgbClr val="1F1F1F"/>
                          </a:solidFill>
                          <a:effectLst/>
                          <a:latin typeface="Google Sans Text"/>
                        </a:rPr>
                        <a:t>Avoid being too greasy to prevent slow digestion</a:t>
                      </a:r>
                      <a:endParaRPr lang="zh-CN" altLang="en-US"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dirty="0">
                          <a:solidFill>
                            <a:srgbClr val="1F1F1F"/>
                          </a:solidFill>
                          <a:effectLst/>
                          <a:latin typeface="Google Sans Text"/>
                        </a:rPr>
                        <a:t>Appetite:</a:t>
                      </a:r>
                      <a:br>
                        <a:rPr lang="zh-CN" altLang="en-US" sz="1600" dirty="0">
                          <a:solidFill>
                            <a:srgbClr val="1F1F1F"/>
                          </a:solidFill>
                          <a:effectLst/>
                          <a:latin typeface="Google Sans Text"/>
                        </a:rPr>
                      </a:br>
                      <a:endParaRPr lang="zh-CN" altLang="en-US" sz="1600" dirty="0">
                        <a:solidFill>
                          <a:srgbClr val="1F1F1F"/>
                        </a:solidFill>
                        <a:effectLst/>
                        <a:latin typeface="Google Sans Text"/>
                      </a:endParaRPr>
                    </a:p>
                    <a:p>
                      <a:pPr rtl="0">
                        <a:buNone/>
                      </a:pPr>
                      <a:r>
                        <a:rPr lang="zh-CN" altLang="en-US" sz="1600" dirty="0">
                          <a:solidFill>
                            <a:srgbClr val="1F1F1F"/>
                          </a:solidFill>
                          <a:effectLst/>
                          <a:latin typeface="Google Sans Text"/>
                        </a:rPr>
                        <a:t>⭐⭐⭐⭐⭐</a:t>
                      </a: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75942286"/>
                  </a:ext>
                </a:extLst>
              </a:tr>
              <a:tr h="1570007">
                <a:tc>
                  <a:txBody>
                    <a:bodyPr/>
                    <a:lstStyle/>
                    <a:p>
                      <a:pPr rtl="0">
                        <a:buNone/>
                      </a:pPr>
                      <a:r>
                        <a:rPr lang="en-US" altLang="zh-CN" sz="1600" b="1" dirty="0">
                          <a:solidFill>
                            <a:srgbClr val="1F1F1F"/>
                          </a:solidFill>
                          <a:effectLst/>
                          <a:latin typeface="Google Sans Text"/>
                        </a:rPr>
                        <a:t>09:00</a:t>
                      </a:r>
                      <a:endParaRPr lang="zh-CN" altLang="en-US"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Eat before practice
(Supplement)</a:t>
                      </a:r>
                      <a:endParaRPr lang="en-US" altLang="zh-CN"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dirty="0">
                          <a:solidFill>
                            <a:srgbClr val="1F1F1F"/>
                          </a:solidFill>
                          <a:effectLst/>
                          <a:latin typeface="Google Sans Text"/>
                        </a:rPr>
                        <a:t>🍞 </a:t>
                      </a:r>
                      <a:r>
                        <a:rPr lang="en-US" altLang="zh-CN" sz="1600" b="1" dirty="0">
                          <a:solidFill>
                            <a:srgbClr val="1F1F1F"/>
                          </a:solidFill>
                          <a:effectLst/>
                          <a:latin typeface="Google Sans Text"/>
                        </a:rPr>
                        <a:t>1 slice of white toast</a:t>
                      </a:r>
                      <a:r>
                        <a:rPr lang="en-US" altLang="zh-CN" sz="1600" dirty="0">
                          <a:solidFill>
                            <a:srgbClr val="1F1F1F"/>
                          </a:solidFill>
                          <a:effectLst/>
                          <a:latin typeface="Google Sans Text"/>
                        </a:rPr>
                        <a:t>+ </a:t>
                      </a:r>
                      <a:r>
                        <a:rPr lang="en" altLang="zh-CN" sz="1600" dirty="0">
                          <a:solidFill>
                            <a:srgbClr val="1F1F1F"/>
                          </a:solidFill>
                          <a:effectLst/>
                          <a:latin typeface="Google Sans Text"/>
                        </a:rPr>
                        <a:t>Jam / honey</a:t>
                      </a:r>
                      <a:endParaRPr lang="zh-CN" altLang="en-US" sz="1600" dirty="0">
                        <a:solidFill>
                          <a:srgbClr val="1F1F1F"/>
                        </a:solidFill>
                        <a:effectLst/>
                        <a:latin typeface="Google Sans Text"/>
                      </a:endParaRPr>
                    </a:p>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Supplement B: 1 bottle of beetroot juice (70ml)</a:t>
                      </a:r>
                      <a:endParaRPr lang="en"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b="1" dirty="0">
                          <a:solidFill>
                            <a:srgbClr val="1F1F1F"/>
                          </a:solidFill>
                          <a:effectLst/>
                          <a:latin typeface="Google Sans Text"/>
                        </a:rPr>
                        <a:t>⚠️ </a:t>
                      </a:r>
                      <a:r>
                        <a:rPr lang="en" altLang="zh-CN" sz="1600" b="1" dirty="0">
                          <a:solidFill>
                            <a:srgbClr val="1F1F1F"/>
                          </a:solidFill>
                          <a:effectLst/>
                          <a:latin typeface="Google Sans Text"/>
                        </a:rPr>
                        <a:t>Postpartum Notes:
Due</a:t>
                      </a:r>
                      <a:r>
                        <a:rPr lang="zh-CN" altLang="en-US" sz="1600" b="1" dirty="0">
                          <a:solidFill>
                            <a:srgbClr val="1F1F1F"/>
                          </a:solidFill>
                          <a:effectLst/>
                          <a:latin typeface="Google Sans Text"/>
                        </a:rPr>
                        <a:t> </a:t>
                      </a:r>
                      <a:r>
                        <a:rPr lang="en-US" altLang="zh-CN" sz="1600" b="1" dirty="0">
                          <a:solidFill>
                            <a:srgbClr val="1F1F1F"/>
                          </a:solidFill>
                          <a:effectLst/>
                          <a:latin typeface="Google Sans Text"/>
                        </a:rPr>
                        <a:t>to</a:t>
                      </a:r>
                      <a:r>
                        <a:rPr lang="zh-CN" altLang="en-US" sz="1600" b="1" dirty="0">
                          <a:solidFill>
                            <a:srgbClr val="1F1F1F"/>
                          </a:solidFill>
                          <a:effectLst/>
                          <a:latin typeface="Google Sans Text"/>
                        </a:rPr>
                        <a:t> </a:t>
                      </a:r>
                      <a:r>
                        <a:rPr lang="en" altLang="zh-CN" sz="1600" b="1" dirty="0">
                          <a:solidFill>
                            <a:srgbClr val="1F1F1F"/>
                          </a:solidFill>
                          <a:effectLst/>
                          <a:latin typeface="Google Sans Text"/>
                        </a:rPr>
                        <a:t>breastfeeding, caffeine</a:t>
                      </a:r>
                      <a:r>
                        <a:rPr lang="zh-CN" altLang="en-US" sz="1600" b="1" dirty="0">
                          <a:solidFill>
                            <a:srgbClr val="1F1F1F"/>
                          </a:solidFill>
                          <a:effectLst/>
                          <a:latin typeface="Google Sans Text"/>
                        </a:rPr>
                        <a:t> </a:t>
                      </a:r>
                      <a:r>
                        <a:rPr lang="en-US" altLang="zh-CN" sz="1600" b="1" dirty="0">
                          <a:solidFill>
                            <a:srgbClr val="1F1F1F"/>
                          </a:solidFill>
                          <a:effectLst/>
                          <a:latin typeface="Google Sans Text"/>
                        </a:rPr>
                        <a:t>should</a:t>
                      </a:r>
                      <a:r>
                        <a:rPr lang="zh-CN" altLang="en-US" sz="1600" b="1" dirty="0">
                          <a:solidFill>
                            <a:srgbClr val="1F1F1F"/>
                          </a:solidFill>
                          <a:effectLst/>
                          <a:latin typeface="Google Sans Text"/>
                        </a:rPr>
                        <a:t> </a:t>
                      </a:r>
                      <a:r>
                        <a:rPr lang="en-US" altLang="zh-CN" sz="1600" b="1" dirty="0">
                          <a:solidFill>
                            <a:srgbClr val="1F1F1F"/>
                          </a:solidFill>
                          <a:effectLst/>
                          <a:latin typeface="Google Sans Text"/>
                        </a:rPr>
                        <a:t>be</a:t>
                      </a:r>
                      <a:r>
                        <a:rPr lang="zh-CN" altLang="en-US" sz="1600" b="1" dirty="0">
                          <a:solidFill>
                            <a:srgbClr val="1F1F1F"/>
                          </a:solidFill>
                          <a:effectLst/>
                          <a:latin typeface="Google Sans Text"/>
                        </a:rPr>
                        <a:t> </a:t>
                      </a:r>
                      <a:r>
                        <a:rPr lang="en-US" altLang="zh-CN" sz="1600" b="1" dirty="0">
                          <a:solidFill>
                            <a:srgbClr val="1F1F1F"/>
                          </a:solidFill>
                          <a:effectLst/>
                          <a:latin typeface="Google Sans Text"/>
                        </a:rPr>
                        <a:t>banned</a:t>
                      </a:r>
                      <a:endParaRPr lang="zh-CN" altLang="en-US"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dirty="0">
                          <a:solidFill>
                            <a:srgbClr val="1F1F1F"/>
                          </a:solidFill>
                          <a:effectLst/>
                          <a:latin typeface="Google Sans Text"/>
                        </a:rPr>
                        <a:t>Heart rate/anxiety</a:t>
                      </a:r>
                      <a:r>
                        <a:rPr lang="zh-CN" altLang="en-US" sz="1600" dirty="0">
                          <a:solidFill>
                            <a:srgbClr val="1F1F1F"/>
                          </a:solidFill>
                          <a:effectLst/>
                          <a:latin typeface="Google Sans Text"/>
                        </a:rPr>
                        <a:t>：</a:t>
                      </a:r>
                    </a:p>
                    <a:p>
                      <a:pPr rtl="0">
                        <a:buNone/>
                      </a:pPr>
                      <a:br>
                        <a:rPr lang="zh-CN" altLang="en-US" sz="1600" dirty="0">
                          <a:solidFill>
                            <a:srgbClr val="1F1F1F"/>
                          </a:solidFill>
                          <a:effectLst/>
                          <a:latin typeface="Google Sans Text"/>
                        </a:rPr>
                      </a:br>
                      <a:endParaRPr lang="zh-CN" altLang="en-US" sz="1600" dirty="0">
                        <a:solidFill>
                          <a:srgbClr val="1F1F1F"/>
                        </a:solidFill>
                        <a:effectLst/>
                        <a:latin typeface="Google Sans Text"/>
                      </a:endParaRPr>
                    </a:p>
                    <a:p>
                      <a:pPr rtl="0">
                        <a:buNone/>
                      </a:pPr>
                      <a:r>
                        <a:rPr lang="en-US" altLang="zh-CN" sz="1600" dirty="0">
                          <a:solidFill>
                            <a:srgbClr val="1F1F1F"/>
                          </a:solidFill>
                          <a:effectLst/>
                          <a:latin typeface="Google Sans Text"/>
                        </a:rPr>
                        <a:t>__________</a:t>
                      </a: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72262104"/>
                  </a:ext>
                </a:extLst>
              </a:tr>
              <a:tr h="1198792">
                <a:tc>
                  <a:txBody>
                    <a:bodyPr/>
                    <a:lstStyle/>
                    <a:p>
                      <a:pPr rtl="0">
                        <a:buNone/>
                      </a:pPr>
                      <a:r>
                        <a:rPr lang="en-US" altLang="zh-CN" sz="1600" b="1">
                          <a:solidFill>
                            <a:srgbClr val="1F1F1F"/>
                          </a:solidFill>
                          <a:effectLst/>
                          <a:latin typeface="Google Sans Text"/>
                        </a:rPr>
                        <a:t>10:00</a:t>
                      </a:r>
                      <a:endParaRPr lang="zh-CN" altLang="en-US" sz="160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In training</a:t>
                      </a:r>
                      <a:endParaRPr lang="zh-CN" altLang="en-US" sz="1600" dirty="0">
                        <a:solidFill>
                          <a:srgbClr val="1F1F1F"/>
                        </a:solidFill>
                        <a:effectLst/>
                        <a:latin typeface="Google Sans Text"/>
                      </a:endParaRPr>
                    </a:p>
                    <a:p>
                      <a:pPr rtl="0">
                        <a:buNone/>
                      </a:pPr>
                      <a:r>
                        <a:rPr lang="en-US" altLang="zh-CN" sz="1600" dirty="0">
                          <a:solidFill>
                            <a:srgbClr val="1F1F1F"/>
                          </a:solidFill>
                          <a:effectLst/>
                          <a:latin typeface="Google Sans Text"/>
                        </a:rPr>
                        <a:t>(60</a:t>
                      </a:r>
                      <a:r>
                        <a:rPr lang="en" sz="1600" dirty="0">
                          <a:solidFill>
                            <a:srgbClr val="1F1F1F"/>
                          </a:solidFill>
                          <a:effectLst/>
                          <a:latin typeface="Google Sans Text"/>
                        </a:rPr>
                        <a:t>min Base)</a:t>
                      </a: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Drink water only (on demand)</a:t>
                      </a:r>
                      <a:endParaRPr lang="en-US" altLang="zh-CN" sz="1600" dirty="0">
                        <a:solidFill>
                          <a:srgbClr val="1F1F1F"/>
                        </a:solidFill>
                        <a:effectLst/>
                        <a:latin typeface="Google Sans Text"/>
                      </a:endParaRPr>
                    </a:p>
                    <a:p>
                      <a:pPr rtl="0">
                        <a:buNone/>
                      </a:pPr>
                      <a:r>
                        <a:rPr lang="en-US" altLang="zh-CN" sz="1600" i="1" dirty="0">
                          <a:solidFill>
                            <a:srgbClr val="1F1F1F"/>
                          </a:solidFill>
                          <a:effectLst/>
                          <a:latin typeface="Google Sans Text"/>
                        </a:rPr>
                        <a:t>(If the weather is extremely hot, electrolyte tablets can be added)</a:t>
                      </a:r>
                      <a:endParaRPr lang="zh-CN" altLang="en-US"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dirty="0">
                          <a:solidFill>
                            <a:srgbClr val="1F1F1F"/>
                          </a:solidFill>
                          <a:effectLst/>
                          <a:latin typeface="Google Sans Text"/>
                        </a:rPr>
                        <a:t>🚫 </a:t>
                      </a:r>
                      <a:r>
                        <a:rPr lang="en" altLang="zh-CN" sz="1600" dirty="0">
                          <a:solidFill>
                            <a:srgbClr val="1F1F1F"/>
                          </a:solidFill>
                          <a:effectLst/>
                          <a:latin typeface="Google Sans Text"/>
                        </a:rPr>
                        <a:t>No solid food required</a:t>
                      </a:r>
                      <a:endParaRPr lang="zh-CN" altLang="en-US" sz="1600" dirty="0">
                        <a:solidFill>
                          <a:srgbClr val="1F1F1F"/>
                        </a:solidFill>
                        <a:effectLst/>
                        <a:latin typeface="Google Sans Text"/>
                      </a:endParaRPr>
                    </a:p>
                    <a:p>
                      <a:pPr rtl="0">
                        <a:buNone/>
                      </a:pPr>
                      <a:r>
                        <a:rPr lang="zh-CN" altLang="en-US" sz="1600" dirty="0">
                          <a:solidFill>
                            <a:srgbClr val="1F1F1F"/>
                          </a:solidFill>
                          <a:effectLst/>
                          <a:latin typeface="Google Sans Text"/>
                        </a:rPr>
                        <a:t>✅ </a:t>
                      </a:r>
                      <a:r>
                        <a:rPr lang="en" altLang="zh-CN" sz="1600" dirty="0">
                          <a:solidFill>
                            <a:srgbClr val="1F1F1F"/>
                          </a:solidFill>
                          <a:effectLst/>
                          <a:latin typeface="Google Sans Text"/>
                        </a:rPr>
                        <a:t>Feel the state of the body, especially the pelvic floor muscles</a:t>
                      </a:r>
                      <a:endParaRPr lang="zh-CN" altLang="en-US"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sz="1600" dirty="0">
                          <a:solidFill>
                            <a:srgbClr val="1F1F1F"/>
                          </a:solidFill>
                          <a:effectLst/>
                          <a:latin typeface="Google Sans Text"/>
                        </a:rPr>
                        <a:t>RPE (</a:t>
                      </a:r>
                      <a:r>
                        <a:rPr lang="en" altLang="zh-CN" sz="1600" dirty="0">
                          <a:solidFill>
                            <a:srgbClr val="1F1F1F"/>
                          </a:solidFill>
                          <a:effectLst/>
                          <a:latin typeface="Google Sans Text"/>
                        </a:rPr>
                        <a:t>Tired</a:t>
                      </a:r>
                      <a:r>
                        <a:rPr lang="en-US" altLang="zh-CN" sz="1600" dirty="0">
                          <a:solidFill>
                            <a:srgbClr val="1F1F1F"/>
                          </a:solidFill>
                          <a:effectLst/>
                          <a:latin typeface="Google Sans Text"/>
                        </a:rPr>
                        <a:t>1-10):</a:t>
                      </a:r>
                    </a:p>
                    <a:p>
                      <a:pPr rtl="0">
                        <a:buNone/>
                      </a:pPr>
                      <a:br>
                        <a:rPr lang="en-US" altLang="zh-CN" sz="1600" dirty="0">
                          <a:solidFill>
                            <a:srgbClr val="1F1F1F"/>
                          </a:solidFill>
                          <a:effectLst/>
                          <a:latin typeface="Google Sans Text"/>
                        </a:rPr>
                      </a:br>
                      <a:endParaRPr lang="en-US" altLang="zh-CN" sz="1600" dirty="0">
                        <a:solidFill>
                          <a:srgbClr val="1F1F1F"/>
                        </a:solidFill>
                        <a:effectLst/>
                        <a:latin typeface="Google Sans Text"/>
                      </a:endParaRPr>
                    </a:p>
                    <a:p>
                      <a:pPr rtl="0">
                        <a:buNone/>
                      </a:pPr>
                      <a:r>
                        <a:rPr lang="en-US" altLang="zh-CN" sz="1600" dirty="0">
                          <a:solidFill>
                            <a:srgbClr val="1F1F1F"/>
                          </a:solidFill>
                          <a:effectLst/>
                          <a:latin typeface="Google Sans Text"/>
                        </a:rPr>
                        <a:t>__________</a:t>
                      </a: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78171623"/>
                  </a:ext>
                </a:extLst>
              </a:tr>
              <a:tr h="1478554">
                <a:tc>
                  <a:txBody>
                    <a:bodyPr/>
                    <a:lstStyle/>
                    <a:p>
                      <a:pPr rtl="0">
                        <a:buNone/>
                      </a:pPr>
                      <a:r>
                        <a:rPr lang="en-US" altLang="zh-CN" sz="1600" b="1">
                          <a:solidFill>
                            <a:srgbClr val="1F1F1F"/>
                          </a:solidFill>
                          <a:effectLst/>
                          <a:latin typeface="Google Sans Text"/>
                        </a:rPr>
                        <a:t>11:30</a:t>
                      </a:r>
                      <a:endParaRPr lang="zh-CN" altLang="en-US" sz="160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Lunch after practice
(Gold recovery)</a:t>
                      </a:r>
                      <a:endParaRPr lang="en-US" altLang="zh-CN" sz="1600" dirty="0">
                        <a:solidFill>
                          <a:srgbClr val="1F1F1F"/>
                        </a:solidFill>
                        <a:effectLst/>
                        <a:latin typeface="Google Sans Text"/>
                      </a:endParaRP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Recovery Bowl: Rice (carbs) + Chicken breast/fish (egg white) + Spinach (iron)</a:t>
                      </a:r>
                      <a:endParaRPr lang="en-US" altLang="zh-CN" sz="1600" dirty="0">
                        <a:solidFill>
                          <a:srgbClr val="1F1F1F"/>
                        </a:solidFill>
                        <a:effectLst/>
                        <a:latin typeface="Google Sans Text"/>
                      </a:endParaRPr>
                    </a:p>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Serve with: Orange or drizzle lemon juice (to help iron absorption</a:t>
                      </a:r>
                      <a:r>
                        <a:rPr lang="en-US" altLang="zh-CN" sz="1600" dirty="0">
                          <a:solidFill>
                            <a:srgbClr val="1F1F1F"/>
                          </a:solidFill>
                          <a:effectLst/>
                          <a:latin typeface="Google Sans Text"/>
                        </a:rPr>
                        <a:t>)</a:t>
                      </a: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b="1" dirty="0">
                          <a:solidFill>
                            <a:srgbClr val="1F1F1F"/>
                          </a:solidFill>
                          <a:effectLst/>
                          <a:latin typeface="Google Sans Text"/>
                        </a:rPr>
                        <a:t>✅ </a:t>
                      </a:r>
                      <a:r>
                        <a:rPr lang="en" altLang="zh-CN" sz="1600" b="1" dirty="0">
                          <a:solidFill>
                            <a:srgbClr val="1F1F1F"/>
                          </a:solidFill>
                          <a:effectLst/>
                          <a:latin typeface="Google Sans Text"/>
                        </a:rPr>
                        <a:t>Replenish the water lost after running
This meal should be the richest in carbohydrates to help glycogen backfill</a:t>
                      </a:r>
                      <a:r>
                        <a:rPr lang="zh-CN" altLang="en-US" sz="1600" dirty="0">
                          <a:solidFill>
                            <a:srgbClr val="1F1F1F"/>
                          </a:solidFill>
                          <a:effectLst/>
                          <a:latin typeface="Google Sans Text"/>
                        </a:rPr>
                        <a:t>。</a:t>
                      </a: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dirty="0">
                          <a:solidFill>
                            <a:srgbClr val="1F1F1F"/>
                          </a:solidFill>
                          <a:effectLst/>
                          <a:latin typeface="Google Sans Text"/>
                        </a:rPr>
                        <a:t>Post-run weight:</a:t>
                      </a:r>
                      <a:br>
                        <a:rPr lang="zh-CN" altLang="en-US" sz="1600" dirty="0">
                          <a:solidFill>
                            <a:srgbClr val="1F1F1F"/>
                          </a:solidFill>
                          <a:effectLst/>
                          <a:latin typeface="Google Sans Text"/>
                        </a:rPr>
                      </a:br>
                      <a:endParaRPr lang="zh-CN" altLang="en-US" sz="1600" dirty="0">
                        <a:solidFill>
                          <a:srgbClr val="1F1F1F"/>
                        </a:solidFill>
                        <a:effectLst/>
                        <a:latin typeface="Google Sans Text"/>
                      </a:endParaRPr>
                    </a:p>
                    <a:p>
                      <a:pPr rtl="0">
                        <a:buNone/>
                      </a:pPr>
                      <a:r>
                        <a:rPr lang="en-US" altLang="zh-CN" sz="1600" dirty="0">
                          <a:solidFill>
                            <a:srgbClr val="1F1F1F"/>
                          </a:solidFill>
                          <a:effectLst/>
                          <a:latin typeface="Google Sans Text"/>
                        </a:rPr>
                        <a:t>__________</a:t>
                      </a:r>
                    </a:p>
                  </a:txBody>
                  <a:tcPr marL="52133" marR="52133" marT="34755" marB="34755"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93904794"/>
                  </a:ext>
                </a:extLst>
              </a:tr>
            </a:tbl>
          </a:graphicData>
        </a:graphic>
      </p:graphicFrame>
    </p:spTree>
    <p:extLst>
      <p:ext uri="{BB962C8B-B14F-4D97-AF65-F5344CB8AC3E}">
        <p14:creationId xmlns:p14="http://schemas.microsoft.com/office/powerpoint/2010/main" val="2719105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87AFF31B-1368-861D-1F98-45DFB5FA68A8}"/>
              </a:ext>
            </a:extLst>
          </p:cNvPr>
          <p:cNvGraphicFramePr>
            <a:graphicFrameLocks noGrp="1"/>
          </p:cNvGraphicFramePr>
          <p:nvPr>
            <p:ph idx="1"/>
            <p:extLst>
              <p:ext uri="{D42A27DB-BD31-4B8C-83A1-F6EECF244321}">
                <p14:modId xmlns:p14="http://schemas.microsoft.com/office/powerpoint/2010/main" val="2761052669"/>
              </p:ext>
            </p:extLst>
          </p:nvPr>
        </p:nvGraphicFramePr>
        <p:xfrm>
          <a:off x="421822" y="86839"/>
          <a:ext cx="11348356" cy="6748864"/>
        </p:xfrm>
        <a:graphic>
          <a:graphicData uri="http://schemas.openxmlformats.org/drawingml/2006/table">
            <a:tbl>
              <a:tblPr/>
              <a:tblGrid>
                <a:gridCol w="1707968">
                  <a:extLst>
                    <a:ext uri="{9D8B030D-6E8A-4147-A177-3AD203B41FA5}">
                      <a16:colId xmlns:a16="http://schemas.microsoft.com/office/drawing/2014/main" val="3995181506"/>
                    </a:ext>
                  </a:extLst>
                </a:gridCol>
                <a:gridCol w="2410097">
                  <a:extLst>
                    <a:ext uri="{9D8B030D-6E8A-4147-A177-3AD203B41FA5}">
                      <a16:colId xmlns:a16="http://schemas.microsoft.com/office/drawing/2014/main" val="131739706"/>
                    </a:ext>
                  </a:extLst>
                </a:gridCol>
                <a:gridCol w="2410097">
                  <a:extLst>
                    <a:ext uri="{9D8B030D-6E8A-4147-A177-3AD203B41FA5}">
                      <a16:colId xmlns:a16="http://schemas.microsoft.com/office/drawing/2014/main" val="570285098"/>
                    </a:ext>
                  </a:extLst>
                </a:gridCol>
                <a:gridCol w="2991395">
                  <a:extLst>
                    <a:ext uri="{9D8B030D-6E8A-4147-A177-3AD203B41FA5}">
                      <a16:colId xmlns:a16="http://schemas.microsoft.com/office/drawing/2014/main" val="1400956739"/>
                    </a:ext>
                  </a:extLst>
                </a:gridCol>
                <a:gridCol w="1828799">
                  <a:extLst>
                    <a:ext uri="{9D8B030D-6E8A-4147-A177-3AD203B41FA5}">
                      <a16:colId xmlns:a16="http://schemas.microsoft.com/office/drawing/2014/main" val="3474860342"/>
                    </a:ext>
                  </a:extLst>
                </a:gridCol>
              </a:tblGrid>
              <a:tr h="597975">
                <a:tc>
                  <a:txBody>
                    <a:bodyPr/>
                    <a:lstStyle/>
                    <a:p>
                      <a:pPr rtl="0">
                        <a:buNone/>
                      </a:pPr>
                      <a:r>
                        <a:rPr lang="en" altLang="zh-CN" sz="1600" b="1" dirty="0">
                          <a:solidFill>
                            <a:srgbClr val="1F1F1F"/>
                          </a:solidFill>
                          <a:effectLst/>
                          <a:latin typeface="Google Sans Text"/>
                        </a:rPr>
                        <a:t>Time</a:t>
                      </a:r>
                      <a:endParaRPr lang="zh-CN" altLang="en-US"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sz="1600" b="1" dirty="0">
                          <a:solidFill>
                            <a:srgbClr val="1F1F1F"/>
                          </a:solidFill>
                          <a:effectLst/>
                          <a:latin typeface="Google Sans Text"/>
                        </a:rPr>
                        <a:t>Phase</a:t>
                      </a:r>
                      <a:endParaRPr lang="en"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sz="1600" b="1" dirty="0">
                          <a:solidFill>
                            <a:srgbClr val="1F1F1F"/>
                          </a:solidFill>
                          <a:effectLst/>
                          <a:latin typeface="Google Sans Text"/>
                        </a:rPr>
                        <a:t>Food &amp; Fluid</a:t>
                      </a:r>
                      <a:endParaRPr lang="en"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sz="1600" b="1" dirty="0">
                          <a:solidFill>
                            <a:srgbClr val="1F1F1F"/>
                          </a:solidFill>
                          <a:effectLst/>
                          <a:latin typeface="Google Sans Text"/>
                        </a:rPr>
                        <a:t>Nutrient Focus</a:t>
                      </a:r>
                      <a:endParaRPr lang="en"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sz="1600" b="1" dirty="0">
                          <a:solidFill>
                            <a:srgbClr val="1F1F1F"/>
                          </a:solidFill>
                          <a:effectLst/>
                          <a:latin typeface="Google Sans Text"/>
                        </a:rPr>
                        <a:t>Record</a:t>
                      </a:r>
                      <a:endParaRPr lang="en"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8667735"/>
                  </a:ext>
                </a:extLst>
              </a:tr>
              <a:tr h="1482499">
                <a:tc>
                  <a:txBody>
                    <a:bodyPr/>
                    <a:lstStyle/>
                    <a:p>
                      <a:pPr rtl="0">
                        <a:buNone/>
                      </a:pPr>
                      <a:r>
                        <a:rPr lang="en-US" altLang="zh-CN" sz="1600" b="1">
                          <a:solidFill>
                            <a:srgbClr val="1F1F1F"/>
                          </a:solidFill>
                          <a:effectLst/>
                          <a:latin typeface="Google Sans Text"/>
                        </a:rPr>
                        <a:t>15:00</a:t>
                      </a:r>
                      <a:endParaRPr lang="zh-CN" altLang="en-US" sz="160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Afternoon meal
</a:t>
                      </a:r>
                      <a:br>
                        <a:rPr lang="en" altLang="zh-CN" sz="1600" b="1" dirty="0">
                          <a:solidFill>
                            <a:srgbClr val="1F1F1F"/>
                          </a:solidFill>
                          <a:effectLst/>
                          <a:latin typeface="Google Sans Text"/>
                        </a:rPr>
                      </a:br>
                      <a:r>
                        <a:rPr lang="en" altLang="zh-CN" sz="1600" b="1" dirty="0">
                          <a:solidFill>
                            <a:srgbClr val="1F1F1F"/>
                          </a:solidFill>
                          <a:effectLst/>
                          <a:latin typeface="Google Sans Text"/>
                        </a:rPr>
                        <a:t>(depending on hunger)</a:t>
                      </a:r>
                      <a:endParaRPr lang="en-US" altLang="zh-CN"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yogurt or a small handful of nuts</a:t>
                      </a:r>
                      <a:endParaRPr lang="zh-CN" altLang="en-US" sz="1600" dirty="0">
                        <a:solidFill>
                          <a:srgbClr val="1F1F1F"/>
                        </a:solidFill>
                        <a:effectLst/>
                        <a:latin typeface="Google Sans Text"/>
                      </a:endParaRPr>
                    </a:p>
                    <a:p>
                      <a:pPr rtl="0">
                        <a:buNone/>
                      </a:pPr>
                      <a:br>
                        <a:rPr lang="zh-CN" altLang="en-US" sz="1600" dirty="0">
                          <a:solidFill>
                            <a:srgbClr val="1F1F1F"/>
                          </a:solidFill>
                          <a:effectLst/>
                          <a:latin typeface="Google Sans Text"/>
                        </a:rPr>
                      </a:br>
                      <a:endParaRPr lang="zh-CN" altLang="en-US" sz="1600" dirty="0">
                        <a:solidFill>
                          <a:srgbClr val="1F1F1F"/>
                        </a:solidFill>
                        <a:effectLst/>
                        <a:latin typeface="Google Sans Text"/>
                      </a:endParaRPr>
                    </a:p>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Hydration: Carry a water bottle with you</a:t>
                      </a:r>
                      <a:endParaRPr lang="zh-CN" altLang="en-US"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Calcium Supplementation (Bone Health)</a:t>
                      </a:r>
                      <a:br>
                        <a:rPr lang="en-US" altLang="zh-CN" sz="1600" dirty="0">
                          <a:solidFill>
                            <a:srgbClr val="1F1F1F"/>
                          </a:solidFill>
                          <a:effectLst/>
                          <a:latin typeface="Google Sans Text"/>
                        </a:rPr>
                      </a:br>
                      <a:endParaRPr lang="en-US" altLang="zh-CN" sz="1600" dirty="0">
                        <a:solidFill>
                          <a:srgbClr val="1F1F1F"/>
                        </a:solidFill>
                        <a:effectLst/>
                        <a:latin typeface="Google Sans Text"/>
                      </a:endParaRPr>
                    </a:p>
                    <a:p>
                      <a:pPr rtl="0">
                        <a:buNone/>
                      </a:pPr>
                      <a:r>
                        <a:rPr lang="zh-CN" altLang="en-US" sz="1600" dirty="0">
                          <a:solidFill>
                            <a:srgbClr val="1F1F1F"/>
                          </a:solidFill>
                          <a:effectLst/>
                          <a:latin typeface="Google Sans Text"/>
                        </a:rPr>
                        <a:t>✅ </a:t>
                      </a:r>
                      <a:r>
                        <a:rPr lang="en" altLang="zh-CN" sz="1600" dirty="0">
                          <a:solidFill>
                            <a:srgbClr val="1F1F1F"/>
                          </a:solidFill>
                          <a:effectLst/>
                          <a:latin typeface="Google Sans Text"/>
                        </a:rPr>
                        <a:t>Maintain water requirements during lactation</a:t>
                      </a:r>
                      <a:endParaRPr lang="zh-CN" altLang="en-US"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dirty="0">
                          <a:solidFill>
                            <a:srgbClr val="1F1F1F"/>
                          </a:solidFill>
                          <a:effectLst/>
                          <a:latin typeface="Google Sans Text"/>
                        </a:rPr>
                        <a:t>Afternoon mental state:</a:t>
                      </a:r>
                      <a:r>
                        <a:rPr lang="zh-CN" altLang="en-US" sz="1600" dirty="0">
                          <a:solidFill>
                            <a:srgbClr val="1F1F1F"/>
                          </a:solidFill>
                          <a:effectLst/>
                          <a:latin typeface="Google Sans Text"/>
                        </a:rPr>
                        <a:t>⭐⭐⭐⭐⭐</a:t>
                      </a: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92676494"/>
                  </a:ext>
                </a:extLst>
              </a:tr>
              <a:tr h="2387677">
                <a:tc>
                  <a:txBody>
                    <a:bodyPr/>
                    <a:lstStyle/>
                    <a:p>
                      <a:pPr rtl="0">
                        <a:buNone/>
                      </a:pPr>
                      <a:r>
                        <a:rPr lang="en-US" altLang="zh-CN" sz="1600" b="1" dirty="0">
                          <a:solidFill>
                            <a:srgbClr val="1F1F1F"/>
                          </a:solidFill>
                          <a:effectLst/>
                          <a:latin typeface="Google Sans Text"/>
                        </a:rPr>
                        <a:t>18:30</a:t>
                      </a:r>
                      <a:endParaRPr lang="zh-CN" altLang="en-US"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Dinner
</a:t>
                      </a:r>
                      <a:br>
                        <a:rPr lang="en" altLang="zh-CN" sz="1600" b="1" dirty="0">
                          <a:solidFill>
                            <a:srgbClr val="1F1F1F"/>
                          </a:solidFill>
                          <a:effectLst/>
                          <a:latin typeface="Google Sans Text"/>
                        </a:rPr>
                      </a:br>
                      <a:r>
                        <a:rPr lang="en" altLang="zh-CN" sz="1600" b="1" dirty="0">
                          <a:solidFill>
                            <a:srgbClr val="1F1F1F"/>
                          </a:solidFill>
                          <a:effectLst/>
                          <a:latin typeface="Google Sans Text"/>
                        </a:rPr>
                        <a:t>(Repair and satiety)</a:t>
                      </a:r>
                      <a:endParaRPr lang="en-US" altLang="zh-CN"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potato/pumpkin (quality whole grain)</a:t>
                      </a:r>
                      <a:br>
                        <a:rPr lang="en-US" altLang="zh-CN" sz="1600" dirty="0">
                          <a:solidFill>
                            <a:srgbClr val="1F1F1F"/>
                          </a:solidFill>
                          <a:effectLst/>
                          <a:latin typeface="Google Sans Text"/>
                        </a:rPr>
                      </a:br>
                      <a:endParaRPr lang="en-US" altLang="zh-CN" sz="1600" dirty="0">
                        <a:solidFill>
                          <a:srgbClr val="1F1F1F"/>
                        </a:solidFill>
                        <a:effectLst/>
                        <a:latin typeface="Google Sans Text"/>
                      </a:endParaRPr>
                    </a:p>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Lean beef (red meat for iron!)</a:t>
                      </a:r>
                      <a:endParaRPr lang="en-US" altLang="zh-CN" sz="1600" dirty="0">
                        <a:solidFill>
                          <a:srgbClr val="1F1F1F"/>
                        </a:solidFill>
                        <a:effectLst/>
                        <a:latin typeface="Google Sans Text"/>
                      </a:endParaRPr>
                    </a:p>
                    <a:p>
                      <a:pPr rtl="0">
                        <a:buNone/>
                      </a:pPr>
                      <a:br>
                        <a:rPr lang="en-US" altLang="zh-CN" sz="1600" dirty="0">
                          <a:solidFill>
                            <a:srgbClr val="1F1F1F"/>
                          </a:solidFill>
                          <a:effectLst/>
                          <a:latin typeface="Google Sans Text"/>
                        </a:rPr>
                      </a:br>
                      <a:endParaRPr lang="en-US" altLang="zh-CN" sz="1600" dirty="0">
                        <a:solidFill>
                          <a:srgbClr val="1F1F1F"/>
                        </a:solidFill>
                        <a:effectLst/>
                        <a:latin typeface="Google Sans Text"/>
                      </a:endParaRPr>
                    </a:p>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Leafy greens (cellulose)</a:t>
                      </a:r>
                      <a:endParaRPr lang="en-US" altLang="zh-CN"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Heme iron (to combat postpartum anemia risk)</a:t>
                      </a:r>
                      <a:br>
                        <a:rPr lang="en-US" altLang="zh-CN" sz="1600" dirty="0">
                          <a:solidFill>
                            <a:srgbClr val="1F1F1F"/>
                          </a:solidFill>
                          <a:effectLst/>
                          <a:latin typeface="Google Sans Text"/>
                        </a:rPr>
                      </a:br>
                      <a:endParaRPr lang="en-US" altLang="zh-CN" sz="1600" dirty="0">
                        <a:solidFill>
                          <a:srgbClr val="1F1F1F"/>
                        </a:solidFill>
                        <a:effectLst/>
                        <a:latin typeface="Google Sans Text"/>
                      </a:endParaRPr>
                    </a:p>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High protein (muscle synthesis)</a:t>
                      </a:r>
                      <a:br>
                        <a:rPr lang="en-US" altLang="zh-CN" sz="1600" dirty="0">
                          <a:solidFill>
                            <a:srgbClr val="1F1F1F"/>
                          </a:solidFill>
                          <a:effectLst/>
                          <a:latin typeface="Google Sans Text"/>
                        </a:rPr>
                      </a:br>
                      <a:endParaRPr lang="en-US" altLang="zh-CN" sz="1600" dirty="0">
                        <a:solidFill>
                          <a:srgbClr val="1F1F1F"/>
                        </a:solidFill>
                        <a:effectLst/>
                        <a:latin typeface="Google Sans Text"/>
                      </a:endParaRPr>
                    </a:p>
                    <a:p>
                      <a:pPr rtl="0">
                        <a:buNone/>
                      </a:pPr>
                      <a:r>
                        <a:rPr lang="zh-CN" altLang="en-US" sz="1600" dirty="0">
                          <a:solidFill>
                            <a:srgbClr val="1F1F1F"/>
                          </a:solidFill>
                          <a:effectLst/>
                          <a:latin typeface="Google Sans Text"/>
                        </a:rPr>
                        <a:t>✅ </a:t>
                      </a:r>
                      <a:r>
                        <a:rPr lang="en" altLang="zh-CN" sz="1600" b="1" dirty="0">
                          <a:solidFill>
                            <a:srgbClr val="1F1F1F"/>
                          </a:solidFill>
                          <a:effectLst/>
                          <a:latin typeface="Google Sans Text"/>
                        </a:rPr>
                        <a:t>High fiber (gut health)</a:t>
                      </a:r>
                      <a:endParaRPr lang="en-US" altLang="zh-CN"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dirty="0">
                          <a:solidFill>
                            <a:srgbClr val="1F1F1F"/>
                          </a:solidFill>
                          <a:effectLst/>
                          <a:latin typeface="Google Sans Text"/>
                        </a:rPr>
                        <a:t>Dinner satiety:</a:t>
                      </a:r>
                    </a:p>
                    <a:p>
                      <a:pPr rtl="0">
                        <a:buNone/>
                      </a:pPr>
                      <a:r>
                        <a:rPr lang="en-US" altLang="zh-CN" sz="1600" dirty="0">
                          <a:solidFill>
                            <a:srgbClr val="1F1F1F"/>
                          </a:solidFill>
                          <a:effectLst/>
                          <a:latin typeface="Google Sans Text"/>
                        </a:rPr>
                        <a:t>__________</a:t>
                      </a: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59827339"/>
                  </a:ext>
                </a:extLst>
              </a:tr>
              <a:tr h="1108085">
                <a:tc>
                  <a:txBody>
                    <a:bodyPr/>
                    <a:lstStyle/>
                    <a:p>
                      <a:pPr rtl="0">
                        <a:buNone/>
                      </a:pPr>
                      <a:r>
                        <a:rPr lang="en" altLang="zh-CN" sz="1600" b="1" dirty="0">
                          <a:solidFill>
                            <a:srgbClr val="1F1F1F"/>
                          </a:solidFill>
                          <a:effectLst/>
                          <a:latin typeface="Google Sans Text"/>
                        </a:rPr>
                        <a:t>All day</a:t>
                      </a:r>
                      <a:endParaRPr lang="zh-CN" altLang="en-US"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Moisture summary</a:t>
                      </a:r>
                      <a:endParaRPr lang="zh-CN" altLang="en-US"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dirty="0">
                          <a:solidFill>
                            <a:srgbClr val="1F1F1F"/>
                          </a:solidFill>
                          <a:effectLst/>
                          <a:latin typeface="Google Sans Text"/>
                        </a:rPr>
                        <a:t>💧 </a:t>
                      </a:r>
                      <a:r>
                        <a:rPr lang="en" altLang="zh-CN" sz="1600" dirty="0">
                          <a:solidFill>
                            <a:srgbClr val="1F1F1F"/>
                          </a:solidFill>
                          <a:effectLst/>
                          <a:latin typeface="Google Sans Text"/>
                        </a:rPr>
                        <a:t>Total target volume: approx. 2.5 - 3.0 liters</a:t>
                      </a:r>
                      <a:endParaRPr lang="zh-CN" altLang="en-US"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dirty="0">
                          <a:solidFill>
                            <a:srgbClr val="1F1F1F"/>
                          </a:solidFill>
                          <a:effectLst/>
                          <a:latin typeface="Google Sans Text"/>
                        </a:rPr>
                        <a:t>Observe whether the urine is yellowish in color</a:t>
                      </a:r>
                      <a:endParaRPr lang="zh-CN" altLang="en-US"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dirty="0">
                          <a:solidFill>
                            <a:srgbClr val="1F1F1F"/>
                          </a:solidFill>
                          <a:effectLst/>
                          <a:latin typeface="Google Sans Text"/>
                        </a:rPr>
                        <a:t>Urine color up to standard?
☐Yes ☐ No</a:t>
                      </a:r>
                      <a:endParaRPr lang="zh-CN" altLang="en-US"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10990151"/>
                  </a:ext>
                </a:extLst>
              </a:tr>
              <a:tr h="1108085">
                <a:tc>
                  <a:txBody>
                    <a:bodyPr/>
                    <a:lstStyle/>
                    <a:p>
                      <a:pPr rtl="0">
                        <a:buNone/>
                      </a:pPr>
                      <a:r>
                        <a:rPr lang="en-US" altLang="zh-CN" sz="1600" b="1">
                          <a:solidFill>
                            <a:srgbClr val="1F1F1F"/>
                          </a:solidFill>
                          <a:effectLst/>
                          <a:latin typeface="Google Sans Text"/>
                        </a:rPr>
                        <a:t>22:00</a:t>
                      </a:r>
                      <a:endParaRPr lang="zh-CN" altLang="en-US" sz="160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b="1" dirty="0">
                          <a:solidFill>
                            <a:srgbClr val="1F1F1F"/>
                          </a:solidFill>
                          <a:effectLst/>
                          <a:latin typeface="Google Sans Text"/>
                        </a:rPr>
                        <a:t>Evening remarks</a:t>
                      </a:r>
                      <a:endParaRPr lang="zh-CN" altLang="en-US"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altLang="zh-CN" sz="1600" dirty="0">
                          <a:solidFill>
                            <a:srgbClr val="1F1F1F"/>
                          </a:solidFill>
                          <a:effectLst/>
                          <a:latin typeface="Google Sans Text"/>
                        </a:rPr>
                        <a:t>(If extremely hungry, drink half a glass of hot milk before going to bed)</a:t>
                      </a: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zh-CN" altLang="en-US" sz="1600" dirty="0">
                          <a:solidFill>
                            <a:srgbClr val="1F1F1F"/>
                          </a:solidFill>
                          <a:effectLst/>
                          <a:latin typeface="Google Sans Text"/>
                        </a:rPr>
                        <a:t>🛌 </a:t>
                      </a:r>
                      <a:r>
                        <a:rPr lang="en" altLang="zh-CN" sz="1600" dirty="0">
                          <a:solidFill>
                            <a:srgbClr val="1F1F1F"/>
                          </a:solidFill>
                          <a:effectLst/>
                          <a:latin typeface="Google Sans Text"/>
                        </a:rPr>
                        <a:t>Sleep</a:t>
                      </a:r>
                      <a:endParaRPr lang="zh-CN" altLang="en-US"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 altLang="zh-CN" sz="1600" dirty="0">
                          <a:solidFill>
                            <a:srgbClr val="1F1F1F"/>
                          </a:solidFill>
                          <a:effectLst/>
                          <a:latin typeface="Google Sans Text"/>
                        </a:rPr>
                        <a:t>Today's sleep duration:
__________ hours</a:t>
                      </a:r>
                      <a:endParaRPr lang="zh-CN" altLang="en-US" sz="1600" dirty="0">
                        <a:solidFill>
                          <a:srgbClr val="1F1F1F"/>
                        </a:solidFill>
                        <a:effectLst/>
                        <a:latin typeface="Google Sans Text"/>
                      </a:endParaRPr>
                    </a:p>
                  </a:txBody>
                  <a:tcPr marL="63002" marR="63002" marT="42001" marB="420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00143124"/>
                  </a:ext>
                </a:extLst>
              </a:tr>
            </a:tbl>
          </a:graphicData>
        </a:graphic>
      </p:graphicFrame>
    </p:spTree>
    <p:extLst>
      <p:ext uri="{BB962C8B-B14F-4D97-AF65-F5344CB8AC3E}">
        <p14:creationId xmlns:p14="http://schemas.microsoft.com/office/powerpoint/2010/main" val="2961073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BD6916-1196-72C3-9226-52B6774B1A02}"/>
              </a:ext>
            </a:extLst>
          </p:cNvPr>
          <p:cNvSpPr>
            <a:spLocks noGrp="1"/>
          </p:cNvSpPr>
          <p:nvPr>
            <p:ph type="title"/>
          </p:nvPr>
        </p:nvSpPr>
        <p:spPr>
          <a:xfrm>
            <a:off x="435429" y="150960"/>
            <a:ext cx="3003680" cy="1561696"/>
          </a:xfrm>
        </p:spPr>
        <p:txBody>
          <a:bodyPr>
            <a:normAutofit fontScale="90000"/>
          </a:bodyPr>
          <a:lstStyle/>
          <a:p>
            <a:r>
              <a:rPr kumimoji="1" lang="en-US" altLang="zh-CN" sz="6000" dirty="0"/>
              <a:t>summary</a:t>
            </a:r>
            <a:endParaRPr kumimoji="1" lang="zh-CN" altLang="en-US" sz="6000" dirty="0"/>
          </a:p>
        </p:txBody>
      </p:sp>
      <p:sp>
        <p:nvSpPr>
          <p:cNvPr id="3" name="内容占位符 2">
            <a:extLst>
              <a:ext uri="{FF2B5EF4-FFF2-40B4-BE49-F238E27FC236}">
                <a16:creationId xmlns:a16="http://schemas.microsoft.com/office/drawing/2014/main" id="{FC0C3B23-A6B7-712F-2FE8-FDE5799214C2}"/>
              </a:ext>
            </a:extLst>
          </p:cNvPr>
          <p:cNvSpPr>
            <a:spLocks noGrp="1"/>
          </p:cNvSpPr>
          <p:nvPr>
            <p:ph sz="half" idx="1"/>
          </p:nvPr>
        </p:nvSpPr>
        <p:spPr>
          <a:xfrm>
            <a:off x="993516" y="1712656"/>
            <a:ext cx="10763055" cy="3432687"/>
          </a:xfrm>
        </p:spPr>
        <p:txBody>
          <a:bodyPr>
            <a:normAutofit/>
          </a:bodyPr>
          <a:lstStyle/>
          <a:p>
            <a:pPr marL="0" indent="0">
              <a:lnSpc>
                <a:spcPct val="150000"/>
              </a:lnSpc>
              <a:buNone/>
            </a:pPr>
            <a:r>
              <a:rPr lang="zh-CN" altLang="en-US" sz="2400" dirty="0">
                <a:latin typeface="Times New Roman" panose="02020603050405020304" pitchFamily="18" charset="0"/>
                <a:cs typeface="Times New Roman" panose="02020603050405020304" pitchFamily="18" charset="0"/>
              </a:rPr>
              <a:t>   </a:t>
            </a:r>
            <a:r>
              <a:rPr lang="en" altLang="zh-CN" sz="2400" dirty="0">
                <a:latin typeface="Times New Roman" panose="02020603050405020304" pitchFamily="18" charset="0"/>
                <a:cs typeface="Times New Roman" panose="02020603050405020304" pitchFamily="18" charset="0"/>
              </a:rPr>
              <a:t>The plan </a:t>
            </a:r>
            <a:r>
              <a:rPr lang="en" altLang="zh-CN" sz="2400" dirty="0" err="1">
                <a:latin typeface="Times New Roman" panose="02020603050405020304" pitchFamily="18" charset="0"/>
                <a:cs typeface="Times New Roman" panose="02020603050405020304" pitchFamily="18" charset="0"/>
              </a:rPr>
              <a:t>emphasises</a:t>
            </a:r>
            <a:r>
              <a:rPr lang="en" altLang="zh-CN" sz="2400" dirty="0">
                <a:latin typeface="Times New Roman" panose="02020603050405020304" pitchFamily="18" charset="0"/>
                <a:cs typeface="Times New Roman" panose="02020603050405020304" pitchFamily="18" charset="0"/>
              </a:rPr>
              <a:t> fueling for dual roles (athlete and breastfeeding mother) to prevent RED-S, restore micronutrients, support bone/muscle recovery, and enable a safe and sustainable return to competitive endurance running. Strategies </a:t>
            </a:r>
            <a:r>
              <a:rPr lang="en" altLang="zh-CN" sz="2400" dirty="0" err="1">
                <a:latin typeface="Times New Roman" panose="02020603050405020304" pitchFamily="18" charset="0"/>
                <a:cs typeface="Times New Roman" panose="02020603050405020304" pitchFamily="18" charset="0"/>
              </a:rPr>
              <a:t>prioritise</a:t>
            </a:r>
            <a:r>
              <a:rPr lang="en" altLang="zh-CN" sz="2400" dirty="0">
                <a:latin typeface="Times New Roman" panose="02020603050405020304" pitchFamily="18" charset="0"/>
                <a:cs typeface="Times New Roman" panose="02020603050405020304" pitchFamily="18" charset="0"/>
              </a:rPr>
              <a:t> periodized fueling, hydration, recovery, and safe supplementation to optimise performance, health, and injury prevention without compromising postpartum physiology.</a:t>
            </a:r>
            <a:endParaRPr lang="en" altLang="zh-CN" sz="24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58613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500DA0E-17AB-E0F7-7926-AAFD3795F91D}"/>
              </a:ext>
            </a:extLst>
          </p:cNvPr>
          <p:cNvSpPr txBox="1"/>
          <p:nvPr/>
        </p:nvSpPr>
        <p:spPr>
          <a:xfrm>
            <a:off x="448235" y="274621"/>
            <a:ext cx="1850186" cy="584775"/>
          </a:xfrm>
          <a:prstGeom prst="rect">
            <a:avLst/>
          </a:prstGeom>
          <a:noFill/>
        </p:spPr>
        <p:txBody>
          <a:bodyPr wrap="none" rtlCol="0">
            <a:spAutoFit/>
          </a:bodyPr>
          <a:lstStyle/>
          <a:p>
            <a:r>
              <a:rPr kumimoji="1" lang="en-US" altLang="zh-CN" sz="3200" dirty="0">
                <a:latin typeface="Times New Roman" panose="02020603050405020304" pitchFamily="18" charset="0"/>
                <a:cs typeface="Times New Roman" panose="02020603050405020304" pitchFamily="18" charset="0"/>
              </a:rPr>
              <a:t>Reference</a:t>
            </a:r>
            <a:endParaRPr kumimoji="1" lang="zh-CN" altLang="en-US" sz="32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07C887BA-4529-5B19-669D-0C01275EBDCD}"/>
              </a:ext>
            </a:extLst>
          </p:cNvPr>
          <p:cNvSpPr txBox="1"/>
          <p:nvPr/>
        </p:nvSpPr>
        <p:spPr>
          <a:xfrm>
            <a:off x="448235" y="859396"/>
            <a:ext cx="10390094" cy="584775"/>
          </a:xfrm>
          <a:prstGeom prst="rect">
            <a:avLst/>
          </a:prstGeom>
          <a:noFill/>
        </p:spPr>
        <p:txBody>
          <a:bodyPr wrap="square" rtlCol="0">
            <a:spAutoFit/>
          </a:bodyPr>
          <a:lstStyle/>
          <a:p>
            <a:r>
              <a:rPr lang="en" altLang="zh-CN" sz="1600" dirty="0">
                <a:latin typeface="Times New Roman" panose="02020603050405020304" pitchFamily="18" charset="0"/>
                <a:cs typeface="Times New Roman" panose="02020603050405020304" pitchFamily="18" charset="0"/>
              </a:rPr>
              <a:t>[1]Dietz, P., Legat, L., Sattler, M.C. et al. Triple careers of athletes: exploring the challenges of planning a pregnancy among female elite athletes using semi-structured interviews. BMC Pregnancy Childbirth 22, 643 (2022). </a:t>
            </a:r>
            <a:endParaRPr kumimoji="1" lang="zh-CN" altLang="en-US" sz="1600"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2DFE24D2-B5DD-FCCF-DF8C-6604348C8AEA}"/>
              </a:ext>
            </a:extLst>
          </p:cNvPr>
          <p:cNvSpPr txBox="1"/>
          <p:nvPr/>
        </p:nvSpPr>
        <p:spPr>
          <a:xfrm>
            <a:off x="448236" y="1428617"/>
            <a:ext cx="10766612" cy="830997"/>
          </a:xfrm>
          <a:prstGeom prst="rect">
            <a:avLst/>
          </a:prstGeom>
          <a:noFill/>
        </p:spPr>
        <p:txBody>
          <a:bodyPr wrap="square" rtlCol="0">
            <a:spAutoFit/>
          </a:bodyPr>
          <a:lstStyle/>
          <a:p>
            <a:r>
              <a:rPr lang="en" altLang="zh-CN" sz="1600" dirty="0">
                <a:latin typeface="Times New Roman" panose="02020603050405020304" pitchFamily="18" charset="0"/>
                <a:cs typeface="Times New Roman" panose="02020603050405020304" pitchFamily="18" charset="0"/>
              </a:rPr>
              <a:t>[2]Bijlholt, Margriet et al. “Evolution of Postpartum Weight and Body Composition after Excessive Gestational Weight Gain: The Role of Lifestyle Behaviors-Data from the INTER-ACT Control Group.” International journal of environmental research and public health vol. 18,12 6344. 11 Jun. 2021.</a:t>
            </a:r>
            <a:endParaRPr lang="zh-CN" altLang="en-US" sz="16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00DA431F-7F05-299D-A16C-30A448EAA6B5}"/>
              </a:ext>
            </a:extLst>
          </p:cNvPr>
          <p:cNvSpPr txBox="1"/>
          <p:nvPr/>
        </p:nvSpPr>
        <p:spPr>
          <a:xfrm>
            <a:off x="448235" y="2244060"/>
            <a:ext cx="11075894" cy="584775"/>
          </a:xfrm>
          <a:prstGeom prst="rect">
            <a:avLst/>
          </a:prstGeom>
          <a:noFill/>
        </p:spPr>
        <p:txBody>
          <a:bodyPr wrap="square">
            <a:spAutoFit/>
          </a:bodyPr>
          <a:lstStyle/>
          <a:p>
            <a:r>
              <a:rPr lang="en" altLang="zh-CN" sz="1600" dirty="0">
                <a:latin typeface="Times New Roman" panose="02020603050405020304" pitchFamily="18" charset="0"/>
                <a:cs typeface="Times New Roman" panose="02020603050405020304" pitchFamily="18" charset="0"/>
              </a:rPr>
              <a:t>[3]Mariman, An et al. “Longitudinal assessment of sleep and fatigue according to baby feeding method in postpartum women: a prospective observational study.” BMC pregnancy and childbirth vol. 24,1 529. 12 Aug. 2024.</a:t>
            </a:r>
            <a:endParaRPr lang="zh-CN" altLang="en-US" sz="16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13DB3E82-183B-18FD-196C-82BE9577AD26}"/>
              </a:ext>
            </a:extLst>
          </p:cNvPr>
          <p:cNvSpPr txBox="1"/>
          <p:nvPr/>
        </p:nvSpPr>
        <p:spPr>
          <a:xfrm>
            <a:off x="448235" y="2828836"/>
            <a:ext cx="10766612" cy="584775"/>
          </a:xfrm>
          <a:prstGeom prst="rect">
            <a:avLst/>
          </a:prstGeom>
          <a:noFill/>
        </p:spPr>
        <p:txBody>
          <a:bodyPr wrap="square">
            <a:spAutoFit/>
          </a:bodyPr>
          <a:lstStyle/>
          <a:p>
            <a:pPr>
              <a:buNone/>
            </a:pPr>
            <a:r>
              <a:rPr lang="en" altLang="zh-CN" sz="1600" dirty="0">
                <a:latin typeface="Times New Roman" panose="02020603050405020304" pitchFamily="18" charset="0"/>
                <a:cs typeface="Times New Roman" panose="02020603050405020304" pitchFamily="18" charset="0"/>
              </a:rPr>
              <a:t>[4]Jiang, J., Li, C.el al. (2024) ‘Relationship between abnormal pelvic floor electromyography and obstetric factors in postpartum women: a cross-sectional study’, BMC Women’s Health, 24, p. 239. </a:t>
            </a:r>
          </a:p>
        </p:txBody>
      </p:sp>
      <p:sp>
        <p:nvSpPr>
          <p:cNvPr id="10" name="文本框 9">
            <a:extLst>
              <a:ext uri="{FF2B5EF4-FFF2-40B4-BE49-F238E27FC236}">
                <a16:creationId xmlns:a16="http://schemas.microsoft.com/office/drawing/2014/main" id="{25423D47-0CE3-0639-FE50-D814A4242A45}"/>
              </a:ext>
            </a:extLst>
          </p:cNvPr>
          <p:cNvSpPr txBox="1"/>
          <p:nvPr/>
        </p:nvSpPr>
        <p:spPr>
          <a:xfrm>
            <a:off x="448235" y="3400164"/>
            <a:ext cx="10201836" cy="584775"/>
          </a:xfrm>
          <a:prstGeom prst="rect">
            <a:avLst/>
          </a:prstGeom>
          <a:noFill/>
        </p:spPr>
        <p:txBody>
          <a:bodyPr wrap="square">
            <a:spAutoFit/>
          </a:bodyPr>
          <a:lstStyle/>
          <a:p>
            <a:r>
              <a:rPr lang="en" altLang="zh-CN" sz="1600" dirty="0">
                <a:latin typeface="Times New Roman" panose="02020603050405020304" pitchFamily="18" charset="0"/>
                <a:cs typeface="Times New Roman" panose="02020603050405020304" pitchFamily="18" charset="0"/>
              </a:rPr>
              <a:t>[5]Baattaiah BA, Zedan HS,et al. Physical activity patterns among women during the postpartum period: an insight into the potential impact of perceived fatigue. BMC Pregnancy Childbirth. 2022 Sep 3;22(1):678. </a:t>
            </a:r>
            <a:endParaRPr lang="zh-CN" altLang="en-US" sz="1600"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F794CF0B-6C99-6743-2129-C956166F1331}"/>
              </a:ext>
            </a:extLst>
          </p:cNvPr>
          <p:cNvSpPr txBox="1"/>
          <p:nvPr/>
        </p:nvSpPr>
        <p:spPr>
          <a:xfrm>
            <a:off x="448235" y="3975394"/>
            <a:ext cx="10390094" cy="861774"/>
          </a:xfrm>
          <a:prstGeom prst="rect">
            <a:avLst/>
          </a:prstGeom>
          <a:noFill/>
        </p:spPr>
        <p:txBody>
          <a:bodyPr wrap="square" rtlCol="0">
            <a:spAutoFit/>
          </a:bodyPr>
          <a:lstStyle/>
          <a:p>
            <a:r>
              <a:rPr lang="en" altLang="zh-CN" sz="1600" dirty="0">
                <a:latin typeface="Times New Roman" panose="02020603050405020304" pitchFamily="18" charset="0"/>
                <a:cs typeface="Times New Roman" panose="02020603050405020304" pitchFamily="18" charset="0"/>
              </a:rPr>
              <a:t>[6]Pengelly, Michael et al. “Iron deficiency, supplementation, and sports performance in female athletes: A systematic review.” Journal of sport and health science, vol. 14 101009. 12 Nov. 2024, </a:t>
            </a:r>
            <a:endParaRPr lang="zh-CN" altLang="en-US" sz="1600" dirty="0">
              <a:latin typeface="Times New Roman" panose="02020603050405020304" pitchFamily="18" charset="0"/>
              <a:cs typeface="Times New Roman" panose="02020603050405020304" pitchFamily="18" charset="0"/>
            </a:endParaRPr>
          </a:p>
          <a:p>
            <a:endParaRPr kumimoji="1" lang="zh-CN" altLang="en-US" dirty="0"/>
          </a:p>
        </p:txBody>
      </p:sp>
      <p:sp>
        <p:nvSpPr>
          <p:cNvPr id="13" name="文本框 12">
            <a:extLst>
              <a:ext uri="{FF2B5EF4-FFF2-40B4-BE49-F238E27FC236}">
                <a16:creationId xmlns:a16="http://schemas.microsoft.com/office/drawing/2014/main" id="{DCCDBFB4-8B3F-BACF-C8D4-E0267B4EB171}"/>
              </a:ext>
            </a:extLst>
          </p:cNvPr>
          <p:cNvSpPr txBox="1"/>
          <p:nvPr/>
        </p:nvSpPr>
        <p:spPr>
          <a:xfrm>
            <a:off x="448235" y="4546722"/>
            <a:ext cx="10766612" cy="584775"/>
          </a:xfrm>
          <a:prstGeom prst="rect">
            <a:avLst/>
          </a:prstGeom>
          <a:noFill/>
        </p:spPr>
        <p:txBody>
          <a:bodyPr wrap="square">
            <a:spAutoFit/>
          </a:bodyPr>
          <a:lstStyle/>
          <a:p>
            <a:r>
              <a:rPr lang="en" altLang="zh-CN" sz="1600" dirty="0">
                <a:latin typeface="Times New Roman" panose="02020603050405020304" pitchFamily="18" charset="0"/>
                <a:cs typeface="Times New Roman" panose="02020603050405020304" pitchFamily="18" charset="0"/>
              </a:rPr>
              <a:t>[7]Holtzman B, Ackerman KE. Recommendations and Nutritional Considerations for Female Athletes: Health and Performance. Sports Med. 2021;51(Suppl 1):43-57. </a:t>
            </a:r>
            <a:endParaRPr lang="zh-CN" altLang="en-US" sz="16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C3E11625-9A93-CF56-4D9C-E02DC5D31752}"/>
              </a:ext>
            </a:extLst>
          </p:cNvPr>
          <p:cNvSpPr txBox="1"/>
          <p:nvPr/>
        </p:nvSpPr>
        <p:spPr>
          <a:xfrm>
            <a:off x="448235" y="5106563"/>
            <a:ext cx="10766612" cy="584775"/>
          </a:xfrm>
          <a:prstGeom prst="rect">
            <a:avLst/>
          </a:prstGeom>
          <a:noFill/>
        </p:spPr>
        <p:txBody>
          <a:bodyPr wrap="square" rtlCol="0">
            <a:spAutoFit/>
          </a:bodyPr>
          <a:lstStyle/>
          <a:p>
            <a:r>
              <a:rPr lang="en" altLang="zh-CN" sz="1600" dirty="0">
                <a:latin typeface="Times New Roman" panose="02020603050405020304" pitchFamily="18" charset="0"/>
                <a:cs typeface="Times New Roman" panose="02020603050405020304" pitchFamily="18" charset="0"/>
              </a:rPr>
              <a:t>[8]Jin, Ying et al. “Prevalence of thyroid dysfunction in postpartum women with suboptimal iodine and selenium and adequate iron status.” Clinical endocrinology vol. 95,6 (2021): 873-881.</a:t>
            </a:r>
            <a:endParaRPr lang="zh-CN" altLang="en-US" sz="160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D51BE034-0C0A-11C2-1080-646423EC2C32}"/>
              </a:ext>
            </a:extLst>
          </p:cNvPr>
          <p:cNvSpPr txBox="1"/>
          <p:nvPr/>
        </p:nvSpPr>
        <p:spPr>
          <a:xfrm>
            <a:off x="448234" y="5583105"/>
            <a:ext cx="10766611"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[9]</a:t>
            </a:r>
            <a:r>
              <a:rPr lang="en" altLang="zh-CN" sz="1600" dirty="0">
                <a:latin typeface="Times New Roman" panose="02020603050405020304" pitchFamily="18" charset="0"/>
                <a:cs typeface="Times New Roman" panose="02020603050405020304" pitchFamily="18" charset="0"/>
              </a:rPr>
              <a:t>Dewey, K G. “Energy and protein requirements during lactation.” Annual review of nutrition vol. 17 (1997): 19-36. doi:10.1146/annurev.nutr.17.1.19</a:t>
            </a:r>
            <a:endParaRPr lang="zh-CN" altLang="en-US" sz="16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C5D8AE74-5CDB-2DA6-BFBB-E66184B54D62}"/>
              </a:ext>
            </a:extLst>
          </p:cNvPr>
          <p:cNvSpPr txBox="1"/>
          <p:nvPr/>
        </p:nvSpPr>
        <p:spPr>
          <a:xfrm>
            <a:off x="448232" y="6144888"/>
            <a:ext cx="10201836" cy="584775"/>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[10]</a:t>
            </a:r>
            <a:r>
              <a:rPr lang="en" altLang="zh-CN" sz="1600" dirty="0">
                <a:latin typeface="Times New Roman" panose="02020603050405020304" pitchFamily="18" charset="0"/>
                <a:cs typeface="Times New Roman" panose="02020603050405020304" pitchFamily="18" charset="0"/>
              </a:rPr>
              <a:t> Burke, L. M., Hawley, J. A., Wong, S. H., &amp; Jeukendrup, A. E. (2011). Carbohydrates for training and competition. Journal of sports sciences, 29 Suppl 1, S17–S27. </a:t>
            </a: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7619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C748D-C1C0-3998-C89B-84FB4348AD2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9E9DB43-FD27-8E5B-C280-09B7E70E2A42}"/>
              </a:ext>
            </a:extLst>
          </p:cNvPr>
          <p:cNvSpPr txBox="1"/>
          <p:nvPr/>
        </p:nvSpPr>
        <p:spPr>
          <a:xfrm>
            <a:off x="193281" y="294049"/>
            <a:ext cx="1850186" cy="584775"/>
          </a:xfrm>
          <a:prstGeom prst="rect">
            <a:avLst/>
          </a:prstGeom>
          <a:noFill/>
        </p:spPr>
        <p:txBody>
          <a:bodyPr wrap="none" rtlCol="0">
            <a:spAutoFit/>
          </a:bodyPr>
          <a:lstStyle/>
          <a:p>
            <a:r>
              <a:rPr kumimoji="1" lang="en-US" altLang="zh-CN" sz="3200" dirty="0">
                <a:latin typeface="Times New Roman" panose="02020603050405020304" pitchFamily="18" charset="0"/>
                <a:cs typeface="Times New Roman" panose="02020603050405020304" pitchFamily="18" charset="0"/>
              </a:rPr>
              <a:t>Reference</a:t>
            </a:r>
            <a:endParaRPr kumimoji="1" lang="zh-CN" altLang="en-US" sz="3200"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DA9376D8-56D3-F9DE-C7A8-F9594F84AD1D}"/>
              </a:ext>
            </a:extLst>
          </p:cNvPr>
          <p:cNvSpPr txBox="1"/>
          <p:nvPr/>
        </p:nvSpPr>
        <p:spPr>
          <a:xfrm>
            <a:off x="193288" y="832658"/>
            <a:ext cx="11550477" cy="338554"/>
          </a:xfrm>
          <a:prstGeom prst="rect">
            <a:avLst/>
          </a:prstGeom>
          <a:noFill/>
        </p:spPr>
        <p:txBody>
          <a:bodyPr wrap="square" rtlCol="0">
            <a:spAutoFit/>
          </a:bodyPr>
          <a:lstStyle/>
          <a:p>
            <a:r>
              <a:rPr lang="en" altLang="zh-CN" sz="1600" dirty="0">
                <a:latin typeface="Times New Roman" panose="02020603050405020304" pitchFamily="18" charset="0"/>
                <a:cs typeface="Times New Roman" panose="02020603050405020304" pitchFamily="18" charset="0"/>
              </a:rPr>
              <a:t>[11]Butte, N. F., &amp; King, J. C. (2005). Energy requirements during pregnancy and lactation. Public health nutrition, 8(7A), 1010–1027. </a:t>
            </a:r>
            <a:endParaRPr lang="zh-CN" altLang="en-US" sz="16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F56554E5-32D6-CCED-29D9-1B30BD551A57}"/>
              </a:ext>
            </a:extLst>
          </p:cNvPr>
          <p:cNvSpPr txBox="1"/>
          <p:nvPr/>
        </p:nvSpPr>
        <p:spPr>
          <a:xfrm>
            <a:off x="193287" y="1094981"/>
            <a:ext cx="11550477"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[12]</a:t>
            </a:r>
            <a:r>
              <a:rPr lang="en" altLang="zh-CN" sz="1600" dirty="0">
                <a:latin typeface="Times New Roman" panose="02020603050405020304" pitchFamily="18" charset="0"/>
                <a:cs typeface="Times New Roman" panose="02020603050405020304" pitchFamily="18" charset="0"/>
              </a:rPr>
              <a:t>Thomas, D Travis et al. “Position of the Academy of Nutrition and Dietetics, Dietitians of Canada, and the American College of Sports Medicine: Nutrition and Athletic Performance.” Journal of the Academy of Nutrition and Dietetics vol. 116,3 (2016): 501-528. </a:t>
            </a:r>
            <a:endParaRPr lang="zh-CN" altLang="en-US" sz="1600"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346CDA47-793E-01BA-AF10-A87C161989D5}"/>
              </a:ext>
            </a:extLst>
          </p:cNvPr>
          <p:cNvSpPr txBox="1"/>
          <p:nvPr/>
        </p:nvSpPr>
        <p:spPr>
          <a:xfrm>
            <a:off x="193287" y="1663654"/>
            <a:ext cx="11550477" cy="861774"/>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[13]</a:t>
            </a:r>
            <a:r>
              <a:rPr lang="en" altLang="zh-CN" sz="1600" dirty="0">
                <a:latin typeface="Times New Roman" panose="02020603050405020304" pitchFamily="18" charset="0"/>
                <a:cs typeface="Times New Roman" panose="02020603050405020304" pitchFamily="18" charset="0"/>
              </a:rPr>
              <a:t>Thomas DT, Erdman KA, Burke LM. Position of the Academy of Nutrition and Dietetics, Dietitians of Canada, and the American College of Sports Medicine: Nutrition and Athletic Performance. J </a:t>
            </a:r>
            <a:r>
              <a:rPr lang="en" altLang="zh-CN" sz="1600" dirty="0" err="1">
                <a:latin typeface="Times New Roman" panose="02020603050405020304" pitchFamily="18" charset="0"/>
                <a:cs typeface="Times New Roman" panose="02020603050405020304" pitchFamily="18" charset="0"/>
              </a:rPr>
              <a:t>Acad</a:t>
            </a:r>
            <a:r>
              <a:rPr lang="en" altLang="zh-CN" sz="1600" dirty="0">
                <a:latin typeface="Times New Roman" panose="02020603050405020304" pitchFamily="18" charset="0"/>
                <a:cs typeface="Times New Roman" panose="02020603050405020304" pitchFamily="18" charset="0"/>
              </a:rPr>
              <a:t> Nutr Diet. 2016 Mar;116(3):501-528. doi: 10.1016/j.jand.2015.12.006. Erratum in: J </a:t>
            </a:r>
            <a:r>
              <a:rPr lang="en" altLang="zh-CN" sz="1600" dirty="0" err="1">
                <a:latin typeface="Times New Roman" panose="02020603050405020304" pitchFamily="18" charset="0"/>
                <a:cs typeface="Times New Roman" panose="02020603050405020304" pitchFamily="18" charset="0"/>
              </a:rPr>
              <a:t>Acad</a:t>
            </a:r>
            <a:r>
              <a:rPr lang="en" altLang="zh-CN" sz="1600" dirty="0">
                <a:latin typeface="Times New Roman" panose="02020603050405020304" pitchFamily="18" charset="0"/>
                <a:cs typeface="Times New Roman" panose="02020603050405020304" pitchFamily="18" charset="0"/>
              </a:rPr>
              <a:t> Nutr Diet. 2017 Jan;117(1):146. </a:t>
            </a:r>
            <a:endParaRPr lang="zh-CN" altLang="en-US" sz="1600"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A75F8720-41B2-2B38-871E-D9CC16F628BD}"/>
              </a:ext>
            </a:extLst>
          </p:cNvPr>
          <p:cNvSpPr txBox="1"/>
          <p:nvPr/>
        </p:nvSpPr>
        <p:spPr>
          <a:xfrm>
            <a:off x="193287" y="2433095"/>
            <a:ext cx="11550477" cy="584775"/>
          </a:xfrm>
          <a:prstGeom prst="rect">
            <a:avLst/>
          </a:prstGeom>
          <a:noFill/>
        </p:spPr>
        <p:txBody>
          <a:bodyPr wrap="square" rtlCol="0">
            <a:spAutoFit/>
          </a:bodyPr>
          <a:lstStyle/>
          <a:p>
            <a:r>
              <a:rPr lang="en-US" altLang="zh-CN" sz="1600" dirty="0">
                <a:latin typeface="Times New Roman" panose="02020603050405020304" pitchFamily="18" charset="0"/>
                <a:cs typeface="Times New Roman" panose="02020603050405020304" pitchFamily="18" charset="0"/>
              </a:rPr>
              <a:t>[14]</a:t>
            </a:r>
            <a:r>
              <a:rPr lang="en" altLang="zh-CN" sz="1600" dirty="0">
                <a:latin typeface="Times New Roman" panose="02020603050405020304" pitchFamily="18" charset="0"/>
                <a:cs typeface="Times New Roman" panose="02020603050405020304" pitchFamily="18" charset="0"/>
              </a:rPr>
              <a:t> Jean FB, et </a:t>
            </a:r>
            <a:r>
              <a:rPr lang="en" altLang="zh-CN" sz="1600" dirty="0" err="1">
                <a:latin typeface="Times New Roman" panose="02020603050405020304" pitchFamily="18" charset="0"/>
                <a:cs typeface="Times New Roman" panose="02020603050405020304" pitchFamily="18" charset="0"/>
              </a:rPr>
              <a:t>al.Beyond</a:t>
            </a:r>
            <a:r>
              <a:rPr lang="en" altLang="zh-CN" sz="1600" dirty="0">
                <a:latin typeface="Times New Roman" panose="02020603050405020304" pitchFamily="18" charset="0"/>
                <a:cs typeface="Times New Roman" panose="02020603050405020304" pitchFamily="18" charset="0"/>
              </a:rPr>
              <a:t> the Calorie Paradigm: Taking into Account in Practice the Balance of Fat and Carbohydrate Oxidation during Exercise?, Nutrients. 2020 14(1605).</a:t>
            </a:r>
            <a:endParaRPr lang="zh-CN" altLang="en-US" sz="16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B0A96D92-BD44-1DDD-6C61-E9FD49772D71}"/>
              </a:ext>
            </a:extLst>
          </p:cNvPr>
          <p:cNvSpPr txBox="1"/>
          <p:nvPr/>
        </p:nvSpPr>
        <p:spPr>
          <a:xfrm>
            <a:off x="193281" y="2951175"/>
            <a:ext cx="11743766" cy="830997"/>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[15 ]</a:t>
            </a:r>
            <a:r>
              <a:rPr lang="en" altLang="zh-CN" sz="1600" dirty="0">
                <a:latin typeface="Times New Roman" panose="02020603050405020304" pitchFamily="18" charset="0"/>
                <a:cs typeface="Times New Roman" panose="02020603050405020304" pitchFamily="18" charset="0"/>
              </a:rPr>
              <a:t>Wahlquist, A. E., Blanke, H. H., Asghari, G., Baatz, J. E., Ebeling, M., Shary, J. R., Howard, C. R., Lawrence, R. A., Hollis, B. W., &amp; Wagner, C. L. (2024). Factors Affecting Postpartum Bone Mineral Density in a Clinical Trial of Vitamin D Supplementation. Journal of women's health (2002), 33(7), 887–900. </a:t>
            </a:r>
            <a:endParaRPr lang="zh-CN" altLang="en-US" sz="16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AE498E93-4D80-7531-1BDC-0D9EB2DE4A94}"/>
              </a:ext>
            </a:extLst>
          </p:cNvPr>
          <p:cNvSpPr txBox="1"/>
          <p:nvPr/>
        </p:nvSpPr>
        <p:spPr>
          <a:xfrm>
            <a:off x="193287" y="3632917"/>
            <a:ext cx="11452413"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[16]</a:t>
            </a:r>
            <a:r>
              <a:rPr lang="en" altLang="zh-CN" sz="1600" dirty="0">
                <a:latin typeface="Times New Roman" panose="02020603050405020304" pitchFamily="18" charset="0"/>
                <a:cs typeface="Times New Roman" panose="02020603050405020304" pitchFamily="18" charset="0"/>
              </a:rPr>
              <a:t>Keller, K., Friedrich, O., Treiber, J., </a:t>
            </a:r>
            <a:r>
              <a:rPr lang="en" altLang="zh-CN" sz="1600" dirty="0" err="1">
                <a:latin typeface="Times New Roman" panose="02020603050405020304" pitchFamily="18" charset="0"/>
                <a:cs typeface="Times New Roman" panose="02020603050405020304" pitchFamily="18" charset="0"/>
              </a:rPr>
              <a:t>Quermann</a:t>
            </a:r>
            <a:r>
              <a:rPr lang="en" altLang="zh-CN" sz="1600" dirty="0">
                <a:latin typeface="Times New Roman" panose="02020603050405020304" pitchFamily="18" charset="0"/>
                <a:cs typeface="Times New Roman" panose="02020603050405020304" pitchFamily="18" charset="0"/>
              </a:rPr>
              <a:t>, A., &amp; Friedmann-Bette, B. (2024). Iron deficiency in athletes: Prevalence and impact on VO2 peak. Nutrition (Burbank, Los Angeles County, Calif.), 126, 112516. </a:t>
            </a:r>
            <a:endParaRPr lang="zh-CN" altLang="en-US" sz="16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E8F9F77A-6C03-EBBC-5839-A6DB8504BE06}"/>
              </a:ext>
            </a:extLst>
          </p:cNvPr>
          <p:cNvSpPr txBox="1"/>
          <p:nvPr/>
        </p:nvSpPr>
        <p:spPr>
          <a:xfrm>
            <a:off x="193287" y="4153490"/>
            <a:ext cx="11452412"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[17]</a:t>
            </a:r>
            <a:r>
              <a:rPr lang="en" altLang="zh-CN" sz="1600" dirty="0">
                <a:latin typeface="Times New Roman" panose="02020603050405020304" pitchFamily="18" charset="0"/>
                <a:cs typeface="Times New Roman" panose="02020603050405020304" pitchFamily="18" charset="0"/>
              </a:rPr>
              <a:t>Koury, M. J., &amp; Ponka, P. (2004). New insights into erythropoiesis: the roles of folate, vitamin B12, and iron. Annual review of nutrition, 24, 105–131. </a:t>
            </a:r>
            <a:endParaRPr lang="zh-CN" altLang="en-US" sz="16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E2A8D9D7-2BDC-5264-9849-F7AEBD9320CC}"/>
              </a:ext>
            </a:extLst>
          </p:cNvPr>
          <p:cNvSpPr txBox="1"/>
          <p:nvPr/>
        </p:nvSpPr>
        <p:spPr>
          <a:xfrm>
            <a:off x="193285" y="4630290"/>
            <a:ext cx="11452411"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[18]</a:t>
            </a:r>
            <a:r>
              <a:rPr lang="en" altLang="zh-CN" sz="1600" dirty="0">
                <a:latin typeface="Times New Roman" panose="02020603050405020304" pitchFamily="18" charset="0"/>
                <a:cs typeface="Times New Roman" panose="02020603050405020304" pitchFamily="18" charset="0"/>
              </a:rPr>
              <a:t>Luo, X., Tang, M., Wei, X., &amp; Peng, Y. (2024). Association between magnesium deficiency score and sleep quality in adults: A population-based cross-sectional study. Journal of affective disorders, 358, 105–112. </a:t>
            </a:r>
            <a:endParaRPr lang="zh-CN" altLang="en-US" dirty="0"/>
          </a:p>
        </p:txBody>
      </p:sp>
      <p:sp>
        <p:nvSpPr>
          <p:cNvPr id="12" name="文本框 11">
            <a:extLst>
              <a:ext uri="{FF2B5EF4-FFF2-40B4-BE49-F238E27FC236}">
                <a16:creationId xmlns:a16="http://schemas.microsoft.com/office/drawing/2014/main" id="{C5DF60FA-AF3F-7EC4-38B9-1ED3B3A9BEC6}"/>
              </a:ext>
            </a:extLst>
          </p:cNvPr>
          <p:cNvSpPr txBox="1"/>
          <p:nvPr/>
        </p:nvSpPr>
        <p:spPr>
          <a:xfrm>
            <a:off x="193282" y="5138320"/>
            <a:ext cx="11295539" cy="584775"/>
          </a:xfrm>
          <a:prstGeom prst="rect">
            <a:avLst/>
          </a:prstGeom>
          <a:noFill/>
        </p:spPr>
        <p:txBody>
          <a:bodyPr wrap="square">
            <a:spAutoFit/>
          </a:bodyPr>
          <a:lstStyle/>
          <a:p>
            <a:r>
              <a:rPr lang="en" altLang="zh-CN" sz="1600" dirty="0">
                <a:latin typeface="Times New Roman" panose="02020603050405020304" pitchFamily="18" charset="0"/>
                <a:cs typeface="Times New Roman" panose="02020603050405020304" pitchFamily="18" charset="0"/>
              </a:rPr>
              <a:t>[19]</a:t>
            </a:r>
            <a:r>
              <a:rPr lang="en" altLang="zh-CN" sz="1600" dirty="0" err="1">
                <a:latin typeface="Times New Roman" panose="02020603050405020304" pitchFamily="18" charset="0"/>
                <a:cs typeface="Times New Roman" panose="02020603050405020304" pitchFamily="18" charset="0"/>
              </a:rPr>
              <a:t>Charkoudian</a:t>
            </a:r>
            <a:r>
              <a:rPr lang="en" altLang="zh-CN" sz="1600" dirty="0">
                <a:latin typeface="Times New Roman" panose="02020603050405020304" pitchFamily="18" charset="0"/>
                <a:cs typeface="Times New Roman" panose="02020603050405020304" pitchFamily="18" charset="0"/>
              </a:rPr>
              <a:t> N, Halliwill JR, Morgan BJ, Eisenach JH, Joyner MJ. Influences of hydration on post-exercise cardiovascular control in humans. J Physiol. 2003;552(Pt 2):635-644. </a:t>
            </a:r>
            <a:endParaRPr lang="zh-CN" altLang="en-US" sz="16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88DD701B-4E3B-1DDB-5193-0F47FD791E4C}"/>
              </a:ext>
            </a:extLst>
          </p:cNvPr>
          <p:cNvSpPr txBox="1"/>
          <p:nvPr/>
        </p:nvSpPr>
        <p:spPr>
          <a:xfrm>
            <a:off x="193281" y="5615120"/>
            <a:ext cx="11295539"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[20]</a:t>
            </a:r>
            <a:r>
              <a:rPr lang="en" altLang="zh-CN" sz="1600" dirty="0">
                <a:latin typeface="Times New Roman" panose="02020603050405020304" pitchFamily="18" charset="0"/>
                <a:cs typeface="Times New Roman" panose="02020603050405020304" pitchFamily="18" charset="0"/>
              </a:rPr>
              <a:t>Hendrick, V., Altshuler, L. L., &amp; Suri, R. (1998). Hormonal changes in the postpartum and implications for postpartum depression. Psychosomatics, 39(2), 93–101. </a:t>
            </a:r>
            <a:endParaRPr lang="zh-CN" altLang="en-US" sz="16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6B1EED6D-91CD-4637-3342-3D2808080BDD}"/>
              </a:ext>
            </a:extLst>
          </p:cNvPr>
          <p:cNvSpPr txBox="1"/>
          <p:nvPr/>
        </p:nvSpPr>
        <p:spPr>
          <a:xfrm>
            <a:off x="193281" y="6091920"/>
            <a:ext cx="11452410" cy="830997"/>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[21]</a:t>
            </a:r>
            <a:r>
              <a:rPr lang="en" altLang="zh-CN" sz="1600" dirty="0">
                <a:latin typeface="Times New Roman" panose="02020603050405020304" pitchFamily="18" charset="0"/>
                <a:cs typeface="Times New Roman" panose="02020603050405020304" pitchFamily="18" charset="0"/>
              </a:rPr>
              <a:t>Watson NF, Badr MS, Belenky G, </a:t>
            </a:r>
            <a:r>
              <a:rPr lang="en" altLang="zh-CN" sz="1600" dirty="0" err="1">
                <a:latin typeface="Times New Roman" panose="02020603050405020304" pitchFamily="18" charset="0"/>
                <a:cs typeface="Times New Roman" panose="02020603050405020304" pitchFamily="18" charset="0"/>
              </a:rPr>
              <a:t>Bliwise</a:t>
            </a:r>
            <a:r>
              <a:rPr lang="en" altLang="zh-CN" sz="1600" dirty="0">
                <a:latin typeface="Times New Roman" panose="02020603050405020304" pitchFamily="18" charset="0"/>
                <a:cs typeface="Times New Roman" panose="02020603050405020304" pitchFamily="18" charset="0"/>
              </a:rPr>
              <a:t> DL, Buxton OM, Buysse D, Dinges DF, </a:t>
            </a:r>
            <a:r>
              <a:rPr lang="en" altLang="zh-CN" sz="1600" dirty="0" err="1">
                <a:latin typeface="Times New Roman" panose="02020603050405020304" pitchFamily="18" charset="0"/>
                <a:cs typeface="Times New Roman" panose="02020603050405020304" pitchFamily="18" charset="0"/>
              </a:rPr>
              <a:t>Gangwisch</a:t>
            </a:r>
            <a:r>
              <a:rPr lang="en" altLang="zh-CN" sz="1600" dirty="0">
                <a:latin typeface="Times New Roman" panose="02020603050405020304" pitchFamily="18" charset="0"/>
                <a:cs typeface="Times New Roman" panose="02020603050405020304" pitchFamily="18" charset="0"/>
              </a:rPr>
              <a:t> J, Grandner MA, Kushida C, Malhotra RK, Martin JL, Patel SR, Quan SF, </a:t>
            </a:r>
            <a:r>
              <a:rPr lang="en" altLang="zh-CN" sz="1600" dirty="0" err="1">
                <a:latin typeface="Times New Roman" panose="02020603050405020304" pitchFamily="18" charset="0"/>
                <a:cs typeface="Times New Roman" panose="02020603050405020304" pitchFamily="18" charset="0"/>
              </a:rPr>
              <a:t>Tasali</a:t>
            </a:r>
            <a:r>
              <a:rPr lang="en" altLang="zh-CN" sz="1600" dirty="0">
                <a:latin typeface="Times New Roman" panose="02020603050405020304" pitchFamily="18" charset="0"/>
                <a:cs typeface="Times New Roman" panose="02020603050405020304" pitchFamily="18" charset="0"/>
              </a:rPr>
              <a:t> E. Recommended Amount of Sleep for a Healthy Adult: A Joint Consensus Statement of the American Academy of Sleep Medicine and Sleep Research Society. Sleep. 2015 Jun 1;38(6):843-4. </a:t>
            </a:r>
            <a:r>
              <a:rPr lang="zh-CN" altLang="en-US"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2220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3824E-1EDB-632A-C883-F00674DA3A7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7095EA4-551A-903C-93F4-5C9A1B0D7932}"/>
              </a:ext>
            </a:extLst>
          </p:cNvPr>
          <p:cNvSpPr txBox="1"/>
          <p:nvPr/>
        </p:nvSpPr>
        <p:spPr>
          <a:xfrm>
            <a:off x="193281" y="294049"/>
            <a:ext cx="1850186" cy="584775"/>
          </a:xfrm>
          <a:prstGeom prst="rect">
            <a:avLst/>
          </a:prstGeom>
          <a:noFill/>
        </p:spPr>
        <p:txBody>
          <a:bodyPr wrap="none" rtlCol="0">
            <a:spAutoFit/>
          </a:bodyPr>
          <a:lstStyle/>
          <a:p>
            <a:r>
              <a:rPr kumimoji="1" lang="en-US" altLang="zh-CN" sz="3200" dirty="0">
                <a:latin typeface="Times New Roman" panose="02020603050405020304" pitchFamily="18" charset="0"/>
                <a:cs typeface="Times New Roman" panose="02020603050405020304" pitchFamily="18" charset="0"/>
              </a:rPr>
              <a:t>Reference</a:t>
            </a:r>
            <a:endParaRPr kumimoji="1" lang="zh-CN" altLang="en-US" sz="32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2D9C456B-DD05-C750-A329-4330D0923166}"/>
              </a:ext>
            </a:extLst>
          </p:cNvPr>
          <p:cNvSpPr txBox="1"/>
          <p:nvPr/>
        </p:nvSpPr>
        <p:spPr>
          <a:xfrm>
            <a:off x="193281" y="878824"/>
            <a:ext cx="11998719" cy="830997"/>
          </a:xfrm>
          <a:prstGeom prst="rect">
            <a:avLst/>
          </a:prstGeom>
          <a:noFill/>
        </p:spPr>
        <p:txBody>
          <a:bodyPr wrap="square">
            <a:spAutoFit/>
          </a:bodyPr>
          <a:lstStyle/>
          <a:p>
            <a:r>
              <a:rPr lang="en" altLang="zh-CN" sz="1600" b="0" i="0" dirty="0">
                <a:solidFill>
                  <a:srgbClr val="212121"/>
                </a:solidFill>
                <a:effectLst/>
                <a:latin typeface="Times New Roman" panose="02020603050405020304" pitchFamily="18" charset="0"/>
                <a:cs typeface="Times New Roman" panose="02020603050405020304" pitchFamily="18" charset="0"/>
              </a:rPr>
              <a:t>[22]Bailey SJ, </a:t>
            </a:r>
            <a:r>
              <a:rPr lang="en" altLang="zh-CN" sz="1600" b="0" i="0" dirty="0" err="1">
                <a:solidFill>
                  <a:srgbClr val="212121"/>
                </a:solidFill>
                <a:effectLst/>
                <a:latin typeface="Times New Roman" panose="02020603050405020304" pitchFamily="18" charset="0"/>
                <a:cs typeface="Times New Roman" panose="02020603050405020304" pitchFamily="18" charset="0"/>
              </a:rPr>
              <a:t>Winyard</a:t>
            </a:r>
            <a:r>
              <a:rPr lang="en" altLang="zh-CN" sz="1600" b="0" i="0" dirty="0">
                <a:solidFill>
                  <a:srgbClr val="212121"/>
                </a:solidFill>
                <a:effectLst/>
                <a:latin typeface="Times New Roman" panose="02020603050405020304" pitchFamily="18" charset="0"/>
                <a:cs typeface="Times New Roman" panose="02020603050405020304" pitchFamily="18" charset="0"/>
              </a:rPr>
              <a:t> P, Vanhatalo A, Blackwell JR, Dimenna FJ, Wilkerson DP, Tarr J, Benjamin N, Jones AM. Dietary nitrate supplementation reduces the O2 cost of low-intensity exercise and enhances tolerance to high-intensity exercise in humans. J Appl </a:t>
            </a:r>
            <a:r>
              <a:rPr lang="en" altLang="zh-CN" sz="1600" b="0" i="0" dirty="0" err="1">
                <a:solidFill>
                  <a:srgbClr val="212121"/>
                </a:solidFill>
                <a:effectLst/>
                <a:latin typeface="Times New Roman" panose="02020603050405020304" pitchFamily="18" charset="0"/>
                <a:cs typeface="Times New Roman" panose="02020603050405020304" pitchFamily="18" charset="0"/>
              </a:rPr>
              <a:t>Physiol</a:t>
            </a:r>
            <a:r>
              <a:rPr lang="en" altLang="zh-CN" sz="1600" b="0" i="0" dirty="0">
                <a:solidFill>
                  <a:srgbClr val="212121"/>
                </a:solidFill>
                <a:effectLst/>
                <a:latin typeface="Times New Roman" panose="02020603050405020304" pitchFamily="18" charset="0"/>
                <a:cs typeface="Times New Roman" panose="02020603050405020304" pitchFamily="18" charset="0"/>
              </a:rPr>
              <a:t> (1985). 2009 Oct;107(4):1144-55. </a:t>
            </a:r>
            <a:endParaRPr lang="zh-CN" altLang="en-US" sz="1600"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372F7CFA-EE84-2E49-A2D8-AB755AF6E495}"/>
              </a:ext>
            </a:extLst>
          </p:cNvPr>
          <p:cNvSpPr txBox="1"/>
          <p:nvPr/>
        </p:nvSpPr>
        <p:spPr>
          <a:xfrm>
            <a:off x="193280" y="1709821"/>
            <a:ext cx="11998719" cy="338554"/>
          </a:xfrm>
          <a:prstGeom prst="rect">
            <a:avLst/>
          </a:prstGeom>
          <a:noFill/>
        </p:spPr>
        <p:txBody>
          <a:bodyPr wrap="square">
            <a:spAutoFit/>
          </a:bodyPr>
          <a:lstStyle/>
          <a:p>
            <a:r>
              <a:rPr lang="en-US" altLang="zh-CN" sz="1600" dirty="0">
                <a:solidFill>
                  <a:srgbClr val="212121"/>
                </a:solidFill>
                <a:latin typeface="Times New Roman" panose="02020603050405020304" pitchFamily="18" charset="0"/>
                <a:cs typeface="Times New Roman" panose="02020603050405020304" pitchFamily="18" charset="0"/>
              </a:rPr>
              <a:t>[23]</a:t>
            </a:r>
            <a:r>
              <a:rPr lang="en" altLang="zh-CN" sz="1600" dirty="0">
                <a:solidFill>
                  <a:srgbClr val="212121"/>
                </a:solidFill>
                <a:latin typeface="Times New Roman" panose="02020603050405020304" pitchFamily="18" charset="0"/>
                <a:cs typeface="Times New Roman" panose="02020603050405020304" pitchFamily="18" charset="0"/>
              </a:rPr>
              <a:t>Hall M, Manetta E, Tupper K. Creatine Supplementation: An Update. Curr Sports Med Rep. 2021 Jul 1;20(7):338-344. </a:t>
            </a:r>
            <a:endParaRPr lang="zh-CN" altLang="en-US" sz="1600" dirty="0">
              <a:solidFill>
                <a:srgbClr val="212121"/>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7A1D4F37-D102-6E67-34C0-0353D481561E}"/>
              </a:ext>
            </a:extLst>
          </p:cNvPr>
          <p:cNvSpPr txBox="1"/>
          <p:nvPr/>
        </p:nvSpPr>
        <p:spPr>
          <a:xfrm>
            <a:off x="193278" y="2048375"/>
            <a:ext cx="11998719" cy="584775"/>
          </a:xfrm>
          <a:prstGeom prst="rect">
            <a:avLst/>
          </a:prstGeom>
          <a:noFill/>
        </p:spPr>
        <p:txBody>
          <a:bodyPr wrap="square">
            <a:spAutoFit/>
          </a:bodyPr>
          <a:lstStyle/>
          <a:p>
            <a:r>
              <a:rPr lang="en" altLang="zh-CN" sz="1600" dirty="0">
                <a:solidFill>
                  <a:srgbClr val="212121"/>
                </a:solidFill>
                <a:latin typeface="Times New Roman" panose="02020603050405020304" pitchFamily="18" charset="0"/>
                <a:cs typeface="Times New Roman" panose="02020603050405020304" pitchFamily="18" charset="0"/>
              </a:rPr>
              <a:t>[24]Carr AJ, Slater GJ, Gore CJ, Dawson B, Burke LM. Effect of sodium bicarbonate on [HCO3-], pH, and gastrointestinal symptoms. Int J Sport </a:t>
            </a:r>
            <a:r>
              <a:rPr lang="en" altLang="zh-CN" sz="1600" dirty="0" err="1">
                <a:solidFill>
                  <a:srgbClr val="212121"/>
                </a:solidFill>
                <a:latin typeface="Times New Roman" panose="02020603050405020304" pitchFamily="18" charset="0"/>
                <a:cs typeface="Times New Roman" panose="02020603050405020304" pitchFamily="18" charset="0"/>
              </a:rPr>
              <a:t>Nutr</a:t>
            </a:r>
            <a:r>
              <a:rPr lang="en" altLang="zh-CN" sz="1600" dirty="0">
                <a:solidFill>
                  <a:srgbClr val="212121"/>
                </a:solidFill>
                <a:latin typeface="Times New Roman" panose="02020603050405020304" pitchFamily="18" charset="0"/>
                <a:cs typeface="Times New Roman" panose="02020603050405020304" pitchFamily="18" charset="0"/>
              </a:rPr>
              <a:t> </a:t>
            </a:r>
            <a:r>
              <a:rPr lang="en" altLang="zh-CN" sz="1600" dirty="0" err="1">
                <a:solidFill>
                  <a:srgbClr val="212121"/>
                </a:solidFill>
                <a:latin typeface="Times New Roman" panose="02020603050405020304" pitchFamily="18" charset="0"/>
                <a:cs typeface="Times New Roman" panose="02020603050405020304" pitchFamily="18" charset="0"/>
              </a:rPr>
              <a:t>Exerc</a:t>
            </a:r>
            <a:r>
              <a:rPr lang="en" altLang="zh-CN" sz="1600" dirty="0">
                <a:solidFill>
                  <a:srgbClr val="212121"/>
                </a:solidFill>
                <a:latin typeface="Times New Roman" panose="02020603050405020304" pitchFamily="18" charset="0"/>
                <a:cs typeface="Times New Roman" panose="02020603050405020304" pitchFamily="18" charset="0"/>
              </a:rPr>
              <a:t> </a:t>
            </a:r>
            <a:r>
              <a:rPr lang="en" altLang="zh-CN" sz="1600" dirty="0" err="1">
                <a:solidFill>
                  <a:srgbClr val="212121"/>
                </a:solidFill>
                <a:latin typeface="Times New Roman" panose="02020603050405020304" pitchFamily="18" charset="0"/>
                <a:cs typeface="Times New Roman" panose="02020603050405020304" pitchFamily="18" charset="0"/>
              </a:rPr>
              <a:t>Metab</a:t>
            </a:r>
            <a:r>
              <a:rPr lang="en" altLang="zh-CN" sz="1600" dirty="0">
                <a:solidFill>
                  <a:srgbClr val="212121"/>
                </a:solidFill>
                <a:latin typeface="Times New Roman" panose="02020603050405020304" pitchFamily="18" charset="0"/>
                <a:cs typeface="Times New Roman" panose="02020603050405020304" pitchFamily="18" charset="0"/>
              </a:rPr>
              <a:t>. 2011 Jun;21(3):189-94. </a:t>
            </a:r>
            <a:endParaRPr lang="zh-CN" altLang="en-US" sz="1600" dirty="0">
              <a:solidFill>
                <a:srgbClr val="21212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90911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FD412D1-40BD-BA9E-227C-83E1AFBE700B}"/>
              </a:ext>
            </a:extLst>
          </p:cNvPr>
          <p:cNvSpPr txBox="1"/>
          <p:nvPr/>
        </p:nvSpPr>
        <p:spPr>
          <a:xfrm>
            <a:off x="3015502" y="2875002"/>
            <a:ext cx="6160995" cy="1107996"/>
          </a:xfrm>
          <a:prstGeom prst="rect">
            <a:avLst/>
          </a:prstGeom>
          <a:noFill/>
        </p:spPr>
        <p:txBody>
          <a:bodyPr wrap="square" rtlCol="0">
            <a:spAutoFit/>
          </a:bodyPr>
          <a:lstStyle/>
          <a:p>
            <a:r>
              <a:rPr kumimoji="1" lang="en-US" altLang="zh-CN" sz="6600" dirty="0">
                <a:latin typeface="Braggadocio" pitchFamily="82" charset="0"/>
              </a:rPr>
              <a:t>Thank you</a:t>
            </a:r>
            <a:endParaRPr kumimoji="1" lang="zh-CN" altLang="en-US" sz="6600" dirty="0">
              <a:latin typeface="Braggadocio" pitchFamily="82" charset="0"/>
            </a:endParaRPr>
          </a:p>
        </p:txBody>
      </p:sp>
    </p:spTree>
    <p:extLst>
      <p:ext uri="{BB962C8B-B14F-4D97-AF65-F5344CB8AC3E}">
        <p14:creationId xmlns:p14="http://schemas.microsoft.com/office/powerpoint/2010/main" val="1140387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57464</TotalTime>
  <Words>6796</Words>
  <Application>Microsoft Macintosh PowerPoint</Application>
  <PresentationFormat>宽屏</PresentationFormat>
  <Paragraphs>518</Paragraphs>
  <Slides>46</Slides>
  <Notes>39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46</vt:i4>
      </vt:variant>
    </vt:vector>
  </HeadingPairs>
  <TitlesOfParts>
    <vt:vector size="57" baseType="lpstr">
      <vt:lpstr>等线</vt:lpstr>
      <vt:lpstr>等线 Light</vt:lpstr>
      <vt:lpstr>Google Sans Text</vt:lpstr>
      <vt:lpstr>Roboto Mono Web</vt:lpstr>
      <vt:lpstr>system-ui</vt:lpstr>
      <vt:lpstr>Arial</vt:lpstr>
      <vt:lpstr>Braggadocio</vt:lpstr>
      <vt:lpstr>Cambria</vt:lpstr>
      <vt:lpstr>Cambria Math</vt:lpstr>
      <vt:lpstr>Times New Roman</vt:lpstr>
      <vt:lpstr>Office 主题​​</vt:lpstr>
      <vt:lpstr>Postpartum Performance Nutrition: Supporting a Female Athlete’s Return to Sport</vt:lpstr>
      <vt:lpstr>Contents</vt:lpstr>
      <vt:lpstr>1 Athlete profile - basic information</vt:lpstr>
      <vt:lpstr>1 Athlete profile – body composition &amp; lifestyle factors</vt:lpstr>
      <vt:lpstr>1 Athlete profile – body composition &amp; lifestyle factors</vt:lpstr>
      <vt:lpstr>2 Current nutrition assessments</vt:lpstr>
      <vt:lpstr>A - Anthropometry</vt:lpstr>
      <vt:lpstr>B - Biochemistry</vt:lpstr>
      <vt:lpstr>C - Clinical history </vt:lpstr>
      <vt:lpstr>D - Dietary intake</vt:lpstr>
      <vt:lpstr>3 Energy requirements – Harris-Benedict</vt:lpstr>
      <vt:lpstr>3 Energy requirements – Harris-Benedict</vt:lpstr>
      <vt:lpstr>4 Macronutrient prescription &amp; Micronutrients</vt:lpstr>
      <vt:lpstr>Carbohydrate</vt:lpstr>
      <vt:lpstr>Recommend</vt:lpstr>
      <vt:lpstr>Protein</vt:lpstr>
      <vt:lpstr>Recommend</vt:lpstr>
      <vt:lpstr>Fat</vt:lpstr>
      <vt:lpstr>Recommend</vt:lpstr>
      <vt:lpstr>4 Macronutrient prescription &amp; Micronutrients</vt:lpstr>
      <vt:lpstr>Calcium</vt:lpstr>
      <vt:lpstr>Vitamin D</vt:lpstr>
      <vt:lpstr>Iron</vt:lpstr>
      <vt:lpstr>Folate (Vitamin B9) / Vitamin B12</vt:lpstr>
      <vt:lpstr>Magnesium</vt:lpstr>
      <vt:lpstr>5 Hydration strategy</vt:lpstr>
      <vt:lpstr>Sweat Rate Test</vt:lpstr>
      <vt:lpstr>Special Considerations for Postpartum Runners</vt:lpstr>
      <vt:lpstr>Special Considerations for Postpartum Runners</vt:lpstr>
      <vt:lpstr>Final hydration target</vt:lpstr>
      <vt:lpstr>6 Recovery strategy (4Rs)</vt:lpstr>
      <vt:lpstr>PowerPoint 演示文稿</vt:lpstr>
      <vt:lpstr>7.Ergogenic Aids</vt:lpstr>
      <vt:lpstr>Nitrate / Beetroot</vt:lpstr>
      <vt:lpstr>Why not choose</vt:lpstr>
      <vt:lpstr>Why not choose</vt:lpstr>
      <vt:lpstr>7.Nutrition Across Contexts</vt:lpstr>
      <vt:lpstr>PowerPoint 演示文稿</vt:lpstr>
      <vt:lpstr>Sample 1-Day Menu</vt:lpstr>
      <vt:lpstr>PowerPoint 演示文稿</vt:lpstr>
      <vt:lpstr>PowerPoint 演示文稿</vt:lpstr>
      <vt:lpstr>summary</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 Wu (Student)</dc:creator>
  <cp:lastModifiedBy>Tom Wu (Student)</cp:lastModifiedBy>
  <cp:revision>84</cp:revision>
  <dcterms:created xsi:type="dcterms:W3CDTF">2025-11-03T01:49:01Z</dcterms:created>
  <dcterms:modified xsi:type="dcterms:W3CDTF">2026-01-08T04:04:28Z</dcterms:modified>
</cp:coreProperties>
</file>