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4"/>
    <p:sldMasterId id="2147483976" r:id="rId5"/>
  </p:sldMasterIdLst>
  <p:notesMasterIdLst>
    <p:notesMasterId r:id="rId46"/>
  </p:notesMasterIdLst>
  <p:sldIdLst>
    <p:sldId id="256" r:id="rId6"/>
    <p:sldId id="325" r:id="rId7"/>
    <p:sldId id="327" r:id="rId8"/>
    <p:sldId id="328" r:id="rId9"/>
    <p:sldId id="286" r:id="rId10"/>
    <p:sldId id="278" r:id="rId11"/>
    <p:sldId id="330" r:id="rId12"/>
    <p:sldId id="329" r:id="rId13"/>
    <p:sldId id="2607" r:id="rId14"/>
    <p:sldId id="334" r:id="rId15"/>
    <p:sldId id="2563" r:id="rId16"/>
    <p:sldId id="2564" r:id="rId17"/>
    <p:sldId id="2566" r:id="rId18"/>
    <p:sldId id="2570" r:id="rId19"/>
    <p:sldId id="2568" r:id="rId20"/>
    <p:sldId id="2569" r:id="rId21"/>
    <p:sldId id="275" r:id="rId22"/>
    <p:sldId id="257" r:id="rId23"/>
    <p:sldId id="311" r:id="rId24"/>
    <p:sldId id="312" r:id="rId25"/>
    <p:sldId id="313" r:id="rId26"/>
    <p:sldId id="314" r:id="rId27"/>
    <p:sldId id="263" r:id="rId28"/>
    <p:sldId id="306" r:id="rId29"/>
    <p:sldId id="2571" r:id="rId30"/>
    <p:sldId id="259" r:id="rId31"/>
    <p:sldId id="316" r:id="rId32"/>
    <p:sldId id="324" r:id="rId33"/>
    <p:sldId id="2584" r:id="rId34"/>
    <p:sldId id="2585" r:id="rId35"/>
    <p:sldId id="262" r:id="rId36"/>
    <p:sldId id="2608" r:id="rId37"/>
    <p:sldId id="2609" r:id="rId38"/>
    <p:sldId id="2606" r:id="rId39"/>
    <p:sldId id="670" r:id="rId40"/>
    <p:sldId id="2591" r:id="rId41"/>
    <p:sldId id="307" r:id="rId42"/>
    <p:sldId id="322" r:id="rId43"/>
    <p:sldId id="2565" r:id="rId44"/>
    <p:sldId id="2583" r:id="rId45"/>
  </p:sldIdLst>
  <p:sldSz cx="9144000" cy="5143500" type="screen16x9"/>
  <p:notesSz cx="9144000" cy="6858000"/>
  <p:embeddedFontLst>
    <p:embeddedFont>
      <p:font typeface="Georgia" panose="02040502050405020303" pitchFamily="18" charset="0"/>
      <p:regular r:id="rId47"/>
      <p:bold r:id="rId48"/>
      <p:italic r:id="rId49"/>
      <p:boldItalic r:id="rId50"/>
    </p:embeddedFont>
    <p:embeddedFont>
      <p:font typeface="MS PGothic" panose="020B0600070205080204" pitchFamily="34" charset="-128"/>
      <p:regular r:id="rId51"/>
    </p:embeddedFont>
    <p:embeddedFont>
      <p:font typeface="Tahoma" panose="020B0604030504040204" pitchFamily="34" charset="0"/>
      <p:regular r:id="rId52"/>
      <p:bold r:id="rId53"/>
    </p:embeddedFont>
  </p:embeddedFont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orient="horz" pos="320" userDrawn="1">
          <p15:clr>
            <a:srgbClr val="A4A3A4"/>
          </p15:clr>
        </p15:guide>
        <p15:guide id="3" orient="horz" pos="737" userDrawn="1">
          <p15:clr>
            <a:srgbClr val="A4A3A4"/>
          </p15:clr>
        </p15:guide>
        <p15:guide id="4" orient="horz" pos="2879" userDrawn="1">
          <p15:clr>
            <a:srgbClr val="A4A3A4"/>
          </p15:clr>
        </p15:guide>
        <p15:guide id="5" pos="2880" userDrawn="1">
          <p15:clr>
            <a:srgbClr val="A4A3A4"/>
          </p15:clr>
        </p15:guide>
        <p15:guide id="6" pos="562" userDrawn="1">
          <p15:clr>
            <a:srgbClr val="A4A3A4"/>
          </p15:clr>
        </p15:guide>
        <p15:guide id="7" pos="5103" userDrawn="1">
          <p15:clr>
            <a:srgbClr val="A4A3A4"/>
          </p15:clr>
        </p15:guide>
        <p15:guide id="8" pos="2562" userDrawn="1">
          <p15:clr>
            <a:srgbClr val="A4A3A4"/>
          </p15:clr>
        </p15:guide>
        <p15:guide id="9" pos="26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6818D"/>
    <a:srgbClr val="1A9DAC"/>
    <a:srgbClr val="598752"/>
    <a:srgbClr val="6DA463"/>
    <a:srgbClr val="A65C45"/>
    <a:srgbClr val="CC7054"/>
    <a:srgbClr val="FFFFFF"/>
    <a:srgbClr val="D6A700"/>
    <a:srgbClr val="958CB2"/>
    <a:srgbClr val="7FBF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93" d="100"/>
          <a:sy n="93" d="100"/>
        </p:scale>
        <p:origin x="512" y="60"/>
      </p:cViewPr>
      <p:guideLst>
        <p:guide orient="horz" pos="1620"/>
        <p:guide orient="horz" pos="320"/>
        <p:guide orient="horz" pos="737"/>
        <p:guide orient="horz" pos="2879"/>
        <p:guide pos="2880"/>
        <p:guide pos="562"/>
        <p:guide pos="5103"/>
        <p:guide pos="2562"/>
        <p:guide pos="2699"/>
      </p:guideLst>
    </p:cSldViewPr>
  </p:slideViewPr>
  <p:notesTextViewPr>
    <p:cViewPr>
      <p:scale>
        <a:sx n="1" d="1"/>
        <a:sy n="1" d="1"/>
      </p:scale>
      <p:origin x="0" y="0"/>
    </p:cViewPr>
  </p:notesTextViewPr>
  <p:sorterViewPr>
    <p:cViewPr>
      <p:scale>
        <a:sx n="129" d="100"/>
        <a:sy n="129" d="100"/>
      </p:scale>
      <p:origin x="0" y="-145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7.fntdata"/><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2.fntdata"/><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3.fntdata"/><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Grieve" userId="b0f7fee3-167f-4f47-b69c-0e83d001e27f" providerId="ADAL" clId="{4D0B5073-DD86-4F67-84E5-806929CDE867}"/>
    <pc:docChg chg="delSld modSld">
      <pc:chgData name="Rob Grieve" userId="b0f7fee3-167f-4f47-b69c-0e83d001e27f" providerId="ADAL" clId="{4D0B5073-DD86-4F67-84E5-806929CDE867}" dt="2026-03-19T17:54:50.172" v="12" actId="1076"/>
      <pc:docMkLst>
        <pc:docMk/>
      </pc:docMkLst>
      <pc:sldChg chg="modSp mod">
        <pc:chgData name="Rob Grieve" userId="b0f7fee3-167f-4f47-b69c-0e83d001e27f" providerId="ADAL" clId="{4D0B5073-DD86-4F67-84E5-806929CDE867}" dt="2026-03-19T17:53:47.879" v="9" actId="1076"/>
        <pc:sldMkLst>
          <pc:docMk/>
          <pc:sldMk cId="3123235187" sldId="2566"/>
        </pc:sldMkLst>
        <pc:spChg chg="mod">
          <ac:chgData name="Rob Grieve" userId="b0f7fee3-167f-4f47-b69c-0e83d001e27f" providerId="ADAL" clId="{4D0B5073-DD86-4F67-84E5-806929CDE867}" dt="2026-03-19T17:53:47.879" v="9" actId="1076"/>
          <ac:spMkLst>
            <pc:docMk/>
            <pc:sldMk cId="3123235187" sldId="2566"/>
            <ac:spMk id="4" creationId="{A6A36821-B83C-A876-6D84-2F6886687CFE}"/>
          </ac:spMkLst>
        </pc:spChg>
      </pc:sldChg>
      <pc:sldChg chg="del">
        <pc:chgData name="Rob Grieve" userId="b0f7fee3-167f-4f47-b69c-0e83d001e27f" providerId="ADAL" clId="{4D0B5073-DD86-4F67-84E5-806929CDE867}" dt="2026-03-19T17:51:46.132" v="0" actId="2696"/>
        <pc:sldMkLst>
          <pc:docMk/>
          <pc:sldMk cId="175090572" sldId="2567"/>
        </pc:sldMkLst>
      </pc:sldChg>
      <pc:sldChg chg="modSp mod">
        <pc:chgData name="Rob Grieve" userId="b0f7fee3-167f-4f47-b69c-0e83d001e27f" providerId="ADAL" clId="{4D0B5073-DD86-4F67-84E5-806929CDE867}" dt="2026-03-19T17:54:50.172" v="12" actId="1076"/>
        <pc:sldMkLst>
          <pc:docMk/>
          <pc:sldMk cId="339581983" sldId="2568"/>
        </pc:sldMkLst>
        <pc:spChg chg="mod">
          <ac:chgData name="Rob Grieve" userId="b0f7fee3-167f-4f47-b69c-0e83d001e27f" providerId="ADAL" clId="{4D0B5073-DD86-4F67-84E5-806929CDE867}" dt="2026-03-19T17:54:50.172" v="12" actId="1076"/>
          <ac:spMkLst>
            <pc:docMk/>
            <pc:sldMk cId="339581983" sldId="2568"/>
            <ac:spMk id="3" creationId="{52A920DA-8663-6AF1-55C1-9C517A8963E2}"/>
          </ac:spMkLst>
        </pc:spChg>
      </pc:sldChg>
      <pc:sldChg chg="modSp mod">
        <pc:chgData name="Rob Grieve" userId="b0f7fee3-167f-4f47-b69c-0e83d001e27f" providerId="ADAL" clId="{4D0B5073-DD86-4F67-84E5-806929CDE867}" dt="2026-03-19T17:53:15.805" v="7" actId="20577"/>
        <pc:sldMkLst>
          <pc:docMk/>
          <pc:sldMk cId="1448399858" sldId="2569"/>
        </pc:sldMkLst>
        <pc:spChg chg="mod">
          <ac:chgData name="Rob Grieve" userId="b0f7fee3-167f-4f47-b69c-0e83d001e27f" providerId="ADAL" clId="{4D0B5073-DD86-4F67-84E5-806929CDE867}" dt="2026-03-19T17:53:15.805" v="7" actId="20577"/>
          <ac:spMkLst>
            <pc:docMk/>
            <pc:sldMk cId="1448399858" sldId="2569"/>
            <ac:spMk id="8" creationId="{0325CFCE-0343-CA2F-1AA4-74171E46002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A6A166-CF62-48C0-BB6B-9FD5A84CAB1D}" type="doc">
      <dgm:prSet loTypeId="urn:microsoft.com/office/officeart/2005/8/layout/cycle6" loCatId="relationship" qsTypeId="urn:microsoft.com/office/officeart/2005/8/quickstyle/3d3" qsCatId="3D" csTypeId="urn:microsoft.com/office/officeart/2005/8/colors/accent2_2" csCatId="accent2" phldr="1"/>
      <dgm:spPr/>
      <dgm:t>
        <a:bodyPr/>
        <a:lstStyle/>
        <a:p>
          <a:endParaRPr lang="en-GB"/>
        </a:p>
      </dgm:t>
    </dgm:pt>
    <dgm:pt modelId="{E33AF632-FB3A-438A-A28A-5D2504EDD07C}">
      <dgm:prSet phldrT="[Text]"/>
      <dgm:spPr/>
      <dgm:t>
        <a:bodyPr/>
        <a:lstStyle/>
        <a:p>
          <a:r>
            <a:rPr lang="en-GB" dirty="0"/>
            <a:t>Slowing age related changes</a:t>
          </a:r>
        </a:p>
      </dgm:t>
    </dgm:pt>
    <dgm:pt modelId="{5A08844D-A88A-4CA5-BF2B-77B09E2320E2}" type="parTrans" cxnId="{C4E75209-ED25-4B94-B1F1-638F97C09E2F}">
      <dgm:prSet/>
      <dgm:spPr/>
      <dgm:t>
        <a:bodyPr/>
        <a:lstStyle/>
        <a:p>
          <a:endParaRPr lang="en-GB"/>
        </a:p>
      </dgm:t>
    </dgm:pt>
    <dgm:pt modelId="{C0D27B10-93AE-4310-A34B-8167674D042A}" type="sibTrans" cxnId="{C4E75209-ED25-4B94-B1F1-638F97C09E2F}">
      <dgm:prSet/>
      <dgm:spPr/>
      <dgm:t>
        <a:bodyPr/>
        <a:lstStyle/>
        <a:p>
          <a:endParaRPr lang="en-GB"/>
        </a:p>
      </dgm:t>
    </dgm:pt>
    <dgm:pt modelId="{C4C0EBC2-7C35-4582-A001-0130832FD1BF}">
      <dgm:prSet phldrT="[Text]"/>
      <dgm:spPr/>
      <dgm:t>
        <a:bodyPr/>
        <a:lstStyle/>
        <a:p>
          <a:r>
            <a:rPr lang="en-GB" dirty="0"/>
            <a:t>Optimizing body composition</a:t>
          </a:r>
        </a:p>
      </dgm:t>
    </dgm:pt>
    <dgm:pt modelId="{D6F7BCDD-F947-4342-B5EF-80EFD595EE56}" type="parTrans" cxnId="{54664A8D-1033-43B0-A23D-507C92A19853}">
      <dgm:prSet/>
      <dgm:spPr/>
      <dgm:t>
        <a:bodyPr/>
        <a:lstStyle/>
        <a:p>
          <a:endParaRPr lang="en-GB"/>
        </a:p>
      </dgm:t>
    </dgm:pt>
    <dgm:pt modelId="{4A69E678-1D87-4662-80BC-C0FD2B929094}" type="sibTrans" cxnId="{54664A8D-1033-43B0-A23D-507C92A19853}">
      <dgm:prSet/>
      <dgm:spPr/>
      <dgm:t>
        <a:bodyPr/>
        <a:lstStyle/>
        <a:p>
          <a:endParaRPr lang="en-GB"/>
        </a:p>
      </dgm:t>
    </dgm:pt>
    <dgm:pt modelId="{75A62B70-C325-4A03-8BC5-E6E43CE17DA2}">
      <dgm:prSet phldrT="[Text]"/>
      <dgm:spPr/>
      <dgm:t>
        <a:bodyPr/>
        <a:lstStyle/>
        <a:p>
          <a:r>
            <a:rPr lang="en-GB" dirty="0"/>
            <a:t>Managing chronic diseases</a:t>
          </a:r>
        </a:p>
      </dgm:t>
    </dgm:pt>
    <dgm:pt modelId="{B417360C-F822-455A-BA81-1A723AFB50F4}" type="parTrans" cxnId="{BD38A572-5FC3-40ED-9298-EE98F61CE80E}">
      <dgm:prSet/>
      <dgm:spPr/>
      <dgm:t>
        <a:bodyPr/>
        <a:lstStyle/>
        <a:p>
          <a:endParaRPr lang="en-GB"/>
        </a:p>
      </dgm:t>
    </dgm:pt>
    <dgm:pt modelId="{9D6A2A38-A744-4167-8828-0D95334C137E}" type="sibTrans" cxnId="{BD38A572-5FC3-40ED-9298-EE98F61CE80E}">
      <dgm:prSet/>
      <dgm:spPr/>
      <dgm:t>
        <a:bodyPr/>
        <a:lstStyle/>
        <a:p>
          <a:endParaRPr lang="en-GB"/>
        </a:p>
      </dgm:t>
    </dgm:pt>
    <dgm:pt modelId="{89124CA0-9A73-4E3F-9EFE-DF82C1BCC205}">
      <dgm:prSet phldrT="[Text]"/>
      <dgm:spPr/>
      <dgm:t>
        <a:bodyPr/>
        <a:lstStyle/>
        <a:p>
          <a:r>
            <a:rPr lang="en-GB" dirty="0"/>
            <a:t>Reducing risk of physical disability</a:t>
          </a:r>
        </a:p>
      </dgm:t>
    </dgm:pt>
    <dgm:pt modelId="{93DAA720-3EC0-442D-AAFC-34E33BE42E5D}" type="parTrans" cxnId="{C6FE51CD-88CC-488B-A6F0-83B18CCC1FDD}">
      <dgm:prSet/>
      <dgm:spPr/>
      <dgm:t>
        <a:bodyPr/>
        <a:lstStyle/>
        <a:p>
          <a:endParaRPr lang="en-GB"/>
        </a:p>
      </dgm:t>
    </dgm:pt>
    <dgm:pt modelId="{382203CF-DB5D-4C0B-94CB-59444DFF4ABF}" type="sibTrans" cxnId="{C6FE51CD-88CC-488B-A6F0-83B18CCC1FDD}">
      <dgm:prSet/>
      <dgm:spPr/>
      <dgm:t>
        <a:bodyPr/>
        <a:lstStyle/>
        <a:p>
          <a:endParaRPr lang="en-GB"/>
        </a:p>
      </dgm:t>
    </dgm:pt>
    <dgm:pt modelId="{051110AA-57C6-4A2A-A48F-3B70CB4D8CD3}">
      <dgm:prSet phldrT="[Text]"/>
      <dgm:spPr/>
      <dgm:t>
        <a:bodyPr/>
        <a:lstStyle/>
        <a:p>
          <a:r>
            <a:rPr lang="en-GB" dirty="0"/>
            <a:t>Increasing longevity</a:t>
          </a:r>
        </a:p>
      </dgm:t>
    </dgm:pt>
    <dgm:pt modelId="{7A21562E-ED0E-4F36-BE74-A56DA59DD132}" type="parTrans" cxnId="{B18438C2-8E91-4DAA-8DB8-EB07FC6D86FF}">
      <dgm:prSet/>
      <dgm:spPr/>
      <dgm:t>
        <a:bodyPr/>
        <a:lstStyle/>
        <a:p>
          <a:endParaRPr lang="en-GB"/>
        </a:p>
      </dgm:t>
    </dgm:pt>
    <dgm:pt modelId="{D4C7194B-6A16-4AC6-9EEC-8C1CEF568A45}" type="sibTrans" cxnId="{B18438C2-8E91-4DAA-8DB8-EB07FC6D86FF}">
      <dgm:prSet/>
      <dgm:spPr/>
      <dgm:t>
        <a:bodyPr/>
        <a:lstStyle/>
        <a:p>
          <a:endParaRPr lang="en-GB"/>
        </a:p>
      </dgm:t>
    </dgm:pt>
    <dgm:pt modelId="{26312ACA-8FC9-47BB-8590-82DFD31E33F4}">
      <dgm:prSet phldrT="[Text]"/>
      <dgm:spPr/>
      <dgm:t>
        <a:bodyPr/>
        <a:lstStyle/>
        <a:p>
          <a:r>
            <a:rPr lang="en-GB" dirty="0"/>
            <a:t>Promoting psychological &amp; cognitive wellbeing</a:t>
          </a:r>
        </a:p>
      </dgm:t>
    </dgm:pt>
    <dgm:pt modelId="{B272D828-EF15-45E9-8207-11ADF3BA8DB9}" type="parTrans" cxnId="{33EC052E-FF74-4DDC-9A95-AB2F0783A8C9}">
      <dgm:prSet/>
      <dgm:spPr/>
      <dgm:t>
        <a:bodyPr/>
        <a:lstStyle/>
        <a:p>
          <a:endParaRPr lang="en-GB"/>
        </a:p>
      </dgm:t>
    </dgm:pt>
    <dgm:pt modelId="{65130A5F-25CA-416B-BDCB-3159B48BC79B}" type="sibTrans" cxnId="{33EC052E-FF74-4DDC-9A95-AB2F0783A8C9}">
      <dgm:prSet/>
      <dgm:spPr/>
      <dgm:t>
        <a:bodyPr/>
        <a:lstStyle/>
        <a:p>
          <a:endParaRPr lang="en-GB"/>
        </a:p>
      </dgm:t>
    </dgm:pt>
    <dgm:pt modelId="{06AF4D16-1BE2-4EF8-A135-DC11A2A24F14}" type="pres">
      <dgm:prSet presAssocID="{FDA6A166-CF62-48C0-BB6B-9FD5A84CAB1D}" presName="cycle" presStyleCnt="0">
        <dgm:presLayoutVars>
          <dgm:dir/>
          <dgm:resizeHandles val="exact"/>
        </dgm:presLayoutVars>
      </dgm:prSet>
      <dgm:spPr/>
    </dgm:pt>
    <dgm:pt modelId="{C8C4E772-FE6F-4E3E-A139-01EA40F4A315}" type="pres">
      <dgm:prSet presAssocID="{E33AF632-FB3A-438A-A28A-5D2504EDD07C}" presName="node" presStyleLbl="node1" presStyleIdx="0" presStyleCnt="6" custScaleX="140464" custScaleY="167195" custRadScaleRad="85277" custRadScaleInc="-3445">
        <dgm:presLayoutVars>
          <dgm:bulletEnabled val="1"/>
        </dgm:presLayoutVars>
      </dgm:prSet>
      <dgm:spPr/>
    </dgm:pt>
    <dgm:pt modelId="{ED9EA9A6-CCFC-411D-87EF-1E4D23B2915C}" type="pres">
      <dgm:prSet presAssocID="{E33AF632-FB3A-438A-A28A-5D2504EDD07C}" presName="spNode" presStyleCnt="0"/>
      <dgm:spPr/>
    </dgm:pt>
    <dgm:pt modelId="{2E91A740-8C60-4027-8FE5-1B0407730A41}" type="pres">
      <dgm:prSet presAssocID="{C0D27B10-93AE-4310-A34B-8167674D042A}" presName="sibTrans" presStyleLbl="sibTrans1D1" presStyleIdx="0" presStyleCnt="6"/>
      <dgm:spPr/>
    </dgm:pt>
    <dgm:pt modelId="{75B232EC-6ECA-4412-8074-07BC2B5D0F2F}" type="pres">
      <dgm:prSet presAssocID="{C4C0EBC2-7C35-4582-A001-0130832FD1BF}" presName="node" presStyleLbl="node1" presStyleIdx="1" presStyleCnt="6" custScaleX="186843" custScaleY="162674" custRadScaleRad="132737" custRadScaleInc="45093">
        <dgm:presLayoutVars>
          <dgm:bulletEnabled val="1"/>
        </dgm:presLayoutVars>
      </dgm:prSet>
      <dgm:spPr/>
    </dgm:pt>
    <dgm:pt modelId="{0DC60BC5-9C0D-4926-BA9C-C328A1A05F61}" type="pres">
      <dgm:prSet presAssocID="{C4C0EBC2-7C35-4582-A001-0130832FD1BF}" presName="spNode" presStyleCnt="0"/>
      <dgm:spPr/>
    </dgm:pt>
    <dgm:pt modelId="{E71C6EEF-6B7E-42EF-BB65-CEA21A003A84}" type="pres">
      <dgm:prSet presAssocID="{4A69E678-1D87-4662-80BC-C0FD2B929094}" presName="sibTrans" presStyleLbl="sibTrans1D1" presStyleIdx="1" presStyleCnt="6"/>
      <dgm:spPr/>
    </dgm:pt>
    <dgm:pt modelId="{8E0B933A-CA66-43D9-8AFA-74801355ED93}" type="pres">
      <dgm:prSet presAssocID="{26312ACA-8FC9-47BB-8590-82DFD31E33F4}" presName="node" presStyleLbl="node1" presStyleIdx="2" presStyleCnt="6" custScaleX="164437" custScaleY="188086" custRadScaleRad="141137" custRadScaleInc="-40874">
        <dgm:presLayoutVars>
          <dgm:bulletEnabled val="1"/>
        </dgm:presLayoutVars>
      </dgm:prSet>
      <dgm:spPr/>
    </dgm:pt>
    <dgm:pt modelId="{BCF4C609-8D78-46AB-B244-8B183424BBE4}" type="pres">
      <dgm:prSet presAssocID="{26312ACA-8FC9-47BB-8590-82DFD31E33F4}" presName="spNode" presStyleCnt="0"/>
      <dgm:spPr/>
    </dgm:pt>
    <dgm:pt modelId="{53EE9769-8973-4D43-ACF1-08BC888E382D}" type="pres">
      <dgm:prSet presAssocID="{65130A5F-25CA-416B-BDCB-3159B48BC79B}" presName="sibTrans" presStyleLbl="sibTrans1D1" presStyleIdx="2" presStyleCnt="6"/>
      <dgm:spPr/>
    </dgm:pt>
    <dgm:pt modelId="{7066FDF3-7B84-4FAC-A8AE-E1EE07F36863}" type="pres">
      <dgm:prSet presAssocID="{75A62B70-C325-4A03-8BC5-E6E43CE17DA2}" presName="node" presStyleLbl="node1" presStyleIdx="3" presStyleCnt="6" custScaleX="162870" custScaleY="163791" custRadScaleRad="141572" custRadScaleInc="-5474">
        <dgm:presLayoutVars>
          <dgm:bulletEnabled val="1"/>
        </dgm:presLayoutVars>
      </dgm:prSet>
      <dgm:spPr/>
    </dgm:pt>
    <dgm:pt modelId="{784F5E6F-79BA-4157-A4C3-2C66F98082D8}" type="pres">
      <dgm:prSet presAssocID="{75A62B70-C325-4A03-8BC5-E6E43CE17DA2}" presName="spNode" presStyleCnt="0"/>
      <dgm:spPr/>
    </dgm:pt>
    <dgm:pt modelId="{EA2313D4-D46A-4178-8E53-007643C3B01B}" type="pres">
      <dgm:prSet presAssocID="{9D6A2A38-A744-4167-8828-0D95334C137E}" presName="sibTrans" presStyleLbl="sibTrans1D1" presStyleIdx="3" presStyleCnt="6"/>
      <dgm:spPr/>
    </dgm:pt>
    <dgm:pt modelId="{934F4F8F-3C83-4348-979E-AE0D7811B191}" type="pres">
      <dgm:prSet presAssocID="{89124CA0-9A73-4E3F-9EFE-DF82C1BCC205}" presName="node" presStyleLbl="node1" presStyleIdx="4" presStyleCnt="6" custScaleX="170279" custScaleY="113979" custRadScaleRad="133654" custRadScaleInc="30992">
        <dgm:presLayoutVars>
          <dgm:bulletEnabled val="1"/>
        </dgm:presLayoutVars>
      </dgm:prSet>
      <dgm:spPr/>
    </dgm:pt>
    <dgm:pt modelId="{F6999772-B956-40B2-834C-EB3B22B50451}" type="pres">
      <dgm:prSet presAssocID="{89124CA0-9A73-4E3F-9EFE-DF82C1BCC205}" presName="spNode" presStyleCnt="0"/>
      <dgm:spPr/>
    </dgm:pt>
    <dgm:pt modelId="{BACDDFCF-3D1F-48C9-BA88-BDCC2B4DCB57}" type="pres">
      <dgm:prSet presAssocID="{382203CF-DB5D-4C0B-94CB-59444DFF4ABF}" presName="sibTrans" presStyleLbl="sibTrans1D1" presStyleIdx="4" presStyleCnt="6"/>
      <dgm:spPr/>
    </dgm:pt>
    <dgm:pt modelId="{2ED149DF-0E6A-4925-A115-EDFBD6ABC1E6}" type="pres">
      <dgm:prSet presAssocID="{051110AA-57C6-4A2A-A48F-3B70CB4D8CD3}" presName="node" presStyleLbl="node1" presStyleIdx="5" presStyleCnt="6" custScaleX="151798" custScaleY="134234" custRadScaleRad="132491" custRadScaleInc="-47017">
        <dgm:presLayoutVars>
          <dgm:bulletEnabled val="1"/>
        </dgm:presLayoutVars>
      </dgm:prSet>
      <dgm:spPr/>
    </dgm:pt>
    <dgm:pt modelId="{A8E24B5D-BCFC-4E5F-8203-DFC18CFFE557}" type="pres">
      <dgm:prSet presAssocID="{051110AA-57C6-4A2A-A48F-3B70CB4D8CD3}" presName="spNode" presStyleCnt="0"/>
      <dgm:spPr/>
    </dgm:pt>
    <dgm:pt modelId="{46313A7F-32FF-4BDB-8FC1-CCBA732A0ACE}" type="pres">
      <dgm:prSet presAssocID="{D4C7194B-6A16-4AC6-9EEC-8C1CEF568A45}" presName="sibTrans" presStyleLbl="sibTrans1D1" presStyleIdx="5" presStyleCnt="6"/>
      <dgm:spPr/>
    </dgm:pt>
  </dgm:ptLst>
  <dgm:cxnLst>
    <dgm:cxn modelId="{C4E75209-ED25-4B94-B1F1-638F97C09E2F}" srcId="{FDA6A166-CF62-48C0-BB6B-9FD5A84CAB1D}" destId="{E33AF632-FB3A-438A-A28A-5D2504EDD07C}" srcOrd="0" destOrd="0" parTransId="{5A08844D-A88A-4CA5-BF2B-77B09E2320E2}" sibTransId="{C0D27B10-93AE-4310-A34B-8167674D042A}"/>
    <dgm:cxn modelId="{A360A41A-E0EA-4E07-9DEE-F122AB3D384F}" type="presOf" srcId="{382203CF-DB5D-4C0B-94CB-59444DFF4ABF}" destId="{BACDDFCF-3D1F-48C9-BA88-BDCC2B4DCB57}" srcOrd="0" destOrd="0" presId="urn:microsoft.com/office/officeart/2005/8/layout/cycle6"/>
    <dgm:cxn modelId="{33EC052E-FF74-4DDC-9A95-AB2F0783A8C9}" srcId="{FDA6A166-CF62-48C0-BB6B-9FD5A84CAB1D}" destId="{26312ACA-8FC9-47BB-8590-82DFD31E33F4}" srcOrd="2" destOrd="0" parTransId="{B272D828-EF15-45E9-8207-11ADF3BA8DB9}" sibTransId="{65130A5F-25CA-416B-BDCB-3159B48BC79B}"/>
    <dgm:cxn modelId="{B4AF2861-0C96-49B8-B5C1-719A25519C75}" type="presOf" srcId="{D4C7194B-6A16-4AC6-9EEC-8C1CEF568A45}" destId="{46313A7F-32FF-4BDB-8FC1-CCBA732A0ACE}" srcOrd="0" destOrd="0" presId="urn:microsoft.com/office/officeart/2005/8/layout/cycle6"/>
    <dgm:cxn modelId="{4F3E256A-94DD-4031-91C2-C0B52F3C86B2}" type="presOf" srcId="{89124CA0-9A73-4E3F-9EFE-DF82C1BCC205}" destId="{934F4F8F-3C83-4348-979E-AE0D7811B191}" srcOrd="0" destOrd="0" presId="urn:microsoft.com/office/officeart/2005/8/layout/cycle6"/>
    <dgm:cxn modelId="{BD38A572-5FC3-40ED-9298-EE98F61CE80E}" srcId="{FDA6A166-CF62-48C0-BB6B-9FD5A84CAB1D}" destId="{75A62B70-C325-4A03-8BC5-E6E43CE17DA2}" srcOrd="3" destOrd="0" parTransId="{B417360C-F822-455A-BA81-1A723AFB50F4}" sibTransId="{9D6A2A38-A744-4167-8828-0D95334C137E}"/>
    <dgm:cxn modelId="{54664A8D-1033-43B0-A23D-507C92A19853}" srcId="{FDA6A166-CF62-48C0-BB6B-9FD5A84CAB1D}" destId="{C4C0EBC2-7C35-4582-A001-0130832FD1BF}" srcOrd="1" destOrd="0" parTransId="{D6F7BCDD-F947-4342-B5EF-80EFD595EE56}" sibTransId="{4A69E678-1D87-4662-80BC-C0FD2B929094}"/>
    <dgm:cxn modelId="{B01E169A-09AC-46E1-93D8-2B1A5EE9E2B0}" type="presOf" srcId="{C4C0EBC2-7C35-4582-A001-0130832FD1BF}" destId="{75B232EC-6ECA-4412-8074-07BC2B5D0F2F}" srcOrd="0" destOrd="0" presId="urn:microsoft.com/office/officeart/2005/8/layout/cycle6"/>
    <dgm:cxn modelId="{46CD929D-BE1D-4F9B-A9C0-82ECA5854CF2}" type="presOf" srcId="{C0D27B10-93AE-4310-A34B-8167674D042A}" destId="{2E91A740-8C60-4027-8FE5-1B0407730A41}" srcOrd="0" destOrd="0" presId="urn:microsoft.com/office/officeart/2005/8/layout/cycle6"/>
    <dgm:cxn modelId="{A3C447A1-5E3B-43B4-B80B-55E78BCD58E4}" type="presOf" srcId="{75A62B70-C325-4A03-8BC5-E6E43CE17DA2}" destId="{7066FDF3-7B84-4FAC-A8AE-E1EE07F36863}" srcOrd="0" destOrd="0" presId="urn:microsoft.com/office/officeart/2005/8/layout/cycle6"/>
    <dgm:cxn modelId="{FC0E90A6-46EB-4177-87C3-7FCDBE2CE355}" type="presOf" srcId="{65130A5F-25CA-416B-BDCB-3159B48BC79B}" destId="{53EE9769-8973-4D43-ACF1-08BC888E382D}" srcOrd="0" destOrd="0" presId="urn:microsoft.com/office/officeart/2005/8/layout/cycle6"/>
    <dgm:cxn modelId="{68506FC0-BC29-4388-89F0-E7416BEA1319}" type="presOf" srcId="{9D6A2A38-A744-4167-8828-0D95334C137E}" destId="{EA2313D4-D46A-4178-8E53-007643C3B01B}" srcOrd="0" destOrd="0" presId="urn:microsoft.com/office/officeart/2005/8/layout/cycle6"/>
    <dgm:cxn modelId="{B18438C2-8E91-4DAA-8DB8-EB07FC6D86FF}" srcId="{FDA6A166-CF62-48C0-BB6B-9FD5A84CAB1D}" destId="{051110AA-57C6-4A2A-A48F-3B70CB4D8CD3}" srcOrd="5" destOrd="0" parTransId="{7A21562E-ED0E-4F36-BE74-A56DA59DD132}" sibTransId="{D4C7194B-6A16-4AC6-9EEC-8C1CEF568A45}"/>
    <dgm:cxn modelId="{AD6FC2C4-203A-4C29-AF27-47A45C072948}" type="presOf" srcId="{4A69E678-1D87-4662-80BC-C0FD2B929094}" destId="{E71C6EEF-6B7E-42EF-BB65-CEA21A003A84}" srcOrd="0" destOrd="0" presId="urn:microsoft.com/office/officeart/2005/8/layout/cycle6"/>
    <dgm:cxn modelId="{82550EC6-93A5-45EE-B82B-6B25B38CEEC2}" type="presOf" srcId="{051110AA-57C6-4A2A-A48F-3B70CB4D8CD3}" destId="{2ED149DF-0E6A-4925-A115-EDFBD6ABC1E6}" srcOrd="0" destOrd="0" presId="urn:microsoft.com/office/officeart/2005/8/layout/cycle6"/>
    <dgm:cxn modelId="{C6FE51CD-88CC-488B-A6F0-83B18CCC1FDD}" srcId="{FDA6A166-CF62-48C0-BB6B-9FD5A84CAB1D}" destId="{89124CA0-9A73-4E3F-9EFE-DF82C1BCC205}" srcOrd="4" destOrd="0" parTransId="{93DAA720-3EC0-442D-AAFC-34E33BE42E5D}" sibTransId="{382203CF-DB5D-4C0B-94CB-59444DFF4ABF}"/>
    <dgm:cxn modelId="{EA07CFD9-C2CD-41C4-9638-3E2CA2E1052B}" type="presOf" srcId="{FDA6A166-CF62-48C0-BB6B-9FD5A84CAB1D}" destId="{06AF4D16-1BE2-4EF8-A135-DC11A2A24F14}" srcOrd="0" destOrd="0" presId="urn:microsoft.com/office/officeart/2005/8/layout/cycle6"/>
    <dgm:cxn modelId="{82D5C3F6-E385-4581-BB54-1E08F63F9E9B}" type="presOf" srcId="{26312ACA-8FC9-47BB-8590-82DFD31E33F4}" destId="{8E0B933A-CA66-43D9-8AFA-74801355ED93}" srcOrd="0" destOrd="0" presId="urn:microsoft.com/office/officeart/2005/8/layout/cycle6"/>
    <dgm:cxn modelId="{E6DB62F8-D0B6-461F-928C-D8A413E3B8EF}" type="presOf" srcId="{E33AF632-FB3A-438A-A28A-5D2504EDD07C}" destId="{C8C4E772-FE6F-4E3E-A139-01EA40F4A315}" srcOrd="0" destOrd="0" presId="urn:microsoft.com/office/officeart/2005/8/layout/cycle6"/>
    <dgm:cxn modelId="{8BC7931A-C52F-41F0-B8EE-25D2276172E5}" type="presParOf" srcId="{06AF4D16-1BE2-4EF8-A135-DC11A2A24F14}" destId="{C8C4E772-FE6F-4E3E-A139-01EA40F4A315}" srcOrd="0" destOrd="0" presId="urn:microsoft.com/office/officeart/2005/8/layout/cycle6"/>
    <dgm:cxn modelId="{5A80D1C0-67A2-4194-ABD1-FD68F64DDA4D}" type="presParOf" srcId="{06AF4D16-1BE2-4EF8-A135-DC11A2A24F14}" destId="{ED9EA9A6-CCFC-411D-87EF-1E4D23B2915C}" srcOrd="1" destOrd="0" presId="urn:microsoft.com/office/officeart/2005/8/layout/cycle6"/>
    <dgm:cxn modelId="{57FBBB52-7B1B-4040-92E3-671A2E68EB85}" type="presParOf" srcId="{06AF4D16-1BE2-4EF8-A135-DC11A2A24F14}" destId="{2E91A740-8C60-4027-8FE5-1B0407730A41}" srcOrd="2" destOrd="0" presId="urn:microsoft.com/office/officeart/2005/8/layout/cycle6"/>
    <dgm:cxn modelId="{D0D79F80-6AF2-456A-BCB8-7FD60BB9DD54}" type="presParOf" srcId="{06AF4D16-1BE2-4EF8-A135-DC11A2A24F14}" destId="{75B232EC-6ECA-4412-8074-07BC2B5D0F2F}" srcOrd="3" destOrd="0" presId="urn:microsoft.com/office/officeart/2005/8/layout/cycle6"/>
    <dgm:cxn modelId="{A1D16A0E-BB28-410D-8AF9-2500B798D3F0}" type="presParOf" srcId="{06AF4D16-1BE2-4EF8-A135-DC11A2A24F14}" destId="{0DC60BC5-9C0D-4926-BA9C-C328A1A05F61}" srcOrd="4" destOrd="0" presId="urn:microsoft.com/office/officeart/2005/8/layout/cycle6"/>
    <dgm:cxn modelId="{3DF9845A-1AB7-48FE-AFCC-FE752781D099}" type="presParOf" srcId="{06AF4D16-1BE2-4EF8-A135-DC11A2A24F14}" destId="{E71C6EEF-6B7E-42EF-BB65-CEA21A003A84}" srcOrd="5" destOrd="0" presId="urn:microsoft.com/office/officeart/2005/8/layout/cycle6"/>
    <dgm:cxn modelId="{7AC0C3E1-C31B-44F0-AD66-26B2F023718B}" type="presParOf" srcId="{06AF4D16-1BE2-4EF8-A135-DC11A2A24F14}" destId="{8E0B933A-CA66-43D9-8AFA-74801355ED93}" srcOrd="6" destOrd="0" presId="urn:microsoft.com/office/officeart/2005/8/layout/cycle6"/>
    <dgm:cxn modelId="{D82DA2C0-3AD6-4420-B556-B1879F769237}" type="presParOf" srcId="{06AF4D16-1BE2-4EF8-A135-DC11A2A24F14}" destId="{BCF4C609-8D78-46AB-B244-8B183424BBE4}" srcOrd="7" destOrd="0" presId="urn:microsoft.com/office/officeart/2005/8/layout/cycle6"/>
    <dgm:cxn modelId="{4245851E-429D-4AB1-8638-8820B52EEDBC}" type="presParOf" srcId="{06AF4D16-1BE2-4EF8-A135-DC11A2A24F14}" destId="{53EE9769-8973-4D43-ACF1-08BC888E382D}" srcOrd="8" destOrd="0" presId="urn:microsoft.com/office/officeart/2005/8/layout/cycle6"/>
    <dgm:cxn modelId="{4A6DD71E-C5E4-452A-BA2E-9489265A7463}" type="presParOf" srcId="{06AF4D16-1BE2-4EF8-A135-DC11A2A24F14}" destId="{7066FDF3-7B84-4FAC-A8AE-E1EE07F36863}" srcOrd="9" destOrd="0" presId="urn:microsoft.com/office/officeart/2005/8/layout/cycle6"/>
    <dgm:cxn modelId="{F8FDB395-919F-41BA-947B-A947CDBA1E12}" type="presParOf" srcId="{06AF4D16-1BE2-4EF8-A135-DC11A2A24F14}" destId="{784F5E6F-79BA-4157-A4C3-2C66F98082D8}" srcOrd="10" destOrd="0" presId="urn:microsoft.com/office/officeart/2005/8/layout/cycle6"/>
    <dgm:cxn modelId="{9B877315-D278-4024-87F4-A5000CDD32F6}" type="presParOf" srcId="{06AF4D16-1BE2-4EF8-A135-DC11A2A24F14}" destId="{EA2313D4-D46A-4178-8E53-007643C3B01B}" srcOrd="11" destOrd="0" presId="urn:microsoft.com/office/officeart/2005/8/layout/cycle6"/>
    <dgm:cxn modelId="{3423343C-0AFB-4505-8326-B75A3A1E3696}" type="presParOf" srcId="{06AF4D16-1BE2-4EF8-A135-DC11A2A24F14}" destId="{934F4F8F-3C83-4348-979E-AE0D7811B191}" srcOrd="12" destOrd="0" presId="urn:microsoft.com/office/officeart/2005/8/layout/cycle6"/>
    <dgm:cxn modelId="{BA385C21-89B4-4AE2-8EB0-D6825CB8CBD1}" type="presParOf" srcId="{06AF4D16-1BE2-4EF8-A135-DC11A2A24F14}" destId="{F6999772-B956-40B2-834C-EB3B22B50451}" srcOrd="13" destOrd="0" presId="urn:microsoft.com/office/officeart/2005/8/layout/cycle6"/>
    <dgm:cxn modelId="{5C5E55F9-63C1-4DD3-B6B6-67063E6CCFDD}" type="presParOf" srcId="{06AF4D16-1BE2-4EF8-A135-DC11A2A24F14}" destId="{BACDDFCF-3D1F-48C9-BA88-BDCC2B4DCB57}" srcOrd="14" destOrd="0" presId="urn:microsoft.com/office/officeart/2005/8/layout/cycle6"/>
    <dgm:cxn modelId="{EC160DE5-25BD-4CE6-A4A1-AA213C2EC0D5}" type="presParOf" srcId="{06AF4D16-1BE2-4EF8-A135-DC11A2A24F14}" destId="{2ED149DF-0E6A-4925-A115-EDFBD6ABC1E6}" srcOrd="15" destOrd="0" presId="urn:microsoft.com/office/officeart/2005/8/layout/cycle6"/>
    <dgm:cxn modelId="{CB99BE7B-06A0-4428-A61D-1676AC744785}" type="presParOf" srcId="{06AF4D16-1BE2-4EF8-A135-DC11A2A24F14}" destId="{A8E24B5D-BCFC-4E5F-8203-DFC18CFFE557}" srcOrd="16" destOrd="0" presId="urn:microsoft.com/office/officeart/2005/8/layout/cycle6"/>
    <dgm:cxn modelId="{2F03FCF4-B573-41F6-9AEB-0B4D47FFB000}" type="presParOf" srcId="{06AF4D16-1BE2-4EF8-A135-DC11A2A24F14}" destId="{46313A7F-32FF-4BDB-8FC1-CCBA732A0ACE}" srcOrd="17"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194A78-B6A0-440F-8261-36002BBC796D}"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GB"/>
        </a:p>
      </dgm:t>
    </dgm:pt>
    <dgm:pt modelId="{9E89BFDC-B4DA-4F29-AD53-65C7B06E94ED}">
      <dgm:prSet phldrT="[Text]" custT="1"/>
      <dgm:spPr>
        <a:xfrm>
          <a:off x="5554334" y="2388503"/>
          <a:ext cx="1059163" cy="1059163"/>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400" dirty="0">
              <a:solidFill>
                <a:sysClr val="window" lastClr="FFFFFF"/>
              </a:solidFill>
              <a:latin typeface="Aptos" panose="02110004020202020204"/>
              <a:ea typeface="+mn-ea"/>
              <a:cs typeface="+mn-cs"/>
            </a:rPr>
            <a:t>Mobility, Frailty and Falls Risk</a:t>
          </a:r>
        </a:p>
      </dgm:t>
    </dgm:pt>
    <dgm:pt modelId="{879C5BF6-6751-488E-8F81-489F2ACC02C6}" type="parTrans" cxnId="{C7EBAE7F-17D0-4640-8122-99BDF4C25397}">
      <dgm:prSet/>
      <dgm:spPr/>
      <dgm:t>
        <a:bodyPr/>
        <a:lstStyle/>
        <a:p>
          <a:endParaRPr lang="en-GB"/>
        </a:p>
      </dgm:t>
    </dgm:pt>
    <dgm:pt modelId="{712FF224-AE4A-4699-9D6F-CD90D754067D}" type="sibTrans" cxnId="{C7EBAE7F-17D0-4640-8122-99BDF4C25397}">
      <dgm:prSet/>
      <dgm:spPr>
        <a:xfrm rot="9000000">
          <a:off x="5260395" y="3133314"/>
          <a:ext cx="282313" cy="357467"/>
        </a:xfrm>
        <a:prstGeom prst="rightArrow">
          <a:avLst>
            <a:gd name="adj1" fmla="val 60000"/>
            <a:gd name="adj2" fmla="val 50000"/>
          </a:avLst>
        </a:prstGeom>
        <a:solidFill>
          <a:srgbClr val="156082">
            <a:tint val="60000"/>
            <a:hueOff val="0"/>
            <a:satOff val="0"/>
            <a:lumOff val="0"/>
            <a:alphaOff val="0"/>
          </a:srgbClr>
        </a:solidFill>
        <a:ln>
          <a:noFill/>
        </a:ln>
        <a:effectLst/>
      </dgm:spPr>
      <dgm:t>
        <a:bodyPr/>
        <a:lstStyle/>
        <a:p>
          <a:pPr>
            <a:buNone/>
          </a:pPr>
          <a:endParaRPr lang="en-GB">
            <a:solidFill>
              <a:sysClr val="window" lastClr="FFFFFF"/>
            </a:solidFill>
            <a:latin typeface="Aptos" panose="02110004020202020204"/>
            <a:ea typeface="+mn-ea"/>
            <a:cs typeface="+mn-cs"/>
          </a:endParaRPr>
        </a:p>
      </dgm:t>
    </dgm:pt>
    <dgm:pt modelId="{278420F0-D7F3-4EEB-82F1-D70F3010F70A}">
      <dgm:prSet phldrT="[Text]" custT="1"/>
      <dgm:spPr>
        <a:xfrm>
          <a:off x="2797202" y="2388503"/>
          <a:ext cx="1059163" cy="1059163"/>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100" dirty="0">
              <a:solidFill>
                <a:sysClr val="window" lastClr="FFFFFF"/>
              </a:solidFill>
              <a:latin typeface="Aptos" panose="02110004020202020204"/>
              <a:ea typeface="+mn-ea"/>
              <a:cs typeface="+mn-cs"/>
            </a:rPr>
            <a:t>Sarcopenia and Bone Health osteoporosis</a:t>
          </a:r>
          <a:endParaRPr lang="en-GB" sz="900" dirty="0">
            <a:solidFill>
              <a:sysClr val="window" lastClr="FFFFFF"/>
            </a:solidFill>
            <a:latin typeface="Aptos" panose="02110004020202020204"/>
            <a:ea typeface="+mn-ea"/>
            <a:cs typeface="+mn-cs"/>
          </a:endParaRPr>
        </a:p>
      </dgm:t>
    </dgm:pt>
    <dgm:pt modelId="{64CC7B76-1096-4A6D-9085-5772F5CB6562}" type="parTrans" cxnId="{A17F5EB4-9BDA-4FBC-ACBD-700593771BFC}">
      <dgm:prSet/>
      <dgm:spPr/>
      <dgm:t>
        <a:bodyPr/>
        <a:lstStyle/>
        <a:p>
          <a:endParaRPr lang="en-GB"/>
        </a:p>
      </dgm:t>
    </dgm:pt>
    <dgm:pt modelId="{18B88C4E-36BF-4562-9618-EF01965F6623}" type="sibTrans" cxnId="{A17F5EB4-9BDA-4FBC-ACBD-700593771BFC}">
      <dgm:prSet/>
      <dgm:spPr>
        <a:xfrm rot="16200000">
          <a:off x="3185627" y="1951426"/>
          <a:ext cx="282313" cy="357467"/>
        </a:xfrm>
        <a:prstGeom prst="rightArrow">
          <a:avLst>
            <a:gd name="adj1" fmla="val 60000"/>
            <a:gd name="adj2" fmla="val 50000"/>
          </a:avLst>
        </a:prstGeom>
        <a:solidFill>
          <a:srgbClr val="156082">
            <a:tint val="60000"/>
            <a:hueOff val="0"/>
            <a:satOff val="0"/>
            <a:lumOff val="0"/>
            <a:alphaOff val="0"/>
          </a:srgbClr>
        </a:solidFill>
        <a:ln>
          <a:noFill/>
        </a:ln>
        <a:effectLst/>
      </dgm:spPr>
      <dgm:t>
        <a:bodyPr/>
        <a:lstStyle/>
        <a:p>
          <a:pPr>
            <a:buNone/>
          </a:pPr>
          <a:endParaRPr lang="en-GB">
            <a:solidFill>
              <a:sysClr val="window" lastClr="FFFFFF"/>
            </a:solidFill>
            <a:latin typeface="Aptos" panose="02110004020202020204"/>
            <a:ea typeface="+mn-ea"/>
            <a:cs typeface="+mn-cs"/>
          </a:endParaRPr>
        </a:p>
      </dgm:t>
    </dgm:pt>
    <dgm:pt modelId="{84C516E7-157D-418E-9BC3-ED36B156ACA1}">
      <dgm:prSet custT="1"/>
      <dgm:spPr>
        <a:xfrm>
          <a:off x="5554334" y="796672"/>
          <a:ext cx="1059163" cy="1059163"/>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1100" dirty="0">
              <a:solidFill>
                <a:sysClr val="window" lastClr="FFFFFF"/>
              </a:solidFill>
              <a:latin typeface="Aptos" panose="02110004020202020204"/>
              <a:ea typeface="+mn-ea"/>
              <a:cs typeface="+mn-cs"/>
            </a:rPr>
            <a:t>Mental Health-Age‑Related Cognitive Decline</a:t>
          </a:r>
        </a:p>
      </dgm:t>
    </dgm:pt>
    <dgm:pt modelId="{F441D0B2-C89C-4EE0-A8A7-728C080F0AE7}" type="parTrans" cxnId="{7C3A3F8F-787D-4EBA-B008-6E62C2391CA6}">
      <dgm:prSet/>
      <dgm:spPr/>
      <dgm:t>
        <a:bodyPr/>
        <a:lstStyle/>
        <a:p>
          <a:endParaRPr lang="en-GB"/>
        </a:p>
      </dgm:t>
    </dgm:pt>
    <dgm:pt modelId="{31CB3D87-F3D4-416B-A430-D3562D4ECCD2}" type="sibTrans" cxnId="{7C3A3F8F-787D-4EBA-B008-6E62C2391CA6}">
      <dgm:prSet/>
      <dgm:spPr>
        <a:xfrm rot="5400000">
          <a:off x="5942758" y="1935446"/>
          <a:ext cx="282313" cy="357467"/>
        </a:xfrm>
        <a:prstGeom prst="rightArrow">
          <a:avLst>
            <a:gd name="adj1" fmla="val 60000"/>
            <a:gd name="adj2" fmla="val 50000"/>
          </a:avLst>
        </a:prstGeom>
        <a:solidFill>
          <a:srgbClr val="156082">
            <a:tint val="60000"/>
            <a:hueOff val="0"/>
            <a:satOff val="0"/>
            <a:lumOff val="0"/>
            <a:alphaOff val="0"/>
          </a:srgbClr>
        </a:solidFill>
        <a:ln>
          <a:noFill/>
        </a:ln>
        <a:effectLst/>
      </dgm:spPr>
      <dgm:t>
        <a:bodyPr/>
        <a:lstStyle/>
        <a:p>
          <a:pPr>
            <a:buNone/>
          </a:pPr>
          <a:endParaRPr lang="en-GB">
            <a:solidFill>
              <a:sysClr val="window" lastClr="FFFFFF"/>
            </a:solidFill>
            <a:latin typeface="Aptos" panose="02110004020202020204"/>
            <a:ea typeface="+mn-ea"/>
            <a:cs typeface="+mn-cs"/>
          </a:endParaRPr>
        </a:p>
      </dgm:t>
    </dgm:pt>
    <dgm:pt modelId="{F65CE893-D004-4952-8127-6F14A5064EAB}">
      <dgm:prSet custT="1"/>
      <dgm:spPr>
        <a:xfrm>
          <a:off x="4175768" y="3184419"/>
          <a:ext cx="1059163" cy="1059163"/>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GB" sz="900" dirty="0">
              <a:solidFill>
                <a:sysClr val="window" lastClr="FFFFFF"/>
              </a:solidFill>
              <a:latin typeface="Aptos" panose="02110004020202020204"/>
              <a:ea typeface="+mn-ea"/>
              <a:cs typeface="+mn-cs"/>
            </a:rPr>
            <a:t>NCDs/Chronic Disease cardiovascular disease, respiratory, diabetes.</a:t>
          </a:r>
        </a:p>
      </dgm:t>
    </dgm:pt>
    <dgm:pt modelId="{E1D0B7F0-75F7-4CD0-8BC3-2DCB1F4DFC3B}" type="parTrans" cxnId="{F0F5C8D6-BEB7-4C1A-8B1D-1F4982D92DFF}">
      <dgm:prSet/>
      <dgm:spPr/>
      <dgm:t>
        <a:bodyPr/>
        <a:lstStyle/>
        <a:p>
          <a:endParaRPr lang="en-GB"/>
        </a:p>
      </dgm:t>
    </dgm:pt>
    <dgm:pt modelId="{ADFF019A-92E9-49BE-8ACD-4ED0CD6DCABA}" type="sibTrans" cxnId="{F0F5C8D6-BEB7-4C1A-8B1D-1F4982D92DFF}">
      <dgm:prSet/>
      <dgm:spPr>
        <a:xfrm rot="12600000">
          <a:off x="3881829" y="3141304"/>
          <a:ext cx="282313" cy="357467"/>
        </a:xfrm>
        <a:prstGeom prst="rightArrow">
          <a:avLst>
            <a:gd name="adj1" fmla="val 60000"/>
            <a:gd name="adj2" fmla="val 50000"/>
          </a:avLst>
        </a:prstGeom>
        <a:solidFill>
          <a:srgbClr val="156082">
            <a:tint val="60000"/>
            <a:hueOff val="0"/>
            <a:satOff val="0"/>
            <a:lumOff val="0"/>
            <a:alphaOff val="0"/>
          </a:srgbClr>
        </a:solidFill>
        <a:ln>
          <a:noFill/>
        </a:ln>
        <a:effectLst/>
      </dgm:spPr>
      <dgm:t>
        <a:bodyPr/>
        <a:lstStyle/>
        <a:p>
          <a:pPr>
            <a:buNone/>
          </a:pPr>
          <a:endParaRPr lang="en-GB">
            <a:solidFill>
              <a:sysClr val="window" lastClr="FFFFFF"/>
            </a:solidFill>
            <a:latin typeface="Aptos" panose="02110004020202020204"/>
            <a:ea typeface="+mn-ea"/>
            <a:cs typeface="+mn-cs"/>
          </a:endParaRPr>
        </a:p>
      </dgm:t>
    </dgm:pt>
    <dgm:pt modelId="{3C3E4139-67D9-4BEE-8141-20C604F0CE67}" type="pres">
      <dgm:prSet presAssocID="{42194A78-B6A0-440F-8261-36002BBC796D}" presName="cycle" presStyleCnt="0">
        <dgm:presLayoutVars>
          <dgm:dir/>
          <dgm:resizeHandles val="exact"/>
        </dgm:presLayoutVars>
      </dgm:prSet>
      <dgm:spPr/>
    </dgm:pt>
    <dgm:pt modelId="{78076EAC-1BED-48F7-8503-17EDB85DFF1F}" type="pres">
      <dgm:prSet presAssocID="{84C516E7-157D-418E-9BC3-ED36B156ACA1}" presName="node" presStyleLbl="node1" presStyleIdx="0" presStyleCnt="4">
        <dgm:presLayoutVars>
          <dgm:bulletEnabled val="1"/>
        </dgm:presLayoutVars>
      </dgm:prSet>
      <dgm:spPr/>
    </dgm:pt>
    <dgm:pt modelId="{3319169C-BA4A-43F6-BCC5-27F5D8DCA3D7}" type="pres">
      <dgm:prSet presAssocID="{31CB3D87-F3D4-416B-A430-D3562D4ECCD2}" presName="sibTrans" presStyleLbl="sibTrans2D1" presStyleIdx="0" presStyleCnt="4"/>
      <dgm:spPr/>
    </dgm:pt>
    <dgm:pt modelId="{F06FDDF3-00C4-4805-A4CE-609759D6501F}" type="pres">
      <dgm:prSet presAssocID="{31CB3D87-F3D4-416B-A430-D3562D4ECCD2}" presName="connectorText" presStyleLbl="sibTrans2D1" presStyleIdx="0" presStyleCnt="4"/>
      <dgm:spPr/>
    </dgm:pt>
    <dgm:pt modelId="{377556C5-C87E-4E6D-AF3E-8CC02E38E523}" type="pres">
      <dgm:prSet presAssocID="{9E89BFDC-B4DA-4F29-AD53-65C7B06E94ED}" presName="node" presStyleLbl="node1" presStyleIdx="1" presStyleCnt="4">
        <dgm:presLayoutVars>
          <dgm:bulletEnabled val="1"/>
        </dgm:presLayoutVars>
      </dgm:prSet>
      <dgm:spPr/>
    </dgm:pt>
    <dgm:pt modelId="{937C2ACC-FAA9-475F-B4F9-21B8C5F27C6B}" type="pres">
      <dgm:prSet presAssocID="{712FF224-AE4A-4699-9D6F-CD90D754067D}" presName="sibTrans" presStyleLbl="sibTrans2D1" presStyleIdx="1" presStyleCnt="4"/>
      <dgm:spPr/>
    </dgm:pt>
    <dgm:pt modelId="{A2BE7469-AD72-4AD2-9D20-72CB2932864D}" type="pres">
      <dgm:prSet presAssocID="{712FF224-AE4A-4699-9D6F-CD90D754067D}" presName="connectorText" presStyleLbl="sibTrans2D1" presStyleIdx="1" presStyleCnt="4"/>
      <dgm:spPr/>
    </dgm:pt>
    <dgm:pt modelId="{FBAF4580-9FA4-4858-8C03-01C75A222313}" type="pres">
      <dgm:prSet presAssocID="{F65CE893-D004-4952-8127-6F14A5064EAB}" presName="node" presStyleLbl="node1" presStyleIdx="2" presStyleCnt="4">
        <dgm:presLayoutVars>
          <dgm:bulletEnabled val="1"/>
        </dgm:presLayoutVars>
      </dgm:prSet>
      <dgm:spPr/>
    </dgm:pt>
    <dgm:pt modelId="{25DEF6E3-0590-4EA0-8905-2D64C7CE338B}" type="pres">
      <dgm:prSet presAssocID="{ADFF019A-92E9-49BE-8ACD-4ED0CD6DCABA}" presName="sibTrans" presStyleLbl="sibTrans2D1" presStyleIdx="2" presStyleCnt="4"/>
      <dgm:spPr/>
    </dgm:pt>
    <dgm:pt modelId="{B3E14338-7ABD-48E7-86ED-4094483D7C01}" type="pres">
      <dgm:prSet presAssocID="{ADFF019A-92E9-49BE-8ACD-4ED0CD6DCABA}" presName="connectorText" presStyleLbl="sibTrans2D1" presStyleIdx="2" presStyleCnt="4"/>
      <dgm:spPr/>
    </dgm:pt>
    <dgm:pt modelId="{8CE64008-182E-4327-88CA-25E77FFE7EF6}" type="pres">
      <dgm:prSet presAssocID="{278420F0-D7F3-4EEB-82F1-D70F3010F70A}" presName="node" presStyleLbl="node1" presStyleIdx="3" presStyleCnt="4" custRadScaleRad="115456" custRadScaleInc="8064">
        <dgm:presLayoutVars>
          <dgm:bulletEnabled val="1"/>
        </dgm:presLayoutVars>
      </dgm:prSet>
      <dgm:spPr/>
    </dgm:pt>
    <dgm:pt modelId="{9D112DB4-06D0-4089-A788-558F808B413B}" type="pres">
      <dgm:prSet presAssocID="{18B88C4E-36BF-4562-9618-EF01965F6623}" presName="sibTrans" presStyleLbl="sibTrans2D1" presStyleIdx="3" presStyleCnt="4"/>
      <dgm:spPr/>
    </dgm:pt>
    <dgm:pt modelId="{9CD93C59-235B-485C-BB1F-FC6C98EFDF1D}" type="pres">
      <dgm:prSet presAssocID="{18B88C4E-36BF-4562-9618-EF01965F6623}" presName="connectorText" presStyleLbl="sibTrans2D1" presStyleIdx="3" presStyleCnt="4"/>
      <dgm:spPr/>
    </dgm:pt>
  </dgm:ptLst>
  <dgm:cxnLst>
    <dgm:cxn modelId="{C0368726-8B38-49B5-A437-6768004BC70C}" type="presOf" srcId="{31CB3D87-F3D4-416B-A430-D3562D4ECCD2}" destId="{3319169C-BA4A-43F6-BCC5-27F5D8DCA3D7}" srcOrd="0" destOrd="0" presId="urn:microsoft.com/office/officeart/2005/8/layout/cycle2"/>
    <dgm:cxn modelId="{422B2261-ED31-4EBC-A309-EDA8E98A5299}" type="presOf" srcId="{18B88C4E-36BF-4562-9618-EF01965F6623}" destId="{9CD93C59-235B-485C-BB1F-FC6C98EFDF1D}" srcOrd="1" destOrd="0" presId="urn:microsoft.com/office/officeart/2005/8/layout/cycle2"/>
    <dgm:cxn modelId="{94510167-044B-4F7D-8160-A44BDFEFDEF0}" type="presOf" srcId="{ADFF019A-92E9-49BE-8ACD-4ED0CD6DCABA}" destId="{B3E14338-7ABD-48E7-86ED-4094483D7C01}" srcOrd="1" destOrd="0" presId="urn:microsoft.com/office/officeart/2005/8/layout/cycle2"/>
    <dgm:cxn modelId="{AB7C9A48-2DCC-4AEA-8AD0-1614EF6BA349}" type="presOf" srcId="{84C516E7-157D-418E-9BC3-ED36B156ACA1}" destId="{78076EAC-1BED-48F7-8503-17EDB85DFF1F}" srcOrd="0" destOrd="0" presId="urn:microsoft.com/office/officeart/2005/8/layout/cycle2"/>
    <dgm:cxn modelId="{866E6C53-2976-4113-985D-95152C30CD45}" type="presOf" srcId="{31CB3D87-F3D4-416B-A430-D3562D4ECCD2}" destId="{F06FDDF3-00C4-4805-A4CE-609759D6501F}" srcOrd="1" destOrd="0" presId="urn:microsoft.com/office/officeart/2005/8/layout/cycle2"/>
    <dgm:cxn modelId="{C1BAAD74-A78C-4C51-96FD-13B910B6EE73}" type="presOf" srcId="{F65CE893-D004-4952-8127-6F14A5064EAB}" destId="{FBAF4580-9FA4-4858-8C03-01C75A222313}" srcOrd="0" destOrd="0" presId="urn:microsoft.com/office/officeart/2005/8/layout/cycle2"/>
    <dgm:cxn modelId="{2DD08A7F-C3B4-4F42-9B10-FDE06F8EDCA0}" type="presOf" srcId="{42194A78-B6A0-440F-8261-36002BBC796D}" destId="{3C3E4139-67D9-4BEE-8141-20C604F0CE67}" srcOrd="0" destOrd="0" presId="urn:microsoft.com/office/officeart/2005/8/layout/cycle2"/>
    <dgm:cxn modelId="{C7EBAE7F-17D0-4640-8122-99BDF4C25397}" srcId="{42194A78-B6A0-440F-8261-36002BBC796D}" destId="{9E89BFDC-B4DA-4F29-AD53-65C7B06E94ED}" srcOrd="1" destOrd="0" parTransId="{879C5BF6-6751-488E-8F81-489F2ACC02C6}" sibTransId="{712FF224-AE4A-4699-9D6F-CD90D754067D}"/>
    <dgm:cxn modelId="{7C3A3F8F-787D-4EBA-B008-6E62C2391CA6}" srcId="{42194A78-B6A0-440F-8261-36002BBC796D}" destId="{84C516E7-157D-418E-9BC3-ED36B156ACA1}" srcOrd="0" destOrd="0" parTransId="{F441D0B2-C89C-4EE0-A8A7-728C080F0AE7}" sibTransId="{31CB3D87-F3D4-416B-A430-D3562D4ECCD2}"/>
    <dgm:cxn modelId="{A17F5EB4-9BDA-4FBC-ACBD-700593771BFC}" srcId="{42194A78-B6A0-440F-8261-36002BBC796D}" destId="{278420F0-D7F3-4EEB-82F1-D70F3010F70A}" srcOrd="3" destOrd="0" parTransId="{64CC7B76-1096-4A6D-9085-5772F5CB6562}" sibTransId="{18B88C4E-36BF-4562-9618-EF01965F6623}"/>
    <dgm:cxn modelId="{B8AFCBC4-EC98-45AD-A788-60AF378DC1D0}" type="presOf" srcId="{9E89BFDC-B4DA-4F29-AD53-65C7B06E94ED}" destId="{377556C5-C87E-4E6D-AF3E-8CC02E38E523}" srcOrd="0" destOrd="0" presId="urn:microsoft.com/office/officeart/2005/8/layout/cycle2"/>
    <dgm:cxn modelId="{4F1BEEC9-A8D4-4A71-B445-5C30D7459F8E}" type="presOf" srcId="{712FF224-AE4A-4699-9D6F-CD90D754067D}" destId="{937C2ACC-FAA9-475F-B4F9-21B8C5F27C6B}" srcOrd="0" destOrd="0" presId="urn:microsoft.com/office/officeart/2005/8/layout/cycle2"/>
    <dgm:cxn modelId="{15003BCB-458A-4196-817C-89728A3CF1F6}" type="presOf" srcId="{ADFF019A-92E9-49BE-8ACD-4ED0CD6DCABA}" destId="{25DEF6E3-0590-4EA0-8905-2D64C7CE338B}" srcOrd="0" destOrd="0" presId="urn:microsoft.com/office/officeart/2005/8/layout/cycle2"/>
    <dgm:cxn modelId="{F0F5C8D6-BEB7-4C1A-8B1D-1F4982D92DFF}" srcId="{42194A78-B6A0-440F-8261-36002BBC796D}" destId="{F65CE893-D004-4952-8127-6F14A5064EAB}" srcOrd="2" destOrd="0" parTransId="{E1D0B7F0-75F7-4CD0-8BC3-2DCB1F4DFC3B}" sibTransId="{ADFF019A-92E9-49BE-8ACD-4ED0CD6DCABA}"/>
    <dgm:cxn modelId="{85BE5BD8-44CE-4BEA-A184-F89ED9900B1F}" type="presOf" srcId="{18B88C4E-36BF-4562-9618-EF01965F6623}" destId="{9D112DB4-06D0-4089-A788-558F808B413B}" srcOrd="0" destOrd="0" presId="urn:microsoft.com/office/officeart/2005/8/layout/cycle2"/>
    <dgm:cxn modelId="{837F88E6-6BC9-4239-8105-B60A6271D630}" type="presOf" srcId="{712FF224-AE4A-4699-9D6F-CD90D754067D}" destId="{A2BE7469-AD72-4AD2-9D20-72CB2932864D}" srcOrd="1" destOrd="0" presId="urn:microsoft.com/office/officeart/2005/8/layout/cycle2"/>
    <dgm:cxn modelId="{0565FEF3-34BA-4049-96A1-E8EFB04195FA}" type="presOf" srcId="{278420F0-D7F3-4EEB-82F1-D70F3010F70A}" destId="{8CE64008-182E-4327-88CA-25E77FFE7EF6}" srcOrd="0" destOrd="0" presId="urn:microsoft.com/office/officeart/2005/8/layout/cycle2"/>
    <dgm:cxn modelId="{12295787-A0CE-4231-97E3-AEEB24511335}" type="presParOf" srcId="{3C3E4139-67D9-4BEE-8141-20C604F0CE67}" destId="{78076EAC-1BED-48F7-8503-17EDB85DFF1F}" srcOrd="0" destOrd="0" presId="urn:microsoft.com/office/officeart/2005/8/layout/cycle2"/>
    <dgm:cxn modelId="{720AAF42-36BF-4592-A952-6778664AC427}" type="presParOf" srcId="{3C3E4139-67D9-4BEE-8141-20C604F0CE67}" destId="{3319169C-BA4A-43F6-BCC5-27F5D8DCA3D7}" srcOrd="1" destOrd="0" presId="urn:microsoft.com/office/officeart/2005/8/layout/cycle2"/>
    <dgm:cxn modelId="{27588992-CD00-45E8-B0EE-5893C9A5B1C9}" type="presParOf" srcId="{3319169C-BA4A-43F6-BCC5-27F5D8DCA3D7}" destId="{F06FDDF3-00C4-4805-A4CE-609759D6501F}" srcOrd="0" destOrd="0" presId="urn:microsoft.com/office/officeart/2005/8/layout/cycle2"/>
    <dgm:cxn modelId="{A66394C7-B29D-4636-80CD-5BD7A845F846}" type="presParOf" srcId="{3C3E4139-67D9-4BEE-8141-20C604F0CE67}" destId="{377556C5-C87E-4E6D-AF3E-8CC02E38E523}" srcOrd="2" destOrd="0" presId="urn:microsoft.com/office/officeart/2005/8/layout/cycle2"/>
    <dgm:cxn modelId="{D7F6087E-7E80-4635-A572-451F34F78D47}" type="presParOf" srcId="{3C3E4139-67D9-4BEE-8141-20C604F0CE67}" destId="{937C2ACC-FAA9-475F-B4F9-21B8C5F27C6B}" srcOrd="3" destOrd="0" presId="urn:microsoft.com/office/officeart/2005/8/layout/cycle2"/>
    <dgm:cxn modelId="{980FE9C6-92F1-4647-81A8-4B1BCB95067D}" type="presParOf" srcId="{937C2ACC-FAA9-475F-B4F9-21B8C5F27C6B}" destId="{A2BE7469-AD72-4AD2-9D20-72CB2932864D}" srcOrd="0" destOrd="0" presId="urn:microsoft.com/office/officeart/2005/8/layout/cycle2"/>
    <dgm:cxn modelId="{12D882F8-338D-4894-ACAB-9D2DB442B90D}" type="presParOf" srcId="{3C3E4139-67D9-4BEE-8141-20C604F0CE67}" destId="{FBAF4580-9FA4-4858-8C03-01C75A222313}" srcOrd="4" destOrd="0" presId="urn:microsoft.com/office/officeart/2005/8/layout/cycle2"/>
    <dgm:cxn modelId="{A7BC373A-56B2-4219-B19D-97797AE7D65B}" type="presParOf" srcId="{3C3E4139-67D9-4BEE-8141-20C604F0CE67}" destId="{25DEF6E3-0590-4EA0-8905-2D64C7CE338B}" srcOrd="5" destOrd="0" presId="urn:microsoft.com/office/officeart/2005/8/layout/cycle2"/>
    <dgm:cxn modelId="{3E65298E-CCB0-4D24-8DA9-682601011D58}" type="presParOf" srcId="{25DEF6E3-0590-4EA0-8905-2D64C7CE338B}" destId="{B3E14338-7ABD-48E7-86ED-4094483D7C01}" srcOrd="0" destOrd="0" presId="urn:microsoft.com/office/officeart/2005/8/layout/cycle2"/>
    <dgm:cxn modelId="{CB008E29-1276-4F3B-8AB6-B8C24160BBE3}" type="presParOf" srcId="{3C3E4139-67D9-4BEE-8141-20C604F0CE67}" destId="{8CE64008-182E-4327-88CA-25E77FFE7EF6}" srcOrd="6" destOrd="0" presId="urn:microsoft.com/office/officeart/2005/8/layout/cycle2"/>
    <dgm:cxn modelId="{CB5A9B2E-2C02-47F7-ADD5-9302F9BC90F5}" type="presParOf" srcId="{3C3E4139-67D9-4BEE-8141-20C604F0CE67}" destId="{9D112DB4-06D0-4089-A788-558F808B413B}" srcOrd="7" destOrd="0" presId="urn:microsoft.com/office/officeart/2005/8/layout/cycle2"/>
    <dgm:cxn modelId="{A4AC8458-B752-4E53-8E19-98712564F37B}" type="presParOf" srcId="{9D112DB4-06D0-4089-A788-558F808B413B}" destId="{9CD93C59-235B-485C-BB1F-FC6C98EFDF1D}"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C4E772-FE6F-4E3E-A139-01EA40F4A315}">
      <dsp:nvSpPr>
        <dsp:cNvPr id="0" name=""/>
        <dsp:cNvSpPr/>
      </dsp:nvSpPr>
      <dsp:spPr>
        <a:xfrm>
          <a:off x="1662954" y="11829"/>
          <a:ext cx="1152387" cy="891600"/>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Slowing age related changes</a:t>
          </a:r>
        </a:p>
      </dsp:txBody>
      <dsp:txXfrm>
        <a:off x="1706478" y="55353"/>
        <a:ext cx="1065339" cy="804552"/>
      </dsp:txXfrm>
    </dsp:sp>
    <dsp:sp modelId="{2E91A740-8C60-4027-8FE5-1B0407730A41}">
      <dsp:nvSpPr>
        <dsp:cNvPr id="0" name=""/>
        <dsp:cNvSpPr/>
      </dsp:nvSpPr>
      <dsp:spPr>
        <a:xfrm>
          <a:off x="2121740" y="484759"/>
          <a:ext cx="2511781" cy="2511781"/>
        </a:xfrm>
        <a:custGeom>
          <a:avLst/>
          <a:gdLst/>
          <a:ahLst/>
          <a:cxnLst/>
          <a:rect l="0" t="0" r="0" b="0"/>
          <a:pathLst>
            <a:path>
              <a:moveTo>
                <a:pt x="700344" y="129556"/>
              </a:moveTo>
              <a:arcTo wR="1255890" hR="1255890" stAng="14624755" swAng="2052124"/>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75B232EC-6ECA-4412-8074-07BC2B5D0F2F}">
      <dsp:nvSpPr>
        <dsp:cNvPr id="0" name=""/>
        <dsp:cNvSpPr/>
      </dsp:nvSpPr>
      <dsp:spPr>
        <a:xfrm>
          <a:off x="3039111" y="497886"/>
          <a:ext cx="1532888" cy="867491"/>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Optimizing body composition</a:t>
          </a:r>
        </a:p>
      </dsp:txBody>
      <dsp:txXfrm>
        <a:off x="3081458" y="540233"/>
        <a:ext cx="1448194" cy="782797"/>
      </dsp:txXfrm>
    </dsp:sp>
    <dsp:sp modelId="{E71C6EEF-6B7E-42EF-BB65-CEA21A003A84}">
      <dsp:nvSpPr>
        <dsp:cNvPr id="0" name=""/>
        <dsp:cNvSpPr/>
      </dsp:nvSpPr>
      <dsp:spPr>
        <a:xfrm>
          <a:off x="1529070" y="671135"/>
          <a:ext cx="2511781" cy="2511781"/>
        </a:xfrm>
        <a:custGeom>
          <a:avLst/>
          <a:gdLst/>
          <a:ahLst/>
          <a:cxnLst/>
          <a:rect l="0" t="0" r="0" b="0"/>
          <a:pathLst>
            <a:path>
              <a:moveTo>
                <a:pt x="2380706" y="697274"/>
              </a:moveTo>
              <a:arcTo wR="1255890" hR="1255890" stAng="20015378" swAng="911520"/>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8E0B933A-CA66-43D9-8AFA-74801355ED93}">
      <dsp:nvSpPr>
        <dsp:cNvPr id="0" name=""/>
        <dsp:cNvSpPr/>
      </dsp:nvSpPr>
      <dsp:spPr>
        <a:xfrm>
          <a:off x="3222934" y="1686018"/>
          <a:ext cx="1349065" cy="1003005"/>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Promoting psychological &amp; cognitive wellbeing</a:t>
          </a:r>
        </a:p>
      </dsp:txBody>
      <dsp:txXfrm>
        <a:off x="3271897" y="1734981"/>
        <a:ext cx="1251139" cy="905079"/>
      </dsp:txXfrm>
    </dsp:sp>
    <dsp:sp modelId="{53EE9769-8973-4D43-ACF1-08BC888E382D}">
      <dsp:nvSpPr>
        <dsp:cNvPr id="0" name=""/>
        <dsp:cNvSpPr/>
      </dsp:nvSpPr>
      <dsp:spPr>
        <a:xfrm>
          <a:off x="2238926" y="180992"/>
          <a:ext cx="2511781" cy="2511781"/>
        </a:xfrm>
        <a:custGeom>
          <a:avLst/>
          <a:gdLst/>
          <a:ahLst/>
          <a:cxnLst/>
          <a:rect l="0" t="0" r="0" b="0"/>
          <a:pathLst>
            <a:path>
              <a:moveTo>
                <a:pt x="1346409" y="2508515"/>
              </a:moveTo>
              <a:arcTo wR="1255890" hR="1255890" stAng="5152008" swAng="1760356"/>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7066FDF3-7B84-4FAC-A8AE-E1EE07F36863}">
      <dsp:nvSpPr>
        <dsp:cNvPr id="0" name=""/>
        <dsp:cNvSpPr/>
      </dsp:nvSpPr>
      <dsp:spPr>
        <a:xfrm>
          <a:off x="1617893" y="2347705"/>
          <a:ext cx="1336209" cy="873447"/>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Managing chronic diseases</a:t>
          </a:r>
        </a:p>
      </dsp:txBody>
      <dsp:txXfrm>
        <a:off x="1660531" y="2390343"/>
        <a:ext cx="1250933" cy="788171"/>
      </dsp:txXfrm>
    </dsp:sp>
    <dsp:sp modelId="{EA2313D4-D46A-4178-8E53-007643C3B01B}">
      <dsp:nvSpPr>
        <dsp:cNvPr id="0" name=""/>
        <dsp:cNvSpPr/>
      </dsp:nvSpPr>
      <dsp:spPr>
        <a:xfrm>
          <a:off x="166868" y="116577"/>
          <a:ext cx="2511781" cy="2511781"/>
        </a:xfrm>
        <a:custGeom>
          <a:avLst/>
          <a:gdLst/>
          <a:ahLst/>
          <a:cxnLst/>
          <a:rect l="0" t="0" r="0" b="0"/>
          <a:pathLst>
            <a:path>
              <a:moveTo>
                <a:pt x="1443760" y="2497650"/>
              </a:moveTo>
              <a:arcTo wR="1255890" hR="1255890" stAng="4883807" swAng="2001463"/>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934F4F8F-3C83-4348-979E-AE0D7811B191}">
      <dsp:nvSpPr>
        <dsp:cNvPr id="0" name=""/>
        <dsp:cNvSpPr/>
      </dsp:nvSpPr>
      <dsp:spPr>
        <a:xfrm>
          <a:off x="17744" y="1902043"/>
          <a:ext cx="1396994" cy="607815"/>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Reducing risk of physical disability</a:t>
          </a:r>
        </a:p>
      </dsp:txBody>
      <dsp:txXfrm>
        <a:off x="47415" y="1931714"/>
        <a:ext cx="1337652" cy="548473"/>
      </dsp:txXfrm>
    </dsp:sp>
    <dsp:sp modelId="{BACDDFCF-3D1F-48C9-BA88-BDCC2B4DCB57}">
      <dsp:nvSpPr>
        <dsp:cNvPr id="0" name=""/>
        <dsp:cNvSpPr/>
      </dsp:nvSpPr>
      <dsp:spPr>
        <a:xfrm>
          <a:off x="572906" y="321619"/>
          <a:ext cx="2511781" cy="2511781"/>
        </a:xfrm>
        <a:custGeom>
          <a:avLst/>
          <a:gdLst/>
          <a:ahLst/>
          <a:cxnLst/>
          <a:rect l="0" t="0" r="0" b="0"/>
          <a:pathLst>
            <a:path>
              <a:moveTo>
                <a:pt x="41116" y="1574613"/>
              </a:moveTo>
              <a:arcTo wR="1255890" hR="1255890" stAng="9917914" swAng="1628494"/>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2ED149DF-0E6A-4925-A115-EDFBD6ABC1E6}">
      <dsp:nvSpPr>
        <dsp:cNvPr id="0" name=""/>
        <dsp:cNvSpPr/>
      </dsp:nvSpPr>
      <dsp:spPr>
        <a:xfrm>
          <a:off x="71755" y="585271"/>
          <a:ext cx="1245373" cy="715829"/>
        </a:xfrm>
        <a:prstGeom prst="roundRect">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Increasing longevity</a:t>
          </a:r>
        </a:p>
      </dsp:txBody>
      <dsp:txXfrm>
        <a:off x="106699" y="620215"/>
        <a:ext cx="1175485" cy="645941"/>
      </dsp:txXfrm>
    </dsp:sp>
    <dsp:sp modelId="{46313A7F-32FF-4BDB-8FC1-CCBA732A0ACE}">
      <dsp:nvSpPr>
        <dsp:cNvPr id="0" name=""/>
        <dsp:cNvSpPr/>
      </dsp:nvSpPr>
      <dsp:spPr>
        <a:xfrm>
          <a:off x="-58182" y="544754"/>
          <a:ext cx="2511781" cy="2511781"/>
        </a:xfrm>
        <a:custGeom>
          <a:avLst/>
          <a:gdLst/>
          <a:ahLst/>
          <a:cxnLst/>
          <a:rect l="0" t="0" r="0" b="0"/>
          <a:pathLst>
            <a:path>
              <a:moveTo>
                <a:pt x="947045" y="38567"/>
              </a:moveTo>
              <a:arcTo wR="1255890" hR="1255890" stAng="15345836" swAng="2137329"/>
            </a:path>
          </a:pathLst>
        </a:custGeom>
        <a:noFill/>
        <a:ln w="9525" cap="flat" cmpd="sng" algn="ctr">
          <a:solidFill>
            <a:schemeClr val="accent2">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076EAC-1BED-48F7-8503-17EDB85DFF1F}">
      <dsp:nvSpPr>
        <dsp:cNvPr id="0" name=""/>
        <dsp:cNvSpPr/>
      </dsp:nvSpPr>
      <dsp:spPr>
        <a:xfrm>
          <a:off x="3729803" y="493"/>
          <a:ext cx="1161879" cy="1161879"/>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solidFill>
                <a:sysClr val="window" lastClr="FFFFFF"/>
              </a:solidFill>
              <a:latin typeface="Aptos" panose="02110004020202020204"/>
              <a:ea typeface="+mn-ea"/>
              <a:cs typeface="+mn-cs"/>
            </a:rPr>
            <a:t>Mental Health-Age‑Related Cognitive Decline</a:t>
          </a:r>
        </a:p>
      </dsp:txBody>
      <dsp:txXfrm>
        <a:off x="3899956" y="170646"/>
        <a:ext cx="821573" cy="821573"/>
      </dsp:txXfrm>
    </dsp:sp>
    <dsp:sp modelId="{3319169C-BA4A-43F6-BCC5-27F5D8DCA3D7}">
      <dsp:nvSpPr>
        <dsp:cNvPr id="0" name=""/>
        <dsp:cNvSpPr/>
      </dsp:nvSpPr>
      <dsp:spPr>
        <a:xfrm rot="2700000">
          <a:off x="4767104" y="996670"/>
          <a:ext cx="309885" cy="392134"/>
        </a:xfrm>
        <a:prstGeom prst="rightArrow">
          <a:avLst>
            <a:gd name="adj1" fmla="val 60000"/>
            <a:gd name="adj2" fmla="val 50000"/>
          </a:avLst>
        </a:prstGeom>
        <a:solidFill>
          <a:srgbClr val="156082">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solidFill>
              <a:sysClr val="window" lastClr="FFFFFF"/>
            </a:solidFill>
            <a:latin typeface="Aptos" panose="02110004020202020204"/>
            <a:ea typeface="+mn-ea"/>
            <a:cs typeface="+mn-cs"/>
          </a:endParaRPr>
        </a:p>
      </dsp:txBody>
      <dsp:txXfrm>
        <a:off x="4780718" y="1042229"/>
        <a:ext cx="216920" cy="235280"/>
      </dsp:txXfrm>
    </dsp:sp>
    <dsp:sp modelId="{377556C5-C87E-4E6D-AF3E-8CC02E38E523}">
      <dsp:nvSpPr>
        <dsp:cNvPr id="0" name=""/>
        <dsp:cNvSpPr/>
      </dsp:nvSpPr>
      <dsp:spPr>
        <a:xfrm>
          <a:off x="4964814" y="1235505"/>
          <a:ext cx="1161879" cy="1161879"/>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ysClr val="window" lastClr="FFFFFF"/>
              </a:solidFill>
              <a:latin typeface="Aptos" panose="02110004020202020204"/>
              <a:ea typeface="+mn-ea"/>
              <a:cs typeface="+mn-cs"/>
            </a:rPr>
            <a:t>Mobility, Frailty and Falls Risk</a:t>
          </a:r>
        </a:p>
      </dsp:txBody>
      <dsp:txXfrm>
        <a:off x="5134967" y="1405658"/>
        <a:ext cx="821573" cy="821573"/>
      </dsp:txXfrm>
    </dsp:sp>
    <dsp:sp modelId="{937C2ACC-FAA9-475F-B4F9-21B8C5F27C6B}">
      <dsp:nvSpPr>
        <dsp:cNvPr id="0" name=""/>
        <dsp:cNvSpPr/>
      </dsp:nvSpPr>
      <dsp:spPr>
        <a:xfrm rot="8100000">
          <a:off x="4779507" y="2231681"/>
          <a:ext cx="309885" cy="392134"/>
        </a:xfrm>
        <a:prstGeom prst="rightArrow">
          <a:avLst>
            <a:gd name="adj1" fmla="val 60000"/>
            <a:gd name="adj2" fmla="val 50000"/>
          </a:avLst>
        </a:prstGeom>
        <a:solidFill>
          <a:srgbClr val="156082">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solidFill>
              <a:sysClr val="window" lastClr="FFFFFF"/>
            </a:solidFill>
            <a:latin typeface="Aptos" panose="02110004020202020204"/>
            <a:ea typeface="+mn-ea"/>
            <a:cs typeface="+mn-cs"/>
          </a:endParaRPr>
        </a:p>
      </dsp:txBody>
      <dsp:txXfrm rot="10800000">
        <a:off x="4858858" y="2277240"/>
        <a:ext cx="216920" cy="235280"/>
      </dsp:txXfrm>
    </dsp:sp>
    <dsp:sp modelId="{FBAF4580-9FA4-4858-8C03-01C75A222313}">
      <dsp:nvSpPr>
        <dsp:cNvPr id="0" name=""/>
        <dsp:cNvSpPr/>
      </dsp:nvSpPr>
      <dsp:spPr>
        <a:xfrm>
          <a:off x="3729803" y="2470516"/>
          <a:ext cx="1161879" cy="1161879"/>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GB" sz="900" kern="1200" dirty="0">
              <a:solidFill>
                <a:sysClr val="window" lastClr="FFFFFF"/>
              </a:solidFill>
              <a:latin typeface="Aptos" panose="02110004020202020204"/>
              <a:ea typeface="+mn-ea"/>
              <a:cs typeface="+mn-cs"/>
            </a:rPr>
            <a:t>NCDs/Chronic Disease cardiovascular disease, respiratory, diabetes.</a:t>
          </a:r>
        </a:p>
      </dsp:txBody>
      <dsp:txXfrm>
        <a:off x="3899956" y="2640669"/>
        <a:ext cx="821573" cy="821573"/>
      </dsp:txXfrm>
    </dsp:sp>
    <dsp:sp modelId="{25DEF6E3-0590-4EA0-8905-2D64C7CE338B}">
      <dsp:nvSpPr>
        <dsp:cNvPr id="0" name=""/>
        <dsp:cNvSpPr/>
      </dsp:nvSpPr>
      <dsp:spPr>
        <a:xfrm rot="13377746">
          <a:off x="3400404" y="2200760"/>
          <a:ext cx="414824" cy="392134"/>
        </a:xfrm>
        <a:prstGeom prst="rightArrow">
          <a:avLst>
            <a:gd name="adj1" fmla="val 60000"/>
            <a:gd name="adj2" fmla="val 50000"/>
          </a:avLst>
        </a:prstGeom>
        <a:solidFill>
          <a:srgbClr val="156082">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solidFill>
              <a:sysClr val="window" lastClr="FFFFFF"/>
            </a:solidFill>
            <a:latin typeface="Aptos" panose="02110004020202020204"/>
            <a:ea typeface="+mn-ea"/>
            <a:cs typeface="+mn-cs"/>
          </a:endParaRPr>
        </a:p>
      </dsp:txBody>
      <dsp:txXfrm rot="10800000">
        <a:off x="3502269" y="2319274"/>
        <a:ext cx="297184" cy="235280"/>
      </dsp:txXfrm>
    </dsp:sp>
    <dsp:sp modelId="{8CE64008-182E-4327-88CA-25E77FFE7EF6}">
      <dsp:nvSpPr>
        <dsp:cNvPr id="0" name=""/>
        <dsp:cNvSpPr/>
      </dsp:nvSpPr>
      <dsp:spPr>
        <a:xfrm>
          <a:off x="2306767" y="1145257"/>
          <a:ext cx="1161879" cy="1161879"/>
        </a:xfrm>
        <a:prstGeom prst="ellipse">
          <a:avLst/>
        </a:prstGeom>
        <a:solidFill>
          <a:srgbClr val="156082">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kern="1200" dirty="0">
              <a:solidFill>
                <a:sysClr val="window" lastClr="FFFFFF"/>
              </a:solidFill>
              <a:latin typeface="Aptos" panose="02110004020202020204"/>
              <a:ea typeface="+mn-ea"/>
              <a:cs typeface="+mn-cs"/>
            </a:rPr>
            <a:t>Sarcopenia and Bone Health osteoporosis</a:t>
          </a:r>
          <a:endParaRPr lang="en-GB" sz="900" kern="1200" dirty="0">
            <a:solidFill>
              <a:sysClr val="window" lastClr="FFFFFF"/>
            </a:solidFill>
            <a:latin typeface="Aptos" panose="02110004020202020204"/>
            <a:ea typeface="+mn-ea"/>
            <a:cs typeface="+mn-cs"/>
          </a:endParaRPr>
        </a:p>
      </dsp:txBody>
      <dsp:txXfrm>
        <a:off x="2476920" y="1315410"/>
        <a:ext cx="821573" cy="821573"/>
      </dsp:txXfrm>
    </dsp:sp>
    <dsp:sp modelId="{9D112DB4-06D0-4089-A788-558F808B413B}">
      <dsp:nvSpPr>
        <dsp:cNvPr id="0" name=""/>
        <dsp:cNvSpPr/>
      </dsp:nvSpPr>
      <dsp:spPr>
        <a:xfrm rot="19271100">
          <a:off x="3415377" y="963995"/>
          <a:ext cx="352163" cy="392134"/>
        </a:xfrm>
        <a:prstGeom prst="rightArrow">
          <a:avLst>
            <a:gd name="adj1" fmla="val 60000"/>
            <a:gd name="adj2" fmla="val 50000"/>
          </a:avLst>
        </a:prstGeom>
        <a:solidFill>
          <a:srgbClr val="156082">
            <a:tint val="60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a:solidFill>
              <a:sysClr val="window" lastClr="FFFFFF"/>
            </a:solidFill>
            <a:latin typeface="Aptos" panose="02110004020202020204"/>
            <a:ea typeface="+mn-ea"/>
            <a:cs typeface="+mn-cs"/>
          </a:endParaRPr>
        </a:p>
      </dsp:txBody>
      <dsp:txXfrm>
        <a:off x="3427042" y="1075533"/>
        <a:ext cx="246514" cy="235280"/>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do you think is old?</a:t>
            </a:r>
          </a:p>
          <a:p>
            <a:r>
              <a:rPr lang="en-GB" dirty="0"/>
              <a:t>Environmental stresses. </a:t>
            </a:r>
          </a:p>
          <a:p>
            <a:r>
              <a:rPr lang="en-GB" dirty="0"/>
              <a:t>Immune system compromise – can this be boosted with activity? Use studies to support.</a:t>
            </a:r>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360570-2B09-DB43-BBE0-DA076DA911F1}" type="slidenum">
              <a:rPr kumimoji="0" lang="en-US" altLang="en-US" sz="1200" b="0" i="0" u="none" strike="noStrike" kern="1200" cap="none" spc="0" normalizeH="0" baseline="0" noProof="0" smtClean="0">
                <a:ln>
                  <a:noFill/>
                </a:ln>
                <a:solidFill>
                  <a:srgbClr val="000000"/>
                </a:solidFill>
                <a:effectLst/>
                <a:uLnTx/>
                <a:uFillTx/>
                <a:latin typeface="Arial"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14588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Cells replicate and the telomeres degrade, shortening over time altering the chromosomes (DNA).</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4</a:t>
            </a:fld>
            <a:endParaRPr lang="en-US" altLang="en-US"/>
          </a:p>
        </p:txBody>
      </p:sp>
    </p:spTree>
    <p:extLst>
      <p:ext uri="{BB962C8B-B14F-4D97-AF65-F5344CB8AC3E}">
        <p14:creationId xmlns:p14="http://schemas.microsoft.com/office/powerpoint/2010/main" val="1286030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AC9351-8EE4-48A8-B2E8-9AD737D7D828}" type="slidenum">
              <a:rPr lang="en-GB"/>
              <a:pPr/>
              <a:t>5</a:t>
            </a:fld>
            <a:endParaRPr lang="en-GB"/>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r>
              <a:rPr lang="en-GB" dirty="0"/>
              <a:t>Proprioception. Reaction speeds. Can we improve these with training?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Sarcopenia – loss of muscle mass. Gradual process from 30s. Increases pace after 65.</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Satellite cells - Non-specific cells that can adapt to become specialised. REDUCE IN NUMBER.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Protein turnover - Less protein. Harder to repair and build muscle.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Fat and fibrotic infiltration  - into muscle.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Neuromuscular changes - Fibre type shift to slower fibre type.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Mitochondrial changes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Inflammation – INCREASES.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Reactive Oxygen Species – adding an electron to O2 molecule during mitochondrial respiration. DECREASES ability to protect against oxidative damage.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6</a:t>
            </a:fld>
            <a:endParaRPr lang="en-US" altLang="en-US"/>
          </a:p>
        </p:txBody>
      </p:sp>
    </p:spTree>
    <p:extLst>
      <p:ext uri="{BB962C8B-B14F-4D97-AF65-F5344CB8AC3E}">
        <p14:creationId xmlns:p14="http://schemas.microsoft.com/office/powerpoint/2010/main" val="1744676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Compare triathletes to inactive 70-year-old male.</a:t>
            </a:r>
          </a:p>
          <a:p>
            <a:r>
              <a:rPr lang="en-GB" dirty="0"/>
              <a:t>Reduction in strength and power. Reduced ability to respond to threats to balance. Reduced endurance. Higher risk of fall # and disability.</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7</a:t>
            </a:fld>
            <a:endParaRPr lang="en-US" altLang="en-US"/>
          </a:p>
        </p:txBody>
      </p:sp>
    </p:spTree>
    <p:extLst>
      <p:ext uri="{BB962C8B-B14F-4D97-AF65-F5344CB8AC3E}">
        <p14:creationId xmlns:p14="http://schemas.microsoft.com/office/powerpoint/2010/main" val="34382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Muscle power more important predictor for falls than pure strength.</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Resistance training. Neural adaptation like in prepubescent adolescents and children.</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8</a:t>
            </a:fld>
            <a:endParaRPr lang="en-US" altLang="en-US"/>
          </a:p>
        </p:txBody>
      </p:sp>
    </p:spTree>
    <p:extLst>
      <p:ext uri="{BB962C8B-B14F-4D97-AF65-F5344CB8AC3E}">
        <p14:creationId xmlns:p14="http://schemas.microsoft.com/office/powerpoint/2010/main" val="293258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2756B8-FD24-4D73-83B8-BC0B476EADB4}" type="slidenum">
              <a:rPr lang="en-GB"/>
              <a:pPr/>
              <a:t>10</a:t>
            </a:fld>
            <a:endParaRPr lang="en-GB"/>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r>
              <a:rPr lang="en-GB" dirty="0"/>
              <a:t>Non-contractile. Loss of elastin so less flexible. More prone to injury. </a:t>
            </a:r>
          </a:p>
          <a:p>
            <a:r>
              <a:rPr lang="en-GB" dirty="0"/>
              <a:t>Weakening of insertion points (conditions more prevalent in mid to older age – tennis elbow, TA rupture or </a:t>
            </a:r>
            <a:r>
              <a:rPr lang="en-GB" dirty="0" err="1"/>
              <a:t>tendonopathy</a:t>
            </a:r>
            <a:r>
              <a:rPr lang="en-GB" dirty="0"/>
              <a:t>.</a:t>
            </a: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Aging is accompanied by multisystem physiological decline that significantly impairs the body's ability to maintain homeostasis, thereby increasing vulnerability to frailty and falls. One of the most prominent contributors is musculoskeletal deterioration, particularly sarcopenia, which involves a progressive reduction in muscle mass, strength, and function due to diminished protein synthesis, hormonal declines such as lowered IGF-1 and testosterone, and degeneration of motor units. This loss of muscle power critically reduces gait stability and reaction time, both essential for preventing falls. Additionally, osteoporosis further compromises structural integrity by decreasing bone mineral density, heightening fracture risk when falls occur. Neurological changes play a substantial role as well; peripheral neuropathy reduces proprioceptive feedback and nerve conduction velocity, while central nervous system aging diminishes cognitive processing speed, executive function, and dual-tasking ability, all of which are vital in maintaining balance. Sensory declines—such as impaired visual acuity, reduced contrast sensitivity, and vestibular dysfunction—further hinder spatial orientation and increase fall susceptibility. Cardiovascular dysregulation, particularly orthostatic hypotension stemming from impaired baroreceptor reflexes and autonomic dysfunction, contributes to episodes of dizziness or syncope leading to sudden falls. Chronic systemic inflammation, known as inflammaging, characterized by elevated inflammatory markers like IL-6 and TNF-α, promotes catabolic processes that exacerbate muscle loss and functional decline. Endocrine alterations, including decreased levels of sex hormones, vitamin D, and growth factors, also impair musculoskeletal and neuromuscular health, reinforcing frailty progression. Collectively, these interconnected physiological changes drive the frailty–fall cycle: declining physiological reserves reduce resilience to external stressors, making even minor perturbations capable of triggering falls. This cycle becomes self-perpetuating, as each fall can lead to injury, immobility, and further deconditioning, thereby amplifying frailty and increasing future fall risk.</a:t>
            </a:r>
          </a:p>
        </p:txBody>
      </p:sp>
      <p:sp>
        <p:nvSpPr>
          <p:cNvPr id="4" name="Slide Number Placeholder 3"/>
          <p:cNvSpPr>
            <a:spLocks noGrp="1"/>
          </p:cNvSpPr>
          <p:nvPr>
            <p:ph type="sldNum" sz="quarter" idx="5"/>
          </p:nvPr>
        </p:nvSpPr>
        <p:spPr/>
        <p:txBody>
          <a:bodyPr/>
          <a:lstStyle/>
          <a:p>
            <a:fld id="{F610780F-2C4A-4B28-A4C1-27839D3FDD7B}" type="slidenum">
              <a:t>11</a:t>
            </a:fld>
            <a:endParaRPr lang="en-US"/>
          </a:p>
        </p:txBody>
      </p:sp>
    </p:spTree>
    <p:extLst>
      <p:ext uri="{BB962C8B-B14F-4D97-AF65-F5344CB8AC3E}">
        <p14:creationId xmlns:p14="http://schemas.microsoft.com/office/powerpoint/2010/main" val="2357084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Lower fat levels. Maintain muscle mass. ADL engagement. Social interaction. Improved mood. Increased longevity – years of healthy life.</a:t>
            </a:r>
          </a:p>
          <a:p>
            <a:r>
              <a:rPr lang="en-GB" dirty="0"/>
              <a:t>WHO guidelines 2020. </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17</a:t>
            </a:fld>
            <a:endParaRPr lang="en-US" altLang="en-US"/>
          </a:p>
        </p:txBody>
      </p:sp>
    </p:spTree>
    <p:extLst>
      <p:ext uri="{BB962C8B-B14F-4D97-AF65-F5344CB8AC3E}">
        <p14:creationId xmlns:p14="http://schemas.microsoft.com/office/powerpoint/2010/main" val="1163648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presentation title slide">
    <p:bg>
      <p:bgPr>
        <a:solidFill>
          <a:srgbClr val="1A9DAC"/>
        </a:solid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1775346" y="1617868"/>
            <a:ext cx="0" cy="2743200"/>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5" name="Text Placeholder 14"/>
          <p:cNvSpPr>
            <a:spLocks noGrp="1"/>
          </p:cNvSpPr>
          <p:nvPr>
            <p:ph type="body" sz="quarter" idx="14"/>
          </p:nvPr>
        </p:nvSpPr>
        <p:spPr>
          <a:xfrm>
            <a:off x="2181658" y="1540814"/>
            <a:ext cx="6062750" cy="2831136"/>
          </a:xfrm>
          <a:prstGeom prst="rect">
            <a:avLst/>
          </a:prstGeom>
        </p:spPr>
        <p:txBody>
          <a:bodyPr lIns="0" tIns="0" rIns="0" bIns="0"/>
          <a:lstStyle>
            <a:lvl1pPr marL="0" indent="0">
              <a:lnSpc>
                <a:spcPts val="4800"/>
              </a:lnSpc>
              <a:spcBef>
                <a:spcPts val="0"/>
              </a:spcBef>
              <a:buFontTx/>
              <a:buNone/>
              <a:defRPr sz="44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8" name="Text Placeholder 14"/>
          <p:cNvSpPr>
            <a:spLocks noGrp="1"/>
          </p:cNvSpPr>
          <p:nvPr>
            <p:ph type="body" sz="quarter" idx="15"/>
          </p:nvPr>
        </p:nvSpPr>
        <p:spPr>
          <a:xfrm>
            <a:off x="496861" y="1605616"/>
            <a:ext cx="1219139" cy="269081"/>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19" name="Text Placeholder 14"/>
          <p:cNvSpPr>
            <a:spLocks noGrp="1"/>
          </p:cNvSpPr>
          <p:nvPr>
            <p:ph type="body" sz="quarter" idx="16"/>
          </p:nvPr>
        </p:nvSpPr>
        <p:spPr>
          <a:xfrm>
            <a:off x="496861" y="1875614"/>
            <a:ext cx="1219139" cy="402300"/>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20" name="Text Placeholder 14"/>
          <p:cNvSpPr>
            <a:spLocks noGrp="1"/>
          </p:cNvSpPr>
          <p:nvPr>
            <p:ph type="body" sz="quarter" idx="17"/>
          </p:nvPr>
        </p:nvSpPr>
        <p:spPr>
          <a:xfrm>
            <a:off x="496861" y="2283314"/>
            <a:ext cx="1219139" cy="521494"/>
          </a:xfrm>
          <a:prstGeom prst="rect">
            <a:avLst/>
          </a:prstGeom>
        </p:spPr>
        <p:txBody>
          <a:bodyPr lIns="0" tIns="0" rIns="0" bIns="0"/>
          <a:lstStyle>
            <a:lvl1pPr marL="0" indent="0">
              <a:lnSpc>
                <a:spcPts val="1300"/>
              </a:lnSpc>
              <a:spcBef>
                <a:spcPts val="0"/>
              </a:spcBef>
              <a:buFontTx/>
              <a:buNone/>
              <a:defRPr sz="1100" b="1"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84188" y="0"/>
            <a:ext cx="2166937"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14"/>
          <p:cNvSpPr>
            <a:spLocks noGrp="1"/>
          </p:cNvSpPr>
          <p:nvPr>
            <p:ph type="body" sz="quarter" idx="18"/>
          </p:nvPr>
        </p:nvSpPr>
        <p:spPr>
          <a:xfrm>
            <a:off x="496861" y="4221384"/>
            <a:ext cx="1219139" cy="229774"/>
          </a:xfrm>
          <a:prstGeom prst="rect">
            <a:avLst/>
          </a:prstGeom>
        </p:spPr>
        <p:txBody>
          <a:bodyPr lIns="0" tIns="0" rIns="0" bIns="0"/>
          <a:lstStyle>
            <a:lvl1pPr marL="0" indent="0">
              <a:lnSpc>
                <a:spcPts val="1300"/>
              </a:lnSpc>
              <a:spcBef>
                <a:spcPts val="0"/>
              </a:spcBef>
              <a:buFontTx/>
              <a:buNone/>
              <a:defRPr sz="1100" b="0" i="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Tree>
    <p:extLst>
      <p:ext uri="{BB962C8B-B14F-4D97-AF65-F5344CB8AC3E}">
        <p14:creationId xmlns:p14="http://schemas.microsoft.com/office/powerpoint/2010/main" val="2037226853"/>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899594" y="1418035"/>
            <a:ext cx="6668019" cy="1024590"/>
          </a:xfrm>
          <a:prstGeom prst="rect">
            <a:avLst/>
          </a:prstGeom>
        </p:spPr>
        <p:txBody>
          <a:bodyPr lIns="0" tIns="0" rIns="0" bIns="0"/>
          <a:lstStyle>
            <a:lvl1pPr marL="0" indent="0">
              <a:lnSpc>
                <a:spcPts val="4800"/>
              </a:lnSpc>
              <a:spcBef>
                <a:spcPts val="0"/>
              </a:spcBef>
              <a:buFontTx/>
              <a:buNone/>
              <a:defRPr sz="44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1"/>
          </p:nvPr>
        </p:nvSpPr>
        <p:spPr>
          <a:xfrm>
            <a:off x="899591" y="3165872"/>
            <a:ext cx="6668021" cy="452328"/>
          </a:xfrm>
          <a:prstGeom prst="rect">
            <a:avLst/>
          </a:prstGeom>
        </p:spPr>
        <p:txBody>
          <a:bodyPr lIns="0" tIns="0" rIns="0" bIns="0"/>
          <a:lstStyle>
            <a:lvl1pPr marL="0" indent="0">
              <a:lnSpc>
                <a:spcPct val="100000"/>
              </a:lnSpc>
              <a:buFontTx/>
              <a:buNone/>
              <a:defRPr sz="1600" b="0" i="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5"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450603"/>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9542"/>
            <a:ext cx="6668019" cy="488301"/>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5"/>
          <p:cNvSpPr>
            <a:spLocks noGrp="1"/>
          </p:cNvSpPr>
          <p:nvPr>
            <p:ph type="body" sz="quarter" idx="11"/>
          </p:nvPr>
        </p:nvSpPr>
        <p:spPr>
          <a:xfrm>
            <a:off x="827583" y="1347635"/>
            <a:ext cx="6740030" cy="3404603"/>
          </a:xfrm>
          <a:prstGeom prst="rect">
            <a:avLst/>
          </a:prstGeom>
        </p:spPr>
        <p:txBody>
          <a:bodyPr/>
          <a:lstStyle>
            <a:lvl1pPr marL="266700" indent="-266700">
              <a:buClr>
                <a:srgbClr val="16818D"/>
              </a:buClr>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600">
                <a:latin typeface="Calibri" panose="020F0502020204030204" pitchFamily="34" charset="0"/>
                <a:ea typeface="Calibri" panose="020F0502020204030204" pitchFamily="34" charset="0"/>
                <a:cs typeface="Calibri" panose="020F0502020204030204" pitchFamily="34" charset="0"/>
              </a:defRPr>
            </a:lvl2pPr>
            <a:lvl3pPr marL="8080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41" userDrawn="1">
          <p15:clr>
            <a:srgbClr val="FBAE40"/>
          </p15:clr>
        </p15:guide>
        <p15:guide id="2" pos="4768" userDrawn="1">
          <p15:clr>
            <a:srgbClr val="FBAE40"/>
          </p15:clr>
        </p15:guide>
        <p15:guide id="3"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697943"/>
            <a:ext cx="6668019" cy="47600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Placeholder 2"/>
          <p:cNvSpPr>
            <a:spLocks noGrp="1"/>
          </p:cNvSpPr>
          <p:nvPr>
            <p:ph type="body" sz="quarter" idx="11"/>
          </p:nvPr>
        </p:nvSpPr>
        <p:spPr>
          <a:xfrm>
            <a:off x="840769" y="1346400"/>
            <a:ext cx="6726844" cy="3510074"/>
          </a:xfrm>
          <a:prstGeom prst="rect">
            <a:avLst/>
          </a:prstGeom>
        </p:spPr>
        <p:txBody>
          <a:bodyPr/>
          <a:lstStyle>
            <a:lvl1pPr marL="266700" indent="-266700">
              <a:buClr>
                <a:srgbClr val="16818D"/>
              </a:buClr>
              <a:buFont typeface="+mj-lt"/>
              <a:buAutoNum type="arabicPeriod"/>
              <a:defRPr sz="1600">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6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600">
                <a:latin typeface="Calibri" panose="020F0502020204030204" pitchFamily="34" charset="0"/>
                <a:ea typeface="Calibri" panose="020F0502020204030204" pitchFamily="34" charset="0"/>
                <a:cs typeface="Calibri" panose="020F050202020403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9666" y="1368000"/>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9665" y="700088"/>
            <a:ext cx="6552655"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7" name="Text Placeholder 5"/>
          <p:cNvSpPr>
            <a:spLocks noGrp="1"/>
          </p:cNvSpPr>
          <p:nvPr>
            <p:ph type="body" sz="quarter" idx="12"/>
          </p:nvPr>
        </p:nvSpPr>
        <p:spPr>
          <a:xfrm>
            <a:off x="4211961" y="1368000"/>
            <a:ext cx="3240360"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62276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900113"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900113" y="1368566"/>
            <a:ext cx="3167583"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10" name="Text Placeholder 5"/>
          <p:cNvSpPr>
            <a:spLocks noGrp="1"/>
          </p:cNvSpPr>
          <p:nvPr>
            <p:ph type="body" sz="quarter" idx="12" hasCustomPrompt="1"/>
          </p:nvPr>
        </p:nvSpPr>
        <p:spPr>
          <a:xfrm>
            <a:off x="4214194" y="1368566"/>
            <a:ext cx="3239119" cy="3391657"/>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517" userDrawn="1">
          <p15:clr>
            <a:srgbClr val="FBAE40"/>
          </p15:clr>
        </p15:guide>
        <p15:guide id="4" pos="2653" userDrawn="1">
          <p15:clr>
            <a:srgbClr val="FBAE40"/>
          </p15:clr>
        </p15:guide>
        <p15:guide id="5" pos="464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120" y="700088"/>
            <a:ext cx="6553200"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a:spLocks noGrp="1"/>
          </p:cNvSpPr>
          <p:nvPr>
            <p:ph type="body" sz="quarter" idx="11" hasCustomPrompt="1"/>
          </p:nvPr>
        </p:nvSpPr>
        <p:spPr>
          <a:xfrm>
            <a:off x="899120" y="1368678"/>
            <a:ext cx="3167583"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baseline="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10" name="Text Placeholder 5"/>
          <p:cNvSpPr>
            <a:spLocks noGrp="1"/>
          </p:cNvSpPr>
          <p:nvPr>
            <p:ph type="body" sz="quarter" idx="12" hasCustomPrompt="1"/>
          </p:nvPr>
        </p:nvSpPr>
        <p:spPr>
          <a:xfrm>
            <a:off x="4214194" y="1368678"/>
            <a:ext cx="3238126" cy="3435867"/>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6818D"/>
              </a:buClr>
              <a:buSzTx/>
              <a:buFont typeface="+mj-lt"/>
              <a:buAutoNum type="arabicPeriod"/>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mj-lt"/>
              <a:buAutoNum type="romanLcPeriod"/>
              <a:defRPr sz="1400">
                <a:latin typeface="Calibri" panose="020F0502020204030204" pitchFamily="34" charset="0"/>
                <a:ea typeface="Calibri" panose="020F0502020204030204" pitchFamily="34" charset="0"/>
                <a:cs typeface="Calibri" panose="020F0502020204030204" pitchFamily="34" charset="0"/>
              </a:defRPr>
            </a:lvl2pPr>
            <a:lvl3pPr marL="896938" indent="-2667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252538" indent="-285750">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guide id="3" pos="2653" userDrawn="1">
          <p15:clr>
            <a:srgbClr val="FBAE40"/>
          </p15:clr>
        </p15:guide>
        <p15:guide id="4" pos="2517" userDrawn="1">
          <p15:clr>
            <a:srgbClr val="FBAE40"/>
          </p15:clr>
        </p15:guide>
        <p15:guide id="5" pos="464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5" name="Text Placeholder 5"/>
          <p:cNvSpPr>
            <a:spLocks noGrp="1"/>
          </p:cNvSpPr>
          <p:nvPr>
            <p:ph type="body" sz="quarter" idx="10"/>
          </p:nvPr>
        </p:nvSpPr>
        <p:spPr>
          <a:xfrm>
            <a:off x="899594"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1"/>
          </p:nvPr>
        </p:nvSpPr>
        <p:spPr>
          <a:xfrm>
            <a:off x="899592" y="1346637"/>
            <a:ext cx="6515620" cy="3403549"/>
          </a:xfrm>
          <a:prstGeom prst="rect">
            <a:avLst/>
          </a:prstGeom>
        </p:spPr>
        <p:txBody>
          <a:bodyPr/>
          <a:lstStyle/>
          <a:p>
            <a:pPr lvl="0"/>
            <a:endParaRPr lang="en-US" noProof="0"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534947"/>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898974" y="1402166"/>
            <a:ext cx="3167583" cy="3402378"/>
          </a:xfrm>
          <a:prstGeom prst="rect">
            <a:avLst/>
          </a:prstGeom>
        </p:spPr>
        <p:txBody>
          <a:bodyPr lIns="0" tIns="0" rIns="0" bIns="0" numCol="1" spcCol="216000"/>
          <a:lstStyle>
            <a:lvl1pPr marL="0" marR="0" indent="0" algn="l" defTabSz="606410" rtl="0" eaLnBrk="1" fontAlgn="base" latinLnBrk="0" hangingPunct="1">
              <a:lnSpc>
                <a:spcPts val="2000"/>
              </a:lnSpc>
              <a:spcBef>
                <a:spcPts val="0"/>
              </a:spcBef>
              <a:spcAft>
                <a:spcPct val="0"/>
              </a:spcAft>
              <a:buClrTx/>
              <a:buSzTx/>
              <a:buFontTx/>
              <a:buNone/>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Text Placeholder 5"/>
          <p:cNvSpPr>
            <a:spLocks noGrp="1"/>
          </p:cNvSpPr>
          <p:nvPr>
            <p:ph type="body" sz="quarter" idx="10"/>
          </p:nvPr>
        </p:nvSpPr>
        <p:spPr>
          <a:xfrm>
            <a:off x="898973" y="700088"/>
            <a:ext cx="6515621" cy="484530"/>
          </a:xfrm>
          <a:prstGeom prst="rect">
            <a:avLst/>
          </a:prstGeom>
        </p:spPr>
        <p:txBody>
          <a:bodyPr lIns="0" tIns="0" rIns="0" bIns="0"/>
          <a:lstStyle>
            <a:lvl1pPr marL="0" indent="0">
              <a:lnSpc>
                <a:spcPts val="4200"/>
              </a:lnSpc>
              <a:buFontTx/>
              <a:buNone/>
              <a:defRPr sz="4000" b="0" i="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3" name="Chart Placeholder 2"/>
          <p:cNvSpPr>
            <a:spLocks noGrp="1"/>
          </p:cNvSpPr>
          <p:nvPr>
            <p:ph type="chart" sz="quarter" idx="12"/>
          </p:nvPr>
        </p:nvSpPr>
        <p:spPr>
          <a:xfrm>
            <a:off x="4284042" y="1402167"/>
            <a:ext cx="3816350" cy="3348019"/>
          </a:xfrm>
          <a:prstGeom prst="rect">
            <a:avLst/>
          </a:prstGeom>
        </p:spPr>
        <p:txBody>
          <a:bodyPr/>
          <a:lstStyle/>
          <a:p>
            <a:pPr lvl="0"/>
            <a:endParaRPr lang="en-US" noProof="0" dirty="0"/>
          </a:p>
        </p:txBody>
      </p:sp>
      <p:pic>
        <p:nvPicPr>
          <p:cNvPr id="8"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611724"/>
      </p:ext>
    </p:extLst>
  </p:cSld>
  <p:clrMapOvr>
    <a:masterClrMapping/>
  </p:clrMapOvr>
  <p:transition spd="slow">
    <p:fade/>
  </p:transition>
  <p:extLst>
    <p:ext uri="{DCECCB84-F9BA-43D5-87BE-67443E8EF086}">
      <p15:sldGuideLst xmlns:p15="http://schemas.microsoft.com/office/powerpoint/2012/main">
        <p15:guide id="1" pos="567" userDrawn="1">
          <p15:clr>
            <a:srgbClr val="FBAE40"/>
          </p15:clr>
        </p15:guide>
        <p15:guide id="2" orient="horz" pos="4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pic>
        <p:nvPicPr>
          <p:cNvPr id="4"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2"/>
          <p:cNvSpPr>
            <a:spLocks noGrp="1"/>
          </p:cNvSpPr>
          <p:nvPr>
            <p:ph type="pic" sz="quarter" idx="13"/>
          </p:nvPr>
        </p:nvSpPr>
        <p:spPr>
          <a:xfrm>
            <a:off x="0" y="771550"/>
            <a:ext cx="9144000" cy="4371950"/>
          </a:xfrm>
          <a:prstGeom prst="rect">
            <a:avLst/>
          </a:prstGeom>
        </p:spPr>
        <p:txBody>
          <a:bodyPr/>
          <a:lstStyle/>
          <a:p>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dirty="0"/>
          </a:p>
        </p:txBody>
      </p:sp>
      <p:sp>
        <p:nvSpPr>
          <p:cNvPr id="6" name="Picture Placeholder 12"/>
          <p:cNvSpPr>
            <a:spLocks noGrp="1"/>
          </p:cNvSpPr>
          <p:nvPr>
            <p:ph type="pic" sz="quarter" idx="12"/>
          </p:nvPr>
        </p:nvSpPr>
        <p:spPr>
          <a:xfrm>
            <a:off x="0" y="1059582"/>
            <a:ext cx="3024188" cy="4083918"/>
          </a:xfrm>
          <a:prstGeom prst="rect">
            <a:avLst/>
          </a:prstGeom>
        </p:spPr>
        <p:txBody>
          <a:bodyPr/>
          <a:lstStyle/>
          <a:p>
            <a:endParaRPr lang="en-US" dirty="0"/>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dirty="0"/>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dirty="0"/>
          </a:p>
        </p:txBody>
      </p:sp>
      <p:pic>
        <p:nvPicPr>
          <p:cNvPr id="9"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5673224"/>
      </p:ext>
    </p:extLst>
  </p:cSld>
  <p:clrMapOvr>
    <a:masterClrMapping/>
  </p:clrMapOvr>
  <p:transition spd="slow">
    <p:fade/>
  </p:transition>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guide id="3" orient="horz" pos="1938" userDrawn="1">
          <p15:clr>
            <a:srgbClr val="FBAE40"/>
          </p15:clr>
        </p15:guide>
        <p15:guide id="4" orient="horz" pos="191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467545" y="307250"/>
            <a:ext cx="6552727" cy="608316"/>
          </a:xfrm>
          <a:prstGeom prst="rect">
            <a:avLst/>
          </a:prstGeom>
        </p:spPr>
        <p:txBody>
          <a:bodyPr lIns="0" tIns="0" rIns="0" bIns="0"/>
          <a:lstStyle>
            <a:lvl1pPr marL="0" indent="0">
              <a:lnSpc>
                <a:spcPts val="4200"/>
              </a:lnSpc>
              <a:buFontTx/>
              <a:buNone/>
              <a:defRPr sz="32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stStyle>
          <a:p>
            <a:pPr lvl="0"/>
            <a:r>
              <a:rPr lang="en-GB" dirty="0"/>
              <a:t>Click to edit Master text styles</a:t>
            </a:r>
          </a:p>
        </p:txBody>
      </p:sp>
      <p:sp>
        <p:nvSpPr>
          <p:cNvPr id="5" name="Picture Placeholder 12"/>
          <p:cNvSpPr>
            <a:spLocks noGrp="1"/>
          </p:cNvSpPr>
          <p:nvPr>
            <p:ph type="pic" sz="quarter" idx="11"/>
          </p:nvPr>
        </p:nvSpPr>
        <p:spPr>
          <a:xfrm>
            <a:off x="6118225" y="1059582"/>
            <a:ext cx="3025775" cy="4083918"/>
          </a:xfrm>
          <a:prstGeom prst="rect">
            <a:avLst/>
          </a:prstGeom>
        </p:spPr>
        <p:txBody>
          <a:bodyPr/>
          <a:lstStyle/>
          <a:p>
            <a:endParaRPr lang="en-US" dirty="0"/>
          </a:p>
        </p:txBody>
      </p:sp>
      <p:sp>
        <p:nvSpPr>
          <p:cNvPr id="7" name="Picture Placeholder 12"/>
          <p:cNvSpPr>
            <a:spLocks noGrp="1"/>
          </p:cNvSpPr>
          <p:nvPr>
            <p:ph type="pic" sz="quarter" idx="13"/>
          </p:nvPr>
        </p:nvSpPr>
        <p:spPr>
          <a:xfrm>
            <a:off x="3059113" y="1059583"/>
            <a:ext cx="3020316" cy="1977305"/>
          </a:xfrm>
          <a:prstGeom prst="rect">
            <a:avLst/>
          </a:prstGeom>
        </p:spPr>
        <p:txBody>
          <a:bodyPr/>
          <a:lstStyle/>
          <a:p>
            <a:endParaRPr lang="en-US" dirty="0"/>
          </a:p>
        </p:txBody>
      </p:sp>
      <p:sp>
        <p:nvSpPr>
          <p:cNvPr id="8" name="Picture Placeholder 12"/>
          <p:cNvSpPr>
            <a:spLocks noGrp="1"/>
          </p:cNvSpPr>
          <p:nvPr>
            <p:ph type="pic" sz="quarter" idx="14"/>
          </p:nvPr>
        </p:nvSpPr>
        <p:spPr>
          <a:xfrm>
            <a:off x="3059113" y="3076575"/>
            <a:ext cx="3020316" cy="2066925"/>
          </a:xfrm>
          <a:prstGeom prst="rect">
            <a:avLst/>
          </a:prstGeom>
        </p:spPr>
        <p:txBody>
          <a:bodyPr/>
          <a:lstStyle/>
          <a:p>
            <a:endParaRPr lang="en-US" dirty="0"/>
          </a:p>
        </p:txBody>
      </p:sp>
      <p:sp>
        <p:nvSpPr>
          <p:cNvPr id="9" name="Text Placeholder 5"/>
          <p:cNvSpPr>
            <a:spLocks noGrp="1"/>
          </p:cNvSpPr>
          <p:nvPr>
            <p:ph type="body" sz="quarter" idx="15" hasCustomPrompt="1"/>
          </p:nvPr>
        </p:nvSpPr>
        <p:spPr>
          <a:xfrm>
            <a:off x="458065" y="1059582"/>
            <a:ext cx="2385743" cy="3600400"/>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6818D"/>
              </a:buClr>
              <a:buSzTx/>
              <a:buFont typeface="Arial" panose="020B0604020202020204" pitchFamily="34" charset="0"/>
              <a:buChar char="•"/>
              <a:tabLst/>
              <a:defRPr sz="1400" b="0" i="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541338" indent="-274638">
              <a:buClr>
                <a:srgbClr val="16818D"/>
              </a:buClr>
              <a:buFont typeface="Courier New" panose="02070309020205020404" pitchFamily="49" charset="0"/>
              <a:buChar char="o"/>
              <a:defRPr sz="1400">
                <a:latin typeface="Calibri" panose="020F0502020204030204" pitchFamily="34" charset="0"/>
                <a:ea typeface="Calibri" panose="020F0502020204030204" pitchFamily="34" charset="0"/>
                <a:cs typeface="Calibri" panose="020F0502020204030204" pitchFamily="34" charset="0"/>
              </a:defRPr>
            </a:lvl2pPr>
            <a:lvl3pPr marL="808038" indent="-177800">
              <a:buClr>
                <a:srgbClr val="16818D"/>
              </a:buClr>
              <a:buFont typeface="Arial" panose="020B0604020202020204" pitchFamily="34" charset="0"/>
              <a:buChar char="̶"/>
              <a:defRPr sz="1400">
                <a:latin typeface="Calibri" panose="020F0502020204030204" pitchFamily="34" charset="0"/>
                <a:ea typeface="Calibri" panose="020F0502020204030204" pitchFamily="34" charset="0"/>
                <a:cs typeface="Calibri" panose="020F0502020204030204" pitchFamily="34" charset="0"/>
              </a:defRPr>
            </a:lvl3pPr>
            <a:lvl4pPr marL="1163638" indent="-301625">
              <a:defRPr sz="1400">
                <a:latin typeface="Calibri" panose="020F0502020204030204" pitchFamily="34" charset="0"/>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pic>
        <p:nvPicPr>
          <p:cNvPr id="10"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4470880"/>
      </p:ext>
    </p:extLst>
  </p:cSld>
  <p:clrMapOvr>
    <a:masterClrMapping/>
  </p:clrMapOvr>
  <p:transition spd="slow">
    <p:fade/>
  </p:transition>
  <p:extLst>
    <p:ext uri="{DCECCB84-F9BA-43D5-87BE-67443E8EF086}">
      <p15:sldGuideLst xmlns:p15="http://schemas.microsoft.com/office/powerpoint/2012/main">
        <p15:guide id="1" orient="horz" pos="1620">
          <p15:clr>
            <a:srgbClr val="FBAE40"/>
          </p15:clr>
        </p15:guide>
        <p15:guide id="2" pos="2880">
          <p15:clr>
            <a:srgbClr val="FBAE40"/>
          </p15:clr>
        </p15:guide>
        <p15:guide id="3" orient="horz" pos="1938">
          <p15:clr>
            <a:srgbClr val="FBAE40"/>
          </p15:clr>
        </p15:guide>
        <p15:guide id="4" orient="horz" pos="1913">
          <p15:clr>
            <a:srgbClr val="FBAE40"/>
          </p15:clr>
        </p15:guide>
        <p15:guide id="5" pos="3833" userDrawn="1">
          <p15:clr>
            <a:srgbClr val="FBAE40"/>
          </p15:clr>
        </p15:guide>
        <p15:guide id="6" pos="385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ext Placeholder 12"/>
          <p:cNvSpPr>
            <a:spLocks noGrp="1"/>
          </p:cNvSpPr>
          <p:nvPr>
            <p:ph type="body" sz="quarter" idx="12"/>
          </p:nvPr>
        </p:nvSpPr>
        <p:spPr>
          <a:xfrm>
            <a:off x="1042988" y="1131590"/>
            <a:ext cx="7058025" cy="2880320"/>
          </a:xfrm>
          <a:prstGeom prst="rect">
            <a:avLst/>
          </a:prstGeom>
        </p:spPr>
        <p:txBody>
          <a:bodyPr/>
          <a:lstStyle>
            <a:lvl1pPr marL="0" indent="0">
              <a:lnSpc>
                <a:spcPts val="3600"/>
              </a:lnSpc>
              <a:buNone/>
              <a:defRPr sz="2800" b="0" i="1" baseline="0">
                <a:solidFill>
                  <a:srgbClr val="16818D"/>
                </a:solidFill>
                <a:latin typeface="Calibri" panose="020F0502020204030204" pitchFamily="34" charset="0"/>
              </a:defRPr>
            </a:lvl1pPr>
            <a:lvl2pPr marL="609600" indent="0">
              <a:lnSpc>
                <a:spcPts val="3600"/>
              </a:lnSpc>
              <a:buNone/>
              <a:defRPr sz="2800" b="0" i="1" baseline="0">
                <a:solidFill>
                  <a:srgbClr val="16818D"/>
                </a:solidFill>
                <a:latin typeface="Calibri" panose="020F0502020204030204" pitchFamily="34" charset="0"/>
              </a:defRPr>
            </a:lvl2pPr>
            <a:lvl3pPr marL="1219200" indent="0">
              <a:lnSpc>
                <a:spcPts val="3600"/>
              </a:lnSpc>
              <a:buNone/>
              <a:defRPr sz="2800" b="0" i="1" baseline="0">
                <a:solidFill>
                  <a:srgbClr val="16818D"/>
                </a:solidFill>
                <a:latin typeface="Calibri" panose="020F0502020204030204" pitchFamily="34" charset="0"/>
              </a:defRPr>
            </a:lvl3pPr>
            <a:lvl4pPr marL="1828800" indent="0">
              <a:lnSpc>
                <a:spcPts val="3600"/>
              </a:lnSpc>
              <a:buNone/>
              <a:defRPr sz="2800" b="0" i="1" baseline="0">
                <a:solidFill>
                  <a:srgbClr val="16818D"/>
                </a:solidFill>
                <a:latin typeface="Calibri" panose="020F0502020204030204" pitchFamily="34" charset="0"/>
              </a:defRPr>
            </a:lvl4pPr>
            <a:lvl5pPr marL="2438400" indent="0">
              <a:lnSpc>
                <a:spcPts val="3600"/>
              </a:lnSpc>
              <a:buNone/>
              <a:defRPr sz="2800" b="0" i="1"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14"/>
          <p:cNvSpPr>
            <a:spLocks noGrp="1"/>
          </p:cNvSpPr>
          <p:nvPr>
            <p:ph type="body" sz="quarter" idx="13"/>
          </p:nvPr>
        </p:nvSpPr>
        <p:spPr>
          <a:xfrm>
            <a:off x="1042988" y="4327103"/>
            <a:ext cx="7058025" cy="620911"/>
          </a:xfrm>
          <a:prstGeom prst="rect">
            <a:avLst/>
          </a:prstGeom>
        </p:spPr>
        <p:txBody>
          <a:bodyPr/>
          <a:lstStyle>
            <a:lvl1pPr marL="0" indent="0" algn="r">
              <a:lnSpc>
                <a:spcPts val="1800"/>
              </a:lnSpc>
              <a:buNone/>
              <a:defRPr sz="1200" baseline="0">
                <a:solidFill>
                  <a:schemeClr val="tx1"/>
                </a:solidFill>
                <a:latin typeface="Calibri" panose="020F0502020204030204" pitchFamily="34" charset="0"/>
              </a:defRPr>
            </a:lvl1pPr>
            <a:lvl2pPr marL="609600" indent="0" algn="r">
              <a:lnSpc>
                <a:spcPts val="1800"/>
              </a:lnSpc>
              <a:buNone/>
              <a:defRPr sz="1200" baseline="0">
                <a:solidFill>
                  <a:schemeClr val="tx1"/>
                </a:solidFill>
                <a:latin typeface="Calibri" panose="020F0502020204030204" pitchFamily="34" charset="0"/>
              </a:defRPr>
            </a:lvl2pPr>
            <a:lvl3pPr marL="1219200" indent="0" algn="r">
              <a:lnSpc>
                <a:spcPts val="1800"/>
              </a:lnSpc>
              <a:buNone/>
              <a:defRPr sz="1200" baseline="0">
                <a:solidFill>
                  <a:schemeClr val="tx1"/>
                </a:solidFill>
                <a:latin typeface="Calibri" panose="020F0502020204030204" pitchFamily="34" charset="0"/>
              </a:defRPr>
            </a:lvl3pPr>
            <a:lvl4pPr marL="1828800" indent="0" algn="r">
              <a:lnSpc>
                <a:spcPts val="1800"/>
              </a:lnSpc>
              <a:buNone/>
              <a:defRPr sz="1200" baseline="0">
                <a:solidFill>
                  <a:schemeClr val="tx1"/>
                </a:solidFill>
                <a:latin typeface="Calibri" panose="020F0502020204030204" pitchFamily="34" charset="0"/>
              </a:defRPr>
            </a:lvl4pPr>
            <a:lvl5pPr marL="2438400" indent="0" algn="r">
              <a:lnSpc>
                <a:spcPts val="1800"/>
              </a:lnSpc>
              <a:buNone/>
              <a:defRPr sz="12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6"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1644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ext Placeholder 12"/>
          <p:cNvSpPr>
            <a:spLocks noGrp="1"/>
          </p:cNvSpPr>
          <p:nvPr>
            <p:ph type="body" sz="quarter" idx="12" hasCustomPrompt="1"/>
          </p:nvPr>
        </p:nvSpPr>
        <p:spPr>
          <a:xfrm>
            <a:off x="215403" y="1995686"/>
            <a:ext cx="4283969" cy="1872208"/>
          </a:xfrm>
          <a:prstGeom prst="rect">
            <a:avLst/>
          </a:prstGeom>
        </p:spPr>
        <p:txBody>
          <a:bodyPr/>
          <a:lstStyle>
            <a:lvl1pPr marL="0" indent="0" algn="r">
              <a:lnSpc>
                <a:spcPts val="9600"/>
              </a:lnSpc>
              <a:buNone/>
              <a:defRPr sz="13000" b="0" i="0" baseline="0">
                <a:solidFill>
                  <a:srgbClr val="16818D"/>
                </a:solidFill>
                <a:latin typeface="Calibri" panose="020F0502020204030204" pitchFamily="34" charset="0"/>
                <a:ea typeface="Calibri" panose="020F0502020204030204" pitchFamily="34" charset="0"/>
                <a:cs typeface="Calibri" panose="020F0502020204030204" pitchFamily="34"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4" name="Text Placeholder 14"/>
          <p:cNvSpPr>
            <a:spLocks noGrp="1"/>
          </p:cNvSpPr>
          <p:nvPr>
            <p:ph type="body" sz="quarter" idx="13"/>
          </p:nvPr>
        </p:nvSpPr>
        <p:spPr>
          <a:xfrm>
            <a:off x="4715395" y="2012765"/>
            <a:ext cx="3601021" cy="1855129"/>
          </a:xfrm>
          <a:prstGeom prst="rect">
            <a:avLst/>
          </a:prstGeom>
        </p:spPr>
        <p:txBody>
          <a:bodyPr/>
          <a:lstStyle>
            <a:lvl1pPr marL="0" indent="0" algn="l">
              <a:lnSpc>
                <a:spcPts val="2200"/>
              </a:lnSpc>
              <a:buNone/>
              <a:defRPr sz="1800" baseline="0">
                <a:solidFill>
                  <a:srgbClr val="16818D"/>
                </a:solidFill>
                <a:latin typeface="Calibri" panose="020F0502020204030204" pitchFamily="34" charset="0"/>
              </a:defRPr>
            </a:lvl1pPr>
            <a:lvl2pPr marL="609600" indent="0" algn="l">
              <a:lnSpc>
                <a:spcPts val="2200"/>
              </a:lnSpc>
              <a:buNone/>
              <a:defRPr sz="1800" baseline="0">
                <a:solidFill>
                  <a:srgbClr val="16818D"/>
                </a:solidFill>
                <a:latin typeface="Calibri" panose="020F0502020204030204" pitchFamily="34" charset="0"/>
              </a:defRPr>
            </a:lvl2pPr>
            <a:lvl3pPr marL="1219200" indent="0" algn="l">
              <a:lnSpc>
                <a:spcPts val="2200"/>
              </a:lnSpc>
              <a:buNone/>
              <a:defRPr sz="1800" baseline="0">
                <a:solidFill>
                  <a:srgbClr val="16818D"/>
                </a:solidFill>
                <a:latin typeface="Calibri" panose="020F0502020204030204" pitchFamily="34" charset="0"/>
              </a:defRPr>
            </a:lvl3pPr>
            <a:lvl4pPr marL="1828800" indent="0" algn="l">
              <a:lnSpc>
                <a:spcPts val="2200"/>
              </a:lnSpc>
              <a:buNone/>
              <a:defRPr sz="1800" baseline="0">
                <a:solidFill>
                  <a:srgbClr val="16818D"/>
                </a:solidFill>
                <a:latin typeface="Calibri" panose="020F0502020204030204" pitchFamily="34" charset="0"/>
              </a:defRPr>
            </a:lvl4pPr>
            <a:lvl5pPr marL="2438400" indent="0" algn="l">
              <a:lnSpc>
                <a:spcPts val="2200"/>
              </a:lnSpc>
              <a:buNone/>
              <a:defRPr sz="1800" baseline="0">
                <a:solidFill>
                  <a:srgbClr val="16818D"/>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14"/>
          <p:cNvSpPr>
            <a:spLocks noGrp="1"/>
          </p:cNvSpPr>
          <p:nvPr>
            <p:ph type="body" sz="quarter" idx="14"/>
          </p:nvPr>
        </p:nvSpPr>
        <p:spPr>
          <a:xfrm>
            <a:off x="970980" y="4155926"/>
            <a:ext cx="7129412" cy="648295"/>
          </a:xfrm>
          <a:prstGeom prst="rect">
            <a:avLst/>
          </a:prstGeom>
        </p:spPr>
        <p:txBody>
          <a:bodyPr/>
          <a:lstStyle>
            <a:lvl1pPr marL="0" indent="0" algn="r">
              <a:lnSpc>
                <a:spcPts val="1400"/>
              </a:lnSpc>
              <a:buNone/>
              <a:defRPr sz="1000" baseline="0">
                <a:solidFill>
                  <a:schemeClr val="tx1"/>
                </a:solidFill>
                <a:latin typeface="Calibri" panose="020F0502020204030204" pitchFamily="34" charset="0"/>
              </a:defRPr>
            </a:lvl1pPr>
            <a:lvl2pPr marL="609600" indent="0" algn="r">
              <a:lnSpc>
                <a:spcPts val="1400"/>
              </a:lnSpc>
              <a:buNone/>
              <a:defRPr sz="1000" baseline="0">
                <a:solidFill>
                  <a:schemeClr val="tx1"/>
                </a:solidFill>
                <a:latin typeface="Calibri" panose="020F0502020204030204" pitchFamily="34" charset="0"/>
              </a:defRPr>
            </a:lvl2pPr>
            <a:lvl3pPr marL="1219200" indent="0" algn="r">
              <a:lnSpc>
                <a:spcPts val="1400"/>
              </a:lnSpc>
              <a:buNone/>
              <a:defRPr sz="1000" baseline="0">
                <a:solidFill>
                  <a:schemeClr val="tx1"/>
                </a:solidFill>
                <a:latin typeface="Calibri" panose="020F0502020204030204" pitchFamily="34" charset="0"/>
              </a:defRPr>
            </a:lvl3pPr>
            <a:lvl4pPr marL="1828800" indent="0" algn="r">
              <a:lnSpc>
                <a:spcPts val="1400"/>
              </a:lnSpc>
              <a:buNone/>
              <a:defRPr sz="1000" baseline="0">
                <a:solidFill>
                  <a:schemeClr val="tx1"/>
                </a:solidFill>
                <a:latin typeface="Calibri" panose="020F0502020204030204" pitchFamily="34" charset="0"/>
              </a:defRPr>
            </a:lvl4pPr>
            <a:lvl5pPr marL="2438400" indent="0" algn="r">
              <a:lnSpc>
                <a:spcPts val="1400"/>
              </a:lnSpc>
              <a:buNone/>
              <a:defRPr sz="1000" baseline="0">
                <a:solidFill>
                  <a:schemeClr val="tx1"/>
                </a:solidFill>
                <a:latin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67613"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263878"/>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dirty="0"/>
              <a:t>Click to edit Master title style</a:t>
            </a:r>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3620494222"/>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436610"/>
            <a:ext cx="5689524" cy="1567189"/>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2" y="1437624"/>
            <a:ext cx="1219139" cy="201811"/>
          </a:xfrm>
          <a:prstGeom prst="rect">
            <a:avLst/>
          </a:prstGeom>
        </p:spPr>
        <p:txBody>
          <a:bodyPr lIns="0" tIns="0" rIns="0" bIns="0"/>
          <a:lstStyle>
            <a:lvl1pPr marL="0" indent="0" algn="l">
              <a:lnSpc>
                <a:spcPts val="975"/>
              </a:lnSpc>
              <a:spcBef>
                <a:spcPts val="0"/>
              </a:spcBef>
              <a:buFontTx/>
              <a:buNone/>
              <a:defRPr sz="1350" b="0" i="0">
                <a:solidFill>
                  <a:schemeClr val="bg1"/>
                </a:solidFill>
                <a:latin typeface="+mj-lt"/>
                <a:ea typeface="Calibri" panose="020F0502020204030204" pitchFamily="34" charset="0"/>
                <a:cs typeface="Calibri" panose="020F0502020204030204" pitchFamily="34"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1" y="1742803"/>
            <a:ext cx="1219139" cy="504911"/>
          </a:xfrm>
          <a:prstGeom prst="rect">
            <a:avLst/>
          </a:prstGeom>
        </p:spPr>
        <p:txBody>
          <a:bodyPr lIns="0" tIns="0" rIns="0" bIns="0"/>
          <a:lstStyle>
            <a:lvl1pPr marL="0" indent="0" algn="l">
              <a:lnSpc>
                <a:spcPct val="100000"/>
              </a:lnSpc>
              <a:spcBef>
                <a:spcPts val="0"/>
              </a:spcBef>
              <a:buFontTx/>
              <a:buNone/>
              <a:defRPr sz="135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5" y="2293242"/>
            <a:ext cx="1219139" cy="504911"/>
          </a:xfrm>
          <a:prstGeom prst="rect">
            <a:avLst/>
          </a:prstGeom>
        </p:spPr>
        <p:txBody>
          <a:bodyPr lIns="0" tIns="0" rIns="0" bIns="0"/>
          <a:lstStyle>
            <a:lvl1pPr marL="0" indent="0" algn="l">
              <a:lnSpc>
                <a:spcPct val="100000"/>
              </a:lnSpc>
              <a:spcBef>
                <a:spcPts val="0"/>
              </a:spcBef>
              <a:buFontTx/>
              <a:buNone/>
              <a:defRPr sz="150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6" y="4029912"/>
            <a:ext cx="1219139" cy="432048"/>
          </a:xfrm>
          <a:prstGeom prst="rect">
            <a:avLst/>
          </a:prstGeom>
        </p:spPr>
        <p:txBody>
          <a:bodyPr lIns="0" tIns="0" rIns="0" bIns="0"/>
          <a:lstStyle>
            <a:lvl1pPr marL="0" indent="0" algn="l">
              <a:lnSpc>
                <a:spcPct val="100000"/>
              </a:lnSpc>
              <a:spcBef>
                <a:spcPts val="0"/>
              </a:spcBef>
              <a:buFontTx/>
              <a:buNone/>
              <a:defRPr sz="1350" b="0" i="0">
                <a:solidFill>
                  <a:schemeClr val="bg1"/>
                </a:solidFill>
                <a:latin typeface="+mn-lt"/>
                <a:ea typeface="Calibri" panose="020F0502020204030204" pitchFamily="34" charset="0"/>
                <a:cs typeface="Calibri" panose="020F0502020204030204" pitchFamily="34" charset="0"/>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437624"/>
            <a:ext cx="0" cy="2851659"/>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67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3067419"/>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480542"/>
            <a:ext cx="6515620" cy="994172"/>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3165872"/>
            <a:ext cx="6515620" cy="452328"/>
          </a:xfrm>
          <a:prstGeom prst="rect">
            <a:avLst/>
          </a:prstGeom>
        </p:spPr>
        <p:txBody>
          <a:bodyPr lIns="0" tIns="0" rIns="0" bIns="0"/>
          <a:lstStyle>
            <a:lvl1pPr marL="0" indent="0">
              <a:lnSpc>
                <a:spcPct val="100000"/>
              </a:lnSpc>
              <a:buFontTx/>
              <a:buNone/>
              <a:defRPr sz="1350" b="0" i="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655975314"/>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517276"/>
            <a:ext cx="7886700" cy="758331"/>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275606"/>
            <a:ext cx="6551612" cy="3456384"/>
          </a:xfrm>
          <a:prstGeom prst="rect">
            <a:avLst/>
          </a:prstGeom>
        </p:spPr>
        <p:txBody>
          <a:bodyPr lIns="0" tIns="0" rIns="0" bIns="0"/>
          <a:lstStyle>
            <a:lvl1pPr marL="200025" indent="-192881">
              <a:buClr>
                <a:srgbClr val="7A7392"/>
              </a:buClr>
              <a:tabLst/>
              <a:defRPr sz="1500">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a:defRPr sz="1200">
                <a:latin typeface="Tahoma" panose="020B0604030504040204" pitchFamily="34" charset="0"/>
                <a:ea typeface="Tahoma" panose="020B0604030504040204" pitchFamily="34" charset="0"/>
                <a:cs typeface="Tahoma" panose="020B0604030504040204" pitchFamily="34" charset="0"/>
              </a:defRPr>
            </a:lvl4pPr>
            <a:lvl5pPr>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986448349"/>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515711"/>
            <a:ext cx="7886700" cy="75944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275160"/>
            <a:ext cx="6551612" cy="3349228"/>
          </a:xfrm>
          <a:prstGeom prst="rect">
            <a:avLst/>
          </a:prstGeom>
        </p:spPr>
        <p:txBody>
          <a:bodyPr lIns="0" tIns="0" rIns="0" bIns="0"/>
          <a:lstStyle>
            <a:lvl1pPr marL="200025" indent="-200025">
              <a:buClr>
                <a:srgbClr val="7A7392"/>
              </a:buClr>
              <a:buFont typeface="+mj-lt"/>
              <a:buAutoNum type="arabicPeriod"/>
              <a:defRPr sz="1500">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17573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4pPr>
            <a:lvl5pPr marL="22145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20929761"/>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519523"/>
            <a:ext cx="7886700" cy="702078"/>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7" name="Text Placeholder 6"/>
          <p:cNvSpPr>
            <a:spLocks noGrp="1"/>
          </p:cNvSpPr>
          <p:nvPr>
            <p:ph type="body" sz="quarter" idx="12"/>
          </p:nvPr>
        </p:nvSpPr>
        <p:spPr>
          <a:xfrm>
            <a:off x="4284664"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779638575"/>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519523"/>
            <a:ext cx="7886700" cy="702078"/>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1168381779"/>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519523"/>
            <a:ext cx="7886700" cy="702078"/>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baseline="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3226657349"/>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519523"/>
            <a:ext cx="7886700" cy="646548"/>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166070"/>
            <a:ext cx="6515620" cy="340354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3704791179"/>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519523"/>
            <a:ext cx="7886700" cy="702077"/>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3" name="Chart Placeholder 2"/>
          <p:cNvSpPr>
            <a:spLocks noGrp="1"/>
          </p:cNvSpPr>
          <p:nvPr>
            <p:ph type="chart" sz="quarter" idx="12"/>
          </p:nvPr>
        </p:nvSpPr>
        <p:spPr>
          <a:xfrm>
            <a:off x="4284663" y="1221600"/>
            <a:ext cx="3816350" cy="334801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1273643412"/>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1053258722"/>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3" y="519523"/>
            <a:ext cx="7454131" cy="576267"/>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095789"/>
            <a:ext cx="3024188" cy="4047711"/>
          </a:xfrm>
          <a:prstGeom prst="rect">
            <a:avLst/>
          </a:prstGeom>
        </p:spPr>
        <p:txBody>
          <a:bodyPr/>
          <a:lstStyle/>
          <a:p>
            <a:r>
              <a:rPr lang="en-US" dirty="0"/>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095790"/>
            <a:ext cx="3020316" cy="1987929"/>
          </a:xfrm>
          <a:prstGeom prst="rect">
            <a:avLst/>
          </a:prstGeom>
        </p:spPr>
        <p:txBody>
          <a:bodyPr/>
          <a:lstStyle/>
          <a:p>
            <a:r>
              <a:rPr lang="en-US" dirty="0"/>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3112294"/>
            <a:ext cx="3020316" cy="2031206"/>
          </a:xfrm>
          <a:prstGeom prst="rect">
            <a:avLst/>
          </a:prstGeom>
        </p:spPr>
        <p:txBody>
          <a:bodyPr/>
          <a:lstStyle/>
          <a:p>
            <a:r>
              <a:rPr lang="en-US" dirty="0"/>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6" y="1095789"/>
            <a:ext cx="3025775" cy="4047711"/>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769599819"/>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519523"/>
            <a:ext cx="7886700" cy="576267"/>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6" y="1095789"/>
            <a:ext cx="254707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095789"/>
            <a:ext cx="3043238" cy="4047711"/>
          </a:xfrm>
          <a:prstGeom prst="rect">
            <a:avLst/>
          </a:prstGeom>
        </p:spPr>
        <p:txBody>
          <a:bodyPr/>
          <a:lstStyle/>
          <a:p>
            <a:r>
              <a:rPr lang="en-US" dirty="0"/>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3109912"/>
            <a:ext cx="3022600" cy="2033588"/>
          </a:xfrm>
          <a:prstGeom prst="rect">
            <a:avLst/>
          </a:prstGeom>
        </p:spPr>
        <p:txBody>
          <a:bodyPr/>
          <a:lstStyle/>
          <a:p>
            <a:r>
              <a:rPr lang="en-US" dirty="0"/>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1" y="1095790"/>
            <a:ext cx="3022599" cy="1987929"/>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4022271230"/>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519523"/>
            <a:ext cx="7886700" cy="897732"/>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9" y="1437624"/>
            <a:ext cx="7058025" cy="2646294"/>
          </a:xfrm>
          <a:prstGeom prst="rect">
            <a:avLst/>
          </a:prstGeom>
        </p:spPr>
        <p:txBody>
          <a:bodyPr/>
          <a:lstStyle>
            <a:lvl1pPr marL="0" indent="0">
              <a:lnSpc>
                <a:spcPts val="2700"/>
              </a:lnSpc>
              <a:buNone/>
              <a:defRPr sz="2100" b="0" i="1" baseline="0">
                <a:solidFill>
                  <a:srgbClr val="7A7392"/>
                </a:solidFill>
                <a:latin typeface="+mj-lt"/>
              </a:defRPr>
            </a:lvl1pPr>
            <a:lvl2pPr marL="457200" indent="0">
              <a:lnSpc>
                <a:spcPts val="2700"/>
              </a:lnSpc>
              <a:buNone/>
              <a:defRPr sz="2100" b="0" i="1" baseline="0">
                <a:solidFill>
                  <a:srgbClr val="7A7392"/>
                </a:solidFill>
                <a:latin typeface="+mj-lt"/>
              </a:defRPr>
            </a:lvl2pPr>
            <a:lvl3pPr marL="914400" indent="0">
              <a:lnSpc>
                <a:spcPts val="2700"/>
              </a:lnSpc>
              <a:buNone/>
              <a:defRPr sz="2100" b="0" i="1" baseline="0">
                <a:solidFill>
                  <a:srgbClr val="7A7392"/>
                </a:solidFill>
                <a:latin typeface="+mj-lt"/>
              </a:defRPr>
            </a:lvl3pPr>
            <a:lvl4pPr marL="1371600" indent="0">
              <a:lnSpc>
                <a:spcPts val="2700"/>
              </a:lnSpc>
              <a:buNone/>
              <a:defRPr sz="2100" b="0" i="1" baseline="0">
                <a:solidFill>
                  <a:srgbClr val="7A7392"/>
                </a:solidFill>
                <a:latin typeface="+mj-lt"/>
              </a:defRPr>
            </a:lvl4pPr>
            <a:lvl5pPr marL="1828800" indent="0">
              <a:lnSpc>
                <a:spcPts val="2700"/>
              </a:lnSpc>
              <a:buNone/>
              <a:defRPr sz="2100" b="0" i="1" baseline="0">
                <a:solidFill>
                  <a:srgbClr val="7A7392"/>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p:cNvSpPr>
            <a:spLocks noGrp="1"/>
          </p:cNvSpPr>
          <p:nvPr>
            <p:ph type="body" sz="quarter" idx="13"/>
          </p:nvPr>
        </p:nvSpPr>
        <p:spPr>
          <a:xfrm>
            <a:off x="1042989" y="4245769"/>
            <a:ext cx="7058025" cy="897731"/>
          </a:xfrm>
          <a:prstGeom prst="rect">
            <a:avLst/>
          </a:prstGeom>
        </p:spPr>
        <p:txBody>
          <a:bodyPr/>
          <a:lstStyle>
            <a:lvl1pPr marL="0" indent="0" algn="r">
              <a:lnSpc>
                <a:spcPts val="1350"/>
              </a:lnSpc>
              <a:buNone/>
              <a:defRPr sz="1350" baseline="0">
                <a:solidFill>
                  <a:schemeClr val="tx1"/>
                </a:solidFill>
                <a:latin typeface="+mn-lt"/>
              </a:defRPr>
            </a:lvl1pPr>
            <a:lvl2pPr marL="457200" indent="0" algn="r">
              <a:lnSpc>
                <a:spcPts val="1350"/>
              </a:lnSpc>
              <a:buNone/>
              <a:defRPr sz="1350" baseline="0">
                <a:solidFill>
                  <a:schemeClr val="tx1"/>
                </a:solidFill>
                <a:latin typeface="+mn-lt"/>
              </a:defRPr>
            </a:lvl2pPr>
            <a:lvl3pPr marL="914400" indent="0" algn="r">
              <a:lnSpc>
                <a:spcPts val="1350"/>
              </a:lnSpc>
              <a:buNone/>
              <a:defRPr sz="1350" baseline="0">
                <a:solidFill>
                  <a:schemeClr val="tx1"/>
                </a:solidFill>
                <a:latin typeface="+mn-lt"/>
              </a:defRPr>
            </a:lvl3pPr>
            <a:lvl4pPr marL="1371600" indent="0" algn="r">
              <a:lnSpc>
                <a:spcPts val="1350"/>
              </a:lnSpc>
              <a:buNone/>
              <a:defRPr sz="1350" baseline="0">
                <a:solidFill>
                  <a:schemeClr val="tx1"/>
                </a:solidFill>
                <a:latin typeface="+mn-lt"/>
              </a:defRPr>
            </a:lvl4pPr>
            <a:lvl5pPr marL="1828800" indent="0" algn="r">
              <a:lnSpc>
                <a:spcPts val="1350"/>
              </a:lnSpc>
              <a:buNone/>
              <a:defRPr sz="1350" baseline="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147485"/>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4" y="2139702"/>
            <a:ext cx="4283969" cy="1944216"/>
          </a:xfrm>
          <a:prstGeom prst="rect">
            <a:avLst/>
          </a:prstGeom>
        </p:spPr>
        <p:txBody>
          <a:bodyPr/>
          <a:lstStyle>
            <a:lvl1pPr marL="0" indent="0" algn="r">
              <a:lnSpc>
                <a:spcPts val="7200"/>
              </a:lnSpc>
              <a:buNone/>
              <a:defRPr sz="9750" b="0" i="0" baseline="0">
                <a:solidFill>
                  <a:srgbClr val="7A7392"/>
                </a:solidFill>
                <a:latin typeface="+mj-lt"/>
                <a:ea typeface="Calibri" panose="020F0502020204030204" pitchFamily="34" charset="0"/>
                <a:cs typeface="Calibri" panose="020F0502020204030204" pitchFamily="34" charset="0"/>
              </a:defRPr>
            </a:lvl1pPr>
            <a:lvl2pPr marL="457200" indent="0" algn="r">
              <a:lnSpc>
                <a:spcPts val="2700"/>
              </a:lnSpc>
              <a:buNone/>
              <a:defRPr sz="7200" b="0" i="0" baseline="0">
                <a:solidFill>
                  <a:schemeClr val="bg1"/>
                </a:solidFill>
                <a:latin typeface="Georgia" charset="0"/>
                <a:ea typeface="Georgia" charset="0"/>
                <a:cs typeface="Georgia" charset="0"/>
              </a:defRPr>
            </a:lvl2pPr>
            <a:lvl3pPr marL="914400" indent="0" algn="r">
              <a:lnSpc>
                <a:spcPts val="2700"/>
              </a:lnSpc>
              <a:buNone/>
              <a:defRPr sz="7200" b="0" i="0" baseline="0">
                <a:solidFill>
                  <a:schemeClr val="bg1"/>
                </a:solidFill>
                <a:latin typeface="Georgia" charset="0"/>
                <a:ea typeface="Georgia" charset="0"/>
                <a:cs typeface="Georgia" charset="0"/>
              </a:defRPr>
            </a:lvl3pPr>
            <a:lvl4pPr marL="1371600" indent="0" algn="r">
              <a:lnSpc>
                <a:spcPts val="2700"/>
              </a:lnSpc>
              <a:buNone/>
              <a:defRPr sz="7200" b="0" i="0" baseline="0">
                <a:solidFill>
                  <a:schemeClr val="bg1"/>
                </a:solidFill>
                <a:latin typeface="Georgia" charset="0"/>
                <a:ea typeface="Georgia" charset="0"/>
                <a:cs typeface="Georgia" charset="0"/>
              </a:defRPr>
            </a:lvl4pPr>
            <a:lvl5pPr marL="1828800" indent="0" algn="r">
              <a:lnSpc>
                <a:spcPts val="2700"/>
              </a:lnSpc>
              <a:buNone/>
              <a:defRPr sz="72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139554"/>
            <a:ext cx="3656012" cy="1944290"/>
          </a:xfrm>
          <a:prstGeom prst="rect">
            <a:avLst/>
          </a:prstGeom>
        </p:spPr>
        <p:txBody>
          <a:bodyPr/>
          <a:lstStyle>
            <a:lvl1pPr>
              <a:defRPr sz="1500">
                <a:solidFill>
                  <a:srgbClr val="7A7392"/>
                </a:solidFill>
              </a:defRPr>
            </a:lvl1pPr>
            <a:lvl2pPr marL="457200" indent="0">
              <a:buNone/>
              <a:defRPr sz="1500">
                <a:solidFill>
                  <a:srgbClr val="7A7392"/>
                </a:solidFill>
              </a:defRPr>
            </a:lvl2pPr>
            <a:lvl3pPr marL="914400" indent="0">
              <a:buNone/>
              <a:defRPr sz="1500">
                <a:solidFill>
                  <a:srgbClr val="7A7392"/>
                </a:solidFill>
              </a:defRPr>
            </a:lvl3pPr>
            <a:lvl4pPr marL="1371600" indent="0">
              <a:buNone/>
              <a:defRPr sz="1500">
                <a:solidFill>
                  <a:srgbClr val="7A7392"/>
                </a:solidFill>
              </a:defRPr>
            </a:lvl4pPr>
            <a:lvl5pPr marL="1828800" indent="0">
              <a:buNone/>
              <a:defRPr sz="1500">
                <a:solidFill>
                  <a:srgbClr val="7A739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14"/>
          <p:cNvSpPr>
            <a:spLocks noGrp="1"/>
          </p:cNvSpPr>
          <p:nvPr>
            <p:ph type="body" sz="quarter" idx="14"/>
          </p:nvPr>
        </p:nvSpPr>
        <p:spPr>
          <a:xfrm>
            <a:off x="970980" y="4245769"/>
            <a:ext cx="7129412" cy="486221"/>
          </a:xfrm>
          <a:prstGeom prst="rect">
            <a:avLst/>
          </a:prstGeom>
        </p:spPr>
        <p:txBody>
          <a:bodyPr/>
          <a:lstStyle>
            <a:lvl1pPr marL="0" indent="0" algn="r">
              <a:lnSpc>
                <a:spcPts val="1050"/>
              </a:lnSpc>
              <a:buNone/>
              <a:defRPr sz="1350" baseline="0">
                <a:solidFill>
                  <a:schemeClr val="tx1"/>
                </a:solidFill>
                <a:latin typeface="Calibri" panose="020F0502020204030204" pitchFamily="34" charset="0"/>
              </a:defRPr>
            </a:lvl1pPr>
            <a:lvl2pPr marL="457200" indent="0" algn="r">
              <a:lnSpc>
                <a:spcPts val="1050"/>
              </a:lnSpc>
              <a:buNone/>
              <a:defRPr sz="1350" baseline="0">
                <a:solidFill>
                  <a:schemeClr val="tx1"/>
                </a:solidFill>
                <a:latin typeface="Calibri" panose="020F0502020204030204" pitchFamily="34" charset="0"/>
              </a:defRPr>
            </a:lvl2pPr>
            <a:lvl3pPr marL="914400" indent="0" algn="r">
              <a:lnSpc>
                <a:spcPts val="1050"/>
              </a:lnSpc>
              <a:buNone/>
              <a:defRPr sz="1350" baseline="0">
                <a:solidFill>
                  <a:schemeClr val="tx1"/>
                </a:solidFill>
                <a:latin typeface="Calibri" panose="020F0502020204030204" pitchFamily="34" charset="0"/>
              </a:defRPr>
            </a:lvl3pPr>
            <a:lvl4pPr marL="1371600" indent="0" algn="r">
              <a:lnSpc>
                <a:spcPts val="1050"/>
              </a:lnSpc>
              <a:buNone/>
              <a:defRPr sz="1350" baseline="0">
                <a:solidFill>
                  <a:schemeClr val="tx1"/>
                </a:solidFill>
                <a:latin typeface="Calibri" panose="020F0502020204030204" pitchFamily="34" charset="0"/>
              </a:defRPr>
            </a:lvl4pPr>
            <a:lvl5pPr marL="1828800" indent="0" algn="r">
              <a:lnSpc>
                <a:spcPts val="1050"/>
              </a:lnSpc>
              <a:buNone/>
              <a:defRPr sz="1350" baseline="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26348742"/>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184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082D4C2-97E8-4BA3-B8A0-4E5DD2F439B9}" type="datetime1">
              <a:rPr lang="en-GB" smtClean="0"/>
              <a:pPr/>
              <a:t>24/03/2026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F6EBAB8-0DFC-4004-818C-309F5D0BCF20}" type="slidenum">
              <a:rPr lang="en-GB" smtClean="0"/>
              <a:pPr/>
              <a:t>‹#›</a:t>
            </a:fld>
            <a:endParaRPr lang="en-GB"/>
          </a:p>
        </p:txBody>
      </p:sp>
      <p:sp>
        <p:nvSpPr>
          <p:cNvPr id="2" name="Title 1"/>
          <p:cNvSpPr>
            <a:spLocks noGrp="1"/>
          </p:cNvSpPr>
          <p:nvPr>
            <p:ph type="title"/>
          </p:nvPr>
        </p:nvSpPr>
        <p:spPr/>
        <p:txBody>
          <a:bodyPr/>
          <a:lstStyle/>
          <a:p>
            <a:r>
              <a:rPr kumimoji="0" lang="en-US"/>
              <a:t>Click to edit Master title style</a:t>
            </a:r>
          </a:p>
        </p:txBody>
      </p:sp>
      <p:sp>
        <p:nvSpPr>
          <p:cNvPr id="11" name="Content Placeholder 10"/>
          <p:cNvSpPr>
            <a:spLocks noGrp="1"/>
          </p:cNvSpPr>
          <p:nvPr>
            <p:ph sz="half" idx="1"/>
          </p:nvPr>
        </p:nvSpPr>
        <p:spPr>
          <a:xfrm>
            <a:off x="457200" y="1143000"/>
            <a:ext cx="4059936" cy="34290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3" name="Content Placeholder 12"/>
          <p:cNvSpPr>
            <a:spLocks noGrp="1"/>
          </p:cNvSpPr>
          <p:nvPr>
            <p:ph sz="half" idx="2"/>
          </p:nvPr>
        </p:nvSpPr>
        <p:spPr>
          <a:xfrm>
            <a:off x="4648200" y="1143000"/>
            <a:ext cx="4059936" cy="342900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extLst>
      <p:ext uri="{BB962C8B-B14F-4D97-AF65-F5344CB8AC3E}">
        <p14:creationId xmlns:p14="http://schemas.microsoft.com/office/powerpoint/2010/main" val="9987954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436610"/>
            <a:ext cx="5689524" cy="1567189"/>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2" y="1437624"/>
            <a:ext cx="1219139" cy="201811"/>
          </a:xfrm>
          <a:prstGeom prst="rect">
            <a:avLst/>
          </a:prstGeom>
        </p:spPr>
        <p:txBody>
          <a:bodyPr lIns="0" tIns="0" rIns="0" bIns="0"/>
          <a:lstStyle>
            <a:lvl1pPr marL="0" indent="0" algn="l">
              <a:lnSpc>
                <a:spcPts val="975"/>
              </a:lnSpc>
              <a:spcBef>
                <a:spcPts val="0"/>
              </a:spcBef>
              <a:buFontTx/>
              <a:buNone/>
              <a:defRPr sz="1350" b="0" i="0">
                <a:solidFill>
                  <a:schemeClr val="bg1"/>
                </a:solidFill>
                <a:latin typeface="+mj-lt"/>
                <a:ea typeface="Calibri" panose="020F0502020204030204" pitchFamily="34" charset="0"/>
                <a:cs typeface="Calibri" panose="020F0502020204030204" pitchFamily="34"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1" y="1742803"/>
            <a:ext cx="1219139" cy="504911"/>
          </a:xfrm>
          <a:prstGeom prst="rect">
            <a:avLst/>
          </a:prstGeom>
        </p:spPr>
        <p:txBody>
          <a:bodyPr lIns="0" tIns="0" rIns="0" bIns="0"/>
          <a:lstStyle>
            <a:lvl1pPr marL="0" indent="0" algn="l">
              <a:lnSpc>
                <a:spcPct val="100000"/>
              </a:lnSpc>
              <a:spcBef>
                <a:spcPts val="0"/>
              </a:spcBef>
              <a:buFontTx/>
              <a:buNone/>
              <a:defRPr sz="135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5" y="2293242"/>
            <a:ext cx="1219139" cy="504911"/>
          </a:xfrm>
          <a:prstGeom prst="rect">
            <a:avLst/>
          </a:prstGeom>
        </p:spPr>
        <p:txBody>
          <a:bodyPr lIns="0" tIns="0" rIns="0" bIns="0"/>
          <a:lstStyle>
            <a:lvl1pPr marL="0" indent="0" algn="l">
              <a:lnSpc>
                <a:spcPct val="100000"/>
              </a:lnSpc>
              <a:spcBef>
                <a:spcPts val="0"/>
              </a:spcBef>
              <a:buFontTx/>
              <a:buNone/>
              <a:defRPr sz="1500" b="1" i="0">
                <a:solidFill>
                  <a:schemeClr val="bg1"/>
                </a:solidFill>
                <a:latin typeface="+mj-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6" y="4029912"/>
            <a:ext cx="1219139" cy="432048"/>
          </a:xfrm>
          <a:prstGeom prst="rect">
            <a:avLst/>
          </a:prstGeom>
        </p:spPr>
        <p:txBody>
          <a:bodyPr lIns="0" tIns="0" rIns="0" bIns="0"/>
          <a:lstStyle>
            <a:lvl1pPr marL="0" indent="0" algn="l">
              <a:lnSpc>
                <a:spcPct val="100000"/>
              </a:lnSpc>
              <a:spcBef>
                <a:spcPts val="0"/>
              </a:spcBef>
              <a:buFontTx/>
              <a:buNone/>
              <a:defRPr sz="1350" b="0" i="0">
                <a:solidFill>
                  <a:schemeClr val="bg1"/>
                </a:solidFill>
                <a:latin typeface="+mn-lt"/>
                <a:ea typeface="Calibri" panose="020F0502020204030204" pitchFamily="34" charset="0"/>
                <a:cs typeface="Calibri" panose="020F0502020204030204" pitchFamily="34" charset="0"/>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437624"/>
            <a:ext cx="0" cy="2851659"/>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67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5325085"/>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480542"/>
            <a:ext cx="6515620" cy="994172"/>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3165872"/>
            <a:ext cx="6515620" cy="452328"/>
          </a:xfrm>
          <a:prstGeom prst="rect">
            <a:avLst/>
          </a:prstGeom>
        </p:spPr>
        <p:txBody>
          <a:bodyPr lIns="0" tIns="0" rIns="0" bIns="0"/>
          <a:lstStyle>
            <a:lvl1pPr marL="0" indent="0">
              <a:lnSpc>
                <a:spcPct val="100000"/>
              </a:lnSpc>
              <a:buFontTx/>
              <a:buNone/>
              <a:defRPr sz="1350" b="0" i="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1849857502"/>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517276"/>
            <a:ext cx="7886700" cy="758331"/>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275606"/>
            <a:ext cx="6551612" cy="3456384"/>
          </a:xfrm>
          <a:prstGeom prst="rect">
            <a:avLst/>
          </a:prstGeom>
        </p:spPr>
        <p:txBody>
          <a:bodyPr lIns="0" tIns="0" rIns="0" bIns="0"/>
          <a:lstStyle>
            <a:lvl1pPr marL="200025" indent="-192881">
              <a:buClr>
                <a:srgbClr val="7A7392"/>
              </a:buClr>
              <a:tabLst/>
              <a:defRPr sz="1500">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a:defRPr sz="1200">
                <a:latin typeface="Tahoma" panose="020B0604030504040204" pitchFamily="34" charset="0"/>
                <a:ea typeface="Tahoma" panose="020B0604030504040204" pitchFamily="34" charset="0"/>
                <a:cs typeface="Tahoma" panose="020B0604030504040204" pitchFamily="34" charset="0"/>
              </a:defRPr>
            </a:lvl4pPr>
            <a:lvl5pPr>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281948513"/>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515711"/>
            <a:ext cx="7886700" cy="75944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275160"/>
            <a:ext cx="6551612" cy="3349228"/>
          </a:xfrm>
          <a:prstGeom prst="rect">
            <a:avLst/>
          </a:prstGeom>
        </p:spPr>
        <p:txBody>
          <a:bodyPr lIns="0" tIns="0" rIns="0" bIns="0"/>
          <a:lstStyle>
            <a:lvl1pPr marL="200025" indent="-200025">
              <a:buClr>
                <a:srgbClr val="7A7392"/>
              </a:buClr>
              <a:buFont typeface="+mj-lt"/>
              <a:buAutoNum type="arabicPeriod"/>
              <a:defRPr sz="1500">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17573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4pPr>
            <a:lvl5pPr marL="2214563" indent="-385763">
              <a:buFont typeface="+mj-lt"/>
              <a:buAutoNum type="arabicPeriod"/>
              <a:defRPr sz="12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956752420"/>
      </p:ext>
    </p:extLst>
  </p:cSld>
  <p:clrMapOvr>
    <a:masterClrMapping/>
  </p:clrMapOvr>
  <p:transition spd="slow">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519523"/>
            <a:ext cx="7886700" cy="702078"/>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7" name="Text Placeholder 6"/>
          <p:cNvSpPr>
            <a:spLocks noGrp="1"/>
          </p:cNvSpPr>
          <p:nvPr>
            <p:ph type="body" sz="quarter" idx="12"/>
          </p:nvPr>
        </p:nvSpPr>
        <p:spPr>
          <a:xfrm>
            <a:off x="4284664"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2010564945"/>
      </p:ext>
    </p:extLst>
  </p:cSld>
  <p:clrMapOvr>
    <a:masterClrMapping/>
  </p:clrMapOvr>
  <p:transition spd="slow">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519523"/>
            <a:ext cx="7886700" cy="702078"/>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350">
                <a:latin typeface="+mn-lt"/>
                <a:ea typeface="Calibri" panose="020F0502020204030204" pitchFamily="34" charset="0"/>
                <a:cs typeface="Calibri" panose="020F050202020403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3008092141"/>
      </p:ext>
    </p:extLst>
  </p:cSld>
  <p:clrMapOvr>
    <a:masterClrMapping/>
  </p:clrMapOvr>
  <p:transition spd="slow">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519523"/>
            <a:ext cx="7886700" cy="702078"/>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3"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baseline="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4" y="1221600"/>
            <a:ext cx="3167583" cy="3402378"/>
          </a:xfrm>
          <a:prstGeom prst="rect">
            <a:avLst/>
          </a:prstGeom>
        </p:spPr>
        <p:txBody>
          <a:bodyPr lIns="0" tIns="0" rIns="0" bIns="0" numCol="1" spcCol="216000"/>
          <a:lstStyle>
            <a:lvl1pPr marL="200025" marR="0" indent="-200025" algn="l" defTabSz="454819" rtl="0" eaLnBrk="1" fontAlgn="base" latinLnBrk="0" hangingPunct="1">
              <a:lnSpc>
                <a:spcPts val="1500"/>
              </a:lnSpc>
              <a:spcBef>
                <a:spcPts val="0"/>
              </a:spcBef>
              <a:spcAft>
                <a:spcPct val="0"/>
              </a:spcAft>
              <a:buClr>
                <a:srgbClr val="7A7392"/>
              </a:buClr>
              <a:buSzTx/>
              <a:buFont typeface="+mj-lt"/>
              <a:buAutoNum type="arabicPeriod"/>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mj-lt"/>
              <a:buAutoNum type="romanLcPeriod"/>
              <a:defRPr sz="1500">
                <a:latin typeface="+mn-lt"/>
                <a:ea typeface="Calibri" panose="020F0502020204030204" pitchFamily="34" charset="0"/>
                <a:cs typeface="Calibri" panose="020F0502020204030204" pitchFamily="34" charset="0"/>
              </a:defRPr>
            </a:lvl2pPr>
            <a:lvl3pPr marL="672704" indent="-200025">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939404" indent="-214313">
              <a:buFont typeface="Arial" panose="020B0604020202020204" pitchFamily="34" charset="0"/>
              <a:buChar char="̶"/>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734430778"/>
      </p:ext>
    </p:extLst>
  </p:cSld>
  <p:clrMapOvr>
    <a:masterClrMapping/>
  </p:clrMapOvr>
  <p:transition spd="slow">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519523"/>
            <a:ext cx="7886700" cy="646548"/>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166070"/>
            <a:ext cx="6515620" cy="340354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493571010"/>
      </p:ext>
    </p:extLst>
  </p:cSld>
  <p:clrMapOvr>
    <a:masterClrMapping/>
  </p:clrMapOvr>
  <p:transition spd="slow">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519523"/>
            <a:ext cx="7886700" cy="702077"/>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3" y="1221600"/>
            <a:ext cx="3167583" cy="3402378"/>
          </a:xfrm>
          <a:prstGeom prst="rect">
            <a:avLst/>
          </a:prstGeom>
        </p:spPr>
        <p:txBody>
          <a:bodyPr lIns="0" tIns="0" rIns="0" bIns="0" numCol="1" spcCol="216000"/>
          <a:lstStyle>
            <a:lvl1pPr marL="0" marR="0" indent="0" algn="l" defTabSz="454819" rtl="0" eaLnBrk="1" fontAlgn="base" latinLnBrk="0" hangingPunct="1">
              <a:lnSpc>
                <a:spcPts val="1500"/>
              </a:lnSpc>
              <a:spcBef>
                <a:spcPts val="0"/>
              </a:spcBef>
              <a:spcAft>
                <a:spcPct val="0"/>
              </a:spcAft>
              <a:buClrTx/>
              <a:buSzTx/>
              <a:buFontTx/>
              <a:buNone/>
              <a:tabLst/>
              <a:defRPr sz="1500" b="0" i="0" baseline="0">
                <a:solidFill>
                  <a:schemeClr val="tx1"/>
                </a:solidFill>
                <a:latin typeface="+mn-lt"/>
                <a:ea typeface="Calibri" panose="020F0502020204030204" pitchFamily="34" charset="0"/>
                <a:cs typeface="Calibri" panose="020F0502020204030204" pitchFamily="34" charset="0"/>
              </a:defRPr>
            </a:lvl1pPr>
          </a:lstStyle>
          <a:p>
            <a:pPr lvl="0"/>
            <a:r>
              <a:rPr lang="en-US" dirty="0"/>
              <a:t>Click to edit Master text styles</a:t>
            </a:r>
          </a:p>
        </p:txBody>
      </p:sp>
      <p:sp>
        <p:nvSpPr>
          <p:cNvPr id="3" name="Chart Placeholder 2"/>
          <p:cNvSpPr>
            <a:spLocks noGrp="1"/>
          </p:cNvSpPr>
          <p:nvPr>
            <p:ph type="chart" sz="quarter" idx="12"/>
          </p:nvPr>
        </p:nvSpPr>
        <p:spPr>
          <a:xfrm>
            <a:off x="4284663" y="1221600"/>
            <a:ext cx="3816350" cy="3348019"/>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3678699298"/>
      </p:ext>
    </p:extLst>
  </p:cSld>
  <p:clrMapOvr>
    <a:masterClrMapping/>
  </p:clrMapOvr>
  <p:transition spd="slow">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519523"/>
            <a:ext cx="7886700" cy="54006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059582"/>
            <a:ext cx="9144000" cy="4463393"/>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1241756936"/>
      </p:ext>
    </p:extLst>
  </p:cSld>
  <p:clrMapOvr>
    <a:masterClrMapping/>
  </p:clrMapOvr>
  <p:transition spd="slow">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3" y="519523"/>
            <a:ext cx="7454131" cy="576267"/>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095789"/>
            <a:ext cx="3024188" cy="4047711"/>
          </a:xfrm>
          <a:prstGeom prst="rect">
            <a:avLst/>
          </a:prstGeom>
        </p:spPr>
        <p:txBody>
          <a:bodyPr/>
          <a:lstStyle/>
          <a:p>
            <a:r>
              <a:rPr lang="en-US" dirty="0"/>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095790"/>
            <a:ext cx="3020316" cy="1987929"/>
          </a:xfrm>
          <a:prstGeom prst="rect">
            <a:avLst/>
          </a:prstGeom>
        </p:spPr>
        <p:txBody>
          <a:bodyPr/>
          <a:lstStyle/>
          <a:p>
            <a:r>
              <a:rPr lang="en-US" dirty="0"/>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3112294"/>
            <a:ext cx="3020316" cy="2031206"/>
          </a:xfrm>
          <a:prstGeom prst="rect">
            <a:avLst/>
          </a:prstGeom>
        </p:spPr>
        <p:txBody>
          <a:bodyPr/>
          <a:lstStyle/>
          <a:p>
            <a:r>
              <a:rPr lang="en-US" dirty="0"/>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6" y="1095789"/>
            <a:ext cx="3025775" cy="4047711"/>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501110380"/>
      </p:ext>
    </p:extLst>
  </p:cSld>
  <p:clrMapOvr>
    <a:masterClrMapping/>
  </p:clrMapOvr>
  <p:transition spd="slow">
    <p:fade/>
  </p:transition>
  <p:extLst>
    <p:ext uri="{DCECCB84-F9BA-43D5-87BE-67443E8EF086}">
      <p15:sldGuideLst xmlns:p15="http://schemas.microsoft.com/office/powerpoint/2012/main">
        <p15:guide id="1" orient="horz" pos="332">
          <p15:clr>
            <a:srgbClr val="FBAE40"/>
          </p15:clr>
        </p15:guide>
        <p15:guide id="2" pos="2880">
          <p15:clr>
            <a:srgbClr val="FBAE40"/>
          </p15:clr>
        </p15:guide>
        <p15:guide id="4" pos="3833">
          <p15:clr>
            <a:srgbClr val="FBAE40"/>
          </p15:clr>
        </p15:guide>
        <p15:guide id="5" orient="horz" pos="2614">
          <p15:clr>
            <a:srgbClr val="FBAE40"/>
          </p15:clr>
        </p15:guide>
        <p15:guide id="6" pos="567">
          <p15:clr>
            <a:srgbClr val="FBAE40"/>
          </p15:clr>
        </p15:guide>
        <p15:guide id="8" pos="1927">
          <p15:clr>
            <a:srgbClr val="FBAE40"/>
          </p15:clr>
        </p15:guide>
        <p15:guide id="9" pos="3854">
          <p15:clr>
            <a:srgbClr val="FBAE40"/>
          </p15:clr>
        </p15:guide>
        <p15:guide id="10" orient="horz" pos="259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519523"/>
            <a:ext cx="7886700" cy="576267"/>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6" y="1095789"/>
            <a:ext cx="2547073" cy="3402378"/>
          </a:xfrm>
          <a:prstGeom prst="rect">
            <a:avLst/>
          </a:prstGeom>
        </p:spPr>
        <p:txBody>
          <a:bodyPr lIns="0" tIns="0" rIns="0" bIns="0" numCol="1" spcCol="216000"/>
          <a:lstStyle>
            <a:lvl1pPr marL="214313" marR="0" indent="-214313" algn="l" defTabSz="454819" rtl="0" eaLnBrk="1" fontAlgn="base" latinLnBrk="0" hangingPunct="1">
              <a:lnSpc>
                <a:spcPts val="1500"/>
              </a:lnSpc>
              <a:spcBef>
                <a:spcPts val="0"/>
              </a:spcBef>
              <a:spcAft>
                <a:spcPct val="0"/>
              </a:spcAft>
              <a:buClr>
                <a:srgbClr val="7A7392"/>
              </a:buClr>
              <a:buSzTx/>
              <a:buFont typeface="Arial" panose="020B0604020202020204" pitchFamily="34" charset="0"/>
              <a:buChar char="•"/>
              <a:tabLst/>
              <a:defRPr sz="1500" b="0" i="0" baseline="0">
                <a:solidFill>
                  <a:schemeClr val="tx1"/>
                </a:solidFill>
                <a:latin typeface="+mn-lt"/>
                <a:ea typeface="Calibri" panose="020F0502020204030204" pitchFamily="34" charset="0"/>
                <a:cs typeface="Calibri" panose="020F0502020204030204" pitchFamily="34" charset="0"/>
              </a:defRPr>
            </a:lvl1pPr>
            <a:lvl2pPr marL="406004" indent="-205979">
              <a:buClr>
                <a:srgbClr val="7A7392"/>
              </a:buClr>
              <a:buFont typeface="Courier New" panose="02070309020205020404" pitchFamily="49" charset="0"/>
              <a:buChar char="o"/>
              <a:defRPr sz="1500">
                <a:latin typeface="+mn-lt"/>
                <a:ea typeface="Calibri" panose="020F0502020204030204" pitchFamily="34" charset="0"/>
                <a:cs typeface="Calibri" panose="020F0502020204030204" pitchFamily="34" charset="0"/>
              </a:defRPr>
            </a:lvl2pPr>
            <a:lvl3pPr marL="606029" indent="-133350">
              <a:buClr>
                <a:srgbClr val="7A7392"/>
              </a:buClr>
              <a:buFont typeface="Arial" panose="020B0604020202020204" pitchFamily="34" charset="0"/>
              <a:buChar char="̶"/>
              <a:defRPr sz="1500">
                <a:latin typeface="+mn-lt"/>
                <a:ea typeface="Calibri" panose="020F0502020204030204" pitchFamily="34" charset="0"/>
                <a:cs typeface="Calibri" panose="020F0502020204030204" pitchFamily="34" charset="0"/>
              </a:defRPr>
            </a:lvl3pPr>
            <a:lvl4pPr marL="872729" indent="-226219">
              <a:defRPr sz="1050">
                <a:latin typeface="+mn-lt"/>
                <a:ea typeface="Calibri" panose="020F0502020204030204" pitchFamily="34" charset="0"/>
                <a:cs typeface="Calibri" panose="020F050202020403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095789"/>
            <a:ext cx="3043238" cy="4047711"/>
          </a:xfrm>
          <a:prstGeom prst="rect">
            <a:avLst/>
          </a:prstGeom>
        </p:spPr>
        <p:txBody>
          <a:bodyPr/>
          <a:lstStyle/>
          <a:p>
            <a:r>
              <a:rPr lang="en-US" dirty="0"/>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3109912"/>
            <a:ext cx="3022600" cy="2033588"/>
          </a:xfrm>
          <a:prstGeom prst="rect">
            <a:avLst/>
          </a:prstGeom>
        </p:spPr>
        <p:txBody>
          <a:bodyPr/>
          <a:lstStyle/>
          <a:p>
            <a:r>
              <a:rPr lang="en-US" dirty="0"/>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1" y="1095790"/>
            <a:ext cx="3022599" cy="1987929"/>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4152237961"/>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pos="3856">
          <p15:clr>
            <a:srgbClr val="FBAE40"/>
          </p15:clr>
        </p15:guide>
        <p15:guide id="4" pos="3833">
          <p15:clr>
            <a:srgbClr val="FBAE40"/>
          </p15:clr>
        </p15:guide>
        <p15:guide id="6" orient="horz" pos="2590">
          <p15:clr>
            <a:srgbClr val="FBAE40"/>
          </p15:clr>
        </p15:guide>
        <p15:guide id="7" orient="horz" pos="261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519523"/>
            <a:ext cx="7886700" cy="897732"/>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9" y="1437624"/>
            <a:ext cx="7058025" cy="2646294"/>
          </a:xfrm>
          <a:prstGeom prst="rect">
            <a:avLst/>
          </a:prstGeom>
        </p:spPr>
        <p:txBody>
          <a:bodyPr/>
          <a:lstStyle>
            <a:lvl1pPr marL="0" indent="0">
              <a:lnSpc>
                <a:spcPts val="2700"/>
              </a:lnSpc>
              <a:buNone/>
              <a:defRPr sz="2100" b="0" i="1" baseline="0">
                <a:solidFill>
                  <a:srgbClr val="7A7392"/>
                </a:solidFill>
                <a:latin typeface="+mj-lt"/>
              </a:defRPr>
            </a:lvl1pPr>
            <a:lvl2pPr marL="457200" indent="0">
              <a:lnSpc>
                <a:spcPts val="2700"/>
              </a:lnSpc>
              <a:buNone/>
              <a:defRPr sz="2100" b="0" i="1" baseline="0">
                <a:solidFill>
                  <a:srgbClr val="7A7392"/>
                </a:solidFill>
                <a:latin typeface="+mj-lt"/>
              </a:defRPr>
            </a:lvl2pPr>
            <a:lvl3pPr marL="914400" indent="0">
              <a:lnSpc>
                <a:spcPts val="2700"/>
              </a:lnSpc>
              <a:buNone/>
              <a:defRPr sz="2100" b="0" i="1" baseline="0">
                <a:solidFill>
                  <a:srgbClr val="7A7392"/>
                </a:solidFill>
                <a:latin typeface="+mj-lt"/>
              </a:defRPr>
            </a:lvl3pPr>
            <a:lvl4pPr marL="1371600" indent="0">
              <a:lnSpc>
                <a:spcPts val="2700"/>
              </a:lnSpc>
              <a:buNone/>
              <a:defRPr sz="2100" b="0" i="1" baseline="0">
                <a:solidFill>
                  <a:srgbClr val="7A7392"/>
                </a:solidFill>
                <a:latin typeface="+mj-lt"/>
              </a:defRPr>
            </a:lvl4pPr>
            <a:lvl5pPr marL="1828800" indent="0">
              <a:lnSpc>
                <a:spcPts val="2700"/>
              </a:lnSpc>
              <a:buNone/>
              <a:defRPr sz="2100" b="0" i="1" baseline="0">
                <a:solidFill>
                  <a:srgbClr val="7A7392"/>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p:cNvSpPr>
            <a:spLocks noGrp="1"/>
          </p:cNvSpPr>
          <p:nvPr>
            <p:ph type="body" sz="quarter" idx="13"/>
          </p:nvPr>
        </p:nvSpPr>
        <p:spPr>
          <a:xfrm>
            <a:off x="1042989" y="4245769"/>
            <a:ext cx="7058025" cy="897731"/>
          </a:xfrm>
          <a:prstGeom prst="rect">
            <a:avLst/>
          </a:prstGeom>
        </p:spPr>
        <p:txBody>
          <a:bodyPr/>
          <a:lstStyle>
            <a:lvl1pPr marL="0" indent="0" algn="r">
              <a:lnSpc>
                <a:spcPts val="1350"/>
              </a:lnSpc>
              <a:buNone/>
              <a:defRPr sz="1350" baseline="0">
                <a:solidFill>
                  <a:schemeClr val="tx1"/>
                </a:solidFill>
                <a:latin typeface="+mn-lt"/>
              </a:defRPr>
            </a:lvl1pPr>
            <a:lvl2pPr marL="457200" indent="0" algn="r">
              <a:lnSpc>
                <a:spcPts val="1350"/>
              </a:lnSpc>
              <a:buNone/>
              <a:defRPr sz="1350" baseline="0">
                <a:solidFill>
                  <a:schemeClr val="tx1"/>
                </a:solidFill>
                <a:latin typeface="+mn-lt"/>
              </a:defRPr>
            </a:lvl2pPr>
            <a:lvl3pPr marL="914400" indent="0" algn="r">
              <a:lnSpc>
                <a:spcPts val="1350"/>
              </a:lnSpc>
              <a:buNone/>
              <a:defRPr sz="1350" baseline="0">
                <a:solidFill>
                  <a:schemeClr val="tx1"/>
                </a:solidFill>
                <a:latin typeface="+mn-lt"/>
              </a:defRPr>
            </a:lvl3pPr>
            <a:lvl4pPr marL="1371600" indent="0" algn="r">
              <a:lnSpc>
                <a:spcPts val="1350"/>
              </a:lnSpc>
              <a:buNone/>
              <a:defRPr sz="1350" baseline="0">
                <a:solidFill>
                  <a:schemeClr val="tx1"/>
                </a:solidFill>
                <a:latin typeface="+mn-lt"/>
              </a:defRPr>
            </a:lvl4pPr>
            <a:lvl5pPr marL="1828800" indent="0" algn="r">
              <a:lnSpc>
                <a:spcPts val="1350"/>
              </a:lnSpc>
              <a:buNone/>
              <a:defRPr sz="1350" baseline="0">
                <a:solidFill>
                  <a:schemeClr val="tx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7609607"/>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57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4" y="2139702"/>
            <a:ext cx="4283969" cy="1944216"/>
          </a:xfrm>
          <a:prstGeom prst="rect">
            <a:avLst/>
          </a:prstGeom>
        </p:spPr>
        <p:txBody>
          <a:bodyPr/>
          <a:lstStyle>
            <a:lvl1pPr marL="0" indent="0" algn="r">
              <a:lnSpc>
                <a:spcPts val="7200"/>
              </a:lnSpc>
              <a:buNone/>
              <a:defRPr sz="9750" b="0" i="0" baseline="0">
                <a:solidFill>
                  <a:srgbClr val="7A7392"/>
                </a:solidFill>
                <a:latin typeface="+mj-lt"/>
                <a:ea typeface="Calibri" panose="020F0502020204030204" pitchFamily="34" charset="0"/>
                <a:cs typeface="Calibri" panose="020F0502020204030204" pitchFamily="34" charset="0"/>
              </a:defRPr>
            </a:lvl1pPr>
            <a:lvl2pPr marL="457200" indent="0" algn="r">
              <a:lnSpc>
                <a:spcPts val="2700"/>
              </a:lnSpc>
              <a:buNone/>
              <a:defRPr sz="7200" b="0" i="0" baseline="0">
                <a:solidFill>
                  <a:schemeClr val="bg1"/>
                </a:solidFill>
                <a:latin typeface="Georgia" charset="0"/>
                <a:ea typeface="Georgia" charset="0"/>
                <a:cs typeface="Georgia" charset="0"/>
              </a:defRPr>
            </a:lvl2pPr>
            <a:lvl3pPr marL="914400" indent="0" algn="r">
              <a:lnSpc>
                <a:spcPts val="2700"/>
              </a:lnSpc>
              <a:buNone/>
              <a:defRPr sz="7200" b="0" i="0" baseline="0">
                <a:solidFill>
                  <a:schemeClr val="bg1"/>
                </a:solidFill>
                <a:latin typeface="Georgia" charset="0"/>
                <a:ea typeface="Georgia" charset="0"/>
                <a:cs typeface="Georgia" charset="0"/>
              </a:defRPr>
            </a:lvl3pPr>
            <a:lvl4pPr marL="1371600" indent="0" algn="r">
              <a:lnSpc>
                <a:spcPts val="2700"/>
              </a:lnSpc>
              <a:buNone/>
              <a:defRPr sz="7200" b="0" i="0" baseline="0">
                <a:solidFill>
                  <a:schemeClr val="bg1"/>
                </a:solidFill>
                <a:latin typeface="Georgia" charset="0"/>
                <a:ea typeface="Georgia" charset="0"/>
                <a:cs typeface="Georgia" charset="0"/>
              </a:defRPr>
            </a:lvl4pPr>
            <a:lvl5pPr marL="1828800" indent="0" algn="r">
              <a:lnSpc>
                <a:spcPts val="2700"/>
              </a:lnSpc>
              <a:buNone/>
              <a:defRPr sz="72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139554"/>
            <a:ext cx="3656012" cy="1944290"/>
          </a:xfrm>
          <a:prstGeom prst="rect">
            <a:avLst/>
          </a:prstGeom>
        </p:spPr>
        <p:txBody>
          <a:bodyPr/>
          <a:lstStyle>
            <a:lvl1pPr>
              <a:defRPr sz="1500">
                <a:solidFill>
                  <a:srgbClr val="7A7392"/>
                </a:solidFill>
              </a:defRPr>
            </a:lvl1pPr>
            <a:lvl2pPr marL="457200" indent="0">
              <a:buNone/>
              <a:defRPr sz="1500">
                <a:solidFill>
                  <a:srgbClr val="7A7392"/>
                </a:solidFill>
              </a:defRPr>
            </a:lvl2pPr>
            <a:lvl3pPr marL="914400" indent="0">
              <a:buNone/>
              <a:defRPr sz="1500">
                <a:solidFill>
                  <a:srgbClr val="7A7392"/>
                </a:solidFill>
              </a:defRPr>
            </a:lvl3pPr>
            <a:lvl4pPr marL="1371600" indent="0">
              <a:buNone/>
              <a:defRPr sz="1500">
                <a:solidFill>
                  <a:srgbClr val="7A7392"/>
                </a:solidFill>
              </a:defRPr>
            </a:lvl4pPr>
            <a:lvl5pPr marL="1828800" indent="0">
              <a:buNone/>
              <a:defRPr sz="1500">
                <a:solidFill>
                  <a:srgbClr val="7A739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ext Placeholder 14"/>
          <p:cNvSpPr>
            <a:spLocks noGrp="1"/>
          </p:cNvSpPr>
          <p:nvPr>
            <p:ph type="body" sz="quarter" idx="14"/>
          </p:nvPr>
        </p:nvSpPr>
        <p:spPr>
          <a:xfrm>
            <a:off x="970980" y="4245769"/>
            <a:ext cx="7129412" cy="486221"/>
          </a:xfrm>
          <a:prstGeom prst="rect">
            <a:avLst/>
          </a:prstGeom>
        </p:spPr>
        <p:txBody>
          <a:bodyPr/>
          <a:lstStyle>
            <a:lvl1pPr marL="0" indent="0" algn="r">
              <a:lnSpc>
                <a:spcPts val="1050"/>
              </a:lnSpc>
              <a:buNone/>
              <a:defRPr sz="1350" baseline="0">
                <a:solidFill>
                  <a:schemeClr val="tx1"/>
                </a:solidFill>
                <a:latin typeface="Calibri" panose="020F0502020204030204" pitchFamily="34" charset="0"/>
              </a:defRPr>
            </a:lvl1pPr>
            <a:lvl2pPr marL="457200" indent="0" algn="r">
              <a:lnSpc>
                <a:spcPts val="1050"/>
              </a:lnSpc>
              <a:buNone/>
              <a:defRPr sz="1350" baseline="0">
                <a:solidFill>
                  <a:schemeClr val="tx1"/>
                </a:solidFill>
                <a:latin typeface="Calibri" panose="020F0502020204030204" pitchFamily="34" charset="0"/>
              </a:defRPr>
            </a:lvl2pPr>
            <a:lvl3pPr marL="914400" indent="0" algn="r">
              <a:lnSpc>
                <a:spcPts val="1050"/>
              </a:lnSpc>
              <a:buNone/>
              <a:defRPr sz="1350" baseline="0">
                <a:solidFill>
                  <a:schemeClr val="tx1"/>
                </a:solidFill>
                <a:latin typeface="Calibri" panose="020F0502020204030204" pitchFamily="34" charset="0"/>
              </a:defRPr>
            </a:lvl3pPr>
            <a:lvl4pPr marL="1371600" indent="0" algn="r">
              <a:lnSpc>
                <a:spcPts val="1050"/>
              </a:lnSpc>
              <a:buNone/>
              <a:defRPr sz="1350" baseline="0">
                <a:solidFill>
                  <a:schemeClr val="tx1"/>
                </a:solidFill>
                <a:latin typeface="Calibri" panose="020F0502020204030204" pitchFamily="34" charset="0"/>
              </a:defRPr>
            </a:lvl4pPr>
            <a:lvl5pPr marL="1828800" indent="0" algn="r">
              <a:lnSpc>
                <a:spcPts val="1050"/>
              </a:lnSpc>
              <a:buNone/>
              <a:defRPr sz="1350" baseline="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4154876"/>
      </p:ext>
    </p:extLst>
  </p:cSld>
  <p:clrMapOvr>
    <a:masterClrMapping/>
  </p:clrMapOvr>
  <p:transition spd="slow">
    <p:fade/>
  </p:transition>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18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614608"/>
            <a:ext cx="3463290" cy="898398"/>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713232" y="1611630"/>
            <a:ext cx="2907792" cy="2907792"/>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382262" y="713232"/>
            <a:ext cx="4190238" cy="3998214"/>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7852410" y="1207008"/>
            <a:ext cx="2002536" cy="27432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8620506" y="2414016"/>
            <a:ext cx="473202" cy="322326"/>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7852410" y="3669030"/>
            <a:ext cx="2002536" cy="274320"/>
          </a:xfrm>
          <a:prstGeom prst="rect">
            <a:avLst/>
          </a:prstGeom>
        </p:spPr>
        <p:txBody>
          <a:bodyPr/>
          <a:lstStyle>
            <a:lvl1pPr>
              <a:defRPr>
                <a:solidFill>
                  <a:schemeClr val="tx1"/>
                </a:solidFill>
              </a:defRPr>
            </a:lvl1pPr>
          </a:lstStyle>
          <a:p>
            <a:fld id="{9EC1A304-701C-41E4-B1CD-607E1F9CDC82}" type="datetime4">
              <a:rPr lang="en-US" smtClean="0"/>
              <a:t>March 24, 2026</a:t>
            </a:fld>
            <a:endParaRPr lang="en-US"/>
          </a:p>
        </p:txBody>
      </p:sp>
    </p:spTree>
    <p:extLst>
      <p:ext uri="{BB962C8B-B14F-4D97-AF65-F5344CB8AC3E}">
        <p14:creationId xmlns:p14="http://schemas.microsoft.com/office/powerpoint/2010/main" val="2764871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image" Target="../media/image3.jpeg"/><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theme" Target="../theme/theme2.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4011" r:id="rId15"/>
  </p:sldLayoutIdLst>
  <p:transition spd="slow">
    <p:fade/>
  </p:transition>
  <p:txStyles>
    <p:titleStyle>
      <a:lvl1pPr algn="ctr" defTabSz="606410" rtl="0" eaLnBrk="0" fontAlgn="base" hangingPunct="0">
        <a:spcBef>
          <a:spcPct val="0"/>
        </a:spcBef>
        <a:spcAft>
          <a:spcPct val="0"/>
        </a:spcAft>
        <a:defRPr sz="5800" kern="1200">
          <a:solidFill>
            <a:schemeClr val="tx1"/>
          </a:solidFill>
          <a:latin typeface="+mj-lt"/>
          <a:ea typeface="ＭＳ Ｐゴシック" charset="0"/>
          <a:cs typeface="ＭＳ Ｐゴシック" charset="0"/>
        </a:defRPr>
      </a:lvl1pPr>
      <a:lvl2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10" rtl="0" eaLnBrk="0" fontAlgn="base" hangingPunct="0">
        <a:spcBef>
          <a:spcPct val="0"/>
        </a:spcBef>
        <a:spcAft>
          <a:spcPct val="0"/>
        </a:spcAft>
        <a:defRPr sz="5800">
          <a:solidFill>
            <a:schemeClr val="tx1"/>
          </a:solidFill>
          <a:latin typeface="Calibri" charset="0"/>
          <a:ea typeface="ＭＳ Ｐゴシック" charset="0"/>
          <a:cs typeface="ＭＳ Ｐゴシック" charset="0"/>
        </a:defRPr>
      </a:lvl5pPr>
      <a:lvl6pPr marL="609539"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080"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1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158" algn="ctr" defTabSz="609539"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14" indent="-454014" algn="l" defTabSz="606410" rtl="0" eaLnBrk="0" fontAlgn="base" hangingPunct="0">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39" rtl="0" eaLnBrk="1" latinLnBrk="0" hangingPunct="1">
        <a:defRPr sz="2400" kern="1200">
          <a:solidFill>
            <a:schemeClr val="tx1"/>
          </a:solidFill>
          <a:latin typeface="+mn-lt"/>
          <a:ea typeface="+mn-ea"/>
          <a:cs typeface="+mn-cs"/>
        </a:defRPr>
      </a:lvl1pPr>
      <a:lvl2pPr marL="609539" algn="l" defTabSz="609539" rtl="0" eaLnBrk="1" latinLnBrk="0" hangingPunct="1">
        <a:defRPr sz="2400" kern="1200">
          <a:solidFill>
            <a:schemeClr val="tx1"/>
          </a:solidFill>
          <a:latin typeface="+mn-lt"/>
          <a:ea typeface="+mn-ea"/>
          <a:cs typeface="+mn-cs"/>
        </a:defRPr>
      </a:lvl2pPr>
      <a:lvl3pPr marL="1219080" algn="l" defTabSz="609539" rtl="0" eaLnBrk="1" latinLnBrk="0" hangingPunct="1">
        <a:defRPr sz="2400" kern="1200">
          <a:solidFill>
            <a:schemeClr val="tx1"/>
          </a:solidFill>
          <a:latin typeface="+mn-lt"/>
          <a:ea typeface="+mn-ea"/>
          <a:cs typeface="+mn-cs"/>
        </a:defRPr>
      </a:lvl3pPr>
      <a:lvl4pPr marL="1828618" algn="l" defTabSz="609539" rtl="0" eaLnBrk="1" latinLnBrk="0" hangingPunct="1">
        <a:defRPr sz="2400" kern="1200">
          <a:solidFill>
            <a:schemeClr val="tx1"/>
          </a:solidFill>
          <a:latin typeface="+mn-lt"/>
          <a:ea typeface="+mn-ea"/>
          <a:cs typeface="+mn-cs"/>
        </a:defRPr>
      </a:lvl4pPr>
      <a:lvl5pPr marL="2438158" algn="l" defTabSz="609539" rtl="0" eaLnBrk="1" latinLnBrk="0" hangingPunct="1">
        <a:defRPr sz="2400" kern="1200">
          <a:solidFill>
            <a:schemeClr val="tx1"/>
          </a:solidFill>
          <a:latin typeface="+mn-lt"/>
          <a:ea typeface="+mn-ea"/>
          <a:cs typeface="+mn-cs"/>
        </a:defRPr>
      </a:lvl5pPr>
      <a:lvl6pPr marL="3047696" algn="l" defTabSz="609539" rtl="0" eaLnBrk="1" latinLnBrk="0" hangingPunct="1">
        <a:defRPr sz="2400" kern="1200">
          <a:solidFill>
            <a:schemeClr val="tx1"/>
          </a:solidFill>
          <a:latin typeface="+mn-lt"/>
          <a:ea typeface="+mn-ea"/>
          <a:cs typeface="+mn-cs"/>
        </a:defRPr>
      </a:lvl6pPr>
      <a:lvl7pPr marL="3657235" algn="l" defTabSz="609539" rtl="0" eaLnBrk="1" latinLnBrk="0" hangingPunct="1">
        <a:defRPr sz="2400" kern="1200">
          <a:solidFill>
            <a:schemeClr val="tx1"/>
          </a:solidFill>
          <a:latin typeface="+mn-lt"/>
          <a:ea typeface="+mn-ea"/>
          <a:cs typeface="+mn-cs"/>
        </a:defRPr>
      </a:lvl7pPr>
      <a:lvl8pPr marL="4266773" algn="l" defTabSz="609539" rtl="0" eaLnBrk="1" latinLnBrk="0" hangingPunct="1">
        <a:defRPr sz="2400" kern="1200">
          <a:solidFill>
            <a:schemeClr val="tx1"/>
          </a:solidFill>
          <a:latin typeface="+mn-lt"/>
          <a:ea typeface="+mn-ea"/>
          <a:cs typeface="+mn-cs"/>
        </a:defRPr>
      </a:lvl8pPr>
      <a:lvl9pPr marL="4876313" algn="l" defTabSz="609539"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519523"/>
            <a:ext cx="7886700" cy="540059"/>
          </a:xfrm>
          <a:prstGeom prst="rect">
            <a:avLst/>
          </a:prstGeom>
        </p:spPr>
        <p:txBody>
          <a:bodyPr vert="horz" lIns="0" tIns="0" rIns="0" bIns="0" rtlCol="0" anchor="t" anchorCtr="0">
            <a:normAutofit/>
          </a:bodyPr>
          <a:lstStyle/>
          <a:p>
            <a:r>
              <a:rPr lang="en-US" dirty="0"/>
              <a:t>Click to edit Master title style</a:t>
            </a:r>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7236297" y="0"/>
            <a:ext cx="1081087"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405789"/>
      </p:ext>
    </p:extLst>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 id="2147483988" r:id="rId12"/>
    <p:sldLayoutId id="2147483989" r:id="rId13"/>
    <p:sldLayoutId id="2147483990" r:id="rId14"/>
    <p:sldLayoutId id="2147484010" r:id="rId15"/>
    <p:sldLayoutId id="2147483993" r:id="rId16"/>
    <p:sldLayoutId id="2147483994" r:id="rId17"/>
    <p:sldLayoutId id="2147483995" r:id="rId18"/>
    <p:sldLayoutId id="2147483996" r:id="rId19"/>
    <p:sldLayoutId id="2147483997" r:id="rId20"/>
    <p:sldLayoutId id="2147483998" r:id="rId21"/>
    <p:sldLayoutId id="2147483999" r:id="rId22"/>
    <p:sldLayoutId id="2147484000" r:id="rId23"/>
    <p:sldLayoutId id="2147484001" r:id="rId24"/>
    <p:sldLayoutId id="2147484002" r:id="rId25"/>
    <p:sldLayoutId id="2147484003" r:id="rId26"/>
    <p:sldLayoutId id="2147484004" r:id="rId27"/>
    <p:sldLayoutId id="2147484005" r:id="rId28"/>
    <p:sldLayoutId id="2147484006" r:id="rId29"/>
    <p:sldLayoutId id="2147484012" r:id="rId30"/>
  </p:sldLayoutIdLst>
  <p:transition spd="slow">
    <p:fade/>
  </p:transition>
  <p:txStyles>
    <p:titleStyle>
      <a:lvl1pPr algn="l" defTabSz="454819" rtl="0" eaLnBrk="1" fontAlgn="base" hangingPunct="1">
        <a:spcBef>
          <a:spcPct val="0"/>
        </a:spcBef>
        <a:spcAft>
          <a:spcPct val="0"/>
        </a:spcAft>
        <a:defRPr sz="2700" kern="1200">
          <a:solidFill>
            <a:srgbClr val="7A7392"/>
          </a:solidFill>
          <a:latin typeface="+mj-lt"/>
          <a:ea typeface="ＭＳ Ｐゴシック" charset="0"/>
          <a:cs typeface="ＭＳ Ｐゴシック" charset="0"/>
        </a:defRPr>
      </a:lvl1pPr>
      <a:lvl2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2pPr>
      <a:lvl3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3pPr>
      <a:lvl4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4pPr>
      <a:lvl5pPr algn="ctr" defTabSz="454819" rtl="0" eaLnBrk="1" fontAlgn="base" hangingPunct="1">
        <a:spcBef>
          <a:spcPct val="0"/>
        </a:spcBef>
        <a:spcAft>
          <a:spcPct val="0"/>
        </a:spcAft>
        <a:defRPr sz="4350">
          <a:solidFill>
            <a:schemeClr val="tx1"/>
          </a:solidFill>
          <a:latin typeface="Calibri" charset="0"/>
          <a:ea typeface="ＭＳ Ｐゴシック" charset="0"/>
          <a:cs typeface="ＭＳ Ｐゴシック" charset="0"/>
        </a:defRPr>
      </a:lvl5pPr>
      <a:lvl6pPr marL="457166"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6pPr>
      <a:lvl7pPr marL="914333"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7pPr>
      <a:lvl8pPr marL="1371498"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8pPr>
      <a:lvl9pPr marL="1828664" algn="ctr" defTabSz="457166" rtl="0" eaLnBrk="1" fontAlgn="base" hangingPunct="1">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0519" indent="-340519" algn="l" defTabSz="454819" rtl="0" eaLnBrk="1" fontAlgn="base" hangingPunct="1">
        <a:spcBef>
          <a:spcPct val="20000"/>
        </a:spcBef>
        <a:spcAft>
          <a:spcPct val="0"/>
        </a:spcAft>
        <a:buFont typeface="Arial" charset="0"/>
        <a:buChar char="•"/>
        <a:defRPr sz="3150" kern="1200">
          <a:solidFill>
            <a:schemeClr val="tx1"/>
          </a:solidFill>
          <a:latin typeface="+mn-lt"/>
          <a:ea typeface="ＭＳ Ｐゴシック" charset="0"/>
          <a:cs typeface="ＭＳ Ｐゴシック" charset="0"/>
        </a:defRPr>
      </a:lvl1pPr>
      <a:lvl2pPr marL="740569" indent="-283369" algn="l" defTabSz="454819" rtl="0" eaLnBrk="1" fontAlgn="base" hangingPunct="1">
        <a:spcBef>
          <a:spcPct val="20000"/>
        </a:spcBef>
        <a:spcAft>
          <a:spcPct val="0"/>
        </a:spcAft>
        <a:buFont typeface="Arial" charset="0"/>
        <a:buChar char="–"/>
        <a:defRPr sz="2775" kern="1200">
          <a:solidFill>
            <a:schemeClr val="tx1"/>
          </a:solidFill>
          <a:latin typeface="+mn-lt"/>
          <a:ea typeface="ＭＳ Ｐゴシック" charset="0"/>
          <a:cs typeface="+mn-cs"/>
        </a:defRPr>
      </a:lvl2pPr>
      <a:lvl3pPr marL="1140619" indent="-226219" algn="l" defTabSz="454819" rtl="0" eaLnBrk="1" fontAlgn="base" hangingPunct="1">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597819" indent="-226219" algn="l" defTabSz="454819" rtl="0" eaLnBrk="1" fontAlgn="base" hangingPunct="1">
        <a:spcBef>
          <a:spcPct val="20000"/>
        </a:spcBef>
        <a:spcAft>
          <a:spcPct val="0"/>
        </a:spcAft>
        <a:buFont typeface="Arial" charset="0"/>
        <a:buChar char="–"/>
        <a:defRPr sz="1950" kern="1200">
          <a:solidFill>
            <a:schemeClr val="tx1"/>
          </a:solidFill>
          <a:latin typeface="+mn-lt"/>
          <a:ea typeface="ＭＳ Ｐゴシック" charset="0"/>
          <a:cs typeface="+mn-cs"/>
        </a:defRPr>
      </a:lvl4pPr>
      <a:lvl5pPr marL="2055019" indent="-226219" algn="l" defTabSz="454819" rtl="0" eaLnBrk="1" fontAlgn="base" hangingPunct="1">
        <a:spcBef>
          <a:spcPct val="20000"/>
        </a:spcBef>
        <a:spcAft>
          <a:spcPct val="0"/>
        </a:spcAft>
        <a:buFont typeface="Arial" charset="0"/>
        <a:buChar char="»"/>
        <a:defRPr sz="1950" kern="1200">
          <a:solidFill>
            <a:schemeClr val="tx1"/>
          </a:solidFill>
          <a:latin typeface="+mn-lt"/>
          <a:ea typeface="ＭＳ Ｐゴシック" charset="0"/>
          <a:cs typeface="+mn-cs"/>
        </a:defRPr>
      </a:lvl5pPr>
      <a:lvl6pPr marL="2514411" indent="-228582" algn="l" defTabSz="457166" rtl="0" eaLnBrk="1" latinLnBrk="0" hangingPunct="1">
        <a:spcBef>
          <a:spcPct val="20000"/>
        </a:spcBef>
        <a:buFont typeface="Arial"/>
        <a:buChar char="•"/>
        <a:defRPr sz="2000" kern="1200">
          <a:solidFill>
            <a:schemeClr val="tx1"/>
          </a:solidFill>
          <a:latin typeface="+mn-lt"/>
          <a:ea typeface="+mn-ea"/>
          <a:cs typeface="+mn-cs"/>
        </a:defRPr>
      </a:lvl6pPr>
      <a:lvl7pPr marL="2971578" indent="-228582" algn="l" defTabSz="457166" rtl="0" eaLnBrk="1" latinLnBrk="0" hangingPunct="1">
        <a:spcBef>
          <a:spcPct val="20000"/>
        </a:spcBef>
        <a:buFont typeface="Arial"/>
        <a:buChar char="•"/>
        <a:defRPr sz="2000" kern="1200">
          <a:solidFill>
            <a:schemeClr val="tx1"/>
          </a:solidFill>
          <a:latin typeface="+mn-lt"/>
          <a:ea typeface="+mn-ea"/>
          <a:cs typeface="+mn-cs"/>
        </a:defRPr>
      </a:lvl7pPr>
      <a:lvl8pPr marL="3428744" indent="-228582" algn="l" defTabSz="457166" rtl="0" eaLnBrk="1" latinLnBrk="0" hangingPunct="1">
        <a:spcBef>
          <a:spcPct val="20000"/>
        </a:spcBef>
        <a:buFont typeface="Arial"/>
        <a:buChar char="•"/>
        <a:defRPr sz="2000" kern="1200">
          <a:solidFill>
            <a:schemeClr val="tx1"/>
          </a:solidFill>
          <a:latin typeface="+mn-lt"/>
          <a:ea typeface="+mn-ea"/>
          <a:cs typeface="+mn-cs"/>
        </a:defRPr>
      </a:lvl8pPr>
      <a:lvl9pPr marL="3885909" indent="-228582" algn="l" defTabSz="45716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66" rtl="0" eaLnBrk="1" latinLnBrk="0" hangingPunct="1">
        <a:defRPr sz="1800" kern="1200">
          <a:solidFill>
            <a:schemeClr val="tx1"/>
          </a:solidFill>
          <a:latin typeface="+mn-lt"/>
          <a:ea typeface="+mn-ea"/>
          <a:cs typeface="+mn-cs"/>
        </a:defRPr>
      </a:lvl1pPr>
      <a:lvl2pPr marL="457166" algn="l" defTabSz="457166" rtl="0" eaLnBrk="1" latinLnBrk="0" hangingPunct="1">
        <a:defRPr sz="1800" kern="1200">
          <a:solidFill>
            <a:schemeClr val="tx1"/>
          </a:solidFill>
          <a:latin typeface="+mn-lt"/>
          <a:ea typeface="+mn-ea"/>
          <a:cs typeface="+mn-cs"/>
        </a:defRPr>
      </a:lvl2pPr>
      <a:lvl3pPr marL="914333" algn="l" defTabSz="457166" rtl="0" eaLnBrk="1" latinLnBrk="0" hangingPunct="1">
        <a:defRPr sz="1800" kern="1200">
          <a:solidFill>
            <a:schemeClr val="tx1"/>
          </a:solidFill>
          <a:latin typeface="+mn-lt"/>
          <a:ea typeface="+mn-ea"/>
          <a:cs typeface="+mn-cs"/>
        </a:defRPr>
      </a:lvl3pPr>
      <a:lvl4pPr marL="1371498" algn="l" defTabSz="457166" rtl="0" eaLnBrk="1" latinLnBrk="0" hangingPunct="1">
        <a:defRPr sz="1800" kern="1200">
          <a:solidFill>
            <a:schemeClr val="tx1"/>
          </a:solidFill>
          <a:latin typeface="+mn-lt"/>
          <a:ea typeface="+mn-ea"/>
          <a:cs typeface="+mn-cs"/>
        </a:defRPr>
      </a:lvl4pPr>
      <a:lvl5pPr marL="1828664" algn="l" defTabSz="457166" rtl="0" eaLnBrk="1" latinLnBrk="0" hangingPunct="1">
        <a:defRPr sz="1800" kern="1200">
          <a:solidFill>
            <a:schemeClr val="tx1"/>
          </a:solidFill>
          <a:latin typeface="+mn-lt"/>
          <a:ea typeface="+mn-ea"/>
          <a:cs typeface="+mn-cs"/>
        </a:defRPr>
      </a:lvl5pPr>
      <a:lvl6pPr marL="2285829" algn="l" defTabSz="457166" rtl="0" eaLnBrk="1" latinLnBrk="0" hangingPunct="1">
        <a:defRPr sz="1800" kern="1200">
          <a:solidFill>
            <a:schemeClr val="tx1"/>
          </a:solidFill>
          <a:latin typeface="+mn-lt"/>
          <a:ea typeface="+mn-ea"/>
          <a:cs typeface="+mn-cs"/>
        </a:defRPr>
      </a:lvl6pPr>
      <a:lvl7pPr marL="2742995" algn="l" defTabSz="457166" rtl="0" eaLnBrk="1" latinLnBrk="0" hangingPunct="1">
        <a:defRPr sz="1800" kern="1200">
          <a:solidFill>
            <a:schemeClr val="tx1"/>
          </a:solidFill>
          <a:latin typeface="+mn-lt"/>
          <a:ea typeface="+mn-ea"/>
          <a:cs typeface="+mn-cs"/>
        </a:defRPr>
      </a:lvl7pPr>
      <a:lvl8pPr marL="3200160" algn="l" defTabSz="457166" rtl="0" eaLnBrk="1" latinLnBrk="0" hangingPunct="1">
        <a:defRPr sz="1800" kern="1200">
          <a:solidFill>
            <a:schemeClr val="tx1"/>
          </a:solidFill>
          <a:latin typeface="+mn-lt"/>
          <a:ea typeface="+mn-ea"/>
          <a:cs typeface="+mn-cs"/>
        </a:defRPr>
      </a:lvl8pPr>
      <a:lvl9pPr marL="3657326" algn="l" defTabSz="4571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hyperlink" Target="https://fitness.edu.au/" TargetMode="Externa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hyperlink" Target="https://pixabay.com/photos/globe-world-map-maps-europe-1567578/" TargetMode="External"/><Relationship Id="rId2" Type="http://schemas.openxmlformats.org/officeDocument/2006/relationships/image" Target="../media/image16.jpeg"/><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hyperlink" Target="https://unsplash.com/@ulyssuk?utm_source=unsplash&amp;utm_medium=referral&amp;utm_content=creditCopyText" TargetMode="External"/><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hyperlink" Target="https://unsplash.com/photos/elderly-man-sitting-on-a-couch-outdoors-xtSAMyLGJVE?utm_source=unsplash&amp;utm_medium=referral&amp;utm_content=creditCopyText" TargetMode="Externa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hyperlink" Target="https://www.physio-pedia.com/The_4-Stage_Balance_Test" TargetMode="External"/><Relationship Id="rId2" Type="http://schemas.openxmlformats.org/officeDocument/2006/relationships/hyperlink" Target="https://www.physio-pedia.com/30_Seconds_Sit_To_Stand_Test" TargetMode="Externa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https://fametoolkit.org.uk/index/1757330514790x755738355278020600?section=introduction-to-the-toolkit"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Placeholder 1"/>
          <p:cNvSpPr>
            <a:spLocks noGrp="1"/>
          </p:cNvSpPr>
          <p:nvPr>
            <p:ph type="body"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GB" altLang="en-US" dirty="0">
                <a:ea typeface="ＭＳ Ｐゴシック" charset="-128"/>
              </a:rPr>
              <a:t>Elderly Population</a:t>
            </a:r>
          </a:p>
          <a:p>
            <a:pPr eaLnBrk="1" hangingPunct="1">
              <a:spcBef>
                <a:spcPct val="0"/>
              </a:spcBef>
            </a:pPr>
            <a:r>
              <a:rPr lang="en-GB" altLang="en-US" sz="2800" dirty="0">
                <a:solidFill>
                  <a:srgbClr val="FFFF00"/>
                </a:solidFill>
                <a:ea typeface="ＭＳ Ｐゴシック" charset="-128"/>
              </a:rPr>
              <a:t>Falls-Mobility-Frailty</a:t>
            </a:r>
          </a:p>
          <a:p>
            <a:pPr eaLnBrk="1" hangingPunct="1">
              <a:spcBef>
                <a:spcPct val="0"/>
              </a:spcBef>
            </a:pPr>
            <a:r>
              <a:rPr lang="en-GB" altLang="en-US" sz="2800" dirty="0">
                <a:solidFill>
                  <a:srgbClr val="FFFF00"/>
                </a:solidFill>
                <a:ea typeface="ＭＳ Ｐゴシック" charset="-128"/>
              </a:rPr>
              <a:t>Part One/Course 1</a:t>
            </a:r>
          </a:p>
          <a:p>
            <a:pPr eaLnBrk="1" hangingPunct="1">
              <a:spcBef>
                <a:spcPct val="0"/>
              </a:spcBef>
            </a:pPr>
            <a:endParaRPr lang="en-GB" altLang="en-US" sz="2800" dirty="0">
              <a:solidFill>
                <a:srgbClr val="FFFF00"/>
              </a:solidFill>
              <a:ea typeface="ＭＳ Ｐゴシック" charset="-128"/>
            </a:endParaRPr>
          </a:p>
        </p:txBody>
      </p:sp>
      <p:sp>
        <p:nvSpPr>
          <p:cNvPr id="13314" name="Text Placeholder 2"/>
          <p:cNvSpPr>
            <a:spLocks noGrp="1"/>
          </p:cNvSpPr>
          <p:nvPr>
            <p:ph type="body"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GB" altLang="en-US" dirty="0">
                <a:ea typeface="ＭＳ Ｐゴシック" charset="-128"/>
              </a:rPr>
              <a:t>Presentation by</a:t>
            </a:r>
          </a:p>
          <a:p>
            <a:pPr>
              <a:spcBef>
                <a:spcPct val="0"/>
              </a:spcBef>
            </a:pPr>
            <a:endParaRPr lang="en-US" altLang="en-US" dirty="0">
              <a:ea typeface="ＭＳ Ｐゴシック" charset="-128"/>
            </a:endParaRPr>
          </a:p>
        </p:txBody>
      </p:sp>
      <p:sp>
        <p:nvSpPr>
          <p:cNvPr id="13315" name="Text Placeholder 3"/>
          <p:cNvSpPr>
            <a:spLocks noGrp="1"/>
          </p:cNvSpPr>
          <p:nvPr>
            <p:ph type="body" sz="quarter" idx="16"/>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en-US" dirty="0">
                <a:ea typeface="ＭＳ Ｐゴシック"/>
              </a:rPr>
              <a:t>Dr Rob Grieve</a:t>
            </a:r>
          </a:p>
        </p:txBody>
      </p:sp>
      <p:pic>
        <p:nvPicPr>
          <p:cNvPr id="2" name="Picture 1">
            <a:extLst>
              <a:ext uri="{FF2B5EF4-FFF2-40B4-BE49-F238E27FC236}">
                <a16:creationId xmlns:a16="http://schemas.microsoft.com/office/drawing/2014/main" id="{8ED760FD-B3B5-B04F-F316-938FF1CD4019}"/>
              </a:ext>
            </a:extLst>
          </p:cNvPr>
          <p:cNvPicPr>
            <a:picLocks noChangeAspect="1"/>
          </p:cNvPicPr>
          <p:nvPr/>
        </p:nvPicPr>
        <p:blipFill>
          <a:blip r:embed="rId2"/>
          <a:stretch>
            <a:fillRect/>
          </a:stretch>
        </p:blipFill>
        <p:spPr>
          <a:xfrm>
            <a:off x="1954777" y="3506243"/>
            <a:ext cx="4834547" cy="865707"/>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A80673-2D74-DF13-3655-BCDD9D542F0B}"/>
              </a:ext>
            </a:extLst>
          </p:cNvPr>
          <p:cNvSpPr>
            <a:spLocks noGrp="1"/>
          </p:cNvSpPr>
          <p:nvPr>
            <p:ph type="body" sz="quarter" idx="10"/>
          </p:nvPr>
        </p:nvSpPr>
        <p:spPr>
          <a:xfrm>
            <a:off x="899594" y="216584"/>
            <a:ext cx="6668019" cy="488301"/>
          </a:xfrm>
        </p:spPr>
        <p:txBody>
          <a:bodyPr/>
          <a:lstStyle/>
          <a:p>
            <a:r>
              <a:rPr lang="en-GB" dirty="0"/>
              <a:t>Aims/Objectives/Content</a:t>
            </a:r>
          </a:p>
        </p:txBody>
      </p:sp>
      <p:sp>
        <p:nvSpPr>
          <p:cNvPr id="5" name="Text Placeholder 4">
            <a:extLst>
              <a:ext uri="{FF2B5EF4-FFF2-40B4-BE49-F238E27FC236}">
                <a16:creationId xmlns:a16="http://schemas.microsoft.com/office/drawing/2014/main" id="{88E9B27D-9BFE-8051-C041-FD2FAEBCD028}"/>
              </a:ext>
            </a:extLst>
          </p:cNvPr>
          <p:cNvSpPr>
            <a:spLocks noGrp="1"/>
          </p:cNvSpPr>
          <p:nvPr>
            <p:ph type="body" sz="quarter" idx="11"/>
          </p:nvPr>
        </p:nvSpPr>
        <p:spPr>
          <a:xfrm>
            <a:off x="431442" y="869448"/>
            <a:ext cx="8493617" cy="3747628"/>
          </a:xfrm>
        </p:spPr>
        <p:txBody>
          <a:bodyPr/>
          <a:lstStyle/>
          <a:p>
            <a:r>
              <a:rPr lang="en-GB" sz="1800" dirty="0">
                <a:solidFill>
                  <a:schemeClr val="tx2"/>
                </a:solidFill>
              </a:rPr>
              <a:t>Brief overview of pathophysiology related to elderly population-Set the Scene</a:t>
            </a:r>
          </a:p>
          <a:p>
            <a:r>
              <a:rPr lang="en-GB" sz="1800" dirty="0">
                <a:solidFill>
                  <a:schemeClr val="tx2"/>
                </a:solidFill>
              </a:rPr>
              <a:t>To gain a knowledge and understanding of the benefits of exercise and physical activity in the elderly population.</a:t>
            </a:r>
          </a:p>
          <a:p>
            <a:r>
              <a:rPr lang="en-GB" sz="1800" dirty="0">
                <a:solidFill>
                  <a:schemeClr val="tx2"/>
                </a:solidFill>
              </a:rPr>
              <a:t>What is the effect of leading a physically active lifestyle can have on health, specifically related to the elderly.</a:t>
            </a:r>
          </a:p>
          <a:p>
            <a:r>
              <a:rPr lang="en-GB" sz="1800" dirty="0">
                <a:solidFill>
                  <a:schemeClr val="tx2"/>
                </a:solidFill>
              </a:rPr>
              <a:t>Evaluate the current evidence available to support exercise in the elderly population, related to </a:t>
            </a:r>
            <a:r>
              <a:rPr kumimoji="0" lang="en-GB" sz="1800" b="0" i="0" u="none" strike="noStrike" kern="1200" cap="none" spc="0" normalizeH="0" baseline="0" noProof="0" dirty="0">
                <a:ln>
                  <a:noFill/>
                </a:ln>
                <a:solidFill>
                  <a:srgbClr val="1F497D"/>
                </a:solidFill>
                <a:effectLst/>
                <a:uLnTx/>
                <a:uFillTx/>
              </a:rPr>
              <a:t>Falls/Mobility/Frailty.</a:t>
            </a:r>
            <a:endParaRPr lang="en-GB" sz="1800" dirty="0">
              <a:solidFill>
                <a:schemeClr val="tx2"/>
              </a:solidFill>
            </a:endParaRPr>
          </a:p>
          <a:p>
            <a:r>
              <a:rPr lang="en-GB" sz="1800" dirty="0">
                <a:solidFill>
                  <a:schemeClr val="tx2"/>
                </a:solidFill>
              </a:rPr>
              <a:t>To demonstrate evidence based practice in clinical exercise. </a:t>
            </a:r>
          </a:p>
          <a:p>
            <a:endParaRPr lang="en-GB" dirty="0"/>
          </a:p>
          <a:p>
            <a:endParaRPr lang="en-GB" dirty="0"/>
          </a:p>
        </p:txBody>
      </p:sp>
    </p:spTree>
    <p:extLst>
      <p:ext uri="{BB962C8B-B14F-4D97-AF65-F5344CB8AC3E}">
        <p14:creationId xmlns:p14="http://schemas.microsoft.com/office/powerpoint/2010/main" val="153672577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164" y="190768"/>
            <a:ext cx="7314768" cy="952232"/>
          </a:xfrm>
        </p:spPr>
        <p:txBody>
          <a:bodyPr anchor="t">
            <a:normAutofit/>
          </a:bodyPr>
          <a:lstStyle/>
          <a:p>
            <a:pPr algn="ctr"/>
            <a:r>
              <a:rPr lang="en-US" sz="4000" dirty="0">
                <a:solidFill>
                  <a:schemeClr val="accent1"/>
                </a:solidFill>
              </a:rPr>
              <a:t>What is Ageing?</a:t>
            </a:r>
            <a:br>
              <a:rPr lang="en-US" dirty="0"/>
            </a:br>
            <a:r>
              <a:rPr lang="en-US" sz="1800" dirty="0"/>
              <a:t>(Recap from Foundations Exercise Prescription)</a:t>
            </a:r>
            <a:endParaRPr lang="en-GB" sz="1800" dirty="0"/>
          </a:p>
        </p:txBody>
      </p:sp>
      <p:sp>
        <p:nvSpPr>
          <p:cNvPr id="3" name="Content Placeholder 2"/>
          <p:cNvSpPr>
            <a:spLocks noGrp="1"/>
          </p:cNvSpPr>
          <p:nvPr>
            <p:ph sz="half" idx="1"/>
          </p:nvPr>
        </p:nvSpPr>
        <p:spPr>
          <a:xfrm>
            <a:off x="270164" y="1468690"/>
            <a:ext cx="4244687" cy="2983923"/>
          </a:xfrm>
        </p:spPr>
        <p:txBody>
          <a:bodyPr>
            <a:normAutofit/>
          </a:bodyPr>
          <a:lstStyle/>
          <a:p>
            <a:pPr>
              <a:lnSpc>
                <a:spcPct val="90000"/>
              </a:lnSpc>
              <a:buFontTx/>
              <a:buNone/>
            </a:pPr>
            <a:r>
              <a:rPr lang="en-US" sz="1950" dirty="0"/>
              <a:t>    May be defined as:                 </a:t>
            </a:r>
          </a:p>
          <a:p>
            <a:pPr>
              <a:lnSpc>
                <a:spcPct val="90000"/>
              </a:lnSpc>
            </a:pPr>
            <a:r>
              <a:rPr lang="en-GB" sz="1950" dirty="0"/>
              <a:t>A multidimensional process of physical, psychological, and social change</a:t>
            </a:r>
            <a:r>
              <a:rPr lang="en-US" sz="1950" dirty="0"/>
              <a:t> </a:t>
            </a:r>
          </a:p>
          <a:p>
            <a:pPr>
              <a:lnSpc>
                <a:spcPct val="90000"/>
              </a:lnSpc>
            </a:pPr>
            <a:r>
              <a:rPr lang="en-US" sz="1950" dirty="0"/>
              <a:t>Producing observable change in structure and function</a:t>
            </a:r>
          </a:p>
          <a:p>
            <a:pPr>
              <a:lnSpc>
                <a:spcPct val="90000"/>
              </a:lnSpc>
            </a:pPr>
            <a:r>
              <a:rPr lang="en-US" sz="1950" dirty="0"/>
              <a:t>Being more susceptible to environmental stress and disease</a:t>
            </a:r>
            <a:endParaRPr lang="en-GB" sz="1950" dirty="0"/>
          </a:p>
        </p:txBody>
      </p:sp>
      <p:pic>
        <p:nvPicPr>
          <p:cNvPr id="4" name="Picture 6" descr="http://t0.gstatic.com/images?q=tbn:ANd9GcRc4N-79B6yOcM-8bKUGJEKLsZHCk9c7xY5Y9WL9DiZjdnqqHS2Qw"/>
          <p:cNvPicPr>
            <a:picLocks noChangeAspect="1" noChangeArrowheads="1"/>
          </p:cNvPicPr>
          <p:nvPr/>
        </p:nvPicPr>
        <p:blipFill rotWithShape="1">
          <a:blip r:embed="rId3" cstate="print"/>
          <a:srcRect l="34366" r="1388" b="-1"/>
          <a:stretch/>
        </p:blipFill>
        <p:spPr bwMode="auto">
          <a:xfrm>
            <a:off x="4918364" y="1468690"/>
            <a:ext cx="2755738" cy="3103309"/>
          </a:xfrm>
          <a:prstGeom prst="rect">
            <a:avLst/>
          </a:prstGeom>
          <a:noFill/>
        </p:spPr>
      </p:pic>
    </p:spTree>
    <p:extLst>
      <p:ext uri="{BB962C8B-B14F-4D97-AF65-F5344CB8AC3E}">
        <p14:creationId xmlns:p14="http://schemas.microsoft.com/office/powerpoint/2010/main" val="333186783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114F9F-CFD0-3CCE-D5CE-4B251F76020B}"/>
              </a:ext>
            </a:extLst>
          </p:cNvPr>
          <p:cNvSpPr>
            <a:spLocks noGrp="1"/>
          </p:cNvSpPr>
          <p:nvPr>
            <p:ph type="title"/>
          </p:nvPr>
        </p:nvSpPr>
        <p:spPr>
          <a:xfrm>
            <a:off x="957848" y="160585"/>
            <a:ext cx="6858000" cy="540060"/>
          </a:xfrm>
        </p:spPr>
        <p:txBody>
          <a:bodyPr anchor="t">
            <a:noAutofit/>
          </a:bodyPr>
          <a:lstStyle/>
          <a:p>
            <a:r>
              <a:rPr lang="en-GB" sz="4000" dirty="0"/>
              <a:t>Physiology of Aging</a:t>
            </a:r>
            <a:br>
              <a:rPr lang="en-GB" sz="4000" dirty="0"/>
            </a:br>
            <a:r>
              <a:rPr kumimoji="0" lang="en-US" sz="1800" b="0" i="0" u="none" strike="noStrike" kern="1200" cap="none" spc="0" normalizeH="0" baseline="0" noProof="0" dirty="0">
                <a:ln>
                  <a:noFill/>
                </a:ln>
                <a:solidFill>
                  <a:srgbClr val="7A7392"/>
                </a:solidFill>
                <a:effectLst/>
                <a:uLnTx/>
                <a:uFillTx/>
                <a:latin typeface="Calibri"/>
                <a:ea typeface="ＭＳ Ｐゴシック" charset="0"/>
              </a:rPr>
              <a:t>(Recap from Foundations Exercise Prescription)</a:t>
            </a:r>
            <a:br>
              <a:rPr lang="en-GB" sz="4000" dirty="0"/>
            </a:br>
            <a:endParaRPr lang="en-GB" sz="4000" dirty="0"/>
          </a:p>
        </p:txBody>
      </p:sp>
      <p:pic>
        <p:nvPicPr>
          <p:cNvPr id="7" name="Picture 6" descr="Microscopic view of cells">
            <a:extLst>
              <a:ext uri="{FF2B5EF4-FFF2-40B4-BE49-F238E27FC236}">
                <a16:creationId xmlns:a16="http://schemas.microsoft.com/office/drawing/2014/main" id="{243BDAA9-07B7-E0A5-2101-10BE387DF53C}"/>
              </a:ext>
            </a:extLst>
          </p:cNvPr>
          <p:cNvPicPr>
            <a:picLocks noChangeAspect="1"/>
          </p:cNvPicPr>
          <p:nvPr/>
        </p:nvPicPr>
        <p:blipFill rotWithShape="1">
          <a:blip r:embed="rId3"/>
          <a:srcRect t="5570" b="7653"/>
          <a:stretch/>
        </p:blipFill>
        <p:spPr>
          <a:xfrm>
            <a:off x="1413163" y="1275981"/>
            <a:ext cx="5695702" cy="3706934"/>
          </a:xfrm>
          <a:prstGeom prst="rect">
            <a:avLst/>
          </a:prstGeom>
          <a:noFill/>
        </p:spPr>
      </p:pic>
    </p:spTree>
    <p:extLst>
      <p:ext uri="{BB962C8B-B14F-4D97-AF65-F5344CB8AC3E}">
        <p14:creationId xmlns:p14="http://schemas.microsoft.com/office/powerpoint/2010/main" val="4198301080"/>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a:xfrm>
            <a:off x="832247" y="139387"/>
            <a:ext cx="7886700" cy="759449"/>
          </a:xfrm>
        </p:spPr>
        <p:txBody>
          <a:bodyPr>
            <a:normAutofit/>
          </a:bodyPr>
          <a:lstStyle/>
          <a:p>
            <a:r>
              <a:rPr lang="en-GB" sz="4000" dirty="0">
                <a:effectLst/>
              </a:rPr>
              <a:t>  Effects of Ageing – Neural system</a:t>
            </a:r>
          </a:p>
        </p:txBody>
      </p:sp>
      <p:sp>
        <p:nvSpPr>
          <p:cNvPr id="31750" name="Rectangle 6"/>
          <p:cNvSpPr>
            <a:spLocks noGrp="1" noChangeArrowheads="1"/>
          </p:cNvSpPr>
          <p:nvPr>
            <p:ph type="body" sz="quarter" idx="11"/>
          </p:nvPr>
        </p:nvSpPr>
        <p:spPr>
          <a:xfrm>
            <a:off x="727364" y="1275160"/>
            <a:ext cx="4281053" cy="3349228"/>
          </a:xfrm>
        </p:spPr>
        <p:txBody>
          <a:bodyPr/>
          <a:lstStyle/>
          <a:p>
            <a:r>
              <a:rPr lang="en-GB" dirty="0"/>
              <a:t>Neuronal depletion</a:t>
            </a:r>
          </a:p>
          <a:p>
            <a:endParaRPr lang="en-GB" dirty="0"/>
          </a:p>
          <a:p>
            <a:r>
              <a:rPr lang="en-GB" dirty="0"/>
              <a:t>Reduced conduction speeds</a:t>
            </a:r>
          </a:p>
          <a:p>
            <a:endParaRPr lang="en-GB" sz="3000" dirty="0"/>
          </a:p>
          <a:p>
            <a:r>
              <a:rPr lang="en-GB" dirty="0"/>
              <a:t>Diminished postural stability</a:t>
            </a:r>
          </a:p>
          <a:p>
            <a:pPr lvl="1"/>
            <a:r>
              <a:rPr lang="en-GB" dirty="0">
                <a:effectLst/>
              </a:rPr>
              <a:t>Reduction in Joint Position Sense</a:t>
            </a:r>
          </a:p>
          <a:p>
            <a:pPr lvl="1"/>
            <a:r>
              <a:rPr lang="en-GB" dirty="0">
                <a:effectLst/>
              </a:rPr>
              <a:t>Decreased sensitivity of muscle spindles</a:t>
            </a:r>
          </a:p>
          <a:p>
            <a:pPr lvl="1"/>
            <a:r>
              <a:rPr lang="en-GB" dirty="0">
                <a:effectLst/>
              </a:rPr>
              <a:t>Reduced numbers of articular receptors</a:t>
            </a:r>
          </a:p>
          <a:p>
            <a:pPr lvl="1"/>
            <a:endParaRPr lang="en-GB" dirty="0">
              <a:effectLst/>
            </a:endParaRPr>
          </a:p>
          <a:p>
            <a:endParaRPr lang="en-GB" dirty="0">
              <a:effectLst/>
            </a:endParaRPr>
          </a:p>
          <a:p>
            <a:pPr>
              <a:buFont typeface="Wingdings" pitchFamily="2" charset="2"/>
              <a:buNone/>
            </a:pPr>
            <a:endParaRPr lang="en-GB" dirty="0">
              <a:effectLst/>
            </a:endParaRPr>
          </a:p>
        </p:txBody>
      </p:sp>
      <p:pic>
        <p:nvPicPr>
          <p:cNvPr id="31751" name="Picture 7" descr="10-08_grayspinalcrd_3"/>
          <p:cNvPicPr preferRelativeResize="0">
            <a:picLocks noChangeAspect="1" noChangeArrowheads="1"/>
          </p:cNvPicPr>
          <p:nvPr/>
        </p:nvPicPr>
        <p:blipFill>
          <a:blip r:embed="rId3" cstate="print"/>
          <a:srcRect l="9163" t="14714" r="7516" b="19800"/>
          <a:stretch>
            <a:fillRect/>
          </a:stretch>
        </p:blipFill>
        <p:spPr bwMode="auto">
          <a:xfrm>
            <a:off x="4775597" y="1059582"/>
            <a:ext cx="3077766" cy="2375297"/>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793AF2C9-2A1F-DEE5-462A-25BEB17858B4}"/>
              </a:ext>
            </a:extLst>
          </p:cNvPr>
          <p:cNvSpPr txBox="1"/>
          <p:nvPr/>
        </p:nvSpPr>
        <p:spPr>
          <a:xfrm>
            <a:off x="2161309" y="613373"/>
            <a:ext cx="4572000"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7A7392"/>
                </a:solidFill>
                <a:effectLst/>
                <a:uLnTx/>
                <a:uFillTx/>
                <a:latin typeface="Calibri"/>
                <a:ea typeface="ＭＳ Ｐゴシック" charset="0"/>
              </a:rPr>
              <a:t>(Recap from Foundations Exercise </a:t>
            </a:r>
            <a:r>
              <a:rPr lang="en-US" dirty="0">
                <a:solidFill>
                  <a:srgbClr val="7A7392"/>
                </a:solidFill>
                <a:latin typeface="Calibri"/>
                <a:ea typeface="ＭＳ Ｐゴシック" charset="0"/>
              </a:rPr>
              <a:t>P</a:t>
            </a:r>
            <a:r>
              <a:rPr kumimoji="0" lang="en-US" sz="1800" b="0" i="0" u="none" strike="noStrike" kern="1200" cap="none" spc="0" normalizeH="0" baseline="0" noProof="0" dirty="0" err="1">
                <a:ln>
                  <a:noFill/>
                </a:ln>
                <a:solidFill>
                  <a:srgbClr val="7A7392"/>
                </a:solidFill>
                <a:effectLst/>
                <a:uLnTx/>
                <a:uFillTx/>
                <a:latin typeface="Calibri"/>
                <a:ea typeface="ＭＳ Ｐゴシック" charset="0"/>
              </a:rPr>
              <a:t>rescription</a:t>
            </a:r>
            <a:r>
              <a:rPr kumimoji="0" lang="en-US" sz="1800" b="0" i="0" u="none" strike="noStrike" kern="1200" cap="none" spc="0" normalizeH="0" baseline="0" noProof="0" dirty="0">
                <a:ln>
                  <a:noFill/>
                </a:ln>
                <a:solidFill>
                  <a:srgbClr val="7A7392"/>
                </a:solidFill>
                <a:effectLst/>
                <a:uLnTx/>
                <a:uFillTx/>
                <a:latin typeface="Calibri"/>
                <a:ea typeface="ＭＳ Ｐゴシック" charset="0"/>
              </a:rPr>
              <a:t>)</a:t>
            </a:r>
            <a:endParaRPr lang="en-GB" dirty="0"/>
          </a:p>
        </p:txBody>
      </p:sp>
    </p:spTree>
    <p:extLst>
      <p:ext uri="{BB962C8B-B14F-4D97-AF65-F5344CB8AC3E}">
        <p14:creationId xmlns:p14="http://schemas.microsoft.com/office/powerpoint/2010/main" val="270590256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47CB6-2623-283F-3DE8-0EF42F99728B}"/>
              </a:ext>
            </a:extLst>
          </p:cNvPr>
          <p:cNvSpPr>
            <a:spLocks noGrp="1"/>
          </p:cNvSpPr>
          <p:nvPr>
            <p:ph type="title"/>
          </p:nvPr>
        </p:nvSpPr>
        <p:spPr>
          <a:xfrm>
            <a:off x="1058919" y="124669"/>
            <a:ext cx="7886700" cy="540060"/>
          </a:xfrm>
        </p:spPr>
        <p:txBody>
          <a:bodyPr>
            <a:noAutofit/>
          </a:bodyPr>
          <a:lstStyle/>
          <a:p>
            <a:r>
              <a:rPr lang="en-GB" sz="3600" dirty="0"/>
              <a:t>Sarcopenia</a:t>
            </a:r>
            <a:br>
              <a:rPr lang="en-GB" sz="3600" dirty="0"/>
            </a:br>
            <a:r>
              <a:rPr kumimoji="0" lang="en-US" sz="1800" b="0" i="0" u="none" strike="noStrike" kern="1200" cap="none" spc="0" normalizeH="0" baseline="0" noProof="0" dirty="0">
                <a:ln>
                  <a:noFill/>
                </a:ln>
                <a:solidFill>
                  <a:srgbClr val="7A7392"/>
                </a:solidFill>
                <a:effectLst/>
                <a:uLnTx/>
                <a:uFillTx/>
                <a:latin typeface="Calibri"/>
                <a:ea typeface="ＭＳ Ｐゴシック" charset="0"/>
                <a:cs typeface="+mn-cs"/>
              </a:rPr>
              <a:t>(Recap from Foundations Exercise Prescription</a:t>
            </a:r>
            <a:br>
              <a:rPr lang="en-GB" sz="3600" dirty="0"/>
            </a:br>
            <a:endParaRPr lang="en-GB" sz="3600" dirty="0"/>
          </a:p>
        </p:txBody>
      </p:sp>
      <p:pic>
        <p:nvPicPr>
          <p:cNvPr id="7" name="Picture 6">
            <a:extLst>
              <a:ext uri="{FF2B5EF4-FFF2-40B4-BE49-F238E27FC236}">
                <a16:creationId xmlns:a16="http://schemas.microsoft.com/office/drawing/2014/main" id="{7D7C6A33-714A-5209-0F8D-DD75E6B4EA64}"/>
              </a:ext>
            </a:extLst>
          </p:cNvPr>
          <p:cNvPicPr>
            <a:picLocks noChangeAspect="1"/>
          </p:cNvPicPr>
          <p:nvPr/>
        </p:nvPicPr>
        <p:blipFill>
          <a:blip r:embed="rId3"/>
          <a:stretch>
            <a:fillRect/>
          </a:stretch>
        </p:blipFill>
        <p:spPr>
          <a:xfrm>
            <a:off x="2357754" y="1167594"/>
            <a:ext cx="4284799" cy="3664479"/>
          </a:xfrm>
          <a:prstGeom prst="rect">
            <a:avLst/>
          </a:prstGeom>
        </p:spPr>
      </p:pic>
    </p:spTree>
    <p:extLst>
      <p:ext uri="{BB962C8B-B14F-4D97-AF65-F5344CB8AC3E}">
        <p14:creationId xmlns:p14="http://schemas.microsoft.com/office/powerpoint/2010/main" val="3807504357"/>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14352-6261-FE53-1FF5-FEBDBD5A0D4D}"/>
              </a:ext>
            </a:extLst>
          </p:cNvPr>
          <p:cNvSpPr>
            <a:spLocks noGrp="1"/>
          </p:cNvSpPr>
          <p:nvPr>
            <p:ph type="title"/>
          </p:nvPr>
        </p:nvSpPr>
        <p:spPr>
          <a:xfrm>
            <a:off x="373118" y="220785"/>
            <a:ext cx="7886700" cy="758331"/>
          </a:xfrm>
        </p:spPr>
        <p:txBody>
          <a:bodyPr>
            <a:normAutofit fontScale="90000"/>
          </a:bodyPr>
          <a:lstStyle/>
          <a:p>
            <a:r>
              <a:rPr lang="en-GB" sz="4000" dirty="0"/>
              <a:t>Muscle Mass</a:t>
            </a:r>
            <a:br>
              <a:rPr lang="en-GB" sz="4000" dirty="0"/>
            </a:br>
            <a:r>
              <a:rPr kumimoji="0" lang="en-US" sz="1800" b="0" i="0" u="none" strike="noStrike" kern="1200" cap="none" spc="0" normalizeH="0" baseline="0" noProof="0" dirty="0">
                <a:ln>
                  <a:noFill/>
                </a:ln>
                <a:solidFill>
                  <a:srgbClr val="7A7392"/>
                </a:solidFill>
                <a:effectLst/>
                <a:uLnTx/>
                <a:uFillTx/>
                <a:latin typeface="Calibri"/>
                <a:ea typeface="ＭＳ Ｐゴシック" charset="0"/>
                <a:cs typeface="+mn-cs"/>
              </a:rPr>
              <a:t>(Recap from Foundations Exercise Prescription</a:t>
            </a:r>
            <a:endParaRPr lang="en-GB" sz="4000" dirty="0"/>
          </a:p>
        </p:txBody>
      </p:sp>
      <p:sp>
        <p:nvSpPr>
          <p:cNvPr id="5" name="Text Placeholder 4">
            <a:extLst>
              <a:ext uri="{FF2B5EF4-FFF2-40B4-BE49-F238E27FC236}">
                <a16:creationId xmlns:a16="http://schemas.microsoft.com/office/drawing/2014/main" id="{3FAE1B01-5B0C-92F8-793B-00C042403117}"/>
              </a:ext>
            </a:extLst>
          </p:cNvPr>
          <p:cNvSpPr>
            <a:spLocks noGrp="1"/>
          </p:cNvSpPr>
          <p:nvPr>
            <p:ph type="body" sz="quarter" idx="11"/>
          </p:nvPr>
        </p:nvSpPr>
        <p:spPr>
          <a:xfrm>
            <a:off x="1817693" y="1275606"/>
            <a:ext cx="3642264" cy="3456384"/>
          </a:xfrm>
        </p:spPr>
        <p:txBody>
          <a:bodyPr/>
          <a:lstStyle/>
          <a:p>
            <a:r>
              <a:rPr lang="en-GB" dirty="0"/>
              <a:t>Older adults prone to muscle atrophy (+/- 1% / year)</a:t>
            </a:r>
          </a:p>
          <a:p>
            <a:r>
              <a:rPr lang="en-GB" dirty="0"/>
              <a:t>Particularly fast twitch (Type </a:t>
            </a:r>
            <a:r>
              <a:rPr lang="en-GB" dirty="0" err="1"/>
              <a:t>IIa</a:t>
            </a:r>
            <a:r>
              <a:rPr lang="en-GB" dirty="0"/>
              <a:t> &amp; </a:t>
            </a:r>
            <a:r>
              <a:rPr lang="en-GB" dirty="0" err="1"/>
              <a:t>IIx</a:t>
            </a:r>
            <a:r>
              <a:rPr lang="en-GB" dirty="0"/>
              <a:t>)</a:t>
            </a:r>
          </a:p>
          <a:p>
            <a:r>
              <a:rPr lang="en-GB" dirty="0"/>
              <a:t>Will see a reduction in myofiber number</a:t>
            </a:r>
          </a:p>
          <a:p>
            <a:r>
              <a:rPr lang="en-GB" dirty="0"/>
              <a:t>Increased infiltration of fat</a:t>
            </a:r>
          </a:p>
        </p:txBody>
      </p:sp>
      <p:sp>
        <p:nvSpPr>
          <p:cNvPr id="6" name="TextBox 5">
            <a:extLst>
              <a:ext uri="{FF2B5EF4-FFF2-40B4-BE49-F238E27FC236}">
                <a16:creationId xmlns:a16="http://schemas.microsoft.com/office/drawing/2014/main" id="{58476E26-27EC-3CBA-9560-DE9EE55B9AAB}"/>
              </a:ext>
            </a:extLst>
          </p:cNvPr>
          <p:cNvSpPr txBox="1"/>
          <p:nvPr/>
        </p:nvSpPr>
        <p:spPr>
          <a:xfrm>
            <a:off x="5569336" y="4659331"/>
            <a:ext cx="2382790" cy="338554"/>
          </a:xfrm>
          <a:prstGeom prst="rect">
            <a:avLst/>
          </a:prstGeom>
          <a:noFill/>
        </p:spPr>
        <p:txBody>
          <a:bodyPr wrap="square" rtlCol="0">
            <a:spAutoFit/>
          </a:bodyPr>
          <a:lstStyle/>
          <a:p>
            <a:r>
              <a:rPr lang="en-GB" sz="1600" dirty="0"/>
              <a:t>Lavin </a:t>
            </a:r>
            <a:r>
              <a:rPr lang="en-GB" sz="1600" i="1" dirty="0"/>
              <a:t>et al., 2019</a:t>
            </a:r>
            <a:endParaRPr lang="en-GB" sz="1600" dirty="0"/>
          </a:p>
        </p:txBody>
      </p:sp>
      <p:pic>
        <p:nvPicPr>
          <p:cNvPr id="2" name="Picture 1">
            <a:extLst>
              <a:ext uri="{FF2B5EF4-FFF2-40B4-BE49-F238E27FC236}">
                <a16:creationId xmlns:a16="http://schemas.microsoft.com/office/drawing/2014/main" id="{A2761284-C733-9F31-B560-5A596261A83F}"/>
              </a:ext>
            </a:extLst>
          </p:cNvPr>
          <p:cNvPicPr>
            <a:picLocks noChangeAspect="1"/>
          </p:cNvPicPr>
          <p:nvPr/>
        </p:nvPicPr>
        <p:blipFill>
          <a:blip r:embed="rId3"/>
          <a:stretch>
            <a:fillRect/>
          </a:stretch>
        </p:blipFill>
        <p:spPr>
          <a:xfrm>
            <a:off x="5569336" y="599951"/>
            <a:ext cx="2382790" cy="4049546"/>
          </a:xfrm>
          <a:prstGeom prst="rect">
            <a:avLst/>
          </a:prstGeom>
        </p:spPr>
      </p:pic>
      <p:pic>
        <p:nvPicPr>
          <p:cNvPr id="3" name="Picture 2">
            <a:extLst>
              <a:ext uri="{FF2B5EF4-FFF2-40B4-BE49-F238E27FC236}">
                <a16:creationId xmlns:a16="http://schemas.microsoft.com/office/drawing/2014/main" id="{75A6FFAA-AD80-EB9D-7278-9B346D60E433}"/>
              </a:ext>
            </a:extLst>
          </p:cNvPr>
          <p:cNvPicPr>
            <a:picLocks noChangeAspect="1"/>
          </p:cNvPicPr>
          <p:nvPr/>
        </p:nvPicPr>
        <p:blipFill>
          <a:blip r:embed="rId4"/>
          <a:stretch>
            <a:fillRect/>
          </a:stretch>
        </p:blipFill>
        <p:spPr>
          <a:xfrm>
            <a:off x="1795879" y="2791476"/>
            <a:ext cx="2617090" cy="2309566"/>
          </a:xfrm>
          <a:prstGeom prst="rect">
            <a:avLst/>
          </a:prstGeom>
        </p:spPr>
      </p:pic>
    </p:spTree>
    <p:extLst>
      <p:ext uri="{BB962C8B-B14F-4D97-AF65-F5344CB8AC3E}">
        <p14:creationId xmlns:p14="http://schemas.microsoft.com/office/powerpoint/2010/main" val="18722947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FE3B-89EF-AFF3-50F7-A2F7B5D69AB1}"/>
              </a:ext>
            </a:extLst>
          </p:cNvPr>
          <p:cNvSpPr>
            <a:spLocks noGrp="1"/>
          </p:cNvSpPr>
          <p:nvPr>
            <p:ph type="title"/>
          </p:nvPr>
        </p:nvSpPr>
        <p:spPr/>
        <p:txBody>
          <a:bodyPr>
            <a:normAutofit fontScale="90000"/>
          </a:bodyPr>
          <a:lstStyle/>
          <a:p>
            <a:r>
              <a:rPr lang="en-GB" sz="4000" dirty="0"/>
              <a:t>Neuromuscular performance</a:t>
            </a:r>
            <a:br>
              <a:rPr lang="en-GB" sz="4000" dirty="0"/>
            </a:br>
            <a:r>
              <a:rPr kumimoji="0" lang="en-US" sz="1800" b="0" i="0" u="none" strike="noStrike" kern="1200" cap="none" spc="0" normalizeH="0" baseline="0" noProof="0" dirty="0">
                <a:ln>
                  <a:noFill/>
                </a:ln>
                <a:solidFill>
                  <a:srgbClr val="7A7392"/>
                </a:solidFill>
                <a:effectLst/>
                <a:uLnTx/>
                <a:uFillTx/>
                <a:latin typeface="Calibri"/>
                <a:ea typeface="ＭＳ Ｐゴシック" charset="0"/>
                <a:cs typeface="+mn-cs"/>
              </a:rPr>
              <a:t>(Recap from Foundations Exercise Prescription</a:t>
            </a:r>
            <a:endParaRPr lang="en-GB" sz="4000" dirty="0"/>
          </a:p>
        </p:txBody>
      </p:sp>
      <p:sp>
        <p:nvSpPr>
          <p:cNvPr id="3" name="Text Placeholder 2">
            <a:extLst>
              <a:ext uri="{FF2B5EF4-FFF2-40B4-BE49-F238E27FC236}">
                <a16:creationId xmlns:a16="http://schemas.microsoft.com/office/drawing/2014/main" id="{86F37654-57ED-61D7-CF56-E87948241E6F}"/>
              </a:ext>
            </a:extLst>
          </p:cNvPr>
          <p:cNvSpPr>
            <a:spLocks noGrp="1"/>
          </p:cNvSpPr>
          <p:nvPr>
            <p:ph type="body" sz="quarter" idx="11"/>
          </p:nvPr>
        </p:nvSpPr>
        <p:spPr>
          <a:xfrm>
            <a:off x="795681" y="1600200"/>
            <a:ext cx="7886699" cy="4039263"/>
          </a:xfrm>
        </p:spPr>
        <p:txBody>
          <a:bodyPr/>
          <a:lstStyle/>
          <a:p>
            <a:r>
              <a:rPr lang="en-GB" dirty="0"/>
              <a:t>Muscle strength: 2-4% decrease</a:t>
            </a:r>
          </a:p>
          <a:p>
            <a:r>
              <a:rPr lang="en-GB" dirty="0"/>
              <a:t>Muscle power 8-9% decrease</a:t>
            </a:r>
          </a:p>
          <a:p>
            <a:pPr lvl="1"/>
            <a:r>
              <a:rPr lang="en-GB" dirty="0"/>
              <a:t>Strong predictor of physical impairment</a:t>
            </a:r>
          </a:p>
          <a:p>
            <a:pPr lvl="1"/>
            <a:r>
              <a:rPr lang="en-GB" dirty="0"/>
              <a:t>Older Adults have 30-40% less motor units compared with young adults.</a:t>
            </a:r>
          </a:p>
          <a:p>
            <a:r>
              <a:rPr lang="en-GB" dirty="0"/>
              <a:t>25 – 35% increase in 1RM in 8-12 weeks with RT at 70% of 1RM</a:t>
            </a:r>
          </a:p>
          <a:p>
            <a:r>
              <a:rPr lang="en-GB" dirty="0"/>
              <a:t>Neural adaptations the driving force</a:t>
            </a:r>
          </a:p>
          <a:p>
            <a:pPr marL="200025" lvl="1" indent="0">
              <a:buNone/>
            </a:pPr>
            <a:endParaRPr lang="en-GB" dirty="0"/>
          </a:p>
        </p:txBody>
      </p:sp>
      <p:sp>
        <p:nvSpPr>
          <p:cNvPr id="4" name="TextBox 3">
            <a:extLst>
              <a:ext uri="{FF2B5EF4-FFF2-40B4-BE49-F238E27FC236}">
                <a16:creationId xmlns:a16="http://schemas.microsoft.com/office/drawing/2014/main" id="{19BDC93B-3E36-905D-F9C7-F1D55E9CB445}"/>
              </a:ext>
            </a:extLst>
          </p:cNvPr>
          <p:cNvSpPr txBox="1"/>
          <p:nvPr/>
        </p:nvSpPr>
        <p:spPr>
          <a:xfrm>
            <a:off x="5987186" y="4161129"/>
            <a:ext cx="2090014" cy="369332"/>
          </a:xfrm>
          <a:prstGeom prst="rect">
            <a:avLst/>
          </a:prstGeom>
          <a:noFill/>
        </p:spPr>
        <p:txBody>
          <a:bodyPr wrap="square" rtlCol="0">
            <a:spAutoFit/>
          </a:bodyPr>
          <a:lstStyle/>
          <a:p>
            <a:r>
              <a:rPr lang="en-GB" dirty="0"/>
              <a:t>Lavin </a:t>
            </a:r>
            <a:r>
              <a:rPr lang="en-GB" i="1" dirty="0"/>
              <a:t>et al., 2019</a:t>
            </a:r>
            <a:endParaRPr lang="en-GB" dirty="0"/>
          </a:p>
        </p:txBody>
      </p:sp>
    </p:spTree>
    <p:extLst>
      <p:ext uri="{BB962C8B-B14F-4D97-AF65-F5344CB8AC3E}">
        <p14:creationId xmlns:p14="http://schemas.microsoft.com/office/powerpoint/2010/main" val="89152660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140A5E-4295-D7C1-CBF8-94149BFA56CF}"/>
              </a:ext>
            </a:extLst>
          </p:cNvPr>
          <p:cNvSpPr>
            <a:spLocks noGrp="1"/>
          </p:cNvSpPr>
          <p:nvPr>
            <p:ph type="title"/>
          </p:nvPr>
        </p:nvSpPr>
        <p:spPr>
          <a:xfrm>
            <a:off x="576384" y="130628"/>
            <a:ext cx="7886700" cy="677165"/>
          </a:xfrm>
        </p:spPr>
        <p:txBody>
          <a:bodyPr>
            <a:normAutofit/>
          </a:bodyPr>
          <a:lstStyle/>
          <a:p>
            <a:pPr algn="ctr">
              <a:lnSpc>
                <a:spcPts val="1900"/>
              </a:lnSpc>
            </a:pPr>
            <a:r>
              <a:rPr lang="en-GB" sz="3100" b="1" dirty="0"/>
              <a:t>Strength v Power </a:t>
            </a:r>
            <a:br>
              <a:rPr lang="en-GB" sz="3100" b="1" dirty="0"/>
            </a:br>
            <a:r>
              <a:rPr lang="en-GB" dirty="0">
                <a:hlinkClick r:id="rId2"/>
              </a:rPr>
              <a:t> </a:t>
            </a:r>
            <a:r>
              <a:rPr lang="en-GB" sz="1600" dirty="0">
                <a:hlinkClick r:id="rId2"/>
              </a:rPr>
              <a:t>AIF | Australian Institute of Fitness</a:t>
            </a:r>
            <a:endParaRPr lang="en-GB" sz="1600" dirty="0"/>
          </a:p>
        </p:txBody>
      </p:sp>
      <p:sp>
        <p:nvSpPr>
          <p:cNvPr id="5" name="Text Placeholder 4">
            <a:extLst>
              <a:ext uri="{FF2B5EF4-FFF2-40B4-BE49-F238E27FC236}">
                <a16:creationId xmlns:a16="http://schemas.microsoft.com/office/drawing/2014/main" id="{0B53837F-EEB2-F2B0-959C-34E1A7FE9862}"/>
              </a:ext>
            </a:extLst>
          </p:cNvPr>
          <p:cNvSpPr>
            <a:spLocks noGrp="1"/>
          </p:cNvSpPr>
          <p:nvPr>
            <p:ph type="body" sz="quarter" idx="11"/>
          </p:nvPr>
        </p:nvSpPr>
        <p:spPr>
          <a:xfrm>
            <a:off x="158130" y="763063"/>
            <a:ext cx="3943423" cy="3402378"/>
          </a:xfrm>
        </p:spPr>
        <p:txBody>
          <a:bodyPr/>
          <a:lstStyle/>
          <a:p>
            <a:r>
              <a:rPr lang="en-GB" sz="1600" b="1" u="sng" dirty="0"/>
              <a:t>Strength</a:t>
            </a:r>
            <a:r>
              <a:rPr lang="en-GB" sz="1600" u="sng" dirty="0"/>
              <a:t> </a:t>
            </a:r>
            <a:r>
              <a:rPr lang="en-GB" sz="1600" dirty="0"/>
              <a:t>is the ability of your muscles to generate force against resistance. Measure of how much weight you can move—think of a one-rep max (1RM) deadlift, squat, or bench press. Is a foundational physical quality that supports almost every athletic </a:t>
            </a:r>
            <a:r>
              <a:rPr lang="en-GB" sz="1600" dirty="0" err="1"/>
              <a:t>endeavor</a:t>
            </a:r>
            <a:r>
              <a:rPr lang="en-GB" sz="1600" dirty="0"/>
              <a:t>, sprinting-swimming.</a:t>
            </a:r>
          </a:p>
          <a:p>
            <a:r>
              <a:rPr lang="en-GB" sz="1600" b="1" u="sng" dirty="0"/>
              <a:t>Types of Strength</a:t>
            </a:r>
            <a:endParaRPr lang="en-GB" sz="1600" u="sng" dirty="0"/>
          </a:p>
          <a:p>
            <a:r>
              <a:rPr lang="en-GB" sz="1600" b="1" dirty="0"/>
              <a:t>Maximal Strength</a:t>
            </a:r>
            <a:r>
              <a:rPr lang="en-GB" sz="1600" dirty="0"/>
              <a:t>: The greatest amount of force you can produce in a single voluntary contraction.</a:t>
            </a:r>
            <a:br>
              <a:rPr lang="en-GB" sz="1600" dirty="0"/>
            </a:br>
            <a:r>
              <a:rPr lang="en-GB" sz="1600" b="1" dirty="0"/>
              <a:t>Relative Strength</a:t>
            </a:r>
            <a:r>
              <a:rPr lang="en-GB" sz="1600" dirty="0"/>
              <a:t>: Strength in relation to your body weight.</a:t>
            </a:r>
            <a:br>
              <a:rPr lang="en-GB" sz="1600" dirty="0"/>
            </a:br>
            <a:r>
              <a:rPr lang="en-GB" sz="1600" b="1" dirty="0"/>
              <a:t>Endurance Strength</a:t>
            </a:r>
            <a:r>
              <a:rPr lang="en-GB" sz="1600" dirty="0"/>
              <a:t>: The ability to sustain muscular contractions over time.</a:t>
            </a:r>
          </a:p>
          <a:p>
            <a:endParaRPr lang="en-GB" sz="1600" dirty="0"/>
          </a:p>
          <a:p>
            <a:r>
              <a:rPr lang="en-GB" sz="1600" dirty="0"/>
              <a:t>Strength is often developed through </a:t>
            </a:r>
            <a:r>
              <a:rPr lang="en-GB" sz="1600" b="1" dirty="0"/>
              <a:t>high-load, low-repetition resistance training</a:t>
            </a:r>
            <a:r>
              <a:rPr lang="en-GB" sz="1600" dirty="0"/>
              <a:t>, focusing on compound movements and progressive overload.</a:t>
            </a:r>
          </a:p>
          <a:p>
            <a:endParaRPr lang="en-GB" dirty="0"/>
          </a:p>
        </p:txBody>
      </p:sp>
      <p:sp>
        <p:nvSpPr>
          <p:cNvPr id="6" name="Text Placeholder 5">
            <a:extLst>
              <a:ext uri="{FF2B5EF4-FFF2-40B4-BE49-F238E27FC236}">
                <a16:creationId xmlns:a16="http://schemas.microsoft.com/office/drawing/2014/main" id="{2A210E61-1D37-FE12-377B-47D5114501C6}"/>
              </a:ext>
            </a:extLst>
          </p:cNvPr>
          <p:cNvSpPr>
            <a:spLocks noGrp="1"/>
          </p:cNvSpPr>
          <p:nvPr>
            <p:ph type="body" sz="quarter" idx="12"/>
          </p:nvPr>
        </p:nvSpPr>
        <p:spPr>
          <a:xfrm>
            <a:off x="4380917" y="807793"/>
            <a:ext cx="4763083" cy="3402378"/>
          </a:xfrm>
        </p:spPr>
        <p:txBody>
          <a:bodyPr/>
          <a:lstStyle/>
          <a:p>
            <a:pPr algn="l">
              <a:lnSpc>
                <a:spcPts val="1300"/>
              </a:lnSpc>
              <a:spcAft>
                <a:spcPts val="0"/>
              </a:spcAft>
              <a:buNone/>
            </a:pPr>
            <a:r>
              <a:rPr lang="en-GB" sz="1600" b="1" i="0" dirty="0">
                <a:solidFill>
                  <a:srgbClr val="262C38"/>
                </a:solidFill>
                <a:effectLst/>
                <a:latin typeface="Calibri" panose="020F0502020204030204" pitchFamily="34" charset="0"/>
              </a:rPr>
              <a:t>Power</a:t>
            </a:r>
            <a:r>
              <a:rPr lang="en-GB" sz="1600" b="0" i="0" dirty="0">
                <a:solidFill>
                  <a:srgbClr val="262C38"/>
                </a:solidFill>
                <a:effectLst/>
                <a:latin typeface="Calibri" panose="020F0502020204030204" pitchFamily="34" charset="0"/>
              </a:rPr>
              <a:t> is the ability to generate force quickly. </a:t>
            </a:r>
            <a:r>
              <a:rPr lang="en-GB" sz="1600" dirty="0">
                <a:solidFill>
                  <a:srgbClr val="262C38"/>
                </a:solidFill>
                <a:latin typeface="Calibri" panose="020F0502020204030204" pitchFamily="34" charset="0"/>
              </a:rPr>
              <a:t>D</a:t>
            </a:r>
            <a:r>
              <a:rPr lang="en-GB" sz="1600" b="0" i="0" dirty="0">
                <a:solidFill>
                  <a:srgbClr val="262C38"/>
                </a:solidFill>
                <a:effectLst/>
                <a:latin typeface="Calibri" panose="020F0502020204030204" pitchFamily="34" charset="0"/>
              </a:rPr>
              <a:t>escribed as </a:t>
            </a:r>
            <a:r>
              <a:rPr lang="en-GB" sz="1600" b="0" i="1" dirty="0">
                <a:solidFill>
                  <a:srgbClr val="262C38"/>
                </a:solidFill>
                <a:effectLst/>
                <a:latin typeface="Calibri" panose="020F0502020204030204" pitchFamily="34" charset="0"/>
              </a:rPr>
              <a:t>force × velocity</a:t>
            </a:r>
            <a:r>
              <a:rPr lang="en-GB" sz="1600" b="0" i="0" dirty="0">
                <a:solidFill>
                  <a:srgbClr val="262C38"/>
                </a:solidFill>
                <a:effectLst/>
                <a:latin typeface="Calibri" panose="020F0502020204030204" pitchFamily="34" charset="0"/>
              </a:rPr>
              <a:t>, meaning both strength and speed matter. Power is what enables a sprinter to explode off the blocks or a basketball player to soar for a dunk. It’s not just about how </a:t>
            </a:r>
            <a:r>
              <a:rPr lang="en-GB" sz="1600" b="0" i="1" dirty="0">
                <a:solidFill>
                  <a:srgbClr val="262C38"/>
                </a:solidFill>
                <a:effectLst/>
                <a:latin typeface="Calibri" panose="020F0502020204030204" pitchFamily="34" charset="0"/>
              </a:rPr>
              <a:t>much</a:t>
            </a:r>
            <a:r>
              <a:rPr lang="en-GB" sz="1600" b="0" i="0" dirty="0">
                <a:solidFill>
                  <a:srgbClr val="262C38"/>
                </a:solidFill>
                <a:effectLst/>
                <a:latin typeface="Calibri" panose="020F0502020204030204" pitchFamily="34" charset="0"/>
              </a:rPr>
              <a:t> force you produce, but </a:t>
            </a:r>
            <a:r>
              <a:rPr lang="en-GB" sz="1600" b="0" i="1" dirty="0">
                <a:solidFill>
                  <a:srgbClr val="262C38"/>
                </a:solidFill>
                <a:effectLst/>
                <a:latin typeface="Calibri" panose="020F0502020204030204" pitchFamily="34" charset="0"/>
              </a:rPr>
              <a:t>how fast</a:t>
            </a:r>
            <a:r>
              <a:rPr lang="en-GB" sz="1600" b="0" i="0" dirty="0">
                <a:solidFill>
                  <a:srgbClr val="262C38"/>
                </a:solidFill>
                <a:effectLst/>
                <a:latin typeface="Calibri" panose="020F0502020204030204" pitchFamily="34" charset="0"/>
              </a:rPr>
              <a:t>.</a:t>
            </a:r>
          </a:p>
          <a:p>
            <a:pPr algn="l">
              <a:lnSpc>
                <a:spcPts val="1300"/>
              </a:lnSpc>
              <a:spcAft>
                <a:spcPts val="0"/>
              </a:spcAft>
              <a:buNone/>
            </a:pPr>
            <a:r>
              <a:rPr lang="en-GB" sz="1600" b="1" u="sng" dirty="0">
                <a:solidFill>
                  <a:srgbClr val="262C38"/>
                </a:solidFill>
                <a:latin typeface="Calibri" panose="020F0502020204030204" pitchFamily="34" charset="0"/>
              </a:rPr>
              <a:t>T</a:t>
            </a:r>
            <a:r>
              <a:rPr lang="en-GB" sz="1600" b="1" i="0" u="sng" dirty="0">
                <a:solidFill>
                  <a:srgbClr val="262C38"/>
                </a:solidFill>
                <a:effectLst/>
                <a:latin typeface="Calibri" panose="020F0502020204030204" pitchFamily="34" charset="0"/>
              </a:rPr>
              <a:t>ypes of Power</a:t>
            </a:r>
            <a:endParaRPr lang="en-GB" sz="1600" u="sng" dirty="0">
              <a:solidFill>
                <a:srgbClr val="262C38"/>
              </a:solidFill>
              <a:latin typeface="Calibri" panose="020F0502020204030204" pitchFamily="34" charset="0"/>
            </a:endParaRPr>
          </a:p>
          <a:p>
            <a:pPr algn="l">
              <a:lnSpc>
                <a:spcPts val="1300"/>
              </a:lnSpc>
              <a:spcAft>
                <a:spcPts val="0"/>
              </a:spcAft>
              <a:buNone/>
            </a:pPr>
            <a:r>
              <a:rPr lang="en-GB" sz="1600" b="1" i="0" dirty="0">
                <a:solidFill>
                  <a:srgbClr val="262C38"/>
                </a:solidFill>
                <a:effectLst/>
                <a:latin typeface="Calibri" panose="020F0502020204030204" pitchFamily="34" charset="0"/>
              </a:rPr>
              <a:t>Explosive Power</a:t>
            </a:r>
            <a:r>
              <a:rPr lang="en-GB" sz="1600" b="0" i="0" dirty="0">
                <a:solidFill>
                  <a:srgbClr val="262C38"/>
                </a:solidFill>
                <a:effectLst/>
                <a:latin typeface="Calibri" panose="020F0502020204030204" pitchFamily="34" charset="0"/>
              </a:rPr>
              <a:t>: Sudden, high-intensity movements like jumps, throws, or sprints.</a:t>
            </a:r>
            <a:br>
              <a:rPr lang="en-GB" sz="1600" b="0" i="0" dirty="0">
                <a:solidFill>
                  <a:srgbClr val="262C38"/>
                </a:solidFill>
                <a:effectLst/>
                <a:latin typeface="Calibri" panose="020F0502020204030204" pitchFamily="34" charset="0"/>
              </a:rPr>
            </a:br>
            <a:endParaRPr lang="en-GB" sz="1600" b="0" i="0" dirty="0">
              <a:solidFill>
                <a:srgbClr val="262C38"/>
              </a:solidFill>
              <a:effectLst/>
              <a:latin typeface="Calibri" panose="020F0502020204030204" pitchFamily="34" charset="0"/>
            </a:endParaRPr>
          </a:p>
          <a:p>
            <a:pPr algn="l">
              <a:lnSpc>
                <a:spcPts val="1300"/>
              </a:lnSpc>
              <a:spcAft>
                <a:spcPts val="0"/>
              </a:spcAft>
              <a:buFont typeface="Arial" panose="020B0604020202020204" pitchFamily="34" charset="0"/>
              <a:buChar char="•"/>
            </a:pPr>
            <a:r>
              <a:rPr lang="en-GB" sz="1600" b="1" i="0" dirty="0">
                <a:solidFill>
                  <a:srgbClr val="262C38"/>
                </a:solidFill>
                <a:effectLst/>
                <a:latin typeface="Calibri" panose="020F0502020204030204" pitchFamily="34" charset="0"/>
              </a:rPr>
              <a:t>Reactive Power</a:t>
            </a:r>
            <a:r>
              <a:rPr lang="en-GB" sz="1600" b="0" i="0" dirty="0">
                <a:solidFill>
                  <a:srgbClr val="262C38"/>
                </a:solidFill>
                <a:effectLst/>
                <a:latin typeface="Calibri" panose="020F0502020204030204" pitchFamily="34" charset="0"/>
              </a:rPr>
              <a:t>: Your ability to quickly respond and rebound, such as in plyometric drills.</a:t>
            </a:r>
            <a:br>
              <a:rPr lang="en-GB" sz="1600" b="0" i="0" dirty="0">
                <a:solidFill>
                  <a:srgbClr val="262C38"/>
                </a:solidFill>
                <a:effectLst/>
                <a:latin typeface="Calibri" panose="020F0502020204030204" pitchFamily="34" charset="0"/>
              </a:rPr>
            </a:br>
            <a:endParaRPr lang="en-GB" sz="1600" b="0" i="0" dirty="0">
              <a:solidFill>
                <a:srgbClr val="262C38"/>
              </a:solidFill>
              <a:effectLst/>
              <a:latin typeface="Calibri" panose="020F0502020204030204" pitchFamily="34" charset="0"/>
            </a:endParaRPr>
          </a:p>
          <a:p>
            <a:pPr algn="l">
              <a:lnSpc>
                <a:spcPts val="1300"/>
              </a:lnSpc>
              <a:spcAft>
                <a:spcPts val="0"/>
              </a:spcAft>
              <a:buFont typeface="Arial" panose="020B0604020202020204" pitchFamily="34" charset="0"/>
              <a:buChar char="•"/>
            </a:pPr>
            <a:r>
              <a:rPr lang="en-GB" sz="1600" b="1" i="0" dirty="0">
                <a:solidFill>
                  <a:srgbClr val="262C38"/>
                </a:solidFill>
                <a:effectLst/>
                <a:latin typeface="Calibri" panose="020F0502020204030204" pitchFamily="34" charset="0"/>
              </a:rPr>
              <a:t>Speed Strength</a:t>
            </a:r>
            <a:r>
              <a:rPr lang="en-GB" sz="1600" b="0" i="0" dirty="0">
                <a:solidFill>
                  <a:srgbClr val="262C38"/>
                </a:solidFill>
                <a:effectLst/>
                <a:latin typeface="Calibri" panose="020F0502020204030204" pitchFamily="34" charset="0"/>
              </a:rPr>
              <a:t>: Force production with an emphasis on movement velocity.</a:t>
            </a:r>
          </a:p>
          <a:p>
            <a:pPr algn="l">
              <a:lnSpc>
                <a:spcPts val="1300"/>
              </a:lnSpc>
              <a:spcAft>
                <a:spcPts val="0"/>
              </a:spcAft>
            </a:pPr>
            <a:endParaRPr lang="en-GB" sz="1600" b="0" i="0" dirty="0">
              <a:solidFill>
                <a:srgbClr val="262C38"/>
              </a:solidFill>
              <a:effectLst/>
              <a:latin typeface="Calibri" panose="020F0502020204030204" pitchFamily="34" charset="0"/>
            </a:endParaRPr>
          </a:p>
          <a:p>
            <a:pPr algn="l">
              <a:lnSpc>
                <a:spcPts val="1300"/>
              </a:lnSpc>
              <a:spcAft>
                <a:spcPts val="0"/>
              </a:spcAft>
              <a:buNone/>
            </a:pPr>
            <a:r>
              <a:rPr lang="en-GB" sz="1600" b="0" i="0" dirty="0">
                <a:solidFill>
                  <a:srgbClr val="262C38"/>
                </a:solidFill>
                <a:effectLst/>
                <a:latin typeface="Calibri" panose="020F0502020204030204" pitchFamily="34" charset="0"/>
              </a:rPr>
              <a:t>Training for power often involves </a:t>
            </a:r>
            <a:r>
              <a:rPr lang="en-GB" sz="1600" b="1" i="0" dirty="0">
                <a:solidFill>
                  <a:srgbClr val="262C38"/>
                </a:solidFill>
                <a:effectLst/>
                <a:latin typeface="Calibri" panose="020F0502020204030204" pitchFamily="34" charset="0"/>
              </a:rPr>
              <a:t>lighter loads</a:t>
            </a:r>
            <a:r>
              <a:rPr lang="en-GB" sz="1600" b="0" i="0" dirty="0">
                <a:solidFill>
                  <a:srgbClr val="262C38"/>
                </a:solidFill>
                <a:effectLst/>
                <a:latin typeface="Calibri" panose="020F0502020204030204" pitchFamily="34" charset="0"/>
              </a:rPr>
              <a:t> than strength training, but performed with </a:t>
            </a:r>
            <a:r>
              <a:rPr lang="en-GB" sz="1600" b="1" i="0" dirty="0">
                <a:solidFill>
                  <a:srgbClr val="262C38"/>
                </a:solidFill>
                <a:effectLst/>
                <a:latin typeface="Calibri" panose="020F0502020204030204" pitchFamily="34" charset="0"/>
              </a:rPr>
              <a:t>maximum speed and intent</a:t>
            </a:r>
            <a:r>
              <a:rPr lang="en-GB" sz="1600" b="0" i="0" dirty="0">
                <a:solidFill>
                  <a:srgbClr val="262C38"/>
                </a:solidFill>
                <a:effectLst/>
                <a:latin typeface="Calibri" panose="020F0502020204030204" pitchFamily="34" charset="0"/>
              </a:rPr>
              <a:t>—think Olympic lifts, plyometrics, and sprinting.</a:t>
            </a:r>
          </a:p>
          <a:p>
            <a:endParaRPr lang="en-GB" dirty="0"/>
          </a:p>
        </p:txBody>
      </p:sp>
    </p:spTree>
    <p:extLst>
      <p:ext uri="{BB962C8B-B14F-4D97-AF65-F5344CB8AC3E}">
        <p14:creationId xmlns:p14="http://schemas.microsoft.com/office/powerpoint/2010/main" val="276174395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en-GB" sz="4000" dirty="0">
                <a:effectLst/>
              </a:rPr>
              <a:t>Connective Tissue Changes</a:t>
            </a:r>
            <a:br>
              <a:rPr lang="en-GB" sz="4000" dirty="0">
                <a:effectLst/>
              </a:rPr>
            </a:br>
            <a:r>
              <a:rPr kumimoji="0" lang="en-US" sz="1800" b="0" i="0" u="none" strike="noStrike" kern="1200" cap="none" spc="0" normalizeH="0" baseline="0" noProof="0" dirty="0">
                <a:ln>
                  <a:noFill/>
                </a:ln>
                <a:solidFill>
                  <a:srgbClr val="7A7392"/>
                </a:solidFill>
                <a:effectLst/>
                <a:uLnTx/>
                <a:uFillTx/>
                <a:latin typeface="Calibri"/>
                <a:ea typeface="ＭＳ Ｐゴシック" charset="0"/>
                <a:cs typeface="+mn-cs"/>
              </a:rPr>
              <a:t>(Recap from Foundations Exercise Prescription</a:t>
            </a:r>
            <a:endParaRPr lang="en-GB" sz="4000" dirty="0">
              <a:effectLst/>
            </a:endParaRPr>
          </a:p>
        </p:txBody>
      </p:sp>
      <p:sp>
        <p:nvSpPr>
          <p:cNvPr id="46085" name="Rectangle 5"/>
          <p:cNvSpPr>
            <a:spLocks noGrp="1" noChangeArrowheads="1"/>
          </p:cNvSpPr>
          <p:nvPr>
            <p:ph type="body" sz="quarter" idx="11"/>
          </p:nvPr>
        </p:nvSpPr>
        <p:spPr>
          <a:xfrm>
            <a:off x="226882" y="1629818"/>
            <a:ext cx="3925732" cy="3456384"/>
          </a:xfrm>
        </p:spPr>
        <p:txBody>
          <a:bodyPr/>
          <a:lstStyle/>
          <a:p>
            <a:r>
              <a:rPr lang="en-GB" sz="2000" dirty="0">
                <a:effectLst/>
              </a:rPr>
              <a:t>Changes in collagen tensile strength</a:t>
            </a:r>
          </a:p>
          <a:p>
            <a:endParaRPr lang="en-GB" sz="2000" dirty="0">
              <a:effectLst/>
            </a:endParaRPr>
          </a:p>
          <a:p>
            <a:r>
              <a:rPr lang="en-GB" sz="2000" dirty="0">
                <a:effectLst/>
              </a:rPr>
              <a:t>Weakening of insertions</a:t>
            </a:r>
          </a:p>
          <a:p>
            <a:endParaRPr lang="en-GB" sz="2000" dirty="0">
              <a:effectLst/>
            </a:endParaRPr>
          </a:p>
          <a:p>
            <a:r>
              <a:rPr lang="en-GB" sz="2000" dirty="0">
                <a:effectLst/>
              </a:rPr>
              <a:t>Increased ratio of connective tissue: muscle</a:t>
            </a:r>
          </a:p>
        </p:txBody>
      </p:sp>
      <p:sp>
        <p:nvSpPr>
          <p:cNvPr id="2" name="Slide Number Placeholder 1"/>
          <p:cNvSpPr>
            <a:spLocks noGrp="1"/>
          </p:cNvSpPr>
          <p:nvPr>
            <p:ph type="sldNum" sz="quarter" idx="4294967295"/>
          </p:nvPr>
        </p:nvSpPr>
        <p:spPr>
          <a:xfrm>
            <a:off x="1143000" y="0"/>
            <a:ext cx="0" cy="0"/>
          </a:xfrm>
        </p:spPr>
        <p:txBody>
          <a:bodyPr>
            <a:normAutofit fontScale="25000" lnSpcReduction="20000"/>
          </a:bodyPr>
          <a:lstStyle/>
          <a:p>
            <a:fld id="{CF6EBAB8-0DFC-4004-818C-309F5D0BCF20}" type="slidenum">
              <a:rPr lang="en-GB" smtClean="0"/>
              <a:pPr/>
              <a:t>10</a:t>
            </a:fld>
            <a:endParaRPr lang="en-GB"/>
          </a:p>
        </p:txBody>
      </p:sp>
      <p:pic>
        <p:nvPicPr>
          <p:cNvPr id="46086" name="Picture 6" descr="LigFig4A"/>
          <p:cNvPicPr>
            <a:picLocks noChangeAspect="1" noChangeArrowheads="1"/>
          </p:cNvPicPr>
          <p:nvPr/>
        </p:nvPicPr>
        <p:blipFill>
          <a:blip r:embed="rId3" cstate="print"/>
          <a:srcRect/>
          <a:stretch>
            <a:fillRect/>
          </a:stretch>
        </p:blipFill>
        <p:spPr bwMode="auto">
          <a:xfrm>
            <a:off x="4572000" y="1656607"/>
            <a:ext cx="2807494" cy="3402806"/>
          </a:xfrm>
          <a:prstGeom prst="rect">
            <a:avLst/>
          </a:prstGeom>
          <a:noFill/>
          <a:ln w="9525">
            <a:noFill/>
            <a:miter lim="800000"/>
            <a:headEnd/>
            <a:tailEnd/>
          </a:ln>
        </p:spPr>
      </p:pic>
    </p:spTree>
    <p:extLst>
      <p:ext uri="{BB962C8B-B14F-4D97-AF65-F5344CB8AC3E}">
        <p14:creationId xmlns:p14="http://schemas.microsoft.com/office/powerpoint/2010/main" val="2615538066"/>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CED25-A746-6464-E3DD-F69787A02AD9}"/>
              </a:ext>
            </a:extLst>
          </p:cNvPr>
          <p:cNvSpPr>
            <a:spLocks noGrp="1"/>
          </p:cNvSpPr>
          <p:nvPr>
            <p:ph type="title"/>
          </p:nvPr>
        </p:nvSpPr>
        <p:spPr>
          <a:xfrm>
            <a:off x="228392" y="-100352"/>
            <a:ext cx="7135091" cy="615991"/>
          </a:xfrm>
        </p:spPr>
        <p:txBody>
          <a:bodyPr anchor="t">
            <a:noAutofit/>
          </a:bodyPr>
          <a:lstStyle/>
          <a:p>
            <a:pPr>
              <a:lnSpc>
                <a:spcPct val="110000"/>
              </a:lnSpc>
            </a:pPr>
            <a:r>
              <a:rPr lang="en-US" sz="2800" dirty="0"/>
              <a:t>Pathophysiology related to Frailty and Falls</a:t>
            </a:r>
          </a:p>
        </p:txBody>
      </p:sp>
      <p:pic>
        <p:nvPicPr>
          <p:cNvPr id="5" name="Content Placeholder 4" descr="Head and shoulder of the acupuncture model.">
            <a:extLst>
              <a:ext uri="{FF2B5EF4-FFF2-40B4-BE49-F238E27FC236}">
                <a16:creationId xmlns:a16="http://schemas.microsoft.com/office/drawing/2014/main" id="{49D594D3-0FCB-4A0A-B0E8-A85592B53372}"/>
              </a:ext>
            </a:extLst>
          </p:cNvPr>
          <p:cNvPicPr>
            <a:picLocks noGrp="1" noChangeAspect="1"/>
          </p:cNvPicPr>
          <p:nvPr>
            <p:ph type="pic" sz="quarter" idx="18"/>
          </p:nvPr>
        </p:nvPicPr>
        <p:blipFill>
          <a:blip r:embed="rId3"/>
          <a:srcRect l="17610" r="15641" b="1"/>
          <a:stretch>
            <a:fillRect/>
          </a:stretch>
        </p:blipFill>
        <p:spPr>
          <a:xfrm>
            <a:off x="64569" y="1444593"/>
            <a:ext cx="2045970" cy="2045970"/>
          </a:xfrm>
        </p:spPr>
      </p:pic>
      <p:sp>
        <p:nvSpPr>
          <p:cNvPr id="4" name="Content Placeholder 3">
            <a:extLst>
              <a:ext uri="{FF2B5EF4-FFF2-40B4-BE49-F238E27FC236}">
                <a16:creationId xmlns:a16="http://schemas.microsoft.com/office/drawing/2014/main" id="{6AE4C255-FEAD-F1DE-F857-943C84D2D23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944340" y="488138"/>
            <a:ext cx="7135091" cy="4304503"/>
          </a:xfrm>
        </p:spPr>
        <p:txBody>
          <a:bodyPr>
            <a:normAutofit lnSpcReduction="10000"/>
          </a:bodyPr>
          <a:lstStyle/>
          <a:p>
            <a:pPr marL="0" indent="0">
              <a:spcBef>
                <a:spcPts val="1875"/>
              </a:spcBef>
              <a:buNone/>
            </a:pPr>
            <a:r>
              <a:rPr lang="en-US" sz="1600" b="1" dirty="0">
                <a:solidFill>
                  <a:srgbClr val="FF0000"/>
                </a:solidFill>
              </a:rPr>
              <a:t>Musculoskeletal Deterioration</a:t>
            </a:r>
          </a:p>
          <a:p>
            <a:pPr marL="0" lvl="1" indent="0">
              <a:buNone/>
            </a:pPr>
            <a:r>
              <a:rPr sz="1600" dirty="0"/>
              <a:t>Aging leads to sarcopenia and osteoporosis, reducing muscle mass, strength, and bone density, increasing fall risk.</a:t>
            </a:r>
          </a:p>
          <a:p>
            <a:pPr marL="0" lvl="1" indent="0">
              <a:buNone/>
            </a:pPr>
            <a:r>
              <a:rPr lang="en-US" sz="1600" dirty="0"/>
              <a:t>Larsson et al., 2019; </a:t>
            </a:r>
            <a:r>
              <a:rPr lang="it-IT" sz="1600" dirty="0"/>
              <a:t>Greco EA, Pietschmann P, Migliaccio 2019; </a:t>
            </a:r>
            <a:r>
              <a:rPr lang="it-IT" sz="1600" dirty="0">
                <a:highlight>
                  <a:srgbClr val="FFFF00"/>
                </a:highlight>
              </a:rPr>
              <a:t>Yang et al., 2025</a:t>
            </a:r>
            <a:endParaRPr lang="en-US" sz="1600" dirty="0">
              <a:highlight>
                <a:srgbClr val="FFFF00"/>
              </a:highlight>
            </a:endParaRPr>
          </a:p>
          <a:p>
            <a:pPr marL="0" lvl="1" indent="0">
              <a:buNone/>
            </a:pPr>
            <a:r>
              <a:rPr lang="en-US" sz="1600" b="1" dirty="0">
                <a:solidFill>
                  <a:srgbClr val="FF0000"/>
                </a:solidFill>
              </a:rPr>
              <a:t>Neurological and Sensory Decline</a:t>
            </a:r>
          </a:p>
          <a:p>
            <a:pPr marL="0" lvl="1" indent="0">
              <a:buNone/>
            </a:pPr>
            <a:r>
              <a:rPr sz="1600" dirty="0"/>
              <a:t>Peripheral neuropathy and CNS aging impair balance, while sensory deficits reduce spatial orientation, increasing falls (</a:t>
            </a:r>
            <a:r>
              <a:rPr lang="en-US" sz="1600" dirty="0"/>
              <a:t>Woo, 2019)</a:t>
            </a:r>
          </a:p>
          <a:p>
            <a:pPr marL="0" lvl="1" indent="0">
              <a:buNone/>
            </a:pPr>
            <a:r>
              <a:rPr lang="en-US" sz="1600" b="1" dirty="0">
                <a:solidFill>
                  <a:srgbClr val="FF0000"/>
                </a:solidFill>
              </a:rPr>
              <a:t>Cardiovascular Dysregulation</a:t>
            </a:r>
          </a:p>
          <a:p>
            <a:pPr marL="0" lvl="1" indent="0">
              <a:buNone/>
            </a:pPr>
            <a:r>
              <a:rPr lang="en-GB" sz="1600" dirty="0"/>
              <a:t>Age-related physiological changes reduce baroreflex sensitivity, weakening the ability to stabilize blood pressure on standing. This impaired response leads to orthostatic hypotension and associated symptoms such as dizziness (Dani et al., 2022</a:t>
            </a:r>
          </a:p>
          <a:p>
            <a:pPr marL="0" lvl="1" indent="0">
              <a:buNone/>
            </a:pPr>
            <a:r>
              <a:rPr lang="en-US" sz="1600" b="1" dirty="0">
                <a:solidFill>
                  <a:srgbClr val="FF0000"/>
                </a:solidFill>
              </a:rPr>
              <a:t>Inflammation and Endocrine Changes (related to Sarcopenia)</a:t>
            </a:r>
          </a:p>
          <a:p>
            <a:pPr marL="0" lvl="1" indent="0">
              <a:buNone/>
            </a:pPr>
            <a:r>
              <a:rPr sz="1600" dirty="0"/>
              <a:t>Chronic inflammatory sarcopenia (</a:t>
            </a:r>
            <a:r>
              <a:rPr lang="en-GB" sz="1600" dirty="0" err="1"/>
              <a:t>Blajovan</a:t>
            </a:r>
            <a:r>
              <a:rPr lang="en-GB" sz="1600" dirty="0"/>
              <a:t> et al., 2025) </a:t>
            </a:r>
            <a:r>
              <a:rPr sz="1600" dirty="0"/>
              <a:t>and hormonal decline (</a:t>
            </a:r>
            <a:r>
              <a:rPr lang="en-GB" sz="1600" dirty="0"/>
              <a:t>Chen and </a:t>
            </a:r>
            <a:r>
              <a:rPr lang="en-GB" sz="1600" dirty="0" err="1"/>
              <a:t>Wue</a:t>
            </a:r>
            <a:r>
              <a:rPr lang="en-GB" sz="1600" dirty="0"/>
              <a:t>, 2025) </a:t>
            </a:r>
            <a:r>
              <a:rPr sz="1600" dirty="0"/>
              <a:t>exacerbate muscle loss and frailty progression, increasing vulnerability to falls.</a:t>
            </a:r>
            <a:endParaRPr lang="en-US" sz="1600" dirty="0"/>
          </a:p>
        </p:txBody>
      </p:sp>
    </p:spTree>
    <p:extLst>
      <p:ext uri="{BB962C8B-B14F-4D97-AF65-F5344CB8AC3E}">
        <p14:creationId xmlns:p14="http://schemas.microsoft.com/office/powerpoint/2010/main" val="15691978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CBCC3-45F5-4FFF-E24B-6F1F3B343287}"/>
              </a:ext>
            </a:extLst>
          </p:cNvPr>
          <p:cNvSpPr>
            <a:spLocks noGrp="1"/>
          </p:cNvSpPr>
          <p:nvPr>
            <p:ph type="title"/>
          </p:nvPr>
        </p:nvSpPr>
        <p:spPr>
          <a:xfrm>
            <a:off x="2509958" y="42207"/>
            <a:ext cx="3463290" cy="389847"/>
          </a:xfrm>
        </p:spPr>
        <p:txBody>
          <a:bodyPr>
            <a:noAutofit/>
          </a:bodyPr>
          <a:lstStyle/>
          <a:p>
            <a:pPr algn="ctr"/>
            <a:r>
              <a:rPr lang="en-GB" sz="3600" dirty="0"/>
              <a:t>Falls </a:t>
            </a:r>
          </a:p>
        </p:txBody>
      </p:sp>
      <p:pic>
        <p:nvPicPr>
          <p:cNvPr id="6" name="Picture Placeholder 5" descr="Person with cane illustration">
            <a:extLst>
              <a:ext uri="{FF2B5EF4-FFF2-40B4-BE49-F238E27FC236}">
                <a16:creationId xmlns:a16="http://schemas.microsoft.com/office/drawing/2014/main" id="{82375DAB-55C4-EAB7-433E-CAC92385EA67}"/>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Lst>
          </a:blip>
          <a:srcRect t="16878" b="16878"/>
          <a:stretch>
            <a:fillRect/>
          </a:stretch>
        </p:blipFill>
        <p:spPr>
          <a:xfrm>
            <a:off x="220663" y="1258888"/>
            <a:ext cx="2709573" cy="2906712"/>
          </a:xfrm>
        </p:spPr>
      </p:pic>
      <p:sp>
        <p:nvSpPr>
          <p:cNvPr id="4" name="Content Placeholder 3">
            <a:extLst>
              <a:ext uri="{FF2B5EF4-FFF2-40B4-BE49-F238E27FC236}">
                <a16:creationId xmlns:a16="http://schemas.microsoft.com/office/drawing/2014/main" id="{F9094978-3D3A-4B6F-A360-D4EBE4B21DF0}"/>
              </a:ext>
            </a:extLst>
          </p:cNvPr>
          <p:cNvSpPr>
            <a:spLocks noGrp="1"/>
          </p:cNvSpPr>
          <p:nvPr>
            <p:ph sz="quarter" idx="14"/>
          </p:nvPr>
        </p:nvSpPr>
        <p:spPr>
          <a:xfrm>
            <a:off x="3041073" y="713232"/>
            <a:ext cx="5992091" cy="3998214"/>
          </a:xfrm>
        </p:spPr>
        <p:txBody>
          <a:bodyPr>
            <a:normAutofit fontScale="62500" lnSpcReduction="20000"/>
          </a:bodyPr>
          <a:lstStyle/>
          <a:p>
            <a:r>
              <a:rPr lang="en-GB" dirty="0"/>
              <a:t>Falls are common and serious concern among older adults, with one in three adults aged ≥ 65 years falling at least once a year (Phelan and Ritchey, 2018). One in four individuals &gt;65 years falls in the United States every year (ACSM, 2026).</a:t>
            </a:r>
          </a:p>
          <a:p>
            <a:r>
              <a:rPr lang="en-GB" dirty="0"/>
              <a:t>In the US, falls are the leading cause of injury-related death among older adults, accounting for 46.2% (Centres for Disease Control and Prevention, 2024).  </a:t>
            </a:r>
          </a:p>
          <a:p>
            <a:r>
              <a:rPr lang="en-GB" dirty="0"/>
              <a:t>Falls are also linked to function decline, loss of independence, and increased mortality rates </a:t>
            </a:r>
            <a:r>
              <a:rPr lang="en-GB" dirty="0" err="1"/>
              <a:t>Terosso</a:t>
            </a:r>
            <a:r>
              <a:rPr lang="en-GB" dirty="0"/>
              <a:t>, et al., 2014, leading to a substantial economic burden. Identifying modifiable risk factors is crucial for reducing the incidence of falls among older adults (Yang et al., 2025)</a:t>
            </a:r>
          </a:p>
        </p:txBody>
      </p:sp>
    </p:spTree>
    <p:extLst>
      <p:ext uri="{BB962C8B-B14F-4D97-AF65-F5344CB8AC3E}">
        <p14:creationId xmlns:p14="http://schemas.microsoft.com/office/powerpoint/2010/main" val="356729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4191DF3-A53A-4E8C-7136-7C4680E63621}"/>
              </a:ext>
            </a:extLst>
          </p:cNvPr>
          <p:cNvPicPr>
            <a:picLocks noGrp="1" noChangeAspect="1"/>
          </p:cNvPicPr>
          <p:nvPr>
            <p:ph type="pic" sz="quarter" idx="18"/>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874" r="12879" b="5"/>
          <a:stretch>
            <a:fillRect/>
          </a:stretch>
        </p:blipFill>
        <p:spPr>
          <a:xfrm>
            <a:off x="1008957" y="1452302"/>
            <a:ext cx="2426971" cy="2426971"/>
          </a:xfrm>
          <a:noFill/>
        </p:spPr>
      </p:pic>
      <p:sp>
        <p:nvSpPr>
          <p:cNvPr id="4" name="Content Placeholder 3">
            <a:extLst>
              <a:ext uri="{FF2B5EF4-FFF2-40B4-BE49-F238E27FC236}">
                <a16:creationId xmlns:a16="http://schemas.microsoft.com/office/drawing/2014/main" id="{A6A36821-B83C-A876-6D84-2F6886687CFE}"/>
              </a:ext>
            </a:extLst>
          </p:cNvPr>
          <p:cNvSpPr>
            <a:spLocks noGrp="1"/>
          </p:cNvSpPr>
          <p:nvPr>
            <p:ph sz="quarter" idx="14"/>
          </p:nvPr>
        </p:nvSpPr>
        <p:spPr>
          <a:xfrm>
            <a:off x="3954445" y="465459"/>
            <a:ext cx="4623955" cy="3998214"/>
          </a:xfrm>
        </p:spPr>
        <p:txBody>
          <a:bodyPr anchor="ctr">
            <a:normAutofit/>
          </a:bodyPr>
          <a:lstStyle/>
          <a:p>
            <a:pPr marL="0" indent="0">
              <a:lnSpc>
                <a:spcPct val="90000"/>
              </a:lnSpc>
              <a:buNone/>
            </a:pPr>
            <a:r>
              <a:rPr lang="en-GB" sz="2700" dirty="0"/>
              <a:t>Sarcopenia, characterized by decreased muscle mass and function, is considered an important modifiable risk factor for falls, with a global prevalence ranging from 3.3% to 36% (Zang et al.,2020; Veronese et al., 2021, Yang et al., 2025)</a:t>
            </a:r>
          </a:p>
        </p:txBody>
      </p:sp>
    </p:spTree>
    <p:extLst>
      <p:ext uri="{BB962C8B-B14F-4D97-AF65-F5344CB8AC3E}">
        <p14:creationId xmlns:p14="http://schemas.microsoft.com/office/powerpoint/2010/main" val="3123235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C1103D-C59B-DC2E-71E8-7A77616CB3F6}"/>
              </a:ext>
            </a:extLst>
          </p:cNvPr>
          <p:cNvSpPr>
            <a:spLocks noGrp="1"/>
          </p:cNvSpPr>
          <p:nvPr>
            <p:ph type="title"/>
          </p:nvPr>
        </p:nvSpPr>
        <p:spPr>
          <a:xfrm>
            <a:off x="628650" y="519524"/>
            <a:ext cx="7886700" cy="321398"/>
          </a:xfrm>
        </p:spPr>
        <p:txBody>
          <a:bodyPr anchor="t">
            <a:noAutofit/>
          </a:bodyPr>
          <a:lstStyle/>
          <a:p>
            <a:pPr>
              <a:lnSpc>
                <a:spcPct val="90000"/>
              </a:lnSpc>
            </a:pPr>
            <a:r>
              <a:rPr lang="en-GB" sz="3200" dirty="0">
                <a:solidFill>
                  <a:srgbClr val="0070C0"/>
                </a:solidFill>
              </a:rPr>
              <a:t>Appendicular lean mass (ALM) </a:t>
            </a:r>
          </a:p>
        </p:txBody>
      </p:sp>
      <p:pic>
        <p:nvPicPr>
          <p:cNvPr id="2050" name="Picture 2" descr="Dexa Body Composition Scan - Accurate Imaging Diagnostics DEXA at ...">
            <a:extLst>
              <a:ext uri="{FF2B5EF4-FFF2-40B4-BE49-F238E27FC236}">
                <a16:creationId xmlns:a16="http://schemas.microsoft.com/office/drawing/2014/main" id="{F2768665-BA26-0BE8-1C2C-F75BB78F930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t="3134" r="-3" b="21695"/>
          <a:stretch>
            <a:fillRect/>
          </a:stretch>
        </p:blipFill>
        <p:spPr bwMode="auto">
          <a:xfrm>
            <a:off x="272390" y="1246842"/>
            <a:ext cx="2921083" cy="2649816"/>
          </a:xfrm>
          <a:prstGeom prst="rect">
            <a:avLst/>
          </a:prstGeom>
          <a:solidFill>
            <a:srgbClr val="FFFFFF"/>
          </a:solidFill>
        </p:spPr>
      </p:pic>
      <p:sp>
        <p:nvSpPr>
          <p:cNvPr id="8" name="Content Placeholder 7">
            <a:extLst>
              <a:ext uri="{FF2B5EF4-FFF2-40B4-BE49-F238E27FC236}">
                <a16:creationId xmlns:a16="http://schemas.microsoft.com/office/drawing/2014/main" id="{5FBE70DD-B801-48B7-907C-628217990E22}"/>
              </a:ext>
            </a:extLst>
          </p:cNvPr>
          <p:cNvSpPr>
            <a:spLocks noGrp="1"/>
          </p:cNvSpPr>
          <p:nvPr>
            <p:ph sz="half" idx="2"/>
          </p:nvPr>
        </p:nvSpPr>
        <p:spPr>
          <a:xfrm>
            <a:off x="3283527" y="1143000"/>
            <a:ext cx="5638799" cy="3429000"/>
          </a:xfrm>
        </p:spPr>
        <p:txBody>
          <a:bodyPr>
            <a:normAutofit lnSpcReduction="10000"/>
          </a:bodyPr>
          <a:lstStyle/>
          <a:p>
            <a:pPr>
              <a:lnSpc>
                <a:spcPct val="90000"/>
              </a:lnSpc>
            </a:pPr>
            <a:r>
              <a:rPr lang="en-GB" sz="1600" dirty="0"/>
              <a:t>The musculature of the arms and legs, appendicular lean mass (ALM), accounts for ≥75% of skeletal muscle in the body and is required for ambulatory activity and physical functioning (Gallagher et al., 1985). </a:t>
            </a:r>
          </a:p>
          <a:p>
            <a:pPr>
              <a:lnSpc>
                <a:spcPct val="90000"/>
              </a:lnSpc>
            </a:pPr>
            <a:r>
              <a:rPr lang="en-GB" sz="1600" dirty="0"/>
              <a:t>Older adults lose approximately 0.1 kg (0.5%) of ALM annually after the age of 40–50 years (Gallagher et al., 1985; Auyeung et al., 2014; Kitamura et al., 2014)</a:t>
            </a:r>
          </a:p>
          <a:p>
            <a:pPr>
              <a:lnSpc>
                <a:spcPct val="90000"/>
              </a:lnSpc>
            </a:pPr>
            <a:r>
              <a:rPr lang="en-GB" sz="1600" dirty="0"/>
              <a:t>The progressive loss of ALM may be a key element in the development and progression of frailty (</a:t>
            </a:r>
            <a:r>
              <a:rPr lang="en-GB" sz="1600" dirty="0" err="1"/>
              <a:t>Idoate</a:t>
            </a:r>
            <a:r>
              <a:rPr lang="en-GB" sz="1600" dirty="0"/>
              <a:t> et al., 2014).</a:t>
            </a:r>
          </a:p>
          <a:p>
            <a:pPr>
              <a:lnSpc>
                <a:spcPct val="90000"/>
              </a:lnSpc>
            </a:pPr>
            <a:r>
              <a:rPr lang="en-GB" sz="1600" dirty="0"/>
              <a:t>Frailty is a syndrome of poor global health, highly prevalent among older adults that includes unintentional weight loss, impaired physical function, weakness, exhaustion, and low levels of physical activity (Fried et al, 2001). </a:t>
            </a:r>
          </a:p>
          <a:p>
            <a:pPr>
              <a:lnSpc>
                <a:spcPct val="90000"/>
              </a:lnSpc>
            </a:pPr>
            <a:r>
              <a:rPr lang="en-GB" sz="1600" dirty="0"/>
              <a:t>Prefrail and frail older adults are prone to experience disability, falls, hospitalization, and death (Fried et al, 2001)</a:t>
            </a:r>
          </a:p>
        </p:txBody>
      </p:sp>
      <p:sp>
        <p:nvSpPr>
          <p:cNvPr id="10" name="TextBox 9">
            <a:extLst>
              <a:ext uri="{FF2B5EF4-FFF2-40B4-BE49-F238E27FC236}">
                <a16:creationId xmlns:a16="http://schemas.microsoft.com/office/drawing/2014/main" id="{CE8AA9B7-59CA-08B2-FD78-BF9A943EB9E4}"/>
              </a:ext>
            </a:extLst>
          </p:cNvPr>
          <p:cNvSpPr txBox="1"/>
          <p:nvPr/>
        </p:nvSpPr>
        <p:spPr>
          <a:xfrm>
            <a:off x="956844" y="3933246"/>
            <a:ext cx="1064137" cy="369332"/>
          </a:xfrm>
          <a:prstGeom prst="rect">
            <a:avLst/>
          </a:prstGeom>
          <a:noFill/>
        </p:spPr>
        <p:txBody>
          <a:bodyPr wrap="none" rtlCol="0">
            <a:spAutoFit/>
          </a:bodyPr>
          <a:lstStyle/>
          <a:p>
            <a:r>
              <a:rPr lang="en-GB" dirty="0">
                <a:latin typeface="+mn-lt"/>
              </a:rPr>
              <a:t>DXA Scan</a:t>
            </a:r>
          </a:p>
        </p:txBody>
      </p:sp>
    </p:spTree>
    <p:extLst>
      <p:ext uri="{BB962C8B-B14F-4D97-AF65-F5344CB8AC3E}">
        <p14:creationId xmlns:p14="http://schemas.microsoft.com/office/powerpoint/2010/main" val="149392897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F96EF25-E20C-5B6D-0558-C78733037A38}"/>
              </a:ext>
            </a:extLst>
          </p:cNvPr>
          <p:cNvSpPr>
            <a:spLocks noGrp="1"/>
          </p:cNvSpPr>
          <p:nvPr>
            <p:ph type="title"/>
          </p:nvPr>
        </p:nvSpPr>
        <p:spPr>
          <a:xfrm>
            <a:off x="457200" y="258713"/>
            <a:ext cx="7886700" cy="989583"/>
          </a:xfrm>
        </p:spPr>
        <p:txBody>
          <a:bodyPr>
            <a:normAutofit/>
          </a:bodyPr>
          <a:lstStyle/>
          <a:p>
            <a:r>
              <a:rPr lang="en-US" dirty="0">
                <a:solidFill>
                  <a:schemeClr val="accent1"/>
                </a:solidFill>
              </a:rPr>
              <a:t>Walking Speed (We will review in Physiological and Performance Testing Session)</a:t>
            </a:r>
          </a:p>
        </p:txBody>
      </p:sp>
      <p:sp>
        <p:nvSpPr>
          <p:cNvPr id="3" name="Text Placeholder 2">
            <a:extLst>
              <a:ext uri="{FF2B5EF4-FFF2-40B4-BE49-F238E27FC236}">
                <a16:creationId xmlns:a16="http://schemas.microsoft.com/office/drawing/2014/main" id="{52A920DA-8663-6AF1-55C1-9C517A8963E2}"/>
              </a:ext>
            </a:extLst>
          </p:cNvPr>
          <p:cNvSpPr>
            <a:spLocks noGrp="1"/>
          </p:cNvSpPr>
          <p:nvPr>
            <p:ph sz="half" idx="1"/>
          </p:nvPr>
        </p:nvSpPr>
        <p:spPr>
          <a:xfrm>
            <a:off x="-68752" y="1248296"/>
            <a:ext cx="5046388" cy="3429000"/>
          </a:xfrm>
        </p:spPr>
        <p:txBody>
          <a:bodyPr>
            <a:normAutofit lnSpcReduction="10000"/>
          </a:bodyPr>
          <a:lstStyle/>
          <a:p>
            <a:pPr>
              <a:lnSpc>
                <a:spcPct val="90000"/>
              </a:lnSpc>
            </a:pPr>
            <a:r>
              <a:rPr lang="en-GB" sz="1800" dirty="0"/>
              <a:t>Walking speed not only reflects walking ability but is also </a:t>
            </a:r>
            <a:r>
              <a:rPr lang="en-GB" sz="1800" b="1" dirty="0"/>
              <a:t>closely related to overall health, muscle strength, balance, neural control, and cognitive function. </a:t>
            </a:r>
            <a:r>
              <a:rPr lang="en-GB" sz="1800" dirty="0"/>
              <a:t>A slower walking speed may be the result of a combination of multiple physiological, neurological, and environmental factors, all of which are associated with an increased risk of falls. Therefore, monitoring and improving gait speed is critical to preventing falls in older adults (Yang et al., 2025)</a:t>
            </a:r>
          </a:p>
          <a:p>
            <a:pPr>
              <a:lnSpc>
                <a:spcPct val="90000"/>
              </a:lnSpc>
            </a:pPr>
            <a:endParaRPr lang="en-GB" sz="1800" dirty="0"/>
          </a:p>
          <a:p>
            <a:pPr marL="0" indent="0">
              <a:lnSpc>
                <a:spcPct val="90000"/>
              </a:lnSpc>
              <a:buNone/>
            </a:pPr>
            <a:r>
              <a:rPr lang="en-GB" sz="1700" b="1" dirty="0">
                <a:solidFill>
                  <a:srgbClr val="FF0000"/>
                </a:solidFill>
              </a:rPr>
              <a:t>     Task: Could you review walking speed in aerobic  </a:t>
            </a:r>
          </a:p>
          <a:p>
            <a:pPr marL="0" indent="0">
              <a:lnSpc>
                <a:spcPct val="90000"/>
              </a:lnSpc>
              <a:buNone/>
            </a:pPr>
            <a:r>
              <a:rPr lang="en-GB" sz="1700" b="1" dirty="0">
                <a:solidFill>
                  <a:srgbClr val="FF0000"/>
                </a:solidFill>
              </a:rPr>
              <a:t>      exercise programme</a:t>
            </a:r>
            <a:r>
              <a:rPr lang="en-GB" sz="1700" dirty="0">
                <a:solidFill>
                  <a:srgbClr val="FF0000"/>
                </a:solidFill>
              </a:rPr>
              <a:t>?</a:t>
            </a:r>
          </a:p>
        </p:txBody>
      </p:sp>
      <p:pic>
        <p:nvPicPr>
          <p:cNvPr id="6" name="Picture Placeholder 5">
            <a:extLst>
              <a:ext uri="{FF2B5EF4-FFF2-40B4-BE49-F238E27FC236}">
                <a16:creationId xmlns:a16="http://schemas.microsoft.com/office/drawing/2014/main" id="{F7490E24-71B1-E6C5-D0FD-8D67B0AAD85F}"/>
              </a:ext>
            </a:extLst>
          </p:cNvPr>
          <p:cNvPicPr>
            <a:picLocks noGrp="1" noChangeAspect="1"/>
          </p:cNvPicPr>
          <p:nvPr>
            <p:ph sz="half" idx="2"/>
          </p:nvPr>
        </p:nvPicPr>
        <p:blipFill>
          <a:blip r:embed="rId2"/>
          <a:stretch/>
        </p:blipFill>
        <p:spPr>
          <a:xfrm>
            <a:off x="5084064" y="1601062"/>
            <a:ext cx="4059936" cy="2141616"/>
          </a:xfrm>
          <a:prstGeom prst="rect">
            <a:avLst/>
          </a:prstGeom>
          <a:noFill/>
        </p:spPr>
      </p:pic>
    </p:spTree>
    <p:extLst>
      <p:ext uri="{BB962C8B-B14F-4D97-AF65-F5344CB8AC3E}">
        <p14:creationId xmlns:p14="http://schemas.microsoft.com/office/powerpoint/2010/main" val="33958198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0325CFCE-0343-CA2F-1AA4-74171E460028}"/>
              </a:ext>
            </a:extLst>
          </p:cNvPr>
          <p:cNvSpPr>
            <a:spLocks noGrp="1"/>
          </p:cNvSpPr>
          <p:nvPr>
            <p:ph type="body" sz="quarter" idx="11"/>
          </p:nvPr>
        </p:nvSpPr>
        <p:spPr>
          <a:xfrm>
            <a:off x="138546" y="602672"/>
            <a:ext cx="3845503" cy="4189334"/>
          </a:xfrm>
        </p:spPr>
        <p:txBody>
          <a:bodyPr/>
          <a:lstStyle/>
          <a:p>
            <a:pPr>
              <a:lnSpc>
                <a:spcPct val="100000"/>
              </a:lnSpc>
              <a:spcBef>
                <a:spcPts val="1200"/>
              </a:spcBef>
            </a:pPr>
            <a:r>
              <a:rPr lang="en-GB" sz="1800" dirty="0"/>
              <a:t>Meta-analysis included 34 cohort studies. </a:t>
            </a:r>
          </a:p>
          <a:p>
            <a:pPr>
              <a:lnSpc>
                <a:spcPct val="100000"/>
              </a:lnSpc>
              <a:spcBef>
                <a:spcPts val="1200"/>
              </a:spcBef>
            </a:pPr>
            <a:r>
              <a:rPr lang="en-GB" sz="1800" dirty="0"/>
              <a:t>33% reduced fall risk with each unit increase in walking speed.</a:t>
            </a:r>
          </a:p>
          <a:p>
            <a:pPr>
              <a:lnSpc>
                <a:spcPct val="100000"/>
              </a:lnSpc>
              <a:spcBef>
                <a:spcPts val="1200"/>
              </a:spcBef>
            </a:pPr>
            <a:r>
              <a:rPr lang="en-GB" sz="1800" dirty="0"/>
              <a:t>2% decrease with each unit increase in hand strength However, no significant effect on falls with appendicular lean mass. </a:t>
            </a:r>
          </a:p>
          <a:p>
            <a:pPr>
              <a:lnSpc>
                <a:spcPct val="100000"/>
              </a:lnSpc>
              <a:spcBef>
                <a:spcPts val="1200"/>
              </a:spcBef>
            </a:pPr>
            <a:r>
              <a:rPr lang="en-GB" sz="1800" dirty="0"/>
              <a:t>Only walking speed was causally associated with falls. Hand strength and appendicular lean mass showed no statistically significant causal effect on falls.</a:t>
            </a:r>
          </a:p>
          <a:p>
            <a:endParaRPr lang="en-GB" dirty="0"/>
          </a:p>
        </p:txBody>
      </p:sp>
      <p:pic>
        <p:nvPicPr>
          <p:cNvPr id="11" name="Picture 10">
            <a:extLst>
              <a:ext uri="{FF2B5EF4-FFF2-40B4-BE49-F238E27FC236}">
                <a16:creationId xmlns:a16="http://schemas.microsoft.com/office/drawing/2014/main" id="{214CC225-F125-ACE2-9922-E178F21AB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883" y="724803"/>
            <a:ext cx="4791571" cy="2952750"/>
          </a:xfrm>
          <a:prstGeom prst="rect">
            <a:avLst/>
          </a:prstGeom>
        </p:spPr>
      </p:pic>
      <p:sp>
        <p:nvSpPr>
          <p:cNvPr id="2" name="Speech Bubble: Oval 1">
            <a:extLst>
              <a:ext uri="{FF2B5EF4-FFF2-40B4-BE49-F238E27FC236}">
                <a16:creationId xmlns:a16="http://schemas.microsoft.com/office/drawing/2014/main" id="{5A8EC6CF-6D5F-9402-B3DA-A17BB0D46A68}"/>
              </a:ext>
            </a:extLst>
          </p:cNvPr>
          <p:cNvSpPr/>
          <p:nvPr/>
        </p:nvSpPr>
        <p:spPr>
          <a:xfrm>
            <a:off x="5159953" y="2571750"/>
            <a:ext cx="2609009" cy="1897878"/>
          </a:xfrm>
          <a:prstGeom prst="wedgeEllipseCallout">
            <a:avLst>
              <a:gd name="adj1" fmla="val -80087"/>
              <a:gd name="adj2" fmla="val 1688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FFFF00"/>
                </a:solidFill>
              </a:rPr>
              <a:t>Walking speed therefore important in exercise testing and prescription.</a:t>
            </a:r>
          </a:p>
        </p:txBody>
      </p:sp>
    </p:spTree>
    <p:extLst>
      <p:ext uri="{BB962C8B-B14F-4D97-AF65-F5344CB8AC3E}">
        <p14:creationId xmlns:p14="http://schemas.microsoft.com/office/powerpoint/2010/main" val="1448399858"/>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7A614-6146-F6AB-7ABC-3BCD18780101}"/>
              </a:ext>
            </a:extLst>
          </p:cNvPr>
          <p:cNvSpPr>
            <a:spLocks noGrp="1"/>
          </p:cNvSpPr>
          <p:nvPr>
            <p:ph type="title"/>
          </p:nvPr>
        </p:nvSpPr>
        <p:spPr>
          <a:xfrm>
            <a:off x="880274" y="287703"/>
            <a:ext cx="7886700" cy="540060"/>
          </a:xfrm>
        </p:spPr>
        <p:txBody>
          <a:bodyPr/>
          <a:lstStyle/>
          <a:p>
            <a:r>
              <a:rPr lang="en-GB" sz="3600" dirty="0">
                <a:solidFill>
                  <a:srgbClr val="0070C0"/>
                </a:solidFill>
              </a:rPr>
              <a:t>Overall benefits of PA in Older Adults</a:t>
            </a:r>
          </a:p>
        </p:txBody>
      </p:sp>
      <p:graphicFrame>
        <p:nvGraphicFramePr>
          <p:cNvPr id="4" name="Diagram 3">
            <a:extLst>
              <a:ext uri="{FF2B5EF4-FFF2-40B4-BE49-F238E27FC236}">
                <a16:creationId xmlns:a16="http://schemas.microsoft.com/office/drawing/2014/main" id="{9FDF27E7-317D-8B57-B742-601FA754633C}"/>
              </a:ext>
            </a:extLst>
          </p:cNvPr>
          <p:cNvGraphicFramePr/>
          <p:nvPr>
            <p:extLst>
              <p:ext uri="{D42A27DB-BD31-4B8C-83A1-F6EECF244321}">
                <p14:modId xmlns:p14="http://schemas.microsoft.com/office/powerpoint/2010/main" val="57365430"/>
              </p:ext>
            </p:extLst>
          </p:nvPr>
        </p:nvGraphicFramePr>
        <p:xfrm>
          <a:off x="2002665" y="1047750"/>
          <a:ext cx="45720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90675DE-6F96-6B08-CB19-5A78F75567A1}"/>
              </a:ext>
            </a:extLst>
          </p:cNvPr>
          <p:cNvSpPr txBox="1"/>
          <p:nvPr/>
        </p:nvSpPr>
        <p:spPr>
          <a:xfrm>
            <a:off x="5422006" y="4353949"/>
            <a:ext cx="2588653" cy="646331"/>
          </a:xfrm>
          <a:prstGeom prst="rect">
            <a:avLst/>
          </a:prstGeom>
          <a:noFill/>
        </p:spPr>
        <p:txBody>
          <a:bodyPr wrap="square" rtlCol="0">
            <a:spAutoFit/>
          </a:bodyPr>
          <a:lstStyle/>
          <a:p>
            <a:r>
              <a:rPr lang="en-GB" dirty="0"/>
              <a:t>Adapted from Liguori, 2022</a:t>
            </a:r>
          </a:p>
        </p:txBody>
      </p:sp>
    </p:spTree>
    <p:extLst>
      <p:ext uri="{BB962C8B-B14F-4D97-AF65-F5344CB8AC3E}">
        <p14:creationId xmlns:p14="http://schemas.microsoft.com/office/powerpoint/2010/main" val="1561314411"/>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AF14BDF-0ED8-C7FA-A21C-8EAE44C70E5B}"/>
              </a:ext>
            </a:extLst>
          </p:cNvPr>
          <p:cNvSpPr>
            <a:spLocks noGrp="1"/>
          </p:cNvSpPr>
          <p:nvPr>
            <p:ph type="body" sz="quarter" idx="10"/>
          </p:nvPr>
        </p:nvSpPr>
        <p:spPr>
          <a:xfrm>
            <a:off x="283336" y="445910"/>
            <a:ext cx="7284278" cy="476000"/>
          </a:xfrm>
        </p:spPr>
        <p:txBody>
          <a:bodyPr/>
          <a:lstStyle/>
          <a:p>
            <a:pPr algn="ctr"/>
            <a:r>
              <a:rPr lang="en-GB" sz="3200" dirty="0"/>
              <a:t>Benefits of PA for Elderly People</a:t>
            </a:r>
          </a:p>
        </p:txBody>
      </p:sp>
      <p:sp>
        <p:nvSpPr>
          <p:cNvPr id="6" name="Text Placeholder 5">
            <a:extLst>
              <a:ext uri="{FF2B5EF4-FFF2-40B4-BE49-F238E27FC236}">
                <a16:creationId xmlns:a16="http://schemas.microsoft.com/office/drawing/2014/main" id="{7266D3B7-AD0C-F931-05FA-D3F4ED9FDED5}"/>
              </a:ext>
            </a:extLst>
          </p:cNvPr>
          <p:cNvSpPr>
            <a:spLocks noGrp="1"/>
          </p:cNvSpPr>
          <p:nvPr>
            <p:ph type="body" sz="quarter" idx="11"/>
          </p:nvPr>
        </p:nvSpPr>
        <p:spPr>
          <a:xfrm>
            <a:off x="1156301" y="4243589"/>
            <a:ext cx="6726844" cy="535612"/>
          </a:xfrm>
        </p:spPr>
        <p:txBody>
          <a:bodyPr/>
          <a:lstStyle/>
          <a:p>
            <a:pPr>
              <a:lnSpc>
                <a:spcPct val="107000"/>
              </a:lnSpc>
              <a:spcAft>
                <a:spcPts val="800"/>
              </a:spcAft>
              <a:buNone/>
            </a:pPr>
            <a:r>
              <a:rPr lang="en-GB" sz="1600" b="1" dirty="0">
                <a:effectLst/>
                <a:latin typeface="Arial" panose="020B0604020202020204" pitchFamily="34" charset="0"/>
                <a:ea typeface="Aptos" panose="020B0004020202020204" pitchFamily="34" charset="0"/>
                <a:cs typeface="Times New Roman" panose="02020603050405020304" pitchFamily="18" charset="0"/>
              </a:rPr>
              <a:t>WHO- Promoting physical activity for older people: a toolkit for action ISBN 978-92-4-007664-8 (electronic version)-2023</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pic>
        <p:nvPicPr>
          <p:cNvPr id="7" name="Picture 6">
            <a:extLst>
              <a:ext uri="{FF2B5EF4-FFF2-40B4-BE49-F238E27FC236}">
                <a16:creationId xmlns:a16="http://schemas.microsoft.com/office/drawing/2014/main" id="{4E371685-F5A6-BF18-CF33-9DFE07CA8CAD}"/>
              </a:ext>
            </a:extLst>
          </p:cNvPr>
          <p:cNvPicPr>
            <a:picLocks noChangeAspect="1"/>
          </p:cNvPicPr>
          <p:nvPr/>
        </p:nvPicPr>
        <p:blipFill>
          <a:blip r:embed="rId2">
            <a:extLst>
              <a:ext uri="{28A0092B-C50C-407E-A947-70E740481C1C}">
                <a14:useLocalDpi xmlns:a14="http://schemas.microsoft.com/office/drawing/2010/main" val="0"/>
              </a:ext>
            </a:extLst>
          </a:blip>
          <a:srcRect t="15723"/>
          <a:stretch>
            <a:fillRect/>
          </a:stretch>
        </p:blipFill>
        <p:spPr bwMode="auto">
          <a:xfrm>
            <a:off x="701269" y="1264893"/>
            <a:ext cx="6998942" cy="2908345"/>
          </a:xfrm>
          <a:prstGeom prst="rect">
            <a:avLst/>
          </a:prstGeom>
          <a:noFill/>
          <a:ln>
            <a:noFill/>
          </a:ln>
        </p:spPr>
      </p:pic>
    </p:spTree>
    <p:extLst>
      <p:ext uri="{BB962C8B-B14F-4D97-AF65-F5344CB8AC3E}">
        <p14:creationId xmlns:p14="http://schemas.microsoft.com/office/powerpoint/2010/main" val="1852162074"/>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3FD852-30FE-E83F-CFED-47E0E8F47F59}"/>
              </a:ext>
            </a:extLst>
          </p:cNvPr>
          <p:cNvSpPr>
            <a:spLocks noGrp="1"/>
          </p:cNvSpPr>
          <p:nvPr>
            <p:ph type="body" sz="quarter" idx="10"/>
          </p:nvPr>
        </p:nvSpPr>
        <p:spPr/>
        <p:txBody>
          <a:bodyPr/>
          <a:lstStyle/>
          <a:p>
            <a:endParaRPr lang="en-GB" dirty="0"/>
          </a:p>
        </p:txBody>
      </p:sp>
      <p:sp>
        <p:nvSpPr>
          <p:cNvPr id="3" name="Text Placeholder 2">
            <a:extLst>
              <a:ext uri="{FF2B5EF4-FFF2-40B4-BE49-F238E27FC236}">
                <a16:creationId xmlns:a16="http://schemas.microsoft.com/office/drawing/2014/main" id="{A6005C3A-D9B7-1CD1-39C8-D5795CB6E98A}"/>
              </a:ext>
            </a:extLst>
          </p:cNvPr>
          <p:cNvSpPr>
            <a:spLocks noGrp="1"/>
          </p:cNvSpPr>
          <p:nvPr>
            <p:ph type="body" sz="quarter" idx="11"/>
          </p:nvPr>
        </p:nvSpPr>
        <p:spPr/>
        <p:txBody>
          <a:bodyPr/>
          <a:lstStyle/>
          <a:p>
            <a:pPr marL="0" indent="0">
              <a:buNone/>
            </a:pPr>
            <a:endParaRPr lang="en-GB" dirty="0"/>
          </a:p>
        </p:txBody>
      </p:sp>
      <p:pic>
        <p:nvPicPr>
          <p:cNvPr id="5" name="Picture 4">
            <a:extLst>
              <a:ext uri="{FF2B5EF4-FFF2-40B4-BE49-F238E27FC236}">
                <a16:creationId xmlns:a16="http://schemas.microsoft.com/office/drawing/2014/main" id="{73890AC2-5872-7964-C46E-F65330838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675"/>
            <a:ext cx="9144000" cy="5284816"/>
          </a:xfrm>
          <a:prstGeom prst="rect">
            <a:avLst/>
          </a:prstGeom>
        </p:spPr>
      </p:pic>
    </p:spTree>
    <p:extLst>
      <p:ext uri="{BB962C8B-B14F-4D97-AF65-F5344CB8AC3E}">
        <p14:creationId xmlns:p14="http://schemas.microsoft.com/office/powerpoint/2010/main" val="4093818895"/>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FD15D77-E0B7-93AE-FA89-9E80486800BB}"/>
              </a:ext>
            </a:extLst>
          </p:cNvPr>
          <p:cNvSpPr>
            <a:spLocks noGrp="1"/>
          </p:cNvSpPr>
          <p:nvPr>
            <p:ph type="body" sz="quarter" idx="10"/>
          </p:nvPr>
        </p:nvSpPr>
        <p:spPr/>
        <p:txBody>
          <a:bodyPr/>
          <a:lstStyle/>
          <a:p>
            <a:pPr>
              <a:lnSpc>
                <a:spcPct val="100000"/>
              </a:lnSpc>
              <a:spcBef>
                <a:spcPts val="0"/>
              </a:spcBef>
            </a:pPr>
            <a:r>
              <a:rPr lang="en-GB" sz="1800" b="1" dirty="0"/>
              <a:t>WHO guidelines physical activity &amp; sedentary behaviour (2023)</a:t>
            </a:r>
          </a:p>
        </p:txBody>
      </p:sp>
      <p:sp>
        <p:nvSpPr>
          <p:cNvPr id="8" name="Text Placeholder 7">
            <a:extLst>
              <a:ext uri="{FF2B5EF4-FFF2-40B4-BE49-F238E27FC236}">
                <a16:creationId xmlns:a16="http://schemas.microsoft.com/office/drawing/2014/main" id="{2F4DD55C-AA16-0500-2353-8828CC2D6266}"/>
              </a:ext>
            </a:extLst>
          </p:cNvPr>
          <p:cNvSpPr>
            <a:spLocks noGrp="1"/>
          </p:cNvSpPr>
          <p:nvPr>
            <p:ph type="body" sz="quarter" idx="11"/>
          </p:nvPr>
        </p:nvSpPr>
        <p:spPr/>
        <p:txBody>
          <a:bodyPr/>
          <a:lstStyle/>
          <a:p>
            <a:endParaRPr lang="en-GB"/>
          </a:p>
        </p:txBody>
      </p:sp>
      <p:pic>
        <p:nvPicPr>
          <p:cNvPr id="7" name="Picture 6">
            <a:extLst>
              <a:ext uri="{FF2B5EF4-FFF2-40B4-BE49-F238E27FC236}">
                <a16:creationId xmlns:a16="http://schemas.microsoft.com/office/drawing/2014/main" id="{5D2A43D0-6BFE-E3CA-45A9-98350FAE4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564" y="515155"/>
            <a:ext cx="7083380" cy="4324832"/>
          </a:xfrm>
          <a:prstGeom prst="rect">
            <a:avLst/>
          </a:prstGeom>
        </p:spPr>
      </p:pic>
    </p:spTree>
    <p:extLst>
      <p:ext uri="{BB962C8B-B14F-4D97-AF65-F5344CB8AC3E}">
        <p14:creationId xmlns:p14="http://schemas.microsoft.com/office/powerpoint/2010/main" val="3502382619"/>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2C0E97-CA4A-FB25-361D-0478F05001C5}"/>
              </a:ext>
            </a:extLst>
          </p:cNvPr>
          <p:cNvSpPr>
            <a:spLocks noGrp="1"/>
          </p:cNvSpPr>
          <p:nvPr>
            <p:ph type="body" sz="quarter" idx="10"/>
          </p:nvPr>
        </p:nvSpPr>
        <p:spPr>
          <a:xfrm>
            <a:off x="899594" y="49027"/>
            <a:ext cx="6668019" cy="476000"/>
          </a:xfrm>
        </p:spPr>
        <p:txBody>
          <a:bodyPr/>
          <a:lstStyle/>
          <a:p>
            <a:pPr algn="ctr"/>
            <a:r>
              <a:rPr lang="en-GB" sz="2000" b="1" dirty="0"/>
              <a:t>Benefits of PA for Elderly population</a:t>
            </a:r>
          </a:p>
        </p:txBody>
      </p:sp>
      <p:sp>
        <p:nvSpPr>
          <p:cNvPr id="3" name="Text Placeholder 2">
            <a:extLst>
              <a:ext uri="{FF2B5EF4-FFF2-40B4-BE49-F238E27FC236}">
                <a16:creationId xmlns:a16="http://schemas.microsoft.com/office/drawing/2014/main" id="{3CC0FAA4-1358-9087-8F59-542BC5887021}"/>
              </a:ext>
            </a:extLst>
          </p:cNvPr>
          <p:cNvSpPr>
            <a:spLocks noGrp="1"/>
          </p:cNvSpPr>
          <p:nvPr>
            <p:ph type="body" sz="quarter" idx="11"/>
          </p:nvPr>
        </p:nvSpPr>
        <p:spPr>
          <a:xfrm>
            <a:off x="135228" y="695460"/>
            <a:ext cx="8828468" cy="4320861"/>
          </a:xfrm>
        </p:spPr>
        <p:txBody>
          <a:bodyPr/>
          <a:lstStyle/>
          <a:p>
            <a:r>
              <a:rPr lang="en-GB" dirty="0"/>
              <a:t>Regular physical activity can help older people maintain and improve their mental health and cognitive ability, delay the onset of dementia, and reduce symptoms of depression and anxiety (WHO, 2019;2020;Livingston et al, 2017)</a:t>
            </a:r>
          </a:p>
          <a:p>
            <a:r>
              <a:rPr lang="en-GB" dirty="0"/>
              <a:t>It can also improve other functional abilities, including physical function and balance, thereby preventing falls and fall-related injuries (WHO, 2019;2020;Livingston et al, 2017).</a:t>
            </a:r>
          </a:p>
          <a:p>
            <a:r>
              <a:rPr lang="en-GB" dirty="0"/>
              <a:t>Being physically active also helps to prevent heart disease and cancer, and to prevent and manage chronic conditions such as type-2 diabetes and hypertension. Recent estimates show that being physically active could prevent 500 million new cases of noncommunicable diseases (NCDs) and mental health conditions, including depression and dementia (Santos, et al 2023) </a:t>
            </a:r>
          </a:p>
          <a:p>
            <a:r>
              <a:rPr lang="en-GB" dirty="0"/>
              <a:t>Just as importantly, physical activity brings social benefits, as being active offers the chance to build relationships and strengthen networks around an older person, enabling their continued contribution to society (WHO, 2023).</a:t>
            </a:r>
          </a:p>
          <a:p>
            <a:endParaRPr lang="en-GB" dirty="0"/>
          </a:p>
          <a:p>
            <a:pPr marL="0" indent="0">
              <a:buNone/>
            </a:pPr>
            <a:r>
              <a:rPr lang="en-GB" b="1" dirty="0">
                <a:solidFill>
                  <a:srgbClr val="FF0000"/>
                </a:solidFill>
              </a:rPr>
              <a:t>TASK: CAN YOU THINK OF ANY OTHER BENEFITS OF PA FOR ELDERLY PEOPLE? What about social benefits, mental health? </a:t>
            </a:r>
          </a:p>
        </p:txBody>
      </p:sp>
    </p:spTree>
    <p:extLst>
      <p:ext uri="{BB962C8B-B14F-4D97-AF65-F5344CB8AC3E}">
        <p14:creationId xmlns:p14="http://schemas.microsoft.com/office/powerpoint/2010/main" val="27720824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B465C6E-1817-651F-B923-E78C34641538}"/>
              </a:ext>
            </a:extLst>
          </p:cNvPr>
          <p:cNvSpPr>
            <a:spLocks noGrp="1"/>
          </p:cNvSpPr>
          <p:nvPr>
            <p:ph type="body" sz="quarter" idx="10"/>
          </p:nvPr>
        </p:nvSpPr>
        <p:spPr>
          <a:prstGeom prst="rect">
            <a:avLst/>
          </a:prstGeom>
        </p:spPr>
        <p:txBody>
          <a:bodyPr/>
          <a:lstStyle/>
          <a:p>
            <a:pPr marL="0" indent="0">
              <a:buNone/>
            </a:pPr>
            <a:r>
              <a:rPr lang="en-GB" dirty="0"/>
              <a:t> </a:t>
            </a:r>
          </a:p>
        </p:txBody>
      </p:sp>
      <p:sp>
        <p:nvSpPr>
          <p:cNvPr id="13" name="Text Placeholder 12">
            <a:extLst>
              <a:ext uri="{FF2B5EF4-FFF2-40B4-BE49-F238E27FC236}">
                <a16:creationId xmlns:a16="http://schemas.microsoft.com/office/drawing/2014/main" id="{76A44FF2-D1D4-8282-CF78-EDAAA4609C1F}"/>
              </a:ext>
            </a:extLst>
          </p:cNvPr>
          <p:cNvSpPr>
            <a:spLocks noGrp="1"/>
          </p:cNvSpPr>
          <p:nvPr>
            <p:ph type="body" sz="quarter" idx="11"/>
          </p:nvPr>
        </p:nvSpPr>
        <p:spPr>
          <a:xfrm>
            <a:off x="152144" y="4064775"/>
            <a:ext cx="8528215" cy="2287662"/>
          </a:xfrm>
        </p:spPr>
        <p:txBody>
          <a:bodyPr/>
          <a:lstStyle/>
          <a:p>
            <a:pPr marL="0" lvl="0" indent="0">
              <a:buNone/>
              <a:defRPr/>
            </a:pPr>
            <a:r>
              <a:rPr lang="en-GB" sz="1800" dirty="0">
                <a:solidFill>
                  <a:srgbClr val="FF0000"/>
                </a:solidFill>
              </a:rPr>
              <a:t>HOWEVER</a:t>
            </a:r>
            <a:r>
              <a:rPr lang="en-GB" sz="1800" dirty="0">
                <a:solidFill>
                  <a:prstClr val="black"/>
                </a:solidFill>
              </a:rPr>
              <a:t>, </a:t>
            </a:r>
            <a:r>
              <a:rPr kumimoji="0" lang="en-GB" sz="1800" b="0" i="0" u="none" strike="noStrike" kern="1200" cap="none" spc="0" normalizeH="0" baseline="0" noProof="0" dirty="0">
                <a:ln>
                  <a:noFill/>
                </a:ln>
                <a:solidFill>
                  <a:prstClr val="black"/>
                </a:solidFill>
                <a:effectLst/>
                <a:uLnTx/>
                <a:uFillTx/>
              </a:rPr>
              <a:t>around a quarter of all adults – and over 40% of people aged over 70 years (38% of men and 48% of women) – do not do enough physical activity to maintain and improve their physical and mental health (</a:t>
            </a:r>
            <a:r>
              <a:rPr lang="en-GB" sz="1800" dirty="0">
                <a:latin typeface="Tahoma "/>
              </a:rPr>
              <a:t>Bauman et al, 2016, WHO 2023</a:t>
            </a:r>
            <a:r>
              <a:rPr kumimoji="0" lang="en-GB" sz="1800" b="0" i="0" u="none" strike="noStrike" kern="1200" cap="none" spc="0" normalizeH="0" baseline="0" noProof="0" dirty="0">
                <a:ln>
                  <a:noFill/>
                </a:ln>
                <a:solidFill>
                  <a:prstClr val="black"/>
                </a:solidFill>
                <a:effectLst/>
                <a:uLnTx/>
                <a:uFillTx/>
              </a:rPr>
              <a:t>). </a:t>
            </a:r>
          </a:p>
          <a:p>
            <a:pPr marL="0" indent="0">
              <a:buNone/>
            </a:pPr>
            <a:endParaRPr lang="en-GB" dirty="0"/>
          </a:p>
        </p:txBody>
      </p:sp>
      <p:sp>
        <p:nvSpPr>
          <p:cNvPr id="15" name="Rectangle 1">
            <a:extLst>
              <a:ext uri="{FF2B5EF4-FFF2-40B4-BE49-F238E27FC236}">
                <a16:creationId xmlns:a16="http://schemas.microsoft.com/office/drawing/2014/main" id="{C2A358C2-893F-B9F7-25DB-430256DEDD15}"/>
              </a:ext>
            </a:extLst>
          </p:cNvPr>
          <p:cNvSpPr>
            <a:spLocks noGrp="1" noChangeArrowheads="1"/>
          </p:cNvSpPr>
          <p:nvPr>
            <p:ph type="body" sz="quarter" idx="12"/>
          </p:nvPr>
        </p:nvSpPr>
        <p:spPr bwMode="auto">
          <a:xfrm>
            <a:off x="5537488" y="3573855"/>
            <a:ext cx="184731"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effectLst/>
              <a:latin typeface="Tahoma "/>
            </a:endParaRPr>
          </a:p>
        </p:txBody>
      </p:sp>
      <p:pic>
        <p:nvPicPr>
          <p:cNvPr id="17" name="Picture 16">
            <a:extLst>
              <a:ext uri="{FF2B5EF4-FFF2-40B4-BE49-F238E27FC236}">
                <a16:creationId xmlns:a16="http://schemas.microsoft.com/office/drawing/2014/main" id="{3CE322DB-9E19-4601-54F3-60EA6B2CE5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5752" y="576093"/>
            <a:ext cx="6929128" cy="3350944"/>
          </a:xfrm>
          <a:prstGeom prst="rect">
            <a:avLst/>
          </a:prstGeom>
        </p:spPr>
      </p:pic>
      <p:sp>
        <p:nvSpPr>
          <p:cNvPr id="20" name="TextBox 19">
            <a:extLst>
              <a:ext uri="{FF2B5EF4-FFF2-40B4-BE49-F238E27FC236}">
                <a16:creationId xmlns:a16="http://schemas.microsoft.com/office/drawing/2014/main" id="{81965B9A-3569-7A6B-4CAA-E939B72878DE}"/>
              </a:ext>
            </a:extLst>
          </p:cNvPr>
          <p:cNvSpPr txBox="1"/>
          <p:nvPr/>
        </p:nvSpPr>
        <p:spPr>
          <a:xfrm>
            <a:off x="6858000" y="3699193"/>
            <a:ext cx="4572000" cy="21544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bg1"/>
                </a:solidFill>
                <a:effectLst/>
                <a:latin typeface="Tahoma "/>
              </a:rPr>
              <a:t>Photo by </a:t>
            </a:r>
            <a:r>
              <a:rPr kumimoji="0" lang="en-US" altLang="en-US" sz="800" b="0" i="0" u="none" strike="noStrike" cap="none" normalizeH="0" baseline="0" dirty="0">
                <a:ln>
                  <a:noFill/>
                </a:ln>
                <a:solidFill>
                  <a:schemeClr val="bg1"/>
                </a:solidFill>
                <a:effectLst/>
                <a:latin typeface="Tahoma "/>
                <a:hlinkClick r:id="rId3">
                  <a:extLst>
                    <a:ext uri="{A12FA001-AC4F-418D-AE19-62706E023703}">
                      <ahyp:hlinkClr xmlns:ahyp="http://schemas.microsoft.com/office/drawing/2018/hyperlinkcolor" val="tx"/>
                    </a:ext>
                  </a:extLst>
                </a:hlinkClick>
              </a:rPr>
              <a:t>Pavel </a:t>
            </a:r>
            <a:r>
              <a:rPr kumimoji="0" lang="en-US" altLang="en-US" sz="800" b="0" i="0" u="none" strike="noStrike" cap="none" normalizeH="0" baseline="0" dirty="0" err="1">
                <a:ln>
                  <a:noFill/>
                </a:ln>
                <a:solidFill>
                  <a:schemeClr val="bg1"/>
                </a:solidFill>
                <a:effectLst/>
                <a:latin typeface="Tahoma "/>
                <a:hlinkClick r:id="rId3">
                  <a:extLst>
                    <a:ext uri="{A12FA001-AC4F-418D-AE19-62706E023703}">
                      <ahyp:hlinkClr xmlns:ahyp="http://schemas.microsoft.com/office/drawing/2018/hyperlinkcolor" val="tx"/>
                    </a:ext>
                  </a:extLst>
                </a:hlinkClick>
              </a:rPr>
              <a:t>Boltov</a:t>
            </a:r>
            <a:r>
              <a:rPr kumimoji="0" lang="en-US" altLang="en-US" sz="800" b="0" i="0" u="none" strike="noStrike" cap="none" normalizeH="0" baseline="0" dirty="0">
                <a:ln>
                  <a:noFill/>
                </a:ln>
                <a:solidFill>
                  <a:schemeClr val="bg1"/>
                </a:solidFill>
                <a:effectLst/>
                <a:latin typeface="Tahoma "/>
              </a:rPr>
              <a:t> on </a:t>
            </a:r>
            <a:r>
              <a:rPr kumimoji="0" lang="en-US" altLang="en-US" sz="800" b="0" i="0" u="none" strike="noStrike" cap="none" normalizeH="0" baseline="0" dirty="0" err="1">
                <a:ln>
                  <a:noFill/>
                </a:ln>
                <a:solidFill>
                  <a:schemeClr val="bg1"/>
                </a:solidFill>
                <a:effectLst/>
                <a:latin typeface="Tahoma "/>
                <a:hlinkClick r:id="rId4">
                  <a:extLst>
                    <a:ext uri="{A12FA001-AC4F-418D-AE19-62706E023703}">
                      <ahyp:hlinkClr xmlns:ahyp="http://schemas.microsoft.com/office/drawing/2018/hyperlinkcolor" val="tx"/>
                    </a:ext>
                  </a:extLst>
                </a:hlinkClick>
              </a:rPr>
              <a:t>Unsplash</a:t>
            </a:r>
            <a:r>
              <a:rPr kumimoji="0" lang="en-US" altLang="en-US" sz="800" b="0" i="0" u="none" strike="noStrike" cap="none" normalizeH="0" baseline="0" dirty="0">
                <a:ln>
                  <a:noFill/>
                </a:ln>
                <a:solidFill>
                  <a:schemeClr val="bg1"/>
                </a:solidFill>
                <a:effectLst/>
                <a:latin typeface="Tahoma "/>
              </a:rPr>
              <a:t> </a:t>
            </a:r>
          </a:p>
        </p:txBody>
      </p:sp>
    </p:spTree>
    <p:extLst>
      <p:ext uri="{BB962C8B-B14F-4D97-AF65-F5344CB8AC3E}">
        <p14:creationId xmlns:p14="http://schemas.microsoft.com/office/powerpoint/2010/main" val="3913300154"/>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42C3367-5153-C809-3D9D-4089FF8C1AD2}"/>
              </a:ext>
            </a:extLst>
          </p:cNvPr>
          <p:cNvGraphicFramePr/>
          <p:nvPr>
            <p:extLst>
              <p:ext uri="{D42A27DB-BD31-4B8C-83A1-F6EECF244321}">
                <p14:modId xmlns:p14="http://schemas.microsoft.com/office/powerpoint/2010/main" val="4089402422"/>
              </p:ext>
            </p:extLst>
          </p:nvPr>
        </p:nvGraphicFramePr>
        <p:xfrm>
          <a:off x="233756" y="1100031"/>
          <a:ext cx="8621486" cy="3632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Text Placeholder 11">
            <a:extLst>
              <a:ext uri="{FF2B5EF4-FFF2-40B4-BE49-F238E27FC236}">
                <a16:creationId xmlns:a16="http://schemas.microsoft.com/office/drawing/2014/main" id="{31630D68-1AAD-5618-9B3A-D05A6EB6AD52}"/>
              </a:ext>
            </a:extLst>
          </p:cNvPr>
          <p:cNvSpPr>
            <a:spLocks noGrp="1"/>
          </p:cNvSpPr>
          <p:nvPr>
            <p:ph type="body" sz="quarter" idx="10"/>
          </p:nvPr>
        </p:nvSpPr>
        <p:spPr>
          <a:xfrm>
            <a:off x="624626" y="231820"/>
            <a:ext cx="6942988" cy="956023"/>
          </a:xfrm>
        </p:spPr>
        <p:txBody>
          <a:bodyPr/>
          <a:lstStyle/>
          <a:p>
            <a:pPr algn="ctr">
              <a:lnSpc>
                <a:spcPct val="100000"/>
              </a:lnSpc>
              <a:spcBef>
                <a:spcPts val="0"/>
              </a:spcBef>
            </a:pPr>
            <a:r>
              <a:rPr lang="en-GB" sz="2800" dirty="0"/>
              <a:t>Exercise prescription and elderly population common medical conditions. </a:t>
            </a:r>
          </a:p>
        </p:txBody>
      </p:sp>
      <p:sp>
        <p:nvSpPr>
          <p:cNvPr id="13" name="Text Placeholder 12">
            <a:extLst>
              <a:ext uri="{FF2B5EF4-FFF2-40B4-BE49-F238E27FC236}">
                <a16:creationId xmlns:a16="http://schemas.microsoft.com/office/drawing/2014/main" id="{3BB710DA-6B14-E16D-3E17-4EAB593ADA69}"/>
              </a:ext>
            </a:extLst>
          </p:cNvPr>
          <p:cNvSpPr>
            <a:spLocks noGrp="1"/>
          </p:cNvSpPr>
          <p:nvPr>
            <p:ph type="body" sz="quarter" idx="11"/>
          </p:nvPr>
        </p:nvSpPr>
        <p:spPr>
          <a:xfrm>
            <a:off x="7220" y="5143500"/>
            <a:ext cx="8264236" cy="3322750"/>
          </a:xfrm>
        </p:spPr>
        <p:txBody>
          <a:bodyPr/>
          <a:lstStyle/>
          <a:p>
            <a:pPr marL="0" indent="0">
              <a:buNone/>
            </a:pPr>
            <a:endParaRPr lang="en-GB" dirty="0">
              <a:solidFill>
                <a:srgbClr val="FFFF00"/>
              </a:solidFill>
            </a:endParaRPr>
          </a:p>
        </p:txBody>
      </p:sp>
    </p:spTree>
    <p:extLst>
      <p:ext uri="{BB962C8B-B14F-4D97-AF65-F5344CB8AC3E}">
        <p14:creationId xmlns:p14="http://schemas.microsoft.com/office/powerpoint/2010/main" val="4071132809"/>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C668790-23B8-9330-D472-60347B0D0D0D}"/>
              </a:ext>
            </a:extLst>
          </p:cNvPr>
          <p:cNvSpPr>
            <a:spLocks noGrp="1"/>
          </p:cNvSpPr>
          <p:nvPr>
            <p:ph type="body" sz="quarter" idx="11"/>
          </p:nvPr>
        </p:nvSpPr>
        <p:spPr>
          <a:xfrm>
            <a:off x="429700" y="870561"/>
            <a:ext cx="4479183" cy="3402378"/>
          </a:xfrm>
        </p:spPr>
        <p:txBody>
          <a:bodyPr/>
          <a:lstStyle/>
          <a:p>
            <a:pPr>
              <a:lnSpc>
                <a:spcPts val="2400"/>
              </a:lnSpc>
            </a:pPr>
            <a:r>
              <a:rPr lang="en-GB" sz="1800" dirty="0"/>
              <a:t>In defining physical frailty usually includes measurements of handgrip strength and gait speed. Consistently, physical performance measures, as gait speed, Timed Up-and-Go (TUG) test, and the Short Physical Performance Battery (SPPB) are useful instruments for the screening of frailty in the general population (Lee, Lee and Yang, 2020). </a:t>
            </a:r>
          </a:p>
          <a:p>
            <a:pPr>
              <a:lnSpc>
                <a:spcPts val="2400"/>
              </a:lnSpc>
            </a:pPr>
            <a:r>
              <a:rPr lang="en-GB" sz="1800" b="1" dirty="0">
                <a:solidFill>
                  <a:srgbClr val="FF0000"/>
                </a:solidFill>
              </a:rPr>
              <a:t>We will cover in Physiological/Physical Performance  Testing Session.</a:t>
            </a:r>
          </a:p>
        </p:txBody>
      </p:sp>
      <p:sp>
        <p:nvSpPr>
          <p:cNvPr id="4" name="Text Placeholder 3">
            <a:extLst>
              <a:ext uri="{FF2B5EF4-FFF2-40B4-BE49-F238E27FC236}">
                <a16:creationId xmlns:a16="http://schemas.microsoft.com/office/drawing/2014/main" id="{60E08D43-9901-9CBC-18EA-0280E51BFC85}"/>
              </a:ext>
            </a:extLst>
          </p:cNvPr>
          <p:cNvSpPr>
            <a:spLocks noGrp="1"/>
          </p:cNvSpPr>
          <p:nvPr>
            <p:ph type="body" sz="quarter" idx="10"/>
          </p:nvPr>
        </p:nvSpPr>
        <p:spPr>
          <a:xfrm>
            <a:off x="926474" y="151049"/>
            <a:ext cx="6515621" cy="484530"/>
          </a:xfrm>
        </p:spPr>
        <p:txBody>
          <a:bodyPr/>
          <a:lstStyle/>
          <a:p>
            <a:r>
              <a:rPr lang="en-GB" dirty="0"/>
              <a:t>Defining Physical Frailty</a:t>
            </a:r>
          </a:p>
        </p:txBody>
      </p:sp>
      <p:pic>
        <p:nvPicPr>
          <p:cNvPr id="2" name="Chart Placeholder 1">
            <a:extLst>
              <a:ext uri="{FF2B5EF4-FFF2-40B4-BE49-F238E27FC236}">
                <a16:creationId xmlns:a16="http://schemas.microsoft.com/office/drawing/2014/main" id="{696BFBC8-08B4-A7BA-471E-C549216474BB}"/>
              </a:ext>
            </a:extLst>
          </p:cNvPr>
          <p:cNvPicPr>
            <a:picLocks noGrp="1" noChangeAspect="1"/>
          </p:cNvPicPr>
          <p:nvPr>
            <p:ph type="chart" sz="quarter" idx="12"/>
          </p:nvPr>
        </p:nvPicPr>
        <p:blipFill>
          <a:blip r:embed="rId2"/>
          <a:stretch>
            <a:fillRect/>
          </a:stretch>
        </p:blipFill>
        <p:spPr>
          <a:xfrm>
            <a:off x="5046388" y="1072529"/>
            <a:ext cx="3506346" cy="2668003"/>
          </a:xfrm>
          <a:prstGeom prst="rect">
            <a:avLst/>
          </a:prstGeom>
        </p:spPr>
      </p:pic>
    </p:spTree>
    <p:extLst>
      <p:ext uri="{BB962C8B-B14F-4D97-AF65-F5344CB8AC3E}">
        <p14:creationId xmlns:p14="http://schemas.microsoft.com/office/powerpoint/2010/main" val="3575667031"/>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3C5130-B97D-FD53-0ABE-B7D651D921EE}"/>
              </a:ext>
            </a:extLst>
          </p:cNvPr>
          <p:cNvSpPr>
            <a:spLocks noGrp="1"/>
          </p:cNvSpPr>
          <p:nvPr>
            <p:ph type="body" sz="quarter" idx="11"/>
          </p:nvPr>
        </p:nvSpPr>
        <p:spPr>
          <a:xfrm>
            <a:off x="-1" y="1402166"/>
            <a:ext cx="5397023" cy="3402378"/>
          </a:xfrm>
        </p:spPr>
        <p:txBody>
          <a:bodyPr/>
          <a:lstStyle/>
          <a:p>
            <a:pPr marL="285750" indent="-285750">
              <a:buFont typeface="Arial" panose="020B0604020202020204" pitchFamily="34" charset="0"/>
              <a:buChar char="•"/>
            </a:pPr>
            <a:r>
              <a:rPr lang="en-GB" sz="1800" dirty="0"/>
              <a:t>Several studies that have focused on combined interventions of nutrition and exercise to improve physical performance in pre-frail and frail older adults have shown promising results, with exercise appearing to be an essential component for the maintenance of independence in people with frailty (</a:t>
            </a:r>
            <a:r>
              <a:rPr lang="en-GB" sz="1800" dirty="0">
                <a:solidFill>
                  <a:srgbClr val="020621"/>
                </a:solidFill>
              </a:rPr>
              <a:t>Kidd et al., 2019)</a:t>
            </a:r>
            <a:endParaRPr lang="en-GB" sz="1800" baseline="30000" dirty="0"/>
          </a:p>
          <a:p>
            <a:endParaRPr lang="en-GB" sz="1800" dirty="0"/>
          </a:p>
          <a:p>
            <a:pPr marL="285750" indent="-285750">
              <a:buFont typeface="Arial" panose="020B0604020202020204" pitchFamily="34" charset="0"/>
              <a:buChar char="•"/>
            </a:pPr>
            <a:r>
              <a:rPr lang="en-GB" sz="1800" dirty="0"/>
              <a:t>Combining physical activity, nutrition, and social support and assessing which components are most effective in reducing frailty might add to the understanding of whether and how frailty, physical functioning, and quality of life in older people can be impacted (Drewnowski and Evans, 2001)</a:t>
            </a:r>
          </a:p>
        </p:txBody>
      </p:sp>
      <p:sp>
        <p:nvSpPr>
          <p:cNvPr id="3" name="Text Placeholder 2">
            <a:extLst>
              <a:ext uri="{FF2B5EF4-FFF2-40B4-BE49-F238E27FC236}">
                <a16:creationId xmlns:a16="http://schemas.microsoft.com/office/drawing/2014/main" id="{FBA7769D-B392-AA5F-ADFD-71BD834EF526}"/>
              </a:ext>
            </a:extLst>
          </p:cNvPr>
          <p:cNvSpPr>
            <a:spLocks noGrp="1"/>
          </p:cNvSpPr>
          <p:nvPr>
            <p:ph type="body" sz="quarter" idx="10"/>
          </p:nvPr>
        </p:nvSpPr>
        <p:spPr>
          <a:xfrm>
            <a:off x="577517" y="700088"/>
            <a:ext cx="6837078" cy="484530"/>
          </a:xfrm>
        </p:spPr>
        <p:txBody>
          <a:bodyPr/>
          <a:lstStyle/>
          <a:p>
            <a:r>
              <a:rPr lang="en-GB" dirty="0"/>
              <a:t>Exercise and </a:t>
            </a:r>
            <a:r>
              <a:rPr lang="en-GB" dirty="0" err="1"/>
              <a:t>fraility</a:t>
            </a:r>
            <a:endParaRPr lang="en-GB" dirty="0"/>
          </a:p>
        </p:txBody>
      </p:sp>
      <p:pic>
        <p:nvPicPr>
          <p:cNvPr id="5" name="Chart Placeholder 4">
            <a:extLst>
              <a:ext uri="{FF2B5EF4-FFF2-40B4-BE49-F238E27FC236}">
                <a16:creationId xmlns:a16="http://schemas.microsoft.com/office/drawing/2014/main" id="{F92B5A6D-D89F-F099-CFB3-C1CB3CE3FD99}"/>
              </a:ext>
            </a:extLst>
          </p:cNvPr>
          <p:cNvPicPr>
            <a:picLocks noGrp="1" noChangeAspect="1"/>
          </p:cNvPicPr>
          <p:nvPr>
            <p:ph type="chart" sz="quarter" idx="12"/>
          </p:nvPr>
        </p:nvPicPr>
        <p:blipFill>
          <a:blip r:embed="rId2"/>
          <a:stretch>
            <a:fillRect/>
          </a:stretch>
        </p:blipFill>
        <p:spPr>
          <a:xfrm>
            <a:off x="5575777" y="1622543"/>
            <a:ext cx="3499470" cy="2236477"/>
          </a:xfrm>
          <a:prstGeom prst="rect">
            <a:avLst/>
          </a:prstGeom>
        </p:spPr>
      </p:pic>
    </p:spTree>
    <p:extLst>
      <p:ext uri="{BB962C8B-B14F-4D97-AF65-F5344CB8AC3E}">
        <p14:creationId xmlns:p14="http://schemas.microsoft.com/office/powerpoint/2010/main" val="351602069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0D38F0-A53E-0F37-B0F4-D8B59D9C19D9}"/>
              </a:ext>
            </a:extLst>
          </p:cNvPr>
          <p:cNvSpPr>
            <a:spLocks noGrp="1"/>
          </p:cNvSpPr>
          <p:nvPr>
            <p:ph type="body" sz="quarter" idx="10"/>
          </p:nvPr>
        </p:nvSpPr>
        <p:spPr>
          <a:xfrm>
            <a:off x="437883" y="391262"/>
            <a:ext cx="7463306" cy="488301"/>
          </a:xfrm>
        </p:spPr>
        <p:txBody>
          <a:bodyPr/>
          <a:lstStyle/>
          <a:p>
            <a:r>
              <a:rPr lang="en-GB" sz="3200" dirty="0"/>
              <a:t>      Otago Exercise Programme (OEP)</a:t>
            </a:r>
          </a:p>
        </p:txBody>
      </p:sp>
      <p:sp>
        <p:nvSpPr>
          <p:cNvPr id="22" name="Text Placeholder 21">
            <a:extLst>
              <a:ext uri="{FF2B5EF4-FFF2-40B4-BE49-F238E27FC236}">
                <a16:creationId xmlns:a16="http://schemas.microsoft.com/office/drawing/2014/main" id="{31F0B8E7-C032-A316-F329-D2BD77262BFC}"/>
              </a:ext>
            </a:extLst>
          </p:cNvPr>
          <p:cNvSpPr>
            <a:spLocks noGrp="1"/>
          </p:cNvSpPr>
          <p:nvPr>
            <p:ph type="body" sz="quarter" idx="11"/>
          </p:nvPr>
        </p:nvSpPr>
        <p:spPr>
          <a:xfrm>
            <a:off x="270456" y="1102936"/>
            <a:ext cx="8281116" cy="3694444"/>
          </a:xfrm>
        </p:spPr>
        <p:txBody>
          <a:bodyPr/>
          <a:lstStyle/>
          <a:p>
            <a:r>
              <a:rPr lang="en-GB" dirty="0"/>
              <a:t>Previous research has shown that poor </a:t>
            </a:r>
            <a:r>
              <a:rPr lang="en-GB" b="1" dirty="0"/>
              <a:t>strength </a:t>
            </a:r>
            <a:r>
              <a:rPr lang="en-GB" dirty="0"/>
              <a:t>and </a:t>
            </a:r>
            <a:r>
              <a:rPr lang="en-GB" b="1" dirty="0"/>
              <a:t>balance</a:t>
            </a:r>
            <a:r>
              <a:rPr lang="en-GB" dirty="0"/>
              <a:t> are risk factors for falls and injuries in older people and that these exercise types/components be improved by specific exercises (Tinetti et al., 1988, Campbell et al.,1989)           </a:t>
            </a:r>
          </a:p>
          <a:p>
            <a:r>
              <a:rPr lang="en-GB" dirty="0"/>
              <a:t>The OEP a set of </a:t>
            </a:r>
            <a:r>
              <a:rPr lang="en-GB" b="1" dirty="0"/>
              <a:t>leg muscle strengthening </a:t>
            </a:r>
            <a:r>
              <a:rPr lang="en-GB" dirty="0"/>
              <a:t>and </a:t>
            </a:r>
            <a:r>
              <a:rPr lang="en-GB" b="1" dirty="0"/>
              <a:t>balance retraining </a:t>
            </a:r>
            <a:r>
              <a:rPr lang="en-GB" dirty="0"/>
              <a:t>exercises designed specifically to prevent falls. It is individually prescribed and delivered at home by a research physiotherapist and trained nurses from a community home health service and primary healthcare practices. Secondary outcome it was found to reduce MSK and hip/knee arthritic pain. </a:t>
            </a:r>
          </a:p>
          <a:p>
            <a:r>
              <a:rPr lang="en-GB" dirty="0"/>
              <a:t>*Four RCTs assessed whether the OEP reduced falls and injuries in community-living older people. 1016 women and men aged 65 to 97 were recruited, with falls and injuries reduced by 35%. </a:t>
            </a:r>
          </a:p>
          <a:p>
            <a:pPr marL="0" indent="0">
              <a:buNone/>
            </a:pPr>
            <a:r>
              <a:rPr lang="en-GB" sz="1200" i="1" dirty="0"/>
              <a:t>    *Campbell et al.,1997;1999;Robertson et al., 2001; Robertson et al., 2001.</a:t>
            </a:r>
          </a:p>
        </p:txBody>
      </p:sp>
    </p:spTree>
    <p:extLst>
      <p:ext uri="{BB962C8B-B14F-4D97-AF65-F5344CB8AC3E}">
        <p14:creationId xmlns:p14="http://schemas.microsoft.com/office/powerpoint/2010/main" val="3348143390"/>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882D7A6-37B2-9941-A5A4-43E4E40BF221}"/>
              </a:ext>
            </a:extLst>
          </p:cNvPr>
          <p:cNvSpPr>
            <a:spLocks noGrp="1"/>
          </p:cNvSpPr>
          <p:nvPr>
            <p:ph type="body" sz="quarter" idx="10"/>
          </p:nvPr>
        </p:nvSpPr>
        <p:spPr>
          <a:xfrm>
            <a:off x="433137" y="141011"/>
            <a:ext cx="7020176" cy="484530"/>
          </a:xfrm>
        </p:spPr>
        <p:txBody>
          <a:bodyPr/>
          <a:lstStyle/>
          <a:p>
            <a:r>
              <a:rPr lang="en-GB" dirty="0"/>
              <a:t>Otago Exercise Programme (OEP)</a:t>
            </a:r>
          </a:p>
        </p:txBody>
      </p:sp>
      <p:sp>
        <p:nvSpPr>
          <p:cNvPr id="7" name="Text Placeholder 6">
            <a:extLst>
              <a:ext uri="{FF2B5EF4-FFF2-40B4-BE49-F238E27FC236}">
                <a16:creationId xmlns:a16="http://schemas.microsoft.com/office/drawing/2014/main" id="{F5C4AF19-6A90-4273-136A-09288CAE3F93}"/>
              </a:ext>
            </a:extLst>
          </p:cNvPr>
          <p:cNvSpPr>
            <a:spLocks noGrp="1"/>
          </p:cNvSpPr>
          <p:nvPr>
            <p:ph type="body" sz="quarter" idx="11"/>
          </p:nvPr>
        </p:nvSpPr>
        <p:spPr>
          <a:xfrm>
            <a:off x="206062" y="1126902"/>
            <a:ext cx="4716573" cy="3633322"/>
          </a:xfrm>
        </p:spPr>
        <p:txBody>
          <a:bodyPr/>
          <a:lstStyle/>
          <a:p>
            <a:pPr lvl="0"/>
            <a:r>
              <a:rPr lang="en-GB" sz="1800" dirty="0"/>
              <a:t>The OEP starts with the first home visit where the physiotherapist will discuss general information and goals of the program with the patient and collect relevant clinical history information. Additionally, an intake assessment of balance and strength is performed, with the </a:t>
            </a:r>
            <a:r>
              <a:rPr lang="en-GB" sz="1800" dirty="0">
                <a:hlinkClick r:id="rId2" tooltip="30 Seconds Sit To Stand Test"/>
              </a:rPr>
              <a:t>30 Seconds Sit To Stand Test</a:t>
            </a:r>
            <a:r>
              <a:rPr lang="en-GB" sz="1800" dirty="0"/>
              <a:t> and </a:t>
            </a:r>
            <a:r>
              <a:rPr lang="en-GB" sz="1800" dirty="0">
                <a:hlinkClick r:id="rId3" tooltip="The 4-Stage Balance Test"/>
              </a:rPr>
              <a:t>The 4-Stage Balance Test</a:t>
            </a:r>
            <a:r>
              <a:rPr lang="en-GB" sz="1800" dirty="0"/>
              <a:t> </a:t>
            </a:r>
            <a:r>
              <a:rPr kumimoji="0" lang="en-GB" sz="1800" b="0" i="0" u="none" strike="noStrike" kern="1200" cap="none" spc="0" normalizeH="0" baseline="0" noProof="0" dirty="0">
                <a:ln>
                  <a:noFill/>
                </a:ln>
                <a:solidFill>
                  <a:prstClr val="black"/>
                </a:solidFill>
                <a:effectLst/>
                <a:uLnTx/>
                <a:uFillTx/>
              </a:rPr>
              <a:t>Campbell et al, 2003).</a:t>
            </a:r>
          </a:p>
          <a:p>
            <a:pPr lvl="0"/>
            <a:r>
              <a:rPr lang="en-GB" sz="1800" dirty="0"/>
              <a:t>Additional home visits and follow-up phone calls are performed during the program by the physiotherapist with the aim of encouraging adherence(Sherrington et al, 2018)      </a:t>
            </a:r>
          </a:p>
          <a:p>
            <a:endParaRPr lang="en-GB" dirty="0"/>
          </a:p>
        </p:txBody>
      </p:sp>
      <p:pic>
        <p:nvPicPr>
          <p:cNvPr id="2" name="Picture 1">
            <a:extLst>
              <a:ext uri="{FF2B5EF4-FFF2-40B4-BE49-F238E27FC236}">
                <a16:creationId xmlns:a16="http://schemas.microsoft.com/office/drawing/2014/main" id="{EC1477F5-B07E-72CC-5D1C-74CE053E413B}"/>
              </a:ext>
            </a:extLst>
          </p:cNvPr>
          <p:cNvPicPr>
            <a:picLocks noChangeAspect="1"/>
          </p:cNvPicPr>
          <p:nvPr/>
        </p:nvPicPr>
        <p:blipFill>
          <a:blip r:embed="rId4"/>
          <a:stretch>
            <a:fillRect/>
          </a:stretch>
        </p:blipFill>
        <p:spPr>
          <a:xfrm>
            <a:off x="5720156" y="871948"/>
            <a:ext cx="2591944" cy="2407590"/>
          </a:xfrm>
          <a:prstGeom prst="rect">
            <a:avLst/>
          </a:prstGeom>
        </p:spPr>
      </p:pic>
      <p:sp>
        <p:nvSpPr>
          <p:cNvPr id="5" name="TextBox 4">
            <a:extLst>
              <a:ext uri="{FF2B5EF4-FFF2-40B4-BE49-F238E27FC236}">
                <a16:creationId xmlns:a16="http://schemas.microsoft.com/office/drawing/2014/main" id="{7C870312-1225-805C-246B-66B5E7B1EE91}"/>
              </a:ext>
            </a:extLst>
          </p:cNvPr>
          <p:cNvSpPr txBox="1"/>
          <p:nvPr/>
        </p:nvSpPr>
        <p:spPr>
          <a:xfrm>
            <a:off x="5434836" y="3279538"/>
            <a:ext cx="4572000" cy="1055225"/>
          </a:xfrm>
          <a:prstGeom prst="rect">
            <a:avLst/>
          </a:prstGeom>
          <a:noFill/>
        </p:spPr>
        <p:txBody>
          <a:bodyPr wrap="square">
            <a:spAutoFit/>
          </a:bodyPr>
          <a:lstStyle/>
          <a:p>
            <a:pPr marL="0" marR="0" lvl="0" indent="0" algn="l" defTabSz="606410" rtl="0" eaLnBrk="0" fontAlgn="base" latinLnBrk="0" hangingPunct="0">
              <a:lnSpc>
                <a:spcPts val="2500"/>
              </a:lnSpc>
              <a:spcBef>
                <a:spcPct val="20000"/>
              </a:spcBef>
              <a:spcAft>
                <a:spcPct val="0"/>
              </a:spcAft>
              <a:buClrTx/>
              <a:buSzTx/>
              <a:buFontTx/>
              <a:buNone/>
              <a:tabLst/>
              <a:defRPr/>
            </a:pPr>
            <a:r>
              <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Exercise programmes are varied(NOT just traditional PARS/ERS)</a:t>
            </a:r>
          </a:p>
        </p:txBody>
      </p:sp>
    </p:spTree>
    <p:extLst>
      <p:ext uri="{BB962C8B-B14F-4D97-AF65-F5344CB8AC3E}">
        <p14:creationId xmlns:p14="http://schemas.microsoft.com/office/powerpoint/2010/main" val="13930577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0A4809-8593-655D-BEE3-542996BC6950}"/>
              </a:ext>
            </a:extLst>
          </p:cNvPr>
          <p:cNvSpPr>
            <a:spLocks noGrp="1"/>
          </p:cNvSpPr>
          <p:nvPr>
            <p:ph type="body" sz="quarter" idx="10"/>
          </p:nvPr>
        </p:nvSpPr>
        <p:spPr>
          <a:xfrm>
            <a:off x="346363" y="103366"/>
            <a:ext cx="7564581" cy="741761"/>
          </a:xfrm>
        </p:spPr>
        <p:txBody>
          <a:bodyPr/>
          <a:lstStyle/>
          <a:p>
            <a:pPr algn="ctr">
              <a:lnSpc>
                <a:spcPct val="100000"/>
              </a:lnSpc>
              <a:spcBef>
                <a:spcPts val="0"/>
              </a:spcBef>
            </a:pPr>
            <a:r>
              <a:rPr lang="en-GB" sz="3200" dirty="0"/>
              <a:t>OEP Programme Outline </a:t>
            </a:r>
          </a:p>
          <a:p>
            <a:pPr algn="ctr">
              <a:lnSpc>
                <a:spcPct val="100000"/>
              </a:lnSpc>
              <a:spcBef>
                <a:spcPts val="0"/>
              </a:spcBef>
            </a:pPr>
            <a:r>
              <a:rPr lang="en-GB" sz="1400" dirty="0"/>
              <a:t>(How does this relate to ACSM Exercise Prescription/FITT-C=VP</a:t>
            </a:r>
          </a:p>
        </p:txBody>
      </p:sp>
      <p:sp>
        <p:nvSpPr>
          <p:cNvPr id="6" name="Text Placeholder 5">
            <a:extLst>
              <a:ext uri="{FF2B5EF4-FFF2-40B4-BE49-F238E27FC236}">
                <a16:creationId xmlns:a16="http://schemas.microsoft.com/office/drawing/2014/main" id="{C9013EFC-9C7A-E2C6-BC06-4068FFA616FA}"/>
              </a:ext>
            </a:extLst>
          </p:cNvPr>
          <p:cNvSpPr>
            <a:spLocks noGrp="1"/>
          </p:cNvSpPr>
          <p:nvPr>
            <p:ph type="body" sz="quarter" idx="11"/>
          </p:nvPr>
        </p:nvSpPr>
        <p:spPr>
          <a:xfrm>
            <a:off x="83127" y="928255"/>
            <a:ext cx="6788728" cy="4017817"/>
          </a:xfrm>
        </p:spPr>
        <p:txBody>
          <a:bodyPr/>
          <a:lstStyle/>
          <a:p>
            <a:pPr marL="285750" indent="-285750">
              <a:buFont typeface="Arial" panose="020B0604020202020204" pitchFamily="34" charset="0"/>
              <a:buChar char="•"/>
            </a:pPr>
            <a:r>
              <a:rPr lang="en-GB" sz="1600" dirty="0"/>
              <a:t>Based on the results of the initial assessment, an exercise and a walking program prescribed by the therapist. </a:t>
            </a:r>
          </a:p>
          <a:p>
            <a:pPr marL="285750" indent="-285750">
              <a:buFont typeface="Arial" panose="020B0604020202020204" pitchFamily="34" charset="0"/>
              <a:buChar char="•"/>
            </a:pPr>
            <a:r>
              <a:rPr lang="en-GB" sz="1600" dirty="0"/>
              <a:t>The OEP comprises 5 strengthening exercises and 12 balance exercises (Campbell and Robertson, 2003)</a:t>
            </a:r>
            <a:r>
              <a:rPr lang="en-GB" sz="1600" baseline="30000" dirty="0"/>
              <a:t> </a:t>
            </a:r>
          </a:p>
          <a:p>
            <a:pPr marL="285750" indent="-285750">
              <a:buFont typeface="Arial" panose="020B0604020202020204" pitchFamily="34" charset="0"/>
              <a:buChar char="•"/>
            </a:pPr>
            <a:r>
              <a:rPr lang="en-GB" sz="1600" dirty="0"/>
              <a:t>Participants are instructed to perform the exercises three times (30 mins per session) a week (</a:t>
            </a:r>
            <a:r>
              <a:rPr lang="en-GB" sz="1600" dirty="0">
                <a:solidFill>
                  <a:srgbClr val="020621"/>
                </a:solidFill>
              </a:rPr>
              <a:t>Gardner et al, 2001). </a:t>
            </a:r>
            <a:r>
              <a:rPr lang="en-GB" sz="1600" dirty="0"/>
              <a:t>Depending on the individual’s strength and mobility, the exercises can be progressed, by increasing the amount of repetitions or weight (ankle cuffs with weight can be used and adjusted during the program).              </a:t>
            </a:r>
          </a:p>
          <a:p>
            <a:pPr marL="285750" indent="-285750">
              <a:buFont typeface="Arial" panose="020B0604020202020204" pitchFamily="34" charset="0"/>
              <a:buChar char="•"/>
            </a:pPr>
            <a:r>
              <a:rPr lang="en-GB" sz="1600" dirty="0"/>
              <a:t> Participants are also provided with a walking program, aiming to include a 2x week 30 minutes walking session (can be broken into smaller periods e.g. three ten-minute blocks)</a:t>
            </a:r>
            <a:r>
              <a:rPr kumimoji="0" lang="en-GB" sz="1600" b="0" i="0" u="none" strike="noStrike" kern="1200" cap="none" spc="0" normalizeH="0" baseline="0" noProof="0" dirty="0">
                <a:ln>
                  <a:noFill/>
                </a:ln>
                <a:solidFill>
                  <a:prstClr val="black"/>
                </a:solidFill>
                <a:effectLst/>
                <a:uLnTx/>
                <a:uFillTx/>
              </a:rPr>
              <a:t>(</a:t>
            </a:r>
            <a:r>
              <a:rPr kumimoji="0" lang="en-GB" sz="1600" b="0" i="0" u="none" strike="noStrike" kern="1200" cap="none" spc="0" normalizeH="0" baseline="0" noProof="0" dirty="0">
                <a:ln>
                  <a:noFill/>
                </a:ln>
                <a:solidFill>
                  <a:srgbClr val="020621"/>
                </a:solidFill>
                <a:effectLst/>
                <a:uLnTx/>
                <a:uFillTx/>
              </a:rPr>
              <a:t>Gardner et al, 2001). </a:t>
            </a:r>
          </a:p>
          <a:p>
            <a:pPr marL="285750" indent="-285750">
              <a:buFont typeface="Arial" panose="020B0604020202020204" pitchFamily="34" charset="0"/>
              <a:buChar char="•"/>
            </a:pPr>
            <a:r>
              <a:rPr lang="en-GB" sz="1600" dirty="0"/>
              <a:t>To help them adhere to the programme, participants record the days they complete the programme and the instructor telephones them each month between home visits. Follow-up home visits are recommended every six months.</a:t>
            </a:r>
          </a:p>
        </p:txBody>
      </p:sp>
      <p:pic>
        <p:nvPicPr>
          <p:cNvPr id="11" name="Picture 10">
            <a:extLst>
              <a:ext uri="{FF2B5EF4-FFF2-40B4-BE49-F238E27FC236}">
                <a16:creationId xmlns:a16="http://schemas.microsoft.com/office/drawing/2014/main" id="{FBBB19AF-794A-1FED-B48E-638CD675D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8305" y="589207"/>
            <a:ext cx="1645278" cy="1923562"/>
          </a:xfrm>
          <a:prstGeom prst="rect">
            <a:avLst/>
          </a:prstGeom>
        </p:spPr>
      </p:pic>
      <p:sp>
        <p:nvSpPr>
          <p:cNvPr id="2" name="Speech Bubble: Oval 1">
            <a:extLst>
              <a:ext uri="{FF2B5EF4-FFF2-40B4-BE49-F238E27FC236}">
                <a16:creationId xmlns:a16="http://schemas.microsoft.com/office/drawing/2014/main" id="{FD24D14D-1947-2425-D31D-1F39C02F1C39}"/>
              </a:ext>
            </a:extLst>
          </p:cNvPr>
          <p:cNvSpPr/>
          <p:nvPr/>
        </p:nvSpPr>
        <p:spPr>
          <a:xfrm>
            <a:off x="6820186" y="2512769"/>
            <a:ext cx="2323814" cy="2433303"/>
          </a:xfrm>
          <a:prstGeom prst="wedgeEllipseCallout">
            <a:avLst>
              <a:gd name="adj1" fmla="val -67508"/>
              <a:gd name="adj2" fmla="val -1525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solidFill>
                  <a:srgbClr val="FFFF00"/>
                </a:solidFill>
              </a:rPr>
              <a:t>We will discuss OEP  further in the planning of exercise programmes sessions for special populations. </a:t>
            </a:r>
          </a:p>
        </p:txBody>
      </p:sp>
    </p:spTree>
    <p:extLst>
      <p:ext uri="{BB962C8B-B14F-4D97-AF65-F5344CB8AC3E}">
        <p14:creationId xmlns:p14="http://schemas.microsoft.com/office/powerpoint/2010/main" val="372212830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4A85D9D-8643-F45D-8D5D-C30DA839E98F}"/>
              </a:ext>
            </a:extLst>
          </p:cNvPr>
          <p:cNvSpPr>
            <a:spLocks noGrp="1"/>
          </p:cNvSpPr>
          <p:nvPr>
            <p:ph type="body" sz="quarter" idx="10"/>
          </p:nvPr>
        </p:nvSpPr>
        <p:spPr>
          <a:xfrm>
            <a:off x="290946" y="699542"/>
            <a:ext cx="8319654" cy="488301"/>
          </a:xfrm>
        </p:spPr>
        <p:txBody>
          <a:bodyPr/>
          <a:lstStyle/>
          <a:p>
            <a:r>
              <a:rPr lang="en-GB" sz="3200" dirty="0"/>
              <a:t>Summary of Research Evidence for OEP</a:t>
            </a:r>
          </a:p>
        </p:txBody>
      </p:sp>
      <p:sp>
        <p:nvSpPr>
          <p:cNvPr id="8" name="Text Placeholder 7">
            <a:extLst>
              <a:ext uri="{FF2B5EF4-FFF2-40B4-BE49-F238E27FC236}">
                <a16:creationId xmlns:a16="http://schemas.microsoft.com/office/drawing/2014/main" id="{D3F71FB3-38A4-D24D-87D3-13369EC9A927}"/>
              </a:ext>
            </a:extLst>
          </p:cNvPr>
          <p:cNvSpPr>
            <a:spLocks noGrp="1"/>
          </p:cNvSpPr>
          <p:nvPr>
            <p:ph type="body" sz="quarter" idx="11"/>
          </p:nvPr>
        </p:nvSpPr>
        <p:spPr>
          <a:xfrm>
            <a:off x="290945" y="1347635"/>
            <a:ext cx="9033164" cy="3404603"/>
          </a:xfrm>
        </p:spPr>
        <p:txBody>
          <a:bodyPr/>
          <a:lstStyle/>
          <a:p>
            <a:pPr marL="0" indent="0" algn="l">
              <a:buNone/>
            </a:pPr>
            <a:r>
              <a:rPr lang="en-GB" b="0" i="0" u="none" strike="noStrike" baseline="0" dirty="0">
                <a:solidFill>
                  <a:srgbClr val="000000"/>
                </a:solidFill>
                <a:latin typeface="+mn-lt"/>
              </a:rPr>
              <a:t>Trial 1: Campbell AJ et </a:t>
            </a:r>
            <a:r>
              <a:rPr lang="it-IT" b="0" i="0" u="none" strike="noStrike" baseline="0" dirty="0">
                <a:solidFill>
                  <a:srgbClr val="000000"/>
                </a:solidFill>
                <a:latin typeface="+mn-lt"/>
              </a:rPr>
              <a:t>al. </a:t>
            </a:r>
            <a:r>
              <a:rPr lang="it-IT" b="0" i="1" u="none" strike="noStrike" baseline="0" dirty="0">
                <a:solidFill>
                  <a:srgbClr val="000000"/>
                </a:solidFill>
                <a:latin typeface="+mn-lt"/>
              </a:rPr>
              <a:t>BMJ </a:t>
            </a:r>
            <a:r>
              <a:rPr lang="it-IT" b="0" i="0" u="none" strike="noStrike" baseline="0" dirty="0">
                <a:solidFill>
                  <a:srgbClr val="000000"/>
                </a:solidFill>
                <a:latin typeface="+mn-lt"/>
              </a:rPr>
              <a:t>1997;315:1065-1069; </a:t>
            </a:r>
          </a:p>
          <a:p>
            <a:pPr marL="0" indent="0" algn="l">
              <a:buNone/>
            </a:pPr>
            <a:r>
              <a:rPr lang="it-IT" b="0" i="0" u="none" strike="noStrike" baseline="0" dirty="0">
                <a:solidFill>
                  <a:srgbClr val="000000"/>
                </a:solidFill>
                <a:latin typeface="+mn-lt"/>
              </a:rPr>
              <a:t>Campbell AJ et al. </a:t>
            </a:r>
            <a:r>
              <a:rPr lang="en-GB" b="0" i="1" u="none" strike="noStrike" baseline="0" dirty="0">
                <a:solidFill>
                  <a:srgbClr val="000000"/>
                </a:solidFill>
                <a:latin typeface="+mn-lt"/>
              </a:rPr>
              <a:t>Age Ageing </a:t>
            </a:r>
            <a:r>
              <a:rPr lang="en-GB" b="0" i="0" u="none" strike="noStrike" baseline="0" dirty="0">
                <a:solidFill>
                  <a:srgbClr val="000000"/>
                </a:solidFill>
                <a:latin typeface="+mn-lt"/>
              </a:rPr>
              <a:t>1999;28:513-518.</a:t>
            </a:r>
          </a:p>
          <a:p>
            <a:pPr marL="0" indent="0" algn="l">
              <a:buNone/>
            </a:pPr>
            <a:r>
              <a:rPr lang="en-GB" b="0" i="0" u="none" strike="noStrike" baseline="0" dirty="0">
                <a:solidFill>
                  <a:srgbClr val="000000"/>
                </a:solidFill>
                <a:latin typeface="+mn-lt"/>
              </a:rPr>
              <a:t>Trial 2: Campbell AJ et al. </a:t>
            </a:r>
            <a:r>
              <a:rPr lang="en-GB" b="0" i="1" u="none" strike="noStrike" baseline="0" dirty="0">
                <a:solidFill>
                  <a:srgbClr val="000000"/>
                </a:solidFill>
                <a:latin typeface="+mn-lt"/>
              </a:rPr>
              <a:t>J Am </a:t>
            </a:r>
            <a:r>
              <a:rPr lang="en-GB" b="0" i="1" u="none" strike="noStrike" baseline="0" dirty="0" err="1">
                <a:solidFill>
                  <a:srgbClr val="000000"/>
                </a:solidFill>
                <a:latin typeface="+mn-lt"/>
              </a:rPr>
              <a:t>Geriatr</a:t>
            </a:r>
            <a:r>
              <a:rPr lang="en-GB" b="0" i="1" u="none" strike="noStrike" baseline="0" dirty="0">
                <a:solidFill>
                  <a:srgbClr val="000000"/>
                </a:solidFill>
                <a:latin typeface="+mn-lt"/>
              </a:rPr>
              <a:t> Soc </a:t>
            </a:r>
            <a:r>
              <a:rPr lang="en-GB" b="0" i="0" u="none" strike="noStrike" baseline="0" dirty="0">
                <a:solidFill>
                  <a:srgbClr val="000000"/>
                </a:solidFill>
                <a:latin typeface="+mn-lt"/>
              </a:rPr>
              <a:t>1999;47:850-853.</a:t>
            </a:r>
          </a:p>
          <a:p>
            <a:pPr marL="0" indent="0" algn="l">
              <a:buNone/>
            </a:pPr>
            <a:r>
              <a:rPr lang="en-GB" b="0" i="0" u="none" strike="noStrike" baseline="0" dirty="0">
                <a:solidFill>
                  <a:srgbClr val="000000"/>
                </a:solidFill>
                <a:latin typeface="+mn-lt"/>
              </a:rPr>
              <a:t>Trial 3: Robertson MC et al. </a:t>
            </a:r>
            <a:r>
              <a:rPr lang="en-GB" b="0" i="1" u="none" strike="noStrike" baseline="0" dirty="0">
                <a:solidFill>
                  <a:srgbClr val="000000"/>
                </a:solidFill>
                <a:latin typeface="+mn-lt"/>
              </a:rPr>
              <a:t>BMJ </a:t>
            </a:r>
            <a:r>
              <a:rPr lang="en-GB" b="0" i="0" u="none" strike="noStrike" baseline="0" dirty="0">
                <a:solidFill>
                  <a:srgbClr val="000000"/>
                </a:solidFill>
                <a:latin typeface="+mn-lt"/>
              </a:rPr>
              <a:t>2001;322: 697-701.</a:t>
            </a:r>
          </a:p>
          <a:p>
            <a:pPr marL="0" indent="0" algn="l">
              <a:buNone/>
            </a:pPr>
            <a:r>
              <a:rPr lang="en-GB" b="0" i="0" u="none" strike="noStrike" baseline="0" dirty="0">
                <a:solidFill>
                  <a:srgbClr val="000000"/>
                </a:solidFill>
                <a:latin typeface="+mn-lt"/>
              </a:rPr>
              <a:t>Trial 4: Robertson MC et al. </a:t>
            </a:r>
            <a:r>
              <a:rPr lang="en-GB" b="0" i="1" u="none" strike="noStrike" baseline="0" dirty="0">
                <a:solidFill>
                  <a:srgbClr val="000000"/>
                </a:solidFill>
                <a:latin typeface="+mn-lt"/>
              </a:rPr>
              <a:t>BMJ </a:t>
            </a:r>
            <a:r>
              <a:rPr lang="en-GB" b="0" i="0" u="none" strike="noStrike" baseline="0" dirty="0">
                <a:solidFill>
                  <a:srgbClr val="000000"/>
                </a:solidFill>
                <a:latin typeface="+mn-lt"/>
              </a:rPr>
              <a:t>2001;322:701-704.</a:t>
            </a:r>
          </a:p>
          <a:p>
            <a:pPr marL="0" indent="0" algn="l">
              <a:buNone/>
            </a:pPr>
            <a:r>
              <a:rPr lang="en-GB" b="0" i="0" u="none" strike="noStrike" baseline="0" dirty="0">
                <a:solidFill>
                  <a:srgbClr val="000000"/>
                </a:solidFill>
                <a:latin typeface="+mn-lt"/>
              </a:rPr>
              <a:t>Process and impact evaluation: </a:t>
            </a:r>
          </a:p>
          <a:p>
            <a:pPr marL="0" indent="0" algn="l">
              <a:buNone/>
            </a:pPr>
            <a:r>
              <a:rPr lang="en-GB" b="0" i="0" u="none" strike="noStrike" baseline="0" dirty="0">
                <a:solidFill>
                  <a:srgbClr val="000000"/>
                </a:solidFill>
                <a:latin typeface="+mn-lt"/>
              </a:rPr>
              <a:t>Gardner MM et al. </a:t>
            </a:r>
            <a:r>
              <a:rPr lang="en-GB" b="0" i="1" u="none" strike="noStrike" baseline="0" dirty="0">
                <a:solidFill>
                  <a:srgbClr val="000000"/>
                </a:solidFill>
                <a:latin typeface="+mn-lt"/>
              </a:rPr>
              <a:t>Prev Med </a:t>
            </a:r>
            <a:r>
              <a:rPr lang="en-GB" b="0" i="0" u="none" strike="noStrike" baseline="0" dirty="0">
                <a:solidFill>
                  <a:srgbClr val="000000"/>
                </a:solidFill>
                <a:latin typeface="+mn-lt"/>
              </a:rPr>
              <a:t>2002;34:546-553.</a:t>
            </a:r>
          </a:p>
          <a:p>
            <a:pPr marL="0" indent="0" algn="l">
              <a:buNone/>
            </a:pPr>
            <a:r>
              <a:rPr lang="en-GB" b="0" i="0" u="none" strike="noStrike" baseline="0" dirty="0">
                <a:solidFill>
                  <a:srgbClr val="000000"/>
                </a:solidFill>
                <a:latin typeface="+mn-lt"/>
              </a:rPr>
              <a:t>Meta-analysis of the four trials: </a:t>
            </a:r>
          </a:p>
          <a:p>
            <a:pPr marL="0" indent="0" algn="l">
              <a:buNone/>
            </a:pPr>
            <a:r>
              <a:rPr lang="en-GB" b="0" i="0" u="none" strike="noStrike" baseline="0" dirty="0">
                <a:solidFill>
                  <a:srgbClr val="000000"/>
                </a:solidFill>
                <a:latin typeface="+mn-lt"/>
              </a:rPr>
              <a:t>Robertson MC et al. </a:t>
            </a:r>
            <a:r>
              <a:rPr lang="en-GB" b="0" i="1" u="none" strike="noStrike" baseline="0" dirty="0">
                <a:solidFill>
                  <a:srgbClr val="000000"/>
                </a:solidFill>
                <a:latin typeface="+mn-lt"/>
              </a:rPr>
              <a:t>J Am </a:t>
            </a:r>
            <a:r>
              <a:rPr lang="en-GB" b="0" i="1" u="none" strike="noStrike" baseline="0" dirty="0" err="1">
                <a:solidFill>
                  <a:srgbClr val="000000"/>
                </a:solidFill>
                <a:latin typeface="+mn-lt"/>
              </a:rPr>
              <a:t>Geriatr</a:t>
            </a:r>
            <a:r>
              <a:rPr lang="en-GB" b="0" i="1" u="none" strike="noStrike" baseline="0" dirty="0">
                <a:solidFill>
                  <a:srgbClr val="000000"/>
                </a:solidFill>
                <a:latin typeface="+mn-lt"/>
              </a:rPr>
              <a:t> Soc </a:t>
            </a:r>
            <a:r>
              <a:rPr lang="en-GB" b="0" i="0" u="none" strike="noStrike" baseline="0" dirty="0">
                <a:solidFill>
                  <a:srgbClr val="000000"/>
                </a:solidFill>
                <a:latin typeface="+mn-lt"/>
              </a:rPr>
              <a:t>2002;50:905-911.</a:t>
            </a:r>
          </a:p>
          <a:p>
            <a:pPr marL="0" indent="0" algn="l">
              <a:buNone/>
            </a:pPr>
            <a:r>
              <a:rPr lang="en-GB" dirty="0">
                <a:solidFill>
                  <a:srgbClr val="000000"/>
                </a:solidFill>
                <a:latin typeface="+mn-lt"/>
              </a:rPr>
              <a:t>Other:</a:t>
            </a:r>
          </a:p>
          <a:p>
            <a:pPr marL="0" indent="0" algn="l">
              <a:buNone/>
            </a:pPr>
            <a:r>
              <a:rPr lang="en-GB" b="0" i="0" u="none" strike="noStrike" baseline="0" dirty="0">
                <a:solidFill>
                  <a:srgbClr val="000000"/>
                </a:solidFill>
                <a:latin typeface="+mn-lt"/>
              </a:rPr>
              <a:t>How to do it”: Gardner MM et al. </a:t>
            </a:r>
            <a:r>
              <a:rPr lang="en-GB" b="0" i="1" u="none" strike="noStrike" baseline="0" dirty="0">
                <a:solidFill>
                  <a:srgbClr val="000000"/>
                </a:solidFill>
                <a:latin typeface="+mn-lt"/>
              </a:rPr>
              <a:t>Age Ageing </a:t>
            </a:r>
            <a:r>
              <a:rPr lang="en-GB" b="0" i="0" u="none" strike="noStrike" baseline="0" dirty="0">
                <a:solidFill>
                  <a:srgbClr val="000000"/>
                </a:solidFill>
                <a:latin typeface="+mn-lt"/>
              </a:rPr>
              <a:t>2001;30:77-83.</a:t>
            </a:r>
          </a:p>
          <a:p>
            <a:pPr algn="l"/>
            <a:r>
              <a:rPr lang="en-GB" sz="3200" b="0" i="0" u="none" strike="noStrike" baseline="0" dirty="0">
                <a:solidFill>
                  <a:srgbClr val="FFFFFF"/>
                </a:solidFill>
                <a:latin typeface="MetaPlusNormal-Roman"/>
              </a:rPr>
              <a:t>Summary of the research</a:t>
            </a:r>
            <a:endParaRPr lang="en-GB" dirty="0"/>
          </a:p>
        </p:txBody>
      </p:sp>
      <p:pic>
        <p:nvPicPr>
          <p:cNvPr id="10" name="Picture 9">
            <a:extLst>
              <a:ext uri="{FF2B5EF4-FFF2-40B4-BE49-F238E27FC236}">
                <a16:creationId xmlns:a16="http://schemas.microsoft.com/office/drawing/2014/main" id="{E250698C-1124-89D9-9A34-DA35D659DDBE}"/>
              </a:ext>
            </a:extLst>
          </p:cNvPr>
          <p:cNvPicPr>
            <a:picLocks noChangeAspect="1"/>
          </p:cNvPicPr>
          <p:nvPr/>
        </p:nvPicPr>
        <p:blipFill>
          <a:blip r:embed="rId2"/>
          <a:stretch>
            <a:fillRect/>
          </a:stretch>
        </p:blipFill>
        <p:spPr>
          <a:xfrm>
            <a:off x="5763492" y="1711037"/>
            <a:ext cx="2775097" cy="2501517"/>
          </a:xfrm>
          <a:prstGeom prst="rect">
            <a:avLst/>
          </a:prstGeom>
        </p:spPr>
      </p:pic>
    </p:spTree>
    <p:extLst>
      <p:ext uri="{BB962C8B-B14F-4D97-AF65-F5344CB8AC3E}">
        <p14:creationId xmlns:p14="http://schemas.microsoft.com/office/powerpoint/2010/main" val="3353684516"/>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510DFD82-0E49-B543-FF74-3C9490033FE9}"/>
              </a:ext>
            </a:extLst>
          </p:cNvPr>
          <p:cNvSpPr>
            <a:spLocks noGrp="1"/>
          </p:cNvSpPr>
          <p:nvPr>
            <p:ph type="body" sz="quarter" idx="10"/>
          </p:nvPr>
        </p:nvSpPr>
        <p:spPr>
          <a:xfrm>
            <a:off x="214745" y="-60939"/>
            <a:ext cx="8118763" cy="919922"/>
          </a:xfrm>
        </p:spPr>
        <p:txBody>
          <a:bodyPr/>
          <a:lstStyle/>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lang="en-GB" dirty="0"/>
              <a:t>Main Research Findings </a:t>
            </a: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1600" b="0" i="0" u="none" strike="noStrike" kern="120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rPr>
              <a:t>Meta-analysis of the four trials: Robertson et al., (2002) </a:t>
            </a:r>
            <a:r>
              <a:rPr kumimoji="0" lang="en-GB" sz="1600" b="0" i="1" u="none" strike="noStrike" kern="120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rPr>
              <a:t>J Am </a:t>
            </a:r>
            <a:r>
              <a:rPr kumimoji="0" lang="en-GB" sz="1600" b="0" i="1" u="none" strike="noStrike" kern="1200" cap="none" spc="0" normalizeH="0" baseline="0" noProof="0" dirty="0" err="1">
                <a:ln>
                  <a:noFill/>
                </a:ln>
                <a:solidFill>
                  <a:srgbClr val="000000"/>
                </a:solidFill>
                <a:effectLst/>
                <a:uLnTx/>
                <a:uFillTx/>
                <a:latin typeface="Calibri"/>
                <a:ea typeface="Calibri" panose="020F0502020204030204" pitchFamily="34" charset="0"/>
                <a:cs typeface="Calibri" panose="020F0502020204030204" pitchFamily="34" charset="0"/>
              </a:rPr>
              <a:t>Geriatr</a:t>
            </a:r>
            <a:r>
              <a:rPr kumimoji="0" lang="en-GB" sz="1600" b="0" i="1" u="none" strike="noStrike" kern="120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rPr>
              <a:t> Soc </a:t>
            </a:r>
            <a:r>
              <a:rPr kumimoji="0" lang="en-GB" sz="1600" b="0" i="0" u="none" strike="noStrike" kern="120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rPr>
              <a:t>;50:905-911.</a:t>
            </a:r>
          </a:p>
          <a:p>
            <a:endParaRPr lang="en-GB" dirty="0"/>
          </a:p>
          <a:p>
            <a:endParaRPr lang="en-GB" dirty="0"/>
          </a:p>
        </p:txBody>
      </p:sp>
      <p:sp>
        <p:nvSpPr>
          <p:cNvPr id="10" name="Text Placeholder 9">
            <a:extLst>
              <a:ext uri="{FF2B5EF4-FFF2-40B4-BE49-F238E27FC236}">
                <a16:creationId xmlns:a16="http://schemas.microsoft.com/office/drawing/2014/main" id="{2E03D481-3BA9-0DF7-1D5F-51A7D77FE0C3}"/>
              </a:ext>
            </a:extLst>
          </p:cNvPr>
          <p:cNvSpPr>
            <a:spLocks noGrp="1"/>
          </p:cNvSpPr>
          <p:nvPr>
            <p:ph type="body" sz="quarter" idx="11"/>
          </p:nvPr>
        </p:nvSpPr>
        <p:spPr>
          <a:xfrm>
            <a:off x="325581" y="949037"/>
            <a:ext cx="8735291" cy="3803202"/>
          </a:xfrm>
        </p:spPr>
        <p:txBody>
          <a:bodyPr/>
          <a:lstStyle/>
          <a:p>
            <a:r>
              <a:rPr lang="en-GB" sz="1800" dirty="0"/>
              <a:t>Overall, the effect of the exercise programme was a 35%reduction in the number of falls and a 35%reduction in the number of fall related injuries.</a:t>
            </a:r>
          </a:p>
          <a:p>
            <a:r>
              <a:rPr lang="en-GB" sz="1800" dirty="0"/>
              <a:t>Combining the results from the four trials highlighted the fact that the programme prevented the most falls and injuries in those aged 80 years who had fallen in the previous year.</a:t>
            </a:r>
          </a:p>
          <a:p>
            <a:r>
              <a:rPr lang="en-GB" sz="1800" dirty="0"/>
              <a:t>Two simple (Baseline Assessments) physical assessments (the chair stand test and four-test balance scale) showed improved strength and balance in exercise group participants.</a:t>
            </a:r>
          </a:p>
          <a:p>
            <a:r>
              <a:rPr lang="en-GB" sz="1800" dirty="0"/>
              <a:t>Participants maintained confidence in being able to carry out ADL without falling. Important because people afraid of falling may become physically inactive, which will result in further declines in muscle strength and balance.</a:t>
            </a:r>
          </a:p>
          <a:p>
            <a:r>
              <a:rPr lang="en-GB" sz="1800" dirty="0"/>
              <a:t>There were very few adverse events in the trials due to the exercise programme.</a:t>
            </a:r>
          </a:p>
          <a:p>
            <a:r>
              <a:rPr lang="en-GB" sz="1800" dirty="0"/>
              <a:t>The OEP has not been tested in a context other than the home-based community setting.</a:t>
            </a:r>
          </a:p>
        </p:txBody>
      </p:sp>
    </p:spTree>
    <p:extLst>
      <p:ext uri="{BB962C8B-B14F-4D97-AF65-F5344CB8AC3E}">
        <p14:creationId xmlns:p14="http://schemas.microsoft.com/office/powerpoint/2010/main" val="20996428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FBF3CB-345D-0C9A-1709-0AD3D6A37E67}"/>
              </a:ext>
            </a:extLst>
          </p:cNvPr>
          <p:cNvSpPr>
            <a:spLocks noGrp="1"/>
          </p:cNvSpPr>
          <p:nvPr>
            <p:ph type="body" sz="quarter" idx="10"/>
          </p:nvPr>
        </p:nvSpPr>
        <p:spPr>
          <a:xfrm>
            <a:off x="0" y="438722"/>
            <a:ext cx="8490857" cy="638068"/>
          </a:xfrm>
        </p:spPr>
        <p:txBody>
          <a:bodyPr/>
          <a:lstStyle/>
          <a:p>
            <a:r>
              <a:rPr lang="fr-FR" sz="2000" b="1" cap="all" dirty="0"/>
              <a:t>       </a:t>
            </a:r>
            <a:r>
              <a:rPr lang="fr-FR" sz="2800" cap="all" dirty="0" err="1">
                <a:latin typeface="+mn-lt"/>
              </a:rPr>
              <a:t>falls</a:t>
            </a:r>
            <a:r>
              <a:rPr lang="fr-FR" sz="2800" cap="all" dirty="0">
                <a:latin typeface="+mn-lt"/>
              </a:rPr>
              <a:t> management </a:t>
            </a:r>
            <a:r>
              <a:rPr lang="fr-FR" sz="2800" cap="all" dirty="0" err="1">
                <a:latin typeface="+mn-lt"/>
              </a:rPr>
              <a:t>exercise</a:t>
            </a:r>
            <a:r>
              <a:rPr lang="fr-FR" sz="2800" cap="all" dirty="0">
                <a:latin typeface="+mn-lt"/>
              </a:rPr>
              <a:t> programme (</a:t>
            </a:r>
            <a:r>
              <a:rPr lang="fr-FR" sz="2800" cap="all" dirty="0" err="1">
                <a:latin typeface="+mn-lt"/>
              </a:rPr>
              <a:t>FaME</a:t>
            </a:r>
            <a:r>
              <a:rPr lang="fr-FR" sz="2800" cap="all" dirty="0">
                <a:latin typeface="+mn-lt"/>
              </a:rPr>
              <a:t>)</a:t>
            </a:r>
          </a:p>
          <a:p>
            <a:endParaRPr lang="en-GB" dirty="0"/>
          </a:p>
        </p:txBody>
      </p:sp>
      <p:sp>
        <p:nvSpPr>
          <p:cNvPr id="3" name="Text Placeholder 2">
            <a:extLst>
              <a:ext uri="{FF2B5EF4-FFF2-40B4-BE49-F238E27FC236}">
                <a16:creationId xmlns:a16="http://schemas.microsoft.com/office/drawing/2014/main" id="{8BF54DB8-DD70-A1EC-1B2A-7D4F686020E6}"/>
              </a:ext>
            </a:extLst>
          </p:cNvPr>
          <p:cNvSpPr>
            <a:spLocks noGrp="1"/>
          </p:cNvSpPr>
          <p:nvPr>
            <p:ph type="body" sz="quarter" idx="11"/>
          </p:nvPr>
        </p:nvSpPr>
        <p:spPr>
          <a:xfrm>
            <a:off x="357510" y="953037"/>
            <a:ext cx="8394604" cy="4065850"/>
          </a:xfrm>
        </p:spPr>
        <p:txBody>
          <a:bodyPr/>
          <a:lstStyle/>
          <a:p>
            <a:pPr algn="l">
              <a:lnSpc>
                <a:spcPts val="1688"/>
              </a:lnSpc>
              <a:buNone/>
            </a:pPr>
            <a:r>
              <a:rPr lang="en-GB" b="0" i="0" dirty="0" err="1">
                <a:solidFill>
                  <a:srgbClr val="000000"/>
                </a:solidFill>
                <a:effectLst/>
                <a:latin typeface="Epilogue"/>
              </a:rPr>
              <a:t>FaME</a:t>
            </a:r>
            <a:r>
              <a:rPr lang="en-GB" b="0" i="0" dirty="0">
                <a:solidFill>
                  <a:srgbClr val="000000"/>
                </a:solidFill>
                <a:effectLst/>
                <a:latin typeface="Epilogue"/>
              </a:rPr>
              <a:t> is delivered in weekly 1-hour group exercise classes (approximately 6</a:t>
            </a:r>
          </a:p>
          <a:p>
            <a:pPr algn="l">
              <a:lnSpc>
                <a:spcPts val="1688"/>
              </a:lnSpc>
              <a:buNone/>
            </a:pPr>
            <a:r>
              <a:rPr lang="en-GB" b="0" i="0" dirty="0">
                <a:solidFill>
                  <a:srgbClr val="000000"/>
                </a:solidFill>
                <a:effectLst/>
                <a:latin typeface="Epilogue"/>
              </a:rPr>
              <a:t>participants per class) plus directed home exercise to ensure effective dosage</a:t>
            </a:r>
          </a:p>
          <a:p>
            <a:pPr algn="l">
              <a:lnSpc>
                <a:spcPts val="1688"/>
              </a:lnSpc>
              <a:buNone/>
            </a:pPr>
            <a:r>
              <a:rPr lang="en-GB" b="0" i="0" dirty="0">
                <a:solidFill>
                  <a:srgbClr val="000000"/>
                </a:solidFill>
                <a:effectLst/>
                <a:latin typeface="Epilogue"/>
              </a:rPr>
              <a:t>and appropriate functional improvements.  Elastic resistance bands, dumbbells</a:t>
            </a:r>
          </a:p>
          <a:p>
            <a:pPr algn="l">
              <a:lnSpc>
                <a:spcPts val="1688"/>
              </a:lnSpc>
              <a:buNone/>
            </a:pPr>
            <a:r>
              <a:rPr lang="en-GB" b="0" i="0" dirty="0">
                <a:solidFill>
                  <a:srgbClr val="000000"/>
                </a:solidFill>
                <a:effectLst/>
                <a:latin typeface="Epilogue"/>
              </a:rPr>
              <a:t>and small items of equipment are used throughout the programme.</a:t>
            </a:r>
          </a:p>
          <a:p>
            <a:pPr algn="l">
              <a:lnSpc>
                <a:spcPts val="1688"/>
              </a:lnSpc>
              <a:buNone/>
            </a:pPr>
            <a:endParaRPr lang="en-GB" b="0" i="0" dirty="0">
              <a:solidFill>
                <a:srgbClr val="000000"/>
              </a:solidFill>
              <a:effectLst/>
              <a:latin typeface="Epilogue"/>
            </a:endParaRPr>
          </a:p>
          <a:p>
            <a:pPr algn="l">
              <a:lnSpc>
                <a:spcPts val="1688"/>
              </a:lnSpc>
              <a:buNone/>
            </a:pPr>
            <a:r>
              <a:rPr lang="en-GB" b="0" i="0" dirty="0">
                <a:solidFill>
                  <a:srgbClr val="000000"/>
                </a:solidFill>
                <a:effectLst/>
                <a:latin typeface="Epilogue"/>
              </a:rPr>
              <a:t>The evidenced-based elements of the programme include:</a:t>
            </a:r>
          </a:p>
          <a:p>
            <a:pPr algn="l">
              <a:lnSpc>
                <a:spcPts val="1688"/>
              </a:lnSpc>
              <a:buFont typeface="Arial" panose="020B0604020202020204" pitchFamily="34" charset="0"/>
              <a:buChar char="•"/>
            </a:pPr>
            <a:r>
              <a:rPr lang="en-GB" b="0" i="0" dirty="0">
                <a:solidFill>
                  <a:srgbClr val="000000"/>
                </a:solidFill>
                <a:effectLst/>
                <a:latin typeface="Epilogue"/>
              </a:rPr>
              <a:t>Functional leg muscle strengthening and balance retraining that progress in difficulty</a:t>
            </a:r>
          </a:p>
          <a:p>
            <a:pPr algn="l">
              <a:lnSpc>
                <a:spcPts val="1688"/>
              </a:lnSpc>
              <a:buFont typeface="Arial" panose="020B0604020202020204" pitchFamily="34" charset="0"/>
              <a:buChar char="•"/>
            </a:pPr>
            <a:r>
              <a:rPr lang="en-GB" b="0" i="0" dirty="0">
                <a:solidFill>
                  <a:srgbClr val="000000"/>
                </a:solidFill>
                <a:effectLst/>
                <a:latin typeface="Epilogue"/>
              </a:rPr>
              <a:t>Functional progressive trunk and arm muscle strengthening</a:t>
            </a:r>
          </a:p>
          <a:p>
            <a:pPr algn="l">
              <a:lnSpc>
                <a:spcPts val="1688"/>
              </a:lnSpc>
              <a:buFont typeface="Arial" panose="020B0604020202020204" pitchFamily="34" charset="0"/>
              <a:buChar char="•"/>
            </a:pPr>
            <a:r>
              <a:rPr lang="en-GB" b="0" i="0" dirty="0">
                <a:solidFill>
                  <a:srgbClr val="000000"/>
                </a:solidFill>
                <a:effectLst/>
                <a:latin typeface="Epilogue"/>
              </a:rPr>
              <a:t>Bone loading targeted prime fracture sites</a:t>
            </a:r>
          </a:p>
          <a:p>
            <a:pPr algn="l">
              <a:lnSpc>
                <a:spcPts val="1688"/>
              </a:lnSpc>
              <a:buFont typeface="Arial" panose="020B0604020202020204" pitchFamily="34" charset="0"/>
              <a:buChar char="•"/>
            </a:pPr>
            <a:r>
              <a:rPr lang="en-GB" b="0" i="0" dirty="0">
                <a:solidFill>
                  <a:srgbClr val="000000"/>
                </a:solidFill>
                <a:effectLst/>
                <a:latin typeface="Epilogue"/>
              </a:rPr>
              <a:t>Endurance/cardiovascular training (including walking) and flexibility training</a:t>
            </a:r>
          </a:p>
          <a:p>
            <a:pPr algn="l">
              <a:lnSpc>
                <a:spcPts val="1688"/>
              </a:lnSpc>
              <a:buFont typeface="Arial" panose="020B0604020202020204" pitchFamily="34" charset="0"/>
              <a:buChar char="•"/>
            </a:pPr>
            <a:r>
              <a:rPr lang="en-GB" b="0" i="0" dirty="0">
                <a:solidFill>
                  <a:srgbClr val="000000"/>
                </a:solidFill>
                <a:effectLst/>
                <a:latin typeface="Epilogue"/>
              </a:rPr>
              <a:t>Functional floor skills and skills to rise from floor (preventing long lies)</a:t>
            </a:r>
          </a:p>
          <a:p>
            <a:pPr marL="0" indent="0">
              <a:buNone/>
            </a:pPr>
            <a:r>
              <a:rPr lang="en-GB" dirty="0">
                <a:hlinkClick r:id="rId2"/>
              </a:rPr>
              <a:t>https://fametoolkit.org.uk/index/1757330514790x755738355278020600?section=introduction-to-the-toolkit</a:t>
            </a:r>
            <a:endParaRPr lang="en-GB" dirty="0"/>
          </a:p>
          <a:p>
            <a:endParaRPr lang="en-GB" dirty="0"/>
          </a:p>
        </p:txBody>
      </p:sp>
    </p:spTree>
    <p:extLst>
      <p:ext uri="{BB962C8B-B14F-4D97-AF65-F5344CB8AC3E}">
        <p14:creationId xmlns:p14="http://schemas.microsoft.com/office/powerpoint/2010/main" val="4088617367"/>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503565-469D-6C8C-C9FA-46D6EDE282B4}"/>
              </a:ext>
            </a:extLst>
          </p:cNvPr>
          <p:cNvSpPr>
            <a:spLocks noGrp="1"/>
          </p:cNvSpPr>
          <p:nvPr>
            <p:ph type="body" sz="quarter" idx="10"/>
          </p:nvPr>
        </p:nvSpPr>
        <p:spPr>
          <a:xfrm>
            <a:off x="503997" y="118624"/>
            <a:ext cx="8012848" cy="488301"/>
          </a:xfrm>
        </p:spPr>
        <p:txBody>
          <a:bodyPr/>
          <a:lstStyle/>
          <a:p>
            <a:r>
              <a:rPr lang="en-GB" sz="2800" dirty="0"/>
              <a:t>Falls Management Exercise programme (</a:t>
            </a:r>
            <a:r>
              <a:rPr lang="en-GB" sz="2800" dirty="0" err="1"/>
              <a:t>FaME</a:t>
            </a:r>
            <a:r>
              <a:rPr lang="en-GB" sz="2800" dirty="0"/>
              <a:t>)</a:t>
            </a:r>
          </a:p>
        </p:txBody>
      </p:sp>
      <p:sp>
        <p:nvSpPr>
          <p:cNvPr id="3" name="Text Placeholder 2">
            <a:extLst>
              <a:ext uri="{FF2B5EF4-FFF2-40B4-BE49-F238E27FC236}">
                <a16:creationId xmlns:a16="http://schemas.microsoft.com/office/drawing/2014/main" id="{DAB38A13-D0E0-98C8-97B6-5BD32E594E6C}"/>
              </a:ext>
            </a:extLst>
          </p:cNvPr>
          <p:cNvSpPr>
            <a:spLocks noGrp="1"/>
          </p:cNvSpPr>
          <p:nvPr>
            <p:ph type="body" sz="quarter" idx="11"/>
          </p:nvPr>
        </p:nvSpPr>
        <p:spPr/>
        <p:txBody>
          <a:bodyPr/>
          <a:lstStyle/>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lang="en-GB" sz="2400" dirty="0">
              <a:solidFill>
                <a:srgbClr val="FF0000"/>
              </a:solidFill>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lang="en-GB" sz="2400" dirty="0">
              <a:solidFill>
                <a:srgbClr val="FF0000"/>
              </a:solidFill>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lang="en-GB" sz="2400" dirty="0">
              <a:solidFill>
                <a:srgbClr val="FF0000"/>
              </a:solidFill>
            </a:endParaRPr>
          </a:p>
          <a:p>
            <a:pPr marL="0" marR="0" lvl="0" indent="0" algn="l" defTabSz="606410" rtl="0" eaLnBrk="0" fontAlgn="base" latinLnBrk="0" hangingPunct="0">
              <a:lnSpc>
                <a:spcPts val="2500"/>
              </a:lnSpc>
              <a:spcBef>
                <a:spcPct val="20000"/>
              </a:spcBef>
              <a:spcAft>
                <a:spcPct val="0"/>
              </a:spcAft>
              <a:buClrTx/>
              <a:buSzTx/>
              <a:buFontTx/>
              <a:buNone/>
              <a:tabLst/>
              <a:defRPr/>
            </a:pPr>
            <a:endPar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a:p>
            <a:endParaRPr lang="en-GB" dirty="0"/>
          </a:p>
        </p:txBody>
      </p:sp>
      <p:pic>
        <p:nvPicPr>
          <p:cNvPr id="4" name="Picture 3">
            <a:extLst>
              <a:ext uri="{FF2B5EF4-FFF2-40B4-BE49-F238E27FC236}">
                <a16:creationId xmlns:a16="http://schemas.microsoft.com/office/drawing/2014/main" id="{5C3EE1ED-F448-7311-4F08-6A33940A62A0}"/>
              </a:ext>
            </a:extLst>
          </p:cNvPr>
          <p:cNvPicPr>
            <a:picLocks noChangeAspect="1"/>
          </p:cNvPicPr>
          <p:nvPr/>
        </p:nvPicPr>
        <p:blipFill>
          <a:blip r:embed="rId2"/>
          <a:srcRect r="48877"/>
          <a:stretch>
            <a:fillRect/>
          </a:stretch>
        </p:blipFill>
        <p:spPr>
          <a:xfrm>
            <a:off x="503997" y="710054"/>
            <a:ext cx="3755594" cy="4198830"/>
          </a:xfrm>
          <a:prstGeom prst="rect">
            <a:avLst/>
          </a:prstGeom>
        </p:spPr>
      </p:pic>
      <p:sp>
        <p:nvSpPr>
          <p:cNvPr id="6" name="TextBox 5">
            <a:extLst>
              <a:ext uri="{FF2B5EF4-FFF2-40B4-BE49-F238E27FC236}">
                <a16:creationId xmlns:a16="http://schemas.microsoft.com/office/drawing/2014/main" id="{231A8F49-7915-B104-CEE2-0BA5E870BD33}"/>
              </a:ext>
            </a:extLst>
          </p:cNvPr>
          <p:cNvSpPr txBox="1"/>
          <p:nvPr/>
        </p:nvSpPr>
        <p:spPr>
          <a:xfrm>
            <a:off x="4992855" y="1644948"/>
            <a:ext cx="2574758" cy="1696426"/>
          </a:xfrm>
          <a:prstGeom prst="rect">
            <a:avLst/>
          </a:prstGeom>
          <a:noFill/>
        </p:spPr>
        <p:txBody>
          <a:bodyPr wrap="square">
            <a:spAutoFit/>
          </a:bodyPr>
          <a:lstStyle/>
          <a:p>
            <a:pPr marL="0" marR="0" lvl="0" indent="0" algn="ctr" defTabSz="606410" rtl="0" eaLnBrk="0" fontAlgn="base" latinLnBrk="0" hangingPunct="0">
              <a:lnSpc>
                <a:spcPts val="2500"/>
              </a:lnSpc>
              <a:spcBef>
                <a:spcPct val="20000"/>
              </a:spcBef>
              <a:spcAft>
                <a:spcPct val="0"/>
              </a:spcAft>
              <a:buClrTx/>
              <a:buSzTx/>
              <a:buFontTx/>
              <a:buNone/>
              <a:tabLst/>
              <a:defRPr/>
            </a:pPr>
            <a:r>
              <a:rPr kumimoji="0" lang="en-GB" sz="24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Another example of an exercise programmes NOT traditional PARS/ERS</a:t>
            </a:r>
          </a:p>
        </p:txBody>
      </p:sp>
    </p:spTree>
    <p:extLst>
      <p:ext uri="{BB962C8B-B14F-4D97-AF65-F5344CB8AC3E}">
        <p14:creationId xmlns:p14="http://schemas.microsoft.com/office/powerpoint/2010/main" val="184107129"/>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1293E1-02FE-438B-CF51-6FA77B915A1E}"/>
              </a:ext>
            </a:extLst>
          </p:cNvPr>
          <p:cNvSpPr>
            <a:spLocks noGrp="1"/>
          </p:cNvSpPr>
          <p:nvPr>
            <p:ph type="body" sz="quarter" idx="10"/>
          </p:nvPr>
        </p:nvSpPr>
        <p:spPr>
          <a:xfrm>
            <a:off x="768966" y="375496"/>
            <a:ext cx="6668019" cy="488301"/>
          </a:xfrm>
        </p:spPr>
        <p:txBody>
          <a:bodyPr/>
          <a:lstStyle/>
          <a:p>
            <a:pPr algn="ctr">
              <a:lnSpc>
                <a:spcPts val="2600"/>
              </a:lnSpc>
              <a:spcBef>
                <a:spcPts val="0"/>
              </a:spcBef>
            </a:pPr>
            <a:r>
              <a:rPr lang="en-GB" sz="2000" b="1" dirty="0">
                <a:solidFill>
                  <a:srgbClr val="FF0000"/>
                </a:solidFill>
              </a:rPr>
              <a:t>Tai Chi </a:t>
            </a:r>
            <a:r>
              <a:rPr lang="en-GB" sz="1800" b="1" dirty="0"/>
              <a:t>another exercise option, effective on balance and strength in elderly population.</a:t>
            </a:r>
            <a:r>
              <a:rPr lang="en-GB" b="1" dirty="0"/>
              <a:t> </a:t>
            </a:r>
          </a:p>
        </p:txBody>
      </p:sp>
      <p:sp>
        <p:nvSpPr>
          <p:cNvPr id="3" name="Text Placeholder 2">
            <a:extLst>
              <a:ext uri="{FF2B5EF4-FFF2-40B4-BE49-F238E27FC236}">
                <a16:creationId xmlns:a16="http://schemas.microsoft.com/office/drawing/2014/main" id="{096C9DD0-08E3-ED34-28F1-4122FE68E6F0}"/>
              </a:ext>
            </a:extLst>
          </p:cNvPr>
          <p:cNvSpPr>
            <a:spLocks noGrp="1"/>
          </p:cNvSpPr>
          <p:nvPr>
            <p:ph type="body" sz="quarter" idx="11"/>
          </p:nvPr>
        </p:nvSpPr>
        <p:spPr/>
        <p:txBody>
          <a:bodyPr/>
          <a:lstStyle/>
          <a:p>
            <a:endParaRPr lang="en-GB" dirty="0"/>
          </a:p>
        </p:txBody>
      </p:sp>
      <p:pic>
        <p:nvPicPr>
          <p:cNvPr id="5" name="Picture 4">
            <a:extLst>
              <a:ext uri="{FF2B5EF4-FFF2-40B4-BE49-F238E27FC236}">
                <a16:creationId xmlns:a16="http://schemas.microsoft.com/office/drawing/2014/main" id="{7AA7E167-8273-2C3D-9B4A-3B40317A77E7}"/>
              </a:ext>
            </a:extLst>
          </p:cNvPr>
          <p:cNvPicPr>
            <a:picLocks noChangeAspect="1"/>
          </p:cNvPicPr>
          <p:nvPr/>
        </p:nvPicPr>
        <p:blipFill>
          <a:blip r:embed="rId2"/>
          <a:stretch>
            <a:fillRect/>
          </a:stretch>
        </p:blipFill>
        <p:spPr>
          <a:xfrm>
            <a:off x="1119967" y="1047249"/>
            <a:ext cx="5770252" cy="3443732"/>
          </a:xfrm>
          <a:prstGeom prst="rect">
            <a:avLst/>
          </a:prstGeom>
        </p:spPr>
      </p:pic>
    </p:spTree>
    <p:extLst>
      <p:ext uri="{BB962C8B-B14F-4D97-AF65-F5344CB8AC3E}">
        <p14:creationId xmlns:p14="http://schemas.microsoft.com/office/powerpoint/2010/main" val="2268021104"/>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760F-30F9-2497-1593-66B068EA7D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CAE304-93B9-1C5D-825E-D835F0EB98C9}"/>
              </a:ext>
            </a:extLst>
          </p:cNvPr>
          <p:cNvSpPr>
            <a:spLocks noGrp="1"/>
          </p:cNvSpPr>
          <p:nvPr>
            <p:ph type="body" sz="quarter" idx="10"/>
          </p:nvPr>
        </p:nvSpPr>
        <p:spPr/>
        <p:txBody>
          <a:bodyPr/>
          <a:lstStyle/>
          <a:p>
            <a:r>
              <a:rPr lang="en-GB" dirty="0"/>
              <a:t>Group Activity</a:t>
            </a:r>
            <a:endParaRPr lang="en-US" dirty="0"/>
          </a:p>
        </p:txBody>
      </p:sp>
      <p:pic>
        <p:nvPicPr>
          <p:cNvPr id="5" name="Picture 4">
            <a:extLst>
              <a:ext uri="{FF2B5EF4-FFF2-40B4-BE49-F238E27FC236}">
                <a16:creationId xmlns:a16="http://schemas.microsoft.com/office/drawing/2014/main" id="{B254A50C-FE20-388C-5484-1721C117C6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970" y="1184618"/>
            <a:ext cx="2912562" cy="2551784"/>
          </a:xfrm>
          <a:prstGeom prst="rect">
            <a:avLst/>
          </a:prstGeom>
        </p:spPr>
      </p:pic>
      <p:sp>
        <p:nvSpPr>
          <p:cNvPr id="7" name="Text Placeholder 3">
            <a:extLst>
              <a:ext uri="{FF2B5EF4-FFF2-40B4-BE49-F238E27FC236}">
                <a16:creationId xmlns:a16="http://schemas.microsoft.com/office/drawing/2014/main" id="{CE106A57-5495-D6AA-A36A-54E4A9F1FC04}"/>
              </a:ext>
            </a:extLst>
          </p:cNvPr>
          <p:cNvSpPr txBox="1">
            <a:spLocks noGrp="1"/>
          </p:cNvSpPr>
          <p:nvPr>
            <p:ph type="body" sz="quarter" idx="11"/>
          </p:nvPr>
        </p:nvSpPr>
        <p:spPr>
          <a:xfrm>
            <a:off x="220007" y="1594209"/>
            <a:ext cx="4193684" cy="3287174"/>
          </a:xfrm>
          <a:prstGeom prst="rect">
            <a:avLst/>
          </a:prstGeom>
        </p:spPr>
        <p:txBody>
          <a:bodyPr vert="horz" lIns="0" tIns="0" rIns="0" bIns="0" numCol="1" spcCol="216000" rtlCol="0">
            <a:normAutofit/>
          </a:bodyPr>
          <a:lstStyle>
            <a:lvl1pPr marL="0" marR="0" indent="0" algn="l" defTabSz="606410" rtl="0" eaLnBrk="1" fontAlgn="base" latinLnBrk="0" hangingPunct="1">
              <a:lnSpc>
                <a:spcPts val="2000"/>
              </a:lnSpc>
              <a:spcBef>
                <a:spcPts val="0"/>
              </a:spcBef>
              <a:spcAft>
                <a:spcPct val="0"/>
              </a:spcAft>
              <a:buClrTx/>
              <a:buSzTx/>
              <a:buFontTx/>
              <a:buNone/>
              <a:tabLst/>
              <a:defRPr sz="1400" b="0" i="0"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987401" indent="-377816" algn="l" defTabSz="606410" rtl="0" eaLnBrk="0" fontAlgn="base" hangingPunct="0">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787" indent="-301618" algn="l" defTabSz="60641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372"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39957" indent="-301618" algn="l" defTabSz="606410" rtl="0" eaLnBrk="0" fontAlgn="base" hangingPunct="0">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464" indent="-304768" algn="l" defTabSz="609539" rtl="0" eaLnBrk="1" latinLnBrk="0" hangingPunct="1">
              <a:spcBef>
                <a:spcPct val="20000"/>
              </a:spcBef>
              <a:buFont typeface="Arial"/>
              <a:buChar char="•"/>
              <a:defRPr sz="2667" kern="1200">
                <a:solidFill>
                  <a:schemeClr val="tx1"/>
                </a:solidFill>
                <a:latin typeface="+mn-lt"/>
                <a:ea typeface="+mn-ea"/>
                <a:cs typeface="+mn-cs"/>
              </a:defRPr>
            </a:lvl6pPr>
            <a:lvl7pPr marL="3962005" indent="-304768" algn="l" defTabSz="609539" rtl="0" eaLnBrk="1" latinLnBrk="0" hangingPunct="1">
              <a:spcBef>
                <a:spcPct val="20000"/>
              </a:spcBef>
              <a:buFont typeface="Arial"/>
              <a:buChar char="•"/>
              <a:defRPr sz="2667" kern="1200">
                <a:solidFill>
                  <a:schemeClr val="tx1"/>
                </a:solidFill>
                <a:latin typeface="+mn-lt"/>
                <a:ea typeface="+mn-ea"/>
                <a:cs typeface="+mn-cs"/>
              </a:defRPr>
            </a:lvl7pPr>
            <a:lvl8pPr marL="4571544" indent="-304768" algn="l" defTabSz="609539" rtl="0" eaLnBrk="1" latinLnBrk="0" hangingPunct="1">
              <a:spcBef>
                <a:spcPct val="20000"/>
              </a:spcBef>
              <a:buFont typeface="Arial"/>
              <a:buChar char="•"/>
              <a:defRPr sz="2667" kern="1200">
                <a:solidFill>
                  <a:schemeClr val="tx1"/>
                </a:solidFill>
                <a:latin typeface="+mn-lt"/>
                <a:ea typeface="+mn-ea"/>
                <a:cs typeface="+mn-cs"/>
              </a:defRPr>
            </a:lvl8pPr>
            <a:lvl9pPr marL="5181082" indent="-304768" algn="l" defTabSz="609539" rtl="0" eaLnBrk="1" latinLnBrk="0" hangingPunct="1">
              <a:spcBef>
                <a:spcPct val="20000"/>
              </a:spcBef>
              <a:buFont typeface="Arial"/>
              <a:buChar char="•"/>
              <a:defRPr sz="2667" kern="1200">
                <a:solidFill>
                  <a:schemeClr val="tx1"/>
                </a:solidFill>
                <a:latin typeface="+mn-lt"/>
                <a:ea typeface="+mn-ea"/>
                <a:cs typeface="+mn-cs"/>
              </a:defRPr>
            </a:lvl9pPr>
          </a:lstStyle>
          <a:p>
            <a:pPr>
              <a:lnSpc>
                <a:spcPts val="2200"/>
              </a:lnSpc>
            </a:pPr>
            <a:r>
              <a:rPr lang="en-GB" sz="1800" b="1" dirty="0">
                <a:solidFill>
                  <a:schemeClr val="accent5"/>
                </a:solidFill>
              </a:rPr>
              <a:t>Any takeaways from this session?</a:t>
            </a:r>
          </a:p>
          <a:p>
            <a:pPr>
              <a:lnSpc>
                <a:spcPts val="2200"/>
              </a:lnSpc>
            </a:pPr>
            <a:r>
              <a:rPr lang="en-GB" sz="1800" b="1" dirty="0">
                <a:solidFill>
                  <a:schemeClr val="accent5"/>
                </a:solidFill>
              </a:rPr>
              <a:t>Has it helped you in your understanding of Elderly population/Frailty/Falls in respect of exercise prescription?</a:t>
            </a:r>
          </a:p>
          <a:p>
            <a:pPr>
              <a:lnSpc>
                <a:spcPts val="2200"/>
              </a:lnSpc>
            </a:pPr>
            <a:endParaRPr lang="en-GB" sz="1800" b="1" dirty="0">
              <a:solidFill>
                <a:schemeClr val="accent5"/>
              </a:solidFill>
            </a:endParaRPr>
          </a:p>
          <a:p>
            <a:pPr>
              <a:lnSpc>
                <a:spcPts val="2200"/>
              </a:lnSpc>
            </a:pPr>
            <a:endParaRPr lang="en-GB" sz="1800" b="1" dirty="0">
              <a:solidFill>
                <a:schemeClr val="accent5"/>
              </a:solidFill>
            </a:endParaRPr>
          </a:p>
          <a:p>
            <a:pPr>
              <a:lnSpc>
                <a:spcPts val="2200"/>
              </a:lnSpc>
            </a:pPr>
            <a:r>
              <a:rPr lang="en-GB" sz="1800" b="1" dirty="0">
                <a:solidFill>
                  <a:schemeClr val="accent5"/>
                </a:solidFill>
              </a:rPr>
              <a:t>Work in pairs, put ideas on a </a:t>
            </a:r>
            <a:r>
              <a:rPr lang="en-GB" sz="1800" b="1" dirty="0" err="1">
                <a:solidFill>
                  <a:schemeClr val="accent5"/>
                </a:solidFill>
              </a:rPr>
              <a:t>post-it</a:t>
            </a:r>
            <a:r>
              <a:rPr lang="en-GB" sz="1800" b="1" dirty="0">
                <a:solidFill>
                  <a:schemeClr val="accent5"/>
                </a:solidFill>
              </a:rPr>
              <a:t> or  interactive board and then share with the group.</a:t>
            </a:r>
          </a:p>
          <a:p>
            <a:endParaRPr lang="en-GB" sz="1800" b="1" dirty="0">
              <a:solidFill>
                <a:schemeClr val="accent5"/>
              </a:solidFill>
            </a:endParaRPr>
          </a:p>
          <a:p>
            <a:endParaRPr lang="en-GB" sz="1800" b="1" dirty="0">
              <a:solidFill>
                <a:schemeClr val="accent5"/>
              </a:solidFill>
            </a:endParaRPr>
          </a:p>
          <a:p>
            <a:endParaRPr lang="en-US" sz="1800" b="1" dirty="0">
              <a:solidFill>
                <a:schemeClr val="accent5"/>
              </a:solidFill>
            </a:endParaRPr>
          </a:p>
        </p:txBody>
      </p:sp>
      <p:pic>
        <p:nvPicPr>
          <p:cNvPr id="6" name="Picture 5">
            <a:extLst>
              <a:ext uri="{FF2B5EF4-FFF2-40B4-BE49-F238E27FC236}">
                <a16:creationId xmlns:a16="http://schemas.microsoft.com/office/drawing/2014/main" id="{5D8CE798-2574-B9FA-F98B-AF993E507E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245" y="4059536"/>
            <a:ext cx="1111819" cy="884237"/>
          </a:xfrm>
          <a:prstGeom prst="rect">
            <a:avLst/>
          </a:prstGeom>
        </p:spPr>
      </p:pic>
    </p:spTree>
    <p:extLst>
      <p:ext uri="{BB962C8B-B14F-4D97-AF65-F5344CB8AC3E}">
        <p14:creationId xmlns:p14="http://schemas.microsoft.com/office/powerpoint/2010/main" val="3141627440"/>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0D4733-2516-8DBB-8A15-4904E3D2D39A}"/>
              </a:ext>
            </a:extLst>
          </p:cNvPr>
          <p:cNvPicPr>
            <a:picLocks noChangeAspect="1"/>
          </p:cNvPicPr>
          <p:nvPr/>
        </p:nvPicPr>
        <p:blipFill>
          <a:blip r:embed="rId2"/>
          <a:stretch>
            <a:fillRect/>
          </a:stretch>
        </p:blipFill>
        <p:spPr>
          <a:xfrm>
            <a:off x="2159750" y="1472593"/>
            <a:ext cx="4393406" cy="2928937"/>
          </a:xfrm>
          <a:prstGeom prst="rect">
            <a:avLst/>
          </a:prstGeom>
        </p:spPr>
      </p:pic>
      <p:sp>
        <p:nvSpPr>
          <p:cNvPr id="4" name="Text Placeholder 3">
            <a:extLst>
              <a:ext uri="{FF2B5EF4-FFF2-40B4-BE49-F238E27FC236}">
                <a16:creationId xmlns:a16="http://schemas.microsoft.com/office/drawing/2014/main" id="{F2A5E02E-1F5C-C349-E696-3069B2D7C385}"/>
              </a:ext>
            </a:extLst>
          </p:cNvPr>
          <p:cNvSpPr>
            <a:spLocks noGrp="1"/>
          </p:cNvSpPr>
          <p:nvPr>
            <p:ph type="body" sz="quarter" idx="10"/>
          </p:nvPr>
        </p:nvSpPr>
        <p:spPr/>
        <p:txBody>
          <a:bodyPr/>
          <a:lstStyle/>
          <a:p>
            <a:r>
              <a:rPr lang="en-GB" dirty="0"/>
              <a:t>               Any Questions</a:t>
            </a:r>
          </a:p>
        </p:txBody>
      </p:sp>
    </p:spTree>
    <p:extLst>
      <p:ext uri="{BB962C8B-B14F-4D97-AF65-F5344CB8AC3E}">
        <p14:creationId xmlns:p14="http://schemas.microsoft.com/office/powerpoint/2010/main" val="165886305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4B464F-346D-C77A-578C-8945D1C0CDAD}"/>
              </a:ext>
            </a:extLst>
          </p:cNvPr>
          <p:cNvSpPr>
            <a:spLocks noGrp="1"/>
          </p:cNvSpPr>
          <p:nvPr>
            <p:ph type="body" sz="quarter" idx="10"/>
          </p:nvPr>
        </p:nvSpPr>
        <p:spPr/>
        <p:txBody>
          <a:bodyPr/>
          <a:lstStyle/>
          <a:p>
            <a:r>
              <a:rPr lang="en-GB" dirty="0"/>
              <a:t>       PART TWO  (Course 2)</a:t>
            </a:r>
          </a:p>
        </p:txBody>
      </p:sp>
      <p:sp>
        <p:nvSpPr>
          <p:cNvPr id="3" name="Text Placeholder 2">
            <a:extLst>
              <a:ext uri="{FF2B5EF4-FFF2-40B4-BE49-F238E27FC236}">
                <a16:creationId xmlns:a16="http://schemas.microsoft.com/office/drawing/2014/main" id="{A41FFCEB-E3A7-BC21-D1F3-A4B889BE21A0}"/>
              </a:ext>
            </a:extLst>
          </p:cNvPr>
          <p:cNvSpPr>
            <a:spLocks noGrp="1"/>
          </p:cNvSpPr>
          <p:nvPr>
            <p:ph type="body" sz="quarter" idx="11"/>
          </p:nvPr>
        </p:nvSpPr>
        <p:spPr>
          <a:xfrm>
            <a:off x="241300" y="1347635"/>
            <a:ext cx="8070850" cy="3404603"/>
          </a:xfrm>
        </p:spPr>
        <p:txBody>
          <a:bodyPr/>
          <a:lstStyle/>
          <a:p>
            <a:pPr marL="0" indent="0">
              <a:buNone/>
            </a:pPr>
            <a:r>
              <a:rPr lang="en-GB" sz="2000" b="1" dirty="0">
                <a:solidFill>
                  <a:srgbClr val="0070C0"/>
                </a:solidFill>
              </a:rPr>
              <a:t>   </a:t>
            </a:r>
            <a:r>
              <a:rPr lang="en-GB" sz="2800" b="1" dirty="0">
                <a:solidFill>
                  <a:srgbClr val="0070C0"/>
                </a:solidFill>
              </a:rPr>
              <a:t>AIM:</a:t>
            </a:r>
          </a:p>
          <a:p>
            <a:pPr marL="0" indent="0">
              <a:buNone/>
            </a:pPr>
            <a:r>
              <a:rPr lang="en-GB" sz="2800" b="1" dirty="0">
                <a:solidFill>
                  <a:srgbClr val="0070C0"/>
                </a:solidFill>
              </a:rPr>
              <a:t> To apply the principles of planning and designing an exercise </a:t>
            </a:r>
            <a:r>
              <a:rPr lang="en-GB" sz="2800" b="1" dirty="0" err="1">
                <a:solidFill>
                  <a:srgbClr val="0070C0"/>
                </a:solidFill>
              </a:rPr>
              <a:t>progamme</a:t>
            </a:r>
            <a:r>
              <a:rPr lang="en-GB" sz="2800" b="1" dirty="0">
                <a:solidFill>
                  <a:srgbClr val="0070C0"/>
                </a:solidFill>
              </a:rPr>
              <a:t> for special  populations.</a:t>
            </a:r>
          </a:p>
          <a:p>
            <a:pPr marL="0" indent="0">
              <a:buNone/>
            </a:pPr>
            <a:r>
              <a:rPr lang="en-GB" sz="2800" b="1" dirty="0">
                <a:solidFill>
                  <a:srgbClr val="0070C0"/>
                </a:solidFill>
              </a:rPr>
              <a:t>    </a:t>
            </a:r>
          </a:p>
          <a:p>
            <a:endParaRPr lang="en-GB" dirty="0"/>
          </a:p>
        </p:txBody>
      </p:sp>
    </p:spTree>
    <p:extLst>
      <p:ext uri="{BB962C8B-B14F-4D97-AF65-F5344CB8AC3E}">
        <p14:creationId xmlns:p14="http://schemas.microsoft.com/office/powerpoint/2010/main" val="589894873"/>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08FDB6-3148-D6E6-40E0-81B9D905DD7D}"/>
              </a:ext>
            </a:extLst>
          </p:cNvPr>
          <p:cNvSpPr>
            <a:spLocks noGrp="1"/>
          </p:cNvSpPr>
          <p:nvPr>
            <p:ph type="body" sz="quarter" idx="10"/>
          </p:nvPr>
        </p:nvSpPr>
        <p:spPr>
          <a:xfrm>
            <a:off x="203136" y="95270"/>
            <a:ext cx="6668019" cy="476000"/>
          </a:xfrm>
        </p:spPr>
        <p:txBody>
          <a:bodyPr/>
          <a:lstStyle/>
          <a:p>
            <a:r>
              <a:rPr lang="en-GB" sz="3200" dirty="0"/>
              <a:t>References</a:t>
            </a:r>
          </a:p>
        </p:txBody>
      </p:sp>
      <p:sp>
        <p:nvSpPr>
          <p:cNvPr id="3" name="Text Placeholder 2">
            <a:extLst>
              <a:ext uri="{FF2B5EF4-FFF2-40B4-BE49-F238E27FC236}">
                <a16:creationId xmlns:a16="http://schemas.microsoft.com/office/drawing/2014/main" id="{97188396-5680-C5F9-2D39-552D929DD210}"/>
              </a:ext>
            </a:extLst>
          </p:cNvPr>
          <p:cNvSpPr>
            <a:spLocks noGrp="1"/>
          </p:cNvSpPr>
          <p:nvPr>
            <p:ph type="body" sz="quarter" idx="11"/>
          </p:nvPr>
        </p:nvSpPr>
        <p:spPr>
          <a:xfrm>
            <a:off x="140791" y="571270"/>
            <a:ext cx="9156878" cy="4339936"/>
          </a:xfrm>
        </p:spPr>
        <p:txBody>
          <a:bodyPr/>
          <a:lstStyle/>
          <a:p>
            <a:pPr marL="0" indent="0" algn="l">
              <a:spcBef>
                <a:spcPts val="0"/>
              </a:spcBef>
              <a:buNone/>
            </a:pPr>
            <a:r>
              <a:rPr lang="en-GB" sz="1100" dirty="0">
                <a:latin typeface="+mn-lt"/>
              </a:rPr>
              <a:t>Adam, Claire E., et al. (2021) The Association Between Gait Speed and Falls in Community Dwelling Older Adults With and Without Mild</a:t>
            </a:r>
          </a:p>
          <a:p>
            <a:pPr marL="0" indent="0">
              <a:spcBef>
                <a:spcPts val="0"/>
              </a:spcBef>
              <a:buNone/>
            </a:pPr>
            <a:r>
              <a:rPr lang="en-GB" sz="1100" dirty="0">
                <a:latin typeface="+mn-lt"/>
              </a:rPr>
              <a:t>Cognitive Impairment. International Journal of Environmental Research and Public Health, </a:t>
            </a:r>
            <a:r>
              <a:rPr lang="en-GB" sz="1100" dirty="0"/>
              <a:t>18, 3712.</a:t>
            </a:r>
            <a:endParaRPr lang="en-GB" sz="1100" dirty="0">
              <a:latin typeface="+mn-lt"/>
            </a:endParaRPr>
          </a:p>
          <a:p>
            <a:pPr marL="0" indent="0" algn="l">
              <a:spcBef>
                <a:spcPts val="0"/>
              </a:spcBef>
              <a:buNone/>
            </a:pPr>
            <a:endParaRPr lang="en-GB" sz="1100" dirty="0">
              <a:latin typeface="+mn-lt"/>
            </a:endParaRPr>
          </a:p>
          <a:p>
            <a:pPr marL="0" indent="0" algn="l">
              <a:spcBef>
                <a:spcPts val="0"/>
              </a:spcBef>
              <a:buNone/>
            </a:pPr>
            <a:r>
              <a:rPr lang="en-GB" sz="1100" dirty="0">
                <a:latin typeface="+mn-lt"/>
              </a:rPr>
              <a:t>Auyeung TW, Lee SWJ, Leung J, Kwok T, Woo J. (2014) Age-associated decline of muscle mass, grip strength and gait speed: A 4-year longitudinal </a:t>
            </a:r>
          </a:p>
          <a:p>
            <a:pPr marL="0" indent="0" algn="l">
              <a:spcBef>
                <a:spcPts val="0"/>
              </a:spcBef>
              <a:buNone/>
            </a:pPr>
            <a:r>
              <a:rPr lang="en-GB" sz="1100" dirty="0">
                <a:latin typeface="+mn-lt"/>
              </a:rPr>
              <a:t>study of 3018 community-dwelling older Chinese. Geriatrics &amp; gerontology international. 2014;14:76–84. </a:t>
            </a:r>
          </a:p>
          <a:p>
            <a:pPr marL="0" indent="0" algn="l">
              <a:spcBef>
                <a:spcPts val="0"/>
              </a:spcBef>
              <a:buNone/>
            </a:pPr>
            <a:endParaRPr lang="en-GB" sz="1100" dirty="0">
              <a:latin typeface="+mn-lt"/>
            </a:endParaRPr>
          </a:p>
          <a:p>
            <a:pPr marL="0" indent="0" algn="l">
              <a:spcBef>
                <a:spcPts val="0"/>
              </a:spcBef>
              <a:buNone/>
            </a:pPr>
            <a:r>
              <a:rPr lang="en-GB" sz="1100" dirty="0">
                <a:latin typeface="+mn-lt"/>
              </a:rPr>
              <a:t>Bull FC, Buchner DM, </a:t>
            </a:r>
            <a:r>
              <a:rPr lang="en-GB" sz="1100" dirty="0" err="1">
                <a:latin typeface="+mn-lt"/>
              </a:rPr>
              <a:t>Fiatarone</a:t>
            </a:r>
            <a:r>
              <a:rPr lang="en-GB" sz="1100" dirty="0">
                <a:latin typeface="+mn-lt"/>
              </a:rPr>
              <a:t> Singh MA. (2016) Updating the evidence for physical activity: Summative reviews of the </a:t>
            </a:r>
          </a:p>
          <a:p>
            <a:pPr marL="0" indent="0" algn="l">
              <a:spcBef>
                <a:spcPts val="0"/>
              </a:spcBef>
              <a:buNone/>
            </a:pPr>
            <a:r>
              <a:rPr lang="en-GB" sz="1100" dirty="0">
                <a:latin typeface="+mn-lt"/>
              </a:rPr>
              <a:t>epidemiological evidence, prevalence, and interventions to promote "active ageing". Gerontologist. 56 </a:t>
            </a:r>
            <a:r>
              <a:rPr lang="en-GB" sz="1100" dirty="0" err="1">
                <a:latin typeface="+mn-lt"/>
              </a:rPr>
              <a:t>Suppl</a:t>
            </a:r>
            <a:r>
              <a:rPr lang="en-GB" sz="1100" dirty="0">
                <a:latin typeface="+mn-lt"/>
              </a:rPr>
              <a:t> 2:S268–80 </a:t>
            </a:r>
          </a:p>
          <a:p>
            <a:pPr marL="0" indent="0">
              <a:spcBef>
                <a:spcPts val="0"/>
              </a:spcBef>
              <a:buNone/>
            </a:pPr>
            <a:endParaRPr lang="en-GB" sz="1100" dirty="0">
              <a:latin typeface="+mn-lt"/>
            </a:endParaRPr>
          </a:p>
          <a:p>
            <a:pPr marL="0" indent="0">
              <a:buNone/>
            </a:pPr>
            <a:r>
              <a:rPr lang="en-GB" sz="1100" dirty="0"/>
              <a:t>Bullo V, Gobbo S, Vendramin B, et al. Nordic walking can be incorporated in the exercise prescription to increase aerobic capacity, strength, and quality of life for elderly: a systematic review and meta-analysis. Rejuvenation Res. 2018;21(2):141-161.</a:t>
            </a:r>
            <a:br>
              <a:rPr lang="en-GB" sz="1100" dirty="0"/>
            </a:br>
            <a:endParaRPr lang="en-GB" sz="1100" dirty="0"/>
          </a:p>
          <a:p>
            <a:pPr marL="0" indent="0">
              <a:spcBef>
                <a:spcPts val="0"/>
              </a:spcBef>
              <a:buNone/>
            </a:pPr>
            <a:r>
              <a:rPr lang="en-GB" sz="1100" dirty="0" err="1">
                <a:latin typeface="+mn-lt"/>
              </a:rPr>
              <a:t>Blajovan</a:t>
            </a:r>
            <a:r>
              <a:rPr lang="en-GB" sz="1100" dirty="0">
                <a:latin typeface="+mn-lt"/>
              </a:rPr>
              <a:t>, M.-D.; Abu-Awwad, S.-A.; Tomescu, M.-C.; Tudoran, C.; </a:t>
            </a:r>
            <a:r>
              <a:rPr lang="en-GB" sz="1100" dirty="0" err="1">
                <a:latin typeface="+mn-lt"/>
              </a:rPr>
              <a:t>Gurgus</a:t>
            </a:r>
            <a:r>
              <a:rPr lang="en-GB" sz="1100" dirty="0">
                <a:latin typeface="+mn-lt"/>
              </a:rPr>
              <a:t>, D.; Dinu, A.; Abu-Awwad, A (2025) The Role of Inflammatory Sarcopenia</a:t>
            </a:r>
          </a:p>
          <a:p>
            <a:pPr marL="0" indent="0">
              <a:spcBef>
                <a:spcPts val="0"/>
              </a:spcBef>
              <a:buNone/>
            </a:pPr>
            <a:r>
              <a:rPr lang="en-GB" sz="1100" dirty="0">
                <a:latin typeface="+mn-lt"/>
              </a:rPr>
              <a:t>in Increasing Fall Risk in Older Adults: Exploring the Impact on Mobility-Impaired and Immunocompromised Patients. Geriatrics 10, 52.</a:t>
            </a:r>
          </a:p>
          <a:p>
            <a:pPr marL="0" indent="0">
              <a:spcBef>
                <a:spcPts val="0"/>
              </a:spcBef>
              <a:buNone/>
            </a:pPr>
            <a:endParaRPr lang="en-GB" sz="1100" dirty="0">
              <a:latin typeface="+mn-lt"/>
            </a:endParaRPr>
          </a:p>
          <a:p>
            <a:pPr marL="0" indent="0">
              <a:spcBef>
                <a:spcPts val="0"/>
              </a:spcBef>
              <a:buNone/>
            </a:pPr>
            <a:r>
              <a:rPr lang="en-GB" sz="1100" dirty="0">
                <a:latin typeface="+mn-lt"/>
              </a:rPr>
              <a:t>Campbell AJ, Robertson MC.(2003) Otago exercise programme to prevent falls in older adults. Wellington: ACC </a:t>
            </a:r>
            <a:r>
              <a:rPr lang="en-GB" sz="1100" dirty="0" err="1">
                <a:latin typeface="+mn-lt"/>
              </a:rPr>
              <a:t>Thinksafe</a:t>
            </a:r>
            <a:r>
              <a:rPr lang="en-GB" sz="1100" dirty="0">
                <a:latin typeface="+mn-lt"/>
              </a:rPr>
              <a:t>. Mar;3</a:t>
            </a:r>
          </a:p>
          <a:p>
            <a:pPr marL="0" indent="0">
              <a:spcBef>
                <a:spcPts val="0"/>
              </a:spcBef>
              <a:buNone/>
            </a:pPr>
            <a:endParaRPr lang="en-GB" sz="1100" dirty="0">
              <a:latin typeface="+mn-lt"/>
            </a:endParaRPr>
          </a:p>
          <a:p>
            <a:pPr marL="0" indent="0">
              <a:spcBef>
                <a:spcPts val="0"/>
              </a:spcBef>
              <a:buNone/>
            </a:pPr>
            <a:r>
              <a:rPr lang="en-GB" sz="1100" dirty="0" err="1">
                <a:latin typeface="+mn-lt"/>
              </a:rPr>
              <a:t>Centers</a:t>
            </a:r>
            <a:r>
              <a:rPr lang="en-GB" sz="1100" dirty="0">
                <a:latin typeface="+mn-lt"/>
              </a:rPr>
              <a:t> for Disease Control and Prevention (2024) National </a:t>
            </a:r>
            <a:r>
              <a:rPr lang="en-GB" sz="1100" dirty="0" err="1">
                <a:latin typeface="+mn-lt"/>
              </a:rPr>
              <a:t>center</a:t>
            </a:r>
            <a:r>
              <a:rPr lang="en-GB" sz="1100" dirty="0">
                <a:latin typeface="+mn-lt"/>
              </a:rPr>
              <a:t> for injury prevention and control. Web-based injury statistics query and</a:t>
            </a:r>
          </a:p>
          <a:p>
            <a:pPr marL="0" indent="0">
              <a:spcBef>
                <a:spcPts val="0"/>
              </a:spcBef>
              <a:buNone/>
            </a:pPr>
            <a:r>
              <a:rPr lang="en-GB" sz="1100" dirty="0">
                <a:latin typeface="+mn-lt"/>
              </a:rPr>
              <a:t>reporting system (WISQARS). </a:t>
            </a:r>
          </a:p>
          <a:p>
            <a:pPr marL="0" indent="0">
              <a:spcBef>
                <a:spcPts val="0"/>
              </a:spcBef>
              <a:buNone/>
            </a:pPr>
            <a:endParaRPr lang="en-GB" sz="1100" dirty="0"/>
          </a:p>
          <a:p>
            <a:pPr marL="0" indent="0">
              <a:spcBef>
                <a:spcPts val="0"/>
              </a:spcBef>
              <a:buNone/>
            </a:pPr>
            <a:r>
              <a:rPr lang="en-GB" sz="1100" dirty="0"/>
              <a:t>Chen Y, Jinhui Wu.(2025) Aging-Related Sarcopenia: Metabolic Characteristics and Therapeutic Strategies. Aging and disease. 16(2): 1003-1022</a:t>
            </a:r>
          </a:p>
          <a:p>
            <a:pPr>
              <a:lnSpc>
                <a:spcPts val="1800"/>
              </a:lnSpc>
              <a:buNone/>
            </a:pPr>
            <a:r>
              <a:rPr lang="en-GB" sz="1100" dirty="0"/>
              <a:t>Cruz-Jentoft AJ, Sayer AA (2019) Sarcopenia. Lancet 393:2636–2646. </a:t>
            </a:r>
          </a:p>
          <a:p>
            <a:pPr marL="0" indent="-252000">
              <a:spcBef>
                <a:spcPts val="0"/>
              </a:spcBef>
              <a:buNone/>
            </a:pPr>
            <a:endParaRPr lang="en-GB" sz="1100" dirty="0"/>
          </a:p>
          <a:p>
            <a:pPr marL="0" indent="-252000">
              <a:spcBef>
                <a:spcPts val="0"/>
              </a:spcBef>
              <a:buNone/>
            </a:pPr>
            <a:r>
              <a:rPr lang="en-GB" sz="1100" dirty="0"/>
              <a:t>Clemson L, </a:t>
            </a:r>
            <a:r>
              <a:rPr lang="en-GB" sz="1100" dirty="0" err="1"/>
              <a:t>Fiatarone</a:t>
            </a:r>
            <a:r>
              <a:rPr lang="en-GB" sz="1100" dirty="0"/>
              <a:t> Singh MA, Bundy A. et al (2012) Integration of balance and strength training 240. into daily life activity to reduce rate of falls in older</a:t>
            </a:r>
          </a:p>
          <a:p>
            <a:pPr marL="0" indent="-252000">
              <a:spcBef>
                <a:spcPts val="0"/>
              </a:spcBef>
              <a:buNone/>
            </a:pPr>
            <a:r>
              <a:rPr lang="en-GB" sz="1100" dirty="0"/>
              <a:t>people (the </a:t>
            </a:r>
            <a:r>
              <a:rPr lang="en-GB" sz="1100" dirty="0" err="1"/>
              <a:t>LiFE</a:t>
            </a:r>
            <a:r>
              <a:rPr lang="en-GB" sz="1100" dirty="0"/>
              <a:t> study): randomised parallel trial. BMI. ;345:e4547</a:t>
            </a:r>
          </a:p>
          <a:p>
            <a:pPr>
              <a:lnSpc>
                <a:spcPts val="1800"/>
              </a:lnSpc>
              <a:buNone/>
            </a:pPr>
            <a:endParaRPr lang="en-GB" sz="1100" dirty="0"/>
          </a:p>
          <a:p>
            <a:pPr>
              <a:lnSpc>
                <a:spcPts val="1800"/>
              </a:lnSpc>
              <a:buNone/>
            </a:pPr>
            <a:endParaRPr lang="en-GB" sz="1100" dirty="0"/>
          </a:p>
          <a:p>
            <a:pPr marL="0" indent="0">
              <a:spcBef>
                <a:spcPts val="0"/>
              </a:spcBef>
              <a:buNone/>
            </a:pPr>
            <a:endParaRPr lang="en-GB" sz="1100" dirty="0"/>
          </a:p>
          <a:p>
            <a:pPr>
              <a:lnSpc>
                <a:spcPts val="1800"/>
              </a:lnSpc>
              <a:buNone/>
            </a:pPr>
            <a:endParaRPr lang="en-GB" sz="1100" dirty="0"/>
          </a:p>
        </p:txBody>
      </p:sp>
    </p:spTree>
    <p:extLst>
      <p:ext uri="{BB962C8B-B14F-4D97-AF65-F5344CB8AC3E}">
        <p14:creationId xmlns:p14="http://schemas.microsoft.com/office/powerpoint/2010/main" val="3208944417"/>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846ECDB-1A6D-CEF1-D326-92E9B65763FA}"/>
              </a:ext>
            </a:extLst>
          </p:cNvPr>
          <p:cNvSpPr>
            <a:spLocks noGrp="1"/>
          </p:cNvSpPr>
          <p:nvPr>
            <p:ph type="pic" sz="quarter" idx="13"/>
          </p:nvPr>
        </p:nvSpPr>
        <p:spPr>
          <a:xfrm>
            <a:off x="0" y="0"/>
            <a:ext cx="9144000" cy="4371950"/>
          </a:xfrm>
        </p:spPr>
        <p:txBody>
          <a:bodyPr/>
          <a:lstStyle/>
          <a:p>
            <a:endParaRPr lang="en-GB"/>
          </a:p>
        </p:txBody>
      </p:sp>
      <p:sp>
        <p:nvSpPr>
          <p:cNvPr id="3" name="Text Placeholder 2">
            <a:extLst>
              <a:ext uri="{FF2B5EF4-FFF2-40B4-BE49-F238E27FC236}">
                <a16:creationId xmlns:a16="http://schemas.microsoft.com/office/drawing/2014/main" id="{E5BBD344-547C-38BB-3731-AF79C7D58151}"/>
              </a:ext>
            </a:extLst>
          </p:cNvPr>
          <p:cNvSpPr>
            <a:spLocks noGrp="1"/>
          </p:cNvSpPr>
          <p:nvPr>
            <p:ph type="body" sz="quarter" idx="4294967295"/>
          </p:nvPr>
        </p:nvSpPr>
        <p:spPr>
          <a:xfrm>
            <a:off x="222250" y="606450"/>
            <a:ext cx="8921750" cy="4371950"/>
          </a:xfrm>
          <a:prstGeom prst="rect">
            <a:avLst/>
          </a:prstGeom>
        </p:spPr>
        <p:txBody>
          <a:bodyPr/>
          <a:lstStyle/>
          <a:p>
            <a:pPr marL="0" indent="0">
              <a:spcBef>
                <a:spcPts val="0"/>
              </a:spcBef>
              <a:buNone/>
            </a:pPr>
            <a:r>
              <a:rPr lang="en-GB" sz="1100" dirty="0"/>
              <a:t>Dani M, Patricia Taraborrelli, Dimitrios Panagopoulos, Andreas Dirksen, Miriam </a:t>
            </a:r>
            <a:r>
              <a:rPr lang="en-GB" sz="1100" dirty="0" err="1"/>
              <a:t>Torocastro</a:t>
            </a:r>
            <a:r>
              <a:rPr lang="en-GB" sz="1100" dirty="0"/>
              <a:t>, Richard Sutton, Phang Boon Lim (2022) New horizons in</a:t>
            </a:r>
          </a:p>
          <a:p>
            <a:pPr marL="0" indent="0">
              <a:spcBef>
                <a:spcPts val="0"/>
              </a:spcBef>
              <a:buNone/>
            </a:pPr>
            <a:r>
              <a:rPr lang="en-GB" sz="1100" dirty="0"/>
              <a:t>the ageing autonomic nervous system: orthostatic hypotension and supine hypertension, Age and Ageing. 51, 8.</a:t>
            </a:r>
          </a:p>
          <a:p>
            <a:pPr marL="0" indent="0">
              <a:spcBef>
                <a:spcPts val="0"/>
              </a:spcBef>
              <a:spcAft>
                <a:spcPts val="0"/>
              </a:spcAft>
              <a:buNone/>
            </a:pPr>
            <a:endParaRPr lang="en-GB" sz="1100" dirty="0"/>
          </a:p>
          <a:p>
            <a:pPr marL="0" indent="0">
              <a:spcBef>
                <a:spcPts val="0"/>
              </a:spcBef>
              <a:spcAft>
                <a:spcPts val="0"/>
              </a:spcAft>
              <a:buNone/>
            </a:pPr>
            <a:r>
              <a:rPr lang="en-GB" sz="1100" dirty="0"/>
              <a:t>Drewnowski, A ∙ Evans, WJ (2001) Nutrition, physical activity, and quality of life in older adults: </a:t>
            </a:r>
            <a:r>
              <a:rPr lang="en-GB" sz="1100" dirty="0" err="1"/>
              <a:t>summaryJ</a:t>
            </a:r>
            <a:r>
              <a:rPr lang="en-GB" sz="1100" dirty="0"/>
              <a:t> </a:t>
            </a:r>
            <a:r>
              <a:rPr lang="en-GB" sz="1100" dirty="0" err="1"/>
              <a:t>Gerontol</a:t>
            </a:r>
            <a:r>
              <a:rPr lang="en-GB" sz="1100" dirty="0"/>
              <a:t> A </a:t>
            </a:r>
            <a:r>
              <a:rPr lang="en-GB" sz="1100" dirty="0" err="1"/>
              <a:t>Biol</a:t>
            </a:r>
            <a:r>
              <a:rPr lang="en-GB" sz="1100" dirty="0"/>
              <a:t> Sci Med Sci. 56(</a:t>
            </a:r>
            <a:r>
              <a:rPr lang="en-GB" sz="1100" dirty="0" err="1"/>
              <a:t>suppl</a:t>
            </a:r>
            <a:r>
              <a:rPr lang="en-GB" sz="1100" dirty="0"/>
              <a:t> </a:t>
            </a:r>
          </a:p>
          <a:p>
            <a:pPr marL="0" indent="0">
              <a:spcBef>
                <a:spcPts val="0"/>
              </a:spcBef>
              <a:spcAft>
                <a:spcPts val="0"/>
              </a:spcAft>
              <a:buNone/>
            </a:pPr>
            <a:r>
              <a:rPr lang="en-GB" sz="1100" dirty="0"/>
              <a:t>2):89-94</a:t>
            </a:r>
          </a:p>
          <a:p>
            <a:pPr marL="266700" marR="0" lvl="0" indent="-266700" algn="l" defTabSz="606410" rtl="0" eaLnBrk="0" fontAlgn="base" latinLnBrk="0" hangingPunct="0">
              <a:spcBef>
                <a:spcPts val="0"/>
              </a:spcBef>
              <a:spcAft>
                <a:spcPts val="0"/>
              </a:spcAft>
              <a:buClr>
                <a:srgbClr val="16818D"/>
              </a:buClr>
              <a:buSzTx/>
              <a:buFont typeface="+mj-lt"/>
              <a:buNone/>
              <a:tabLst/>
              <a:defRPr/>
            </a:pPr>
            <a:endParaRPr lang="en-GB" sz="1100" dirty="0">
              <a:solidFill>
                <a:prstClr val="black"/>
              </a:solidFill>
              <a:ea typeface="Calibri" panose="020F0502020204030204" pitchFamily="34" charset="0"/>
              <a:cs typeface="Calibri" panose="020F0502020204030204" pitchFamily="34" charset="0"/>
            </a:endParaRPr>
          </a:p>
          <a:p>
            <a:pPr marL="0" indent="0">
              <a:buNone/>
            </a:pPr>
            <a:r>
              <a:rPr lang="en-GB" sz="1100" dirty="0"/>
              <a:t>El-Khoury F, </a:t>
            </a:r>
            <a:r>
              <a:rPr lang="en-GB" sz="1100" dirty="0" err="1"/>
              <a:t>Cassou</a:t>
            </a:r>
            <a:r>
              <a:rPr lang="en-GB" sz="1100" dirty="0"/>
              <a:t> B, Charles MA, et al. (2013)The effect of fall prevention exercise programmes on fall induced injuries in community dwelling older adults: systematic review and meta-analysis of randomised controlled trials. BMI;347:f6234</a:t>
            </a:r>
          </a:p>
          <a:p>
            <a:pPr marL="0" indent="0">
              <a:buNone/>
            </a:pPr>
            <a:endParaRPr lang="en-GB" sz="1100" dirty="0"/>
          </a:p>
          <a:p>
            <a:pPr marL="0" indent="0">
              <a:buNone/>
            </a:pPr>
            <a:r>
              <a:rPr lang="en-GB" sz="1100" dirty="0"/>
              <a:t>Farlie MK, Robins L, Haas R, et al. Programme frequency, type, time and duration do not explain the effects of balance exercise in older adults: a systematic review with a meta-regression analysis. Br J Sports Med. 2019;53(16):996-1002.</a:t>
            </a:r>
          </a:p>
          <a:p>
            <a:pPr marL="266700" marR="0" lvl="0" indent="-266700" algn="l" defTabSz="606410" rtl="0" eaLnBrk="0" fontAlgn="base" latinLnBrk="0" hangingPunct="0">
              <a:spcBef>
                <a:spcPts val="0"/>
              </a:spcBef>
              <a:spcAft>
                <a:spcPts val="0"/>
              </a:spcAft>
              <a:buClr>
                <a:srgbClr val="16818D"/>
              </a:buClr>
              <a:buSzTx/>
              <a:buFont typeface="+mj-lt"/>
              <a:buNone/>
              <a:tabLst/>
              <a:defRPr/>
            </a:pPr>
            <a:endParaRPr lang="en-GB" sz="1100" dirty="0">
              <a:solidFill>
                <a:prstClr val="black"/>
              </a:solidFill>
              <a:ea typeface="Calibri" panose="020F0502020204030204" pitchFamily="34" charset="0"/>
              <a:cs typeface="Calibri" panose="020F0502020204030204" pitchFamily="34" charset="0"/>
            </a:endParaRPr>
          </a:p>
          <a:p>
            <a:pPr marL="266700" marR="0" lvl="0" indent="-266700" algn="l" defTabSz="606410" rtl="0" eaLnBrk="0" fontAlgn="base" latinLnBrk="0" hangingPunct="0">
              <a:spcBef>
                <a:spcPts val="0"/>
              </a:spcBef>
              <a:spcAft>
                <a:spcPts val="0"/>
              </a:spcAft>
              <a:buClr>
                <a:srgbClr val="16818D"/>
              </a:buClr>
              <a:buSzTx/>
              <a:buFont typeface="+mj-lt"/>
              <a:buNone/>
              <a:tabLst/>
              <a:defRPr/>
            </a:pPr>
            <a:r>
              <a:rPr lang="en-GB" sz="1100" dirty="0">
                <a:solidFill>
                  <a:prstClr val="black"/>
                </a:solidFill>
                <a:ea typeface="Calibri" panose="020F0502020204030204" pitchFamily="34" charset="0"/>
                <a:cs typeface="Calibri" panose="020F0502020204030204" pitchFamily="34" charset="0"/>
              </a:rPr>
              <a:t>Fried LP, Tangen CM, Walston J, et al. (2001) Frailty in older adults evidence for a phenotype. The Journals of Gerontology Series A: Biological</a:t>
            </a:r>
          </a:p>
          <a:p>
            <a:pPr marL="266700" marR="0" lvl="0" indent="-266700" algn="l" defTabSz="606410" rtl="0" eaLnBrk="0" fontAlgn="base" latinLnBrk="0" hangingPunct="0">
              <a:spcBef>
                <a:spcPts val="0"/>
              </a:spcBef>
              <a:spcAft>
                <a:spcPts val="0"/>
              </a:spcAft>
              <a:buClr>
                <a:srgbClr val="16818D"/>
              </a:buClr>
              <a:buSzTx/>
              <a:buFont typeface="+mj-lt"/>
              <a:buNone/>
              <a:tabLst/>
              <a:defRPr/>
            </a:pPr>
            <a:r>
              <a:rPr lang="en-GB" sz="1100" dirty="0">
                <a:solidFill>
                  <a:prstClr val="black"/>
                </a:solidFill>
                <a:ea typeface="Calibri" panose="020F0502020204030204" pitchFamily="34" charset="0"/>
                <a:cs typeface="Calibri" panose="020F0502020204030204" pitchFamily="34" charset="0"/>
              </a:rPr>
              <a:t>Sciences and Medical Sciences. 2001;56:146–157. </a:t>
            </a:r>
            <a:endPar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endParaRPr>
          </a:p>
          <a:p>
            <a:pPr marL="266700" marR="0" lvl="0" indent="-266700" algn="l" defTabSz="606410" rtl="0" eaLnBrk="0" fontAlgn="base" latinLnBrk="0" hangingPunct="0">
              <a:spcBef>
                <a:spcPts val="0"/>
              </a:spcBef>
              <a:spcAft>
                <a:spcPts val="0"/>
              </a:spcAft>
              <a:buClr>
                <a:srgbClr val="16818D"/>
              </a:buClr>
              <a:buSzTx/>
              <a:buFont typeface="+mj-lt"/>
              <a:buNone/>
              <a:tabLst/>
              <a:defRPr/>
            </a:pPr>
            <a:endPar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endParaRPr>
          </a:p>
          <a:p>
            <a:pPr marL="266700" marR="0" lvl="0" indent="-266700" algn="l" defTabSz="606410" rtl="0" eaLnBrk="0" fontAlgn="base" latinLnBrk="0" hangingPunct="0">
              <a:spcBef>
                <a:spcPts val="0"/>
              </a:spcBef>
              <a:spcAft>
                <a:spcPts val="0"/>
              </a:spcAft>
              <a:buClr>
                <a:srgbClr val="16818D"/>
              </a:buClr>
              <a:buSzTx/>
              <a:buFont typeface="+mj-lt"/>
              <a:buNone/>
              <a:tabLst/>
              <a:defRPr/>
            </a:pPr>
            <a:r>
              <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Gallagher D, Visser M, De Meersman RE, et al.(1985) Appendicular skeletal muscle mass: effects of age, gender, and ethnicity. J Appl </a:t>
            </a:r>
            <a:r>
              <a:rPr kumimoji="0" lang="en-GB" sz="1100" b="0" i="0" u="none" strike="noStrike" kern="1200" cap="none" spc="0" normalizeH="0" baseline="0" noProof="0" dirty="0" err="1">
                <a:ln>
                  <a:noFill/>
                </a:ln>
                <a:solidFill>
                  <a:prstClr val="black"/>
                </a:solidFill>
                <a:effectLst/>
                <a:uLnTx/>
                <a:uFillTx/>
                <a:ea typeface="Calibri" panose="020F0502020204030204" pitchFamily="34" charset="0"/>
                <a:cs typeface="Calibri" panose="020F0502020204030204" pitchFamily="34" charset="0"/>
              </a:rPr>
              <a:t>Physiol</a:t>
            </a:r>
            <a:r>
              <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 83:229–239. </a:t>
            </a:r>
          </a:p>
          <a:p>
            <a:pPr marL="266700" marR="0" lvl="0" indent="-266700" algn="l" defTabSz="606410" rtl="0" eaLnBrk="0" fontAlgn="base" latinLnBrk="0" hangingPunct="0">
              <a:spcBef>
                <a:spcPts val="0"/>
              </a:spcBef>
              <a:spcAft>
                <a:spcPts val="0"/>
              </a:spcAft>
              <a:buClr>
                <a:srgbClr val="16818D"/>
              </a:buClr>
              <a:buSzTx/>
              <a:buFont typeface="+mj-lt"/>
              <a:buNone/>
              <a:tabLst/>
              <a:defRPr/>
            </a:pPr>
            <a:endParaRPr lang="en-GB" sz="1100" dirty="0">
              <a:solidFill>
                <a:prstClr val="black"/>
              </a:solidFill>
              <a:ea typeface="Calibri" panose="020F0502020204030204" pitchFamily="34" charset="0"/>
              <a:cs typeface="Calibri" panose="020F0502020204030204" pitchFamily="34" charset="0"/>
            </a:endParaRPr>
          </a:p>
          <a:p>
            <a:pPr marL="266700" marR="0" lvl="0" indent="-266700" algn="l" defTabSz="606410" rtl="0" eaLnBrk="0" fontAlgn="base" latinLnBrk="0" hangingPunct="0">
              <a:spcBef>
                <a:spcPts val="0"/>
              </a:spcBef>
              <a:spcAft>
                <a:spcPts val="0"/>
              </a:spcAft>
              <a:buClr>
                <a:srgbClr val="16818D"/>
              </a:buClr>
              <a:buSzTx/>
              <a:buFont typeface="+mj-lt"/>
              <a:buNone/>
              <a:tabLst/>
              <a:defRPr/>
            </a:pPr>
            <a:r>
              <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Gardner MM, Buchner DM, Robertson MC, Campbell AJ. Practical implementation of an exercise‐based falls prevention programme. Age and</a:t>
            </a:r>
          </a:p>
          <a:p>
            <a:pPr marL="266700" marR="0" lvl="0" indent="-266700" algn="l" defTabSz="606410" rtl="0" eaLnBrk="0" fontAlgn="base" latinLnBrk="0" hangingPunct="0">
              <a:spcBef>
                <a:spcPts val="0"/>
              </a:spcBef>
              <a:spcAft>
                <a:spcPts val="0"/>
              </a:spcAft>
              <a:buClr>
                <a:srgbClr val="16818D"/>
              </a:buClr>
              <a:buSzTx/>
              <a:buFont typeface="+mj-lt"/>
              <a:buNone/>
              <a:tabLst/>
              <a:defRPr/>
            </a:pPr>
            <a:r>
              <a:rPr kumimoji="0" lang="en-GB" sz="1100" b="0" i="0" u="none" strike="noStrike" kern="120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ageing. 2001 Jan 1;30(1):77-83.</a:t>
            </a:r>
          </a:p>
          <a:p>
            <a:pPr marL="0" indent="0" algn="l">
              <a:spcBef>
                <a:spcPts val="0"/>
              </a:spcBef>
              <a:spcAft>
                <a:spcPts val="0"/>
              </a:spcAft>
              <a:buNone/>
            </a:pPr>
            <a:endParaRPr lang="en-GB" sz="1100" dirty="0">
              <a:solidFill>
                <a:srgbClr val="020621"/>
              </a:solidFill>
            </a:endParaRPr>
          </a:p>
          <a:p>
            <a:pPr marL="0" indent="0" algn="l">
              <a:spcBef>
                <a:spcPts val="0"/>
              </a:spcBef>
              <a:spcAft>
                <a:spcPts val="0"/>
              </a:spcAft>
              <a:buNone/>
            </a:pPr>
            <a:r>
              <a:rPr lang="en-GB" sz="1100" dirty="0" err="1">
                <a:solidFill>
                  <a:srgbClr val="020621"/>
                </a:solidFill>
              </a:rPr>
              <a:t>Idoate</a:t>
            </a:r>
            <a:r>
              <a:rPr lang="en-GB" sz="1100" dirty="0">
                <a:solidFill>
                  <a:srgbClr val="020621"/>
                </a:solidFill>
              </a:rPr>
              <a:t> F, Cadore EL, Casas-Herrero A, et al (2014) Adipose tissue compartments, muscle mass, muscle fat infiltration, and coronary calcium in institutionalized frail nonagenarians. </a:t>
            </a:r>
            <a:r>
              <a:rPr lang="en-GB" sz="1100" dirty="0" err="1">
                <a:solidFill>
                  <a:srgbClr val="020621"/>
                </a:solidFill>
              </a:rPr>
              <a:t>Eur</a:t>
            </a:r>
            <a:r>
              <a:rPr lang="en-GB" sz="1100" dirty="0">
                <a:solidFill>
                  <a:srgbClr val="020621"/>
                </a:solidFill>
              </a:rPr>
              <a:t> </a:t>
            </a:r>
            <a:r>
              <a:rPr lang="en-GB" sz="1100" dirty="0" err="1">
                <a:solidFill>
                  <a:srgbClr val="020621"/>
                </a:solidFill>
              </a:rPr>
              <a:t>Radiol</a:t>
            </a:r>
            <a:r>
              <a:rPr lang="en-GB" sz="1100" dirty="0">
                <a:solidFill>
                  <a:srgbClr val="020621"/>
                </a:solidFill>
              </a:rPr>
              <a:t>. :1–13. </a:t>
            </a:r>
          </a:p>
          <a:p>
            <a:pPr marL="0" indent="0" algn="l">
              <a:spcBef>
                <a:spcPts val="0"/>
              </a:spcBef>
              <a:spcAft>
                <a:spcPts val="0"/>
              </a:spcAft>
              <a:buNone/>
            </a:pPr>
            <a:endParaRPr lang="en-GB" sz="1100" dirty="0">
              <a:solidFill>
                <a:srgbClr val="020621"/>
              </a:solidFill>
            </a:endParaRPr>
          </a:p>
          <a:p>
            <a:pPr marL="0" indent="0" algn="l">
              <a:spcBef>
                <a:spcPts val="0"/>
              </a:spcBef>
              <a:spcAft>
                <a:spcPts val="0"/>
              </a:spcAft>
              <a:buNone/>
            </a:pPr>
            <a:r>
              <a:rPr lang="en-GB" sz="1100" dirty="0">
                <a:solidFill>
                  <a:srgbClr val="020621"/>
                </a:solidFill>
              </a:rPr>
              <a:t>Kitamura I, Koda M, Otsuka R, Ando F, </a:t>
            </a:r>
            <a:r>
              <a:rPr lang="en-GB" sz="1100" dirty="0" err="1">
                <a:solidFill>
                  <a:srgbClr val="020621"/>
                </a:solidFill>
              </a:rPr>
              <a:t>Shimokata</a:t>
            </a:r>
            <a:r>
              <a:rPr lang="en-GB" sz="1100" dirty="0">
                <a:solidFill>
                  <a:srgbClr val="020621"/>
                </a:solidFill>
              </a:rPr>
              <a:t> H.(2014). Six-year longitudinal changes in body composition of middle-aged and elderly Japanese: Age and sex differences in appendicular skeletal muscle mass. Geriatrics &amp; gerontology international.;14:354–361. </a:t>
            </a:r>
          </a:p>
          <a:p>
            <a:pPr marL="0" indent="0" algn="l">
              <a:spcBef>
                <a:spcPts val="0"/>
              </a:spcBef>
              <a:spcAft>
                <a:spcPts val="0"/>
              </a:spcAft>
              <a:buNone/>
            </a:pPr>
            <a:endParaRPr lang="en-GB" sz="1100" dirty="0">
              <a:solidFill>
                <a:srgbClr val="020621"/>
              </a:solidFill>
            </a:endParaRPr>
          </a:p>
          <a:p>
            <a:endParaRPr lang="en-GB" dirty="0"/>
          </a:p>
        </p:txBody>
      </p:sp>
    </p:spTree>
    <p:extLst>
      <p:ext uri="{BB962C8B-B14F-4D97-AF65-F5344CB8AC3E}">
        <p14:creationId xmlns:p14="http://schemas.microsoft.com/office/powerpoint/2010/main" val="3424997402"/>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079FE8C-F3A1-C92A-D98B-D92EDFB52566}"/>
              </a:ext>
            </a:extLst>
          </p:cNvPr>
          <p:cNvSpPr>
            <a:spLocks noGrp="1"/>
          </p:cNvSpPr>
          <p:nvPr>
            <p:ph type="body" sz="quarter" idx="10"/>
          </p:nvPr>
        </p:nvSpPr>
        <p:spPr>
          <a:xfrm>
            <a:off x="754122" y="0"/>
            <a:ext cx="6668019" cy="166255"/>
          </a:xfrm>
        </p:spPr>
        <p:txBody>
          <a:bodyPr/>
          <a:lstStyle/>
          <a:p>
            <a:endParaRPr lang="en-GB" dirty="0"/>
          </a:p>
        </p:txBody>
      </p:sp>
      <p:sp>
        <p:nvSpPr>
          <p:cNvPr id="3" name="Text Placeholder 2">
            <a:extLst>
              <a:ext uri="{FF2B5EF4-FFF2-40B4-BE49-F238E27FC236}">
                <a16:creationId xmlns:a16="http://schemas.microsoft.com/office/drawing/2014/main" id="{9579D367-F414-2F18-D24C-19759D3FBE2F}"/>
              </a:ext>
            </a:extLst>
          </p:cNvPr>
          <p:cNvSpPr>
            <a:spLocks noGrp="1"/>
          </p:cNvSpPr>
          <p:nvPr>
            <p:ph type="body" sz="quarter" idx="11"/>
          </p:nvPr>
        </p:nvSpPr>
        <p:spPr>
          <a:xfrm>
            <a:off x="235527" y="488301"/>
            <a:ext cx="8908473" cy="4655199"/>
          </a:xfrm>
        </p:spPr>
        <p:txBody>
          <a:bodyPr/>
          <a:lstStyle/>
          <a:p>
            <a:pPr marL="0" indent="0">
              <a:spcBef>
                <a:spcPts val="0"/>
              </a:spcBef>
              <a:buNone/>
            </a:pPr>
            <a:r>
              <a:rPr lang="en-GB" sz="1100" dirty="0">
                <a:solidFill>
                  <a:srgbClr val="020621"/>
                </a:solidFill>
              </a:rPr>
              <a:t>Kidd, T ∙ Mold, F ∙ Jones, C ∙ et al. (2019) What are the most effective interventions to improve physical performance in pre-frail and frail adults? A systematic review of randomised control trials. BMC </a:t>
            </a:r>
            <a:r>
              <a:rPr lang="en-GB" sz="1100" dirty="0" err="1">
                <a:solidFill>
                  <a:srgbClr val="020621"/>
                </a:solidFill>
              </a:rPr>
              <a:t>Geriatr</a:t>
            </a:r>
            <a:r>
              <a:rPr lang="en-GB" sz="1100" dirty="0">
                <a:solidFill>
                  <a:srgbClr val="020621"/>
                </a:solidFill>
              </a:rPr>
              <a:t>. 19:184</a:t>
            </a:r>
          </a:p>
          <a:p>
            <a:pPr marL="0" indent="0">
              <a:spcBef>
                <a:spcPts val="0"/>
              </a:spcBef>
              <a:buNone/>
            </a:pPr>
            <a:endParaRPr lang="en-GB" sz="1100" dirty="0"/>
          </a:p>
          <a:p>
            <a:pPr marL="0" indent="0">
              <a:spcBef>
                <a:spcPts val="0"/>
              </a:spcBef>
              <a:buNone/>
            </a:pPr>
            <a:r>
              <a:rPr lang="en-GB" sz="1100" dirty="0"/>
              <a:t>Lee, H, E Lee, IY Jang (2020) Frailty and comprehensive geriatric assessment J Korean Med Sci, 35 (3) (2020), pp. 1-13.</a:t>
            </a:r>
          </a:p>
          <a:p>
            <a:pPr marL="0" indent="0">
              <a:spcBef>
                <a:spcPts val="0"/>
              </a:spcBef>
              <a:buNone/>
            </a:pPr>
            <a:endParaRPr lang="en-GB" sz="1100" dirty="0"/>
          </a:p>
          <a:p>
            <a:pPr marL="0" indent="0">
              <a:spcBef>
                <a:spcPts val="0"/>
              </a:spcBef>
              <a:buNone/>
            </a:pPr>
            <a:r>
              <a:rPr lang="en-GB" sz="1100" dirty="0"/>
              <a:t>Livingston G, </a:t>
            </a:r>
            <a:r>
              <a:rPr lang="en-GB" sz="1100" dirty="0" err="1"/>
              <a:t>Sommerlad</a:t>
            </a:r>
            <a:r>
              <a:rPr lang="en-GB" sz="1100" dirty="0"/>
              <a:t> A, Orgeta V, </a:t>
            </a:r>
            <a:r>
              <a:rPr lang="en-GB" sz="1100" dirty="0" err="1"/>
              <a:t>Costafreda</a:t>
            </a:r>
            <a:r>
              <a:rPr lang="en-GB" sz="1100" dirty="0"/>
              <a:t> SG, Huntley J, Ames D et al. (2017) Dementia prevention,  intervention, and care. Lancet. ;390(10113):2673-734</a:t>
            </a:r>
          </a:p>
          <a:p>
            <a:pPr marL="0" indent="0">
              <a:buNone/>
            </a:pPr>
            <a:endParaRPr lang="en-GB" sz="1100" dirty="0"/>
          </a:p>
          <a:p>
            <a:pPr marL="0" indent="0">
              <a:buNone/>
            </a:pPr>
            <a:r>
              <a:rPr lang="en-GB" sz="1100" dirty="0"/>
              <a:t>Nan, L, Grunberg, D, De Silva, S, Sivaramakrishnan, D (2024) Evaluating the effectiveness of Tai Chi in short-term, medium-term, and long-term on balance and strength among the elderly: A systematic review and meta-analysis. Archives of Gerontology and Geriatrics Plus,1:4.</a:t>
            </a:r>
          </a:p>
          <a:p>
            <a:pPr marL="0" indent="0">
              <a:buNone/>
            </a:pPr>
            <a:endParaRPr lang="en-GB" sz="1100" dirty="0"/>
          </a:p>
          <a:p>
            <a:pPr marL="0" indent="0">
              <a:buNone/>
            </a:pPr>
            <a:r>
              <a:rPr lang="en-GB" sz="1100" dirty="0"/>
              <a:t>Phelan EA, Ritchey K (2018) Fall prevention in community-dwelling older adults. Ann Intern Med 169:81–96. </a:t>
            </a:r>
          </a:p>
          <a:p>
            <a:pPr marL="0" indent="0">
              <a:buNone/>
            </a:pPr>
            <a:endParaRPr lang="en-GB" sz="1100" dirty="0"/>
          </a:p>
          <a:p>
            <a:pPr marL="0" indent="0">
              <a:buNone/>
            </a:pPr>
            <a:r>
              <a:rPr lang="en-GB" sz="1100" dirty="0" err="1"/>
              <a:t>Terroso</a:t>
            </a:r>
            <a:r>
              <a:rPr lang="en-GB" sz="1100" dirty="0"/>
              <a:t> M, Rosa N, Torres Marques A et al (2014) Physical consequences of falls in the elderly: a literature review from 1995 to 2010. </a:t>
            </a:r>
            <a:r>
              <a:rPr lang="en-GB" sz="1100" dirty="0" err="1"/>
              <a:t>Eur</a:t>
            </a:r>
            <a:r>
              <a:rPr lang="en-GB" sz="1100" dirty="0"/>
              <a:t> Rev Aging Phys A 11:51–59. </a:t>
            </a:r>
          </a:p>
          <a:p>
            <a:pPr marL="0" indent="0">
              <a:buNone/>
            </a:pPr>
            <a:endParaRPr lang="en-GB" sz="1100" dirty="0"/>
          </a:p>
          <a:p>
            <a:pPr marL="0" indent="0">
              <a:buNone/>
            </a:pPr>
            <a:r>
              <a:rPr lang="en-GB" sz="1100" dirty="0"/>
              <a:t>Thompson CJ, Holskey TH, </a:t>
            </a:r>
            <a:r>
              <a:rPr lang="en-GB" sz="1100" dirty="0" err="1"/>
              <a:t>Wallenrod</a:t>
            </a:r>
            <a:r>
              <a:rPr lang="en-GB" sz="1100" dirty="0"/>
              <a:t> S, et al (2019) Effectiveness of a fall prevention exercise program on falls risk in community-dwelling older adults. </a:t>
            </a:r>
            <a:r>
              <a:rPr lang="en-GB" sz="1100" dirty="0" err="1"/>
              <a:t>Transl</a:t>
            </a:r>
            <a:r>
              <a:rPr lang="en-GB" sz="1100" dirty="0"/>
              <a:t> J Am Coll Sports Med;4(3): 16-22</a:t>
            </a:r>
          </a:p>
          <a:p>
            <a:pPr marL="0" indent="0">
              <a:buNone/>
            </a:pPr>
            <a:endParaRPr lang="en-GB" sz="1100" dirty="0"/>
          </a:p>
          <a:p>
            <a:pPr marL="0" indent="0">
              <a:buNone/>
            </a:pPr>
            <a:r>
              <a:rPr lang="en-GB" sz="1050" dirty="0"/>
              <a:t>Santos AC, Willumsen J, </a:t>
            </a:r>
            <a:r>
              <a:rPr lang="en-GB" sz="1050" dirty="0" err="1"/>
              <a:t>Meheus</a:t>
            </a:r>
            <a:r>
              <a:rPr lang="en-GB" sz="1050" dirty="0"/>
              <a:t> F, </a:t>
            </a:r>
            <a:r>
              <a:rPr lang="en-GB" sz="1050" dirty="0" err="1"/>
              <a:t>Ilbawi</a:t>
            </a:r>
            <a:r>
              <a:rPr lang="en-GB" sz="1050" dirty="0"/>
              <a:t> A, Bull FC. (2023) The cost of inaction on physical inactivity to public health-care systems: a population-attributable fraction analysis. Lancet Glob Health. 2023;11(1):</a:t>
            </a:r>
          </a:p>
          <a:p>
            <a:pPr marL="0" indent="0">
              <a:buNone/>
            </a:pPr>
            <a:endParaRPr lang="en-GB" sz="1050" dirty="0"/>
          </a:p>
          <a:p>
            <a:pPr marL="0" indent="0">
              <a:buNone/>
            </a:pPr>
            <a:r>
              <a:rPr lang="en-GB" sz="1050" dirty="0"/>
              <a:t>Sherrington C, Tiedemann A, </a:t>
            </a:r>
            <a:r>
              <a:rPr lang="en-GB" sz="1050" dirty="0" err="1"/>
              <a:t>Fairhall</a:t>
            </a:r>
            <a:r>
              <a:rPr lang="en-GB" sz="1050" dirty="0"/>
              <a:t> N, Close JCT, Lord SR. (2018) Exercise to prevent falls in older adults: an updated meta-analysis and best practice recommendations. NSW Public Health Bulletin. 2001,22;3–4: 78-83.</a:t>
            </a:r>
          </a:p>
          <a:p>
            <a:pPr marL="0" indent="0">
              <a:buNone/>
            </a:pPr>
            <a:endParaRPr lang="en-GB" sz="1100" dirty="0"/>
          </a:p>
          <a:p>
            <a:pPr marL="0" indent="0">
              <a:buNone/>
            </a:pPr>
            <a:endParaRPr lang="en-GB" dirty="0"/>
          </a:p>
        </p:txBody>
      </p:sp>
    </p:spTree>
    <p:extLst>
      <p:ext uri="{BB962C8B-B14F-4D97-AF65-F5344CB8AC3E}">
        <p14:creationId xmlns:p14="http://schemas.microsoft.com/office/powerpoint/2010/main" val="2886671578"/>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24FD43-B770-BFA5-86F8-587E3A096346}"/>
              </a:ext>
            </a:extLst>
          </p:cNvPr>
          <p:cNvSpPr>
            <a:spLocks noGrp="1"/>
          </p:cNvSpPr>
          <p:nvPr>
            <p:ph type="body" sz="quarter" idx="10"/>
          </p:nvPr>
        </p:nvSpPr>
        <p:spPr>
          <a:xfrm>
            <a:off x="187035" y="0"/>
            <a:ext cx="7380577" cy="476000"/>
          </a:xfrm>
        </p:spPr>
        <p:txBody>
          <a:bodyPr/>
          <a:lstStyle/>
          <a:p>
            <a:endParaRPr lang="en-GB" dirty="0"/>
          </a:p>
        </p:txBody>
      </p:sp>
      <p:sp>
        <p:nvSpPr>
          <p:cNvPr id="3" name="Text Placeholder 2">
            <a:extLst>
              <a:ext uri="{FF2B5EF4-FFF2-40B4-BE49-F238E27FC236}">
                <a16:creationId xmlns:a16="http://schemas.microsoft.com/office/drawing/2014/main" id="{CA0605F4-2209-8F9C-E5E3-2C1D50F5D7D2}"/>
              </a:ext>
            </a:extLst>
          </p:cNvPr>
          <p:cNvSpPr>
            <a:spLocks noGrp="1"/>
          </p:cNvSpPr>
          <p:nvPr>
            <p:ph type="body" sz="quarter" idx="11"/>
          </p:nvPr>
        </p:nvSpPr>
        <p:spPr>
          <a:xfrm>
            <a:off x="187036" y="611892"/>
            <a:ext cx="7380577" cy="2873828"/>
          </a:xfrm>
        </p:spPr>
        <p:txBody>
          <a:bodyPr/>
          <a:lstStyle/>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Veronese N, Smith L, Barbagallo M et al (2021) Sarcopenia and fall-related injury among older adults in five low- and middle-income countries. Exp </a:t>
            </a:r>
            <a:r>
              <a:rPr kumimoji="0" lang="en-GB" sz="11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Gerontol</a:t>
            </a: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147:111262. </a:t>
            </a:r>
            <a:endParaRPr lang="en-GB" sz="1100" dirty="0">
              <a:solidFill>
                <a:prstClr val="black"/>
              </a:solidFill>
            </a:endParaRP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endPar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indent="0">
              <a:buNone/>
              <a:defRPr/>
            </a:pPr>
            <a:r>
              <a:rPr lang="en-GB" sz="1100" dirty="0"/>
              <a:t>Weber M, </a:t>
            </a:r>
            <a:r>
              <a:rPr lang="en-GB" sz="1100" dirty="0" err="1"/>
              <a:t>Belala</a:t>
            </a:r>
            <a:r>
              <a:rPr lang="en-GB" sz="1100" dirty="0"/>
              <a:t> N, Clemson L, et al. (2018) Feasibility and effectiveness of intervention programmes integrating functional exercise into daily life of older adults: a systematic review Gerontology 2018;64(2):172-187.</a:t>
            </a: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endPar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Woo, J (2019)  69 Falls: A Manifestation of Frailty and Sarcopenia, Age and Ageing, Volume 48, Issue Supplement,  iv18–iv27.</a:t>
            </a: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endPar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Yang H, Jiang Y, Liang D, Yang C, Qin K, Xie Y, Zhang L, Tang P, Cui X, Lyu H. (2015) Sarcopenia-related traits and risk of falls in older adults: results from meta-analysis of cohort studies and Mendelian randomization analyses. Aging Clin Exp Res. 26;37(1):106. </a:t>
            </a: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endParaRPr lang="en-GB" sz="1100" dirty="0">
              <a:solidFill>
                <a:prstClr val="black"/>
              </a:solidFill>
            </a:endParaRP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Zhang X, Huang P, Dou Q et al (2020) Falls among older adults with sarcopenia dwelling in nursing home or community: a meta-analysis. Clin </a:t>
            </a:r>
            <a:r>
              <a:rPr kumimoji="0" lang="en-GB" sz="11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Nutr</a:t>
            </a: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39:33–39. </a:t>
            </a:r>
          </a:p>
          <a:p>
            <a:pPr marL="0" marR="0" lvl="0" indent="0" algn="l" defTabSz="606410" rtl="0" eaLnBrk="0" fontAlgn="base" latinLnBrk="0" hangingPunct="0">
              <a:lnSpc>
                <a:spcPct val="100000"/>
              </a:lnSpc>
              <a:spcBef>
                <a:spcPct val="20000"/>
              </a:spcBef>
              <a:spcAft>
                <a:spcPct val="0"/>
              </a:spcAft>
              <a:buClr>
                <a:srgbClr val="16818D"/>
              </a:buClr>
              <a:buSzTx/>
              <a:buFont typeface="Arial" charset="0"/>
              <a:buNone/>
              <a:tabLst/>
              <a:defRPr/>
            </a:pPr>
            <a:endParaRPr kumimoji="0" lang="en-GB"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000" dirty="0"/>
          </a:p>
        </p:txBody>
      </p:sp>
    </p:spTree>
    <p:extLst>
      <p:ext uri="{BB962C8B-B14F-4D97-AF65-F5344CB8AC3E}">
        <p14:creationId xmlns:p14="http://schemas.microsoft.com/office/powerpoint/2010/main" val="3454383736"/>
      </p:ext>
    </p:extLst>
  </p:cSld>
  <p:clrMapOvr>
    <a:masterClrMapping/>
  </p:clrMapOvr>
  <p:transition spd="slow">
    <p:fade/>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56E99604-B34A-AB45-82E2-A2F6C5EC15CC}" vid="{C3811B3D-AE0C-294C-BC2C-607328485A31}"/>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5EE0DBAE-CB08-4540-BE70-FA26B0B8BF75}" vid="{E28E7518-2E4C-482B-8890-4CB0F3ADFF8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6B57A1F-FA26-41C4-BC68-7DEF72ECF0E9}">
  <we:reference id="WA104178141" version="4.3.3.0" store="Omex"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495DC29F69DA41B831D7985DDEFF7A" ma:contentTypeVersion="16" ma:contentTypeDescription="Create a new document." ma:contentTypeScope="" ma:versionID="dd1b5874f98e772f9b1ac5142f287ced">
  <xsd:schema xmlns:xsd="http://www.w3.org/2001/XMLSchema" xmlns:xs="http://www.w3.org/2001/XMLSchema" xmlns:p="http://schemas.microsoft.com/office/2006/metadata/properties" xmlns:ns3="da5da9df-85e1-4e4b-b319-af1e48434c21" xmlns:ns4="f6569699-ae44-4c85-9383-dd5a41d3d471" targetNamespace="http://schemas.microsoft.com/office/2006/metadata/properties" ma:root="true" ma:fieldsID="ed7eee6299abee499f8a2cb9b56f646d" ns3:_="" ns4:_="">
    <xsd:import namespace="da5da9df-85e1-4e4b-b319-af1e48434c21"/>
    <xsd:import namespace="f6569699-ae44-4c85-9383-dd5a41d3d47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AutoKeyPoints" minOccurs="0"/>
                <xsd:element ref="ns4:MediaServiceKeyPoints" minOccurs="0"/>
                <xsd:element ref="ns4:MediaLengthInSeconds" minOccurs="0"/>
                <xsd:element ref="ns4:MediaServiceGenerationTime" minOccurs="0"/>
                <xsd:element ref="ns4:MediaServiceEventHashCode"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5da9df-85e1-4e4b-b319-af1e48434c2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69699-ae44-4c85-9383-dd5a41d3d47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6569699-ae44-4c85-9383-dd5a41d3d471" xsi:nil="true"/>
  </documentManagement>
</p:properties>
</file>

<file path=customXml/itemProps1.xml><?xml version="1.0" encoding="utf-8"?>
<ds:datastoreItem xmlns:ds="http://schemas.openxmlformats.org/officeDocument/2006/customXml" ds:itemID="{100F85EE-6835-4A69-927E-5485695316D1}">
  <ds:schemaRefs>
    <ds:schemaRef ds:uri="http://schemas.microsoft.com/sharepoint/v3/contenttype/forms"/>
  </ds:schemaRefs>
</ds:datastoreItem>
</file>

<file path=customXml/itemProps2.xml><?xml version="1.0" encoding="utf-8"?>
<ds:datastoreItem xmlns:ds="http://schemas.openxmlformats.org/officeDocument/2006/customXml" ds:itemID="{0503A0C5-23DA-47D0-B3C8-6EA406910910}">
  <ds:schemaRefs>
    <ds:schemaRef ds:uri="http://schemas.microsoft.com/office/2006/metadata/contentType"/>
    <ds:schemaRef ds:uri="http://schemas.microsoft.com/office/2006/metadata/properties/metaAttributes"/>
    <ds:schemaRef ds:uri="http://www.w3.org/2000/xmlns/"/>
    <ds:schemaRef ds:uri="http://www.w3.org/2001/XMLSchema"/>
    <ds:schemaRef ds:uri="da5da9df-85e1-4e4b-b319-af1e48434c21"/>
    <ds:schemaRef ds:uri="f6569699-ae44-4c85-9383-dd5a41d3d47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0E7C5A-1D10-4956-9B2A-CF34BCD31BDC}">
  <ds:schemaRefs>
    <ds:schemaRef ds:uri="http://schemas.microsoft.com/office/2006/metadata/properties"/>
    <ds:schemaRef ds:uri="http://www.w3.org/2000/xmlns/"/>
    <ds:schemaRef ds:uri="f6569699-ae44-4c85-9383-dd5a41d3d471"/>
    <ds:schemaRef ds:uri="http://www.w3.org/2001/XMLSchema-instance"/>
    <ds:schemaRef ds:uri="http://schemas.microsoft.com/office/infopath/2007/PartnerControls"/>
  </ds:schemaRefs>
</ds:datastoreItem>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PPT new template SUNSHINE YELLOW with UWE logo bottom STANDARD</Template>
  <TotalTime>2193</TotalTime>
  <Words>4760</Words>
  <Application>Microsoft Office PowerPoint</Application>
  <PresentationFormat>On-screen Show (16:9)</PresentationFormat>
  <Paragraphs>306</Paragraphs>
  <Slides>40</Slides>
  <Notes>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40</vt:i4>
      </vt:variant>
    </vt:vector>
  </HeadingPairs>
  <TitlesOfParts>
    <vt:vector size="53" baseType="lpstr">
      <vt:lpstr>Georgia</vt:lpstr>
      <vt:lpstr>Wingdings</vt:lpstr>
      <vt:lpstr>Tahoma </vt:lpstr>
      <vt:lpstr>MS PGothic</vt:lpstr>
      <vt:lpstr>Courier New</vt:lpstr>
      <vt:lpstr>Aptos</vt:lpstr>
      <vt:lpstr>Epilogue</vt:lpstr>
      <vt:lpstr>Calibri</vt:lpstr>
      <vt:lpstr>Tahoma</vt:lpstr>
      <vt:lpstr>MetaPlusNormal-Roman</vt:lpstr>
      <vt:lpstr>Arial</vt:lpstr>
      <vt:lpstr>Custom Design</vt:lpstr>
      <vt:lpstr>1_Custom Design</vt:lpstr>
      <vt:lpstr>PowerPoint Presentation</vt:lpstr>
      <vt:lpstr>PowerPoint Presentation</vt:lpstr>
      <vt:lpstr>What is Ageing? (Recap from Foundations Exercise Prescription)</vt:lpstr>
      <vt:lpstr>Physiology of Aging (Recap from Foundations Exercise Prescription) </vt:lpstr>
      <vt:lpstr>  Effects of Ageing – Neural system</vt:lpstr>
      <vt:lpstr>Sarcopenia (Recap from Foundations Exercise Prescription </vt:lpstr>
      <vt:lpstr>Muscle Mass (Recap from Foundations Exercise Prescription</vt:lpstr>
      <vt:lpstr>Neuromuscular performance (Recap from Foundations Exercise Prescription</vt:lpstr>
      <vt:lpstr>Strength v Power   AIF | Australian Institute of Fitness</vt:lpstr>
      <vt:lpstr>Connective Tissue Changes (Recap from Foundations Exercise Prescription</vt:lpstr>
      <vt:lpstr>Pathophysiology related to Frailty and Falls</vt:lpstr>
      <vt:lpstr>Falls </vt:lpstr>
      <vt:lpstr>PowerPoint Presentation</vt:lpstr>
      <vt:lpstr>Appendicular lean mass (ALM) </vt:lpstr>
      <vt:lpstr>Walking Speed (We will review in Physiological and Performance Testing Session)</vt:lpstr>
      <vt:lpstr>PowerPoint Presentation</vt:lpstr>
      <vt:lpstr>Overall benefits of PA in Older Adults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Rob Grieve</cp:lastModifiedBy>
  <cp:revision>121</cp:revision>
  <cp:lastPrinted>2016-04-26T08:55:24Z</cp:lastPrinted>
  <dcterms:created xsi:type="dcterms:W3CDTF">2016-04-27T08:32:31Z</dcterms:created>
  <dcterms:modified xsi:type="dcterms:W3CDTF">2026-03-24T07:54:13Z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0x0101001C495DC29F69DA41B831D7985DDEFF7A</vt:lpwstr>
  </property>
</Properties>
</file>