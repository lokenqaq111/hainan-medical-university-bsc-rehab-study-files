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19" r:id="rId4"/>
    <p:sldMasterId id="2147483978" r:id="rId5"/>
  </p:sldMasterIdLst>
  <p:notesMasterIdLst>
    <p:notesMasterId r:id="rId75"/>
  </p:notesMasterIdLst>
  <p:sldIdLst>
    <p:sldId id="256" r:id="rId6"/>
    <p:sldId id="617" r:id="rId7"/>
    <p:sldId id="700" r:id="rId8"/>
    <p:sldId id="611" r:id="rId9"/>
    <p:sldId id="619" r:id="rId10"/>
    <p:sldId id="645" r:id="rId11"/>
    <p:sldId id="649" r:id="rId12"/>
    <p:sldId id="283" r:id="rId13"/>
    <p:sldId id="299" r:id="rId14"/>
    <p:sldId id="288" r:id="rId15"/>
    <p:sldId id="685" r:id="rId16"/>
    <p:sldId id="688" r:id="rId17"/>
    <p:sldId id="689" r:id="rId18"/>
    <p:sldId id="687" r:id="rId19"/>
    <p:sldId id="690" r:id="rId20"/>
    <p:sldId id="686" r:id="rId21"/>
    <p:sldId id="289" r:id="rId22"/>
    <p:sldId id="650" r:id="rId23"/>
    <p:sldId id="654" r:id="rId24"/>
    <p:sldId id="653" r:id="rId25"/>
    <p:sldId id="655" r:id="rId26"/>
    <p:sldId id="647" r:id="rId27"/>
    <p:sldId id="2608" r:id="rId28"/>
    <p:sldId id="712" r:id="rId29"/>
    <p:sldId id="639" r:id="rId30"/>
    <p:sldId id="714" r:id="rId31"/>
    <p:sldId id="2606" r:id="rId32"/>
    <p:sldId id="691" r:id="rId33"/>
    <p:sldId id="692" r:id="rId34"/>
    <p:sldId id="640" r:id="rId35"/>
    <p:sldId id="695" r:id="rId36"/>
    <p:sldId id="696" r:id="rId37"/>
    <p:sldId id="697" r:id="rId38"/>
    <p:sldId id="698" r:id="rId39"/>
    <p:sldId id="2609" r:id="rId40"/>
    <p:sldId id="701" r:id="rId41"/>
    <p:sldId id="702" r:id="rId42"/>
    <p:sldId id="703" r:id="rId43"/>
    <p:sldId id="659" r:id="rId44"/>
    <p:sldId id="2610" r:id="rId45"/>
    <p:sldId id="706" r:id="rId46"/>
    <p:sldId id="708" r:id="rId47"/>
    <p:sldId id="709" r:id="rId48"/>
    <p:sldId id="2611" r:id="rId49"/>
    <p:sldId id="711" r:id="rId50"/>
    <p:sldId id="710" r:id="rId51"/>
    <p:sldId id="2612" r:id="rId52"/>
    <p:sldId id="715" r:id="rId53"/>
    <p:sldId id="665" r:id="rId54"/>
    <p:sldId id="666" r:id="rId55"/>
    <p:sldId id="667" r:id="rId56"/>
    <p:sldId id="668" r:id="rId57"/>
    <p:sldId id="673" r:id="rId58"/>
    <p:sldId id="678" r:id="rId59"/>
    <p:sldId id="680" r:id="rId60"/>
    <p:sldId id="679" r:id="rId61"/>
    <p:sldId id="681" r:id="rId62"/>
    <p:sldId id="669" r:id="rId63"/>
    <p:sldId id="2607" r:id="rId64"/>
    <p:sldId id="643" r:id="rId65"/>
    <p:sldId id="2613" r:id="rId66"/>
    <p:sldId id="2614" r:id="rId67"/>
    <p:sldId id="716" r:id="rId68"/>
    <p:sldId id="644" r:id="rId69"/>
    <p:sldId id="660" r:id="rId70"/>
    <p:sldId id="641" r:id="rId71"/>
    <p:sldId id="670" r:id="rId72"/>
    <p:sldId id="602" r:id="rId73"/>
    <p:sldId id="636" r:id="rId74"/>
  </p:sldIdLst>
  <p:sldSz cx="9144000" cy="5143500" type="screen16x9"/>
  <p:notesSz cx="9144000" cy="6858000"/>
  <p:embeddedFontLst>
    <p:embeddedFont>
      <p:font typeface="Georgia" panose="02040502050405020303" pitchFamily="18" charset="0"/>
      <p:regular r:id="rId76"/>
      <p:bold r:id="rId77"/>
      <p:italic r:id="rId78"/>
      <p:boldItalic r:id="rId79"/>
    </p:embeddedFont>
    <p:embeddedFont>
      <p:font typeface="MS PGothic" panose="020B0600070205080204" pitchFamily="34" charset="-128"/>
      <p:regular r:id="rId80"/>
    </p:embeddedFont>
    <p:embeddedFont>
      <p:font typeface="Palatino Linotype" panose="02040502050505030304" pitchFamily="18" charset="0"/>
      <p:regular r:id="rId81"/>
      <p:bold r:id="rId82"/>
      <p:italic r:id="rId83"/>
      <p:boldItalic r:id="rId84"/>
    </p:embeddedFont>
    <p:embeddedFont>
      <p:font typeface="Tahoma" panose="020B0604030504040204" pitchFamily="34" charset="0"/>
      <p:regular r:id="rId85"/>
      <p:bold r:id="rId86"/>
    </p:embeddedFont>
  </p:embeddedFont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orient="horz" pos="320" userDrawn="1">
          <p15:clr>
            <a:srgbClr val="A4A3A4"/>
          </p15:clr>
        </p15:guide>
        <p15:guide id="3" orient="horz" pos="737" userDrawn="1">
          <p15:clr>
            <a:srgbClr val="A4A3A4"/>
          </p15:clr>
        </p15:guide>
        <p15:guide id="4" orient="horz" pos="2879" userDrawn="1">
          <p15:clr>
            <a:srgbClr val="A4A3A4"/>
          </p15:clr>
        </p15:guide>
        <p15:guide id="5" pos="2880" userDrawn="1">
          <p15:clr>
            <a:srgbClr val="A4A3A4"/>
          </p15:clr>
        </p15:guide>
        <p15:guide id="6" pos="562" userDrawn="1">
          <p15:clr>
            <a:srgbClr val="A4A3A4"/>
          </p15:clr>
        </p15:guide>
        <p15:guide id="7" pos="5103" userDrawn="1">
          <p15:clr>
            <a:srgbClr val="A4A3A4"/>
          </p15:clr>
        </p15:guide>
        <p15:guide id="8" pos="2562" userDrawn="1">
          <p15:clr>
            <a:srgbClr val="A4A3A4"/>
          </p15:clr>
        </p15:guide>
        <p15:guide id="9" pos="26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6818D"/>
    <a:srgbClr val="1A9DAC"/>
    <a:srgbClr val="598752"/>
    <a:srgbClr val="6DA463"/>
    <a:srgbClr val="A65C45"/>
    <a:srgbClr val="CC7054"/>
    <a:srgbClr val="FFFFFF"/>
    <a:srgbClr val="D6A700"/>
    <a:srgbClr val="958CB2"/>
    <a:srgbClr val="7FBF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614D85-2CEB-43AF-9296-966F6A3E4B9E}" v="7" dt="2026-03-22T09:16:01.1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4" autoAdjust="0"/>
    <p:restoredTop sz="89538" autoAdjust="0"/>
  </p:normalViewPr>
  <p:slideViewPr>
    <p:cSldViewPr snapToGrid="0">
      <p:cViewPr varScale="1">
        <p:scale>
          <a:sx n="88" d="100"/>
          <a:sy n="88" d="100"/>
        </p:scale>
        <p:origin x="568" y="56"/>
      </p:cViewPr>
      <p:guideLst>
        <p:guide orient="horz" pos="1620"/>
        <p:guide orient="horz" pos="320"/>
        <p:guide orient="horz" pos="737"/>
        <p:guide orient="horz" pos="2879"/>
        <p:guide pos="2880"/>
        <p:guide pos="562"/>
        <p:guide pos="5103"/>
        <p:guide pos="2562"/>
        <p:guide pos="2699"/>
      </p:guideLst>
    </p:cSldViewPr>
  </p:slideViewPr>
  <p:notesTextViewPr>
    <p:cViewPr>
      <p:scale>
        <a:sx n="1" d="1"/>
        <a:sy n="1" d="1"/>
      </p:scale>
      <p:origin x="0" y="0"/>
    </p:cViewPr>
  </p:notesTextViewPr>
  <p:sorterViewPr>
    <p:cViewPr>
      <p:scale>
        <a:sx n="123" d="100"/>
        <a:sy n="123" d="100"/>
      </p:scale>
      <p:origin x="0" y="-1679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font" Target="fonts/font9.fntdata"/><Relationship Id="rId89" Type="http://schemas.openxmlformats.org/officeDocument/2006/relationships/theme" Target="theme/theme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font" Target="fonts/font4.fntdata"/><Relationship Id="rId5" Type="http://schemas.openxmlformats.org/officeDocument/2006/relationships/slideMaster" Target="slideMasters/slideMaster2.xml"/><Relationship Id="rId90" Type="http://schemas.openxmlformats.org/officeDocument/2006/relationships/tableStyles" Target="tableStyles.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font" Target="fonts/font2.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notesMaster" Target="notesMasters/notesMaster1.xml"/><Relationship Id="rId83" Type="http://schemas.openxmlformats.org/officeDocument/2006/relationships/font" Target="fonts/font8.fntdata"/><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1.fntdata"/><Relationship Id="rId7" Type="http://schemas.openxmlformats.org/officeDocument/2006/relationships/slide" Target="slides/slide2.xml"/><Relationship Id="rId71" Type="http://schemas.openxmlformats.org/officeDocument/2006/relationships/slide" Target="slides/slide66.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presProps" Target="presProps.xml"/><Relationship Id="rId61" Type="http://schemas.openxmlformats.org/officeDocument/2006/relationships/slide" Target="slides/slide56.xml"/><Relationship Id="rId82" Type="http://schemas.openxmlformats.org/officeDocument/2006/relationships/font" Target="fonts/font7.fntdata"/><Relationship Id="rId19"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Grieve" userId="b0f7fee3-167f-4f47-b69c-0e83d001e27f" providerId="ADAL" clId="{4D0B5073-DD86-4F67-84E5-806929CDE867}"/>
    <pc:docChg chg="undo custSel addSld delSld modSld sldOrd">
      <pc:chgData name="Rob Grieve" userId="b0f7fee3-167f-4f47-b69c-0e83d001e27f" providerId="ADAL" clId="{4D0B5073-DD86-4F67-84E5-806929CDE867}" dt="2026-03-22T10:06:21.279" v="1165" actId="20577"/>
      <pc:docMkLst>
        <pc:docMk/>
      </pc:docMkLst>
      <pc:sldChg chg="del">
        <pc:chgData name="Rob Grieve" userId="b0f7fee3-167f-4f47-b69c-0e83d001e27f" providerId="ADAL" clId="{4D0B5073-DD86-4F67-84E5-806929CDE867}" dt="2026-03-22T10:04:11.323" v="1117" actId="47"/>
        <pc:sldMkLst>
          <pc:docMk/>
          <pc:sldMk cId="373190362" sldId="287"/>
        </pc:sldMkLst>
      </pc:sldChg>
      <pc:sldChg chg="ord">
        <pc:chgData name="Rob Grieve" userId="b0f7fee3-167f-4f47-b69c-0e83d001e27f" providerId="ADAL" clId="{4D0B5073-DD86-4F67-84E5-806929CDE867}" dt="2026-03-22T10:04:50.005" v="1119"/>
        <pc:sldMkLst>
          <pc:docMk/>
          <pc:sldMk cId="3718620793" sldId="288"/>
        </pc:sldMkLst>
      </pc:sldChg>
      <pc:sldChg chg="ord">
        <pc:chgData name="Rob Grieve" userId="b0f7fee3-167f-4f47-b69c-0e83d001e27f" providerId="ADAL" clId="{4D0B5073-DD86-4F67-84E5-806929CDE867}" dt="2026-03-22T10:04:53.604" v="1121"/>
        <pc:sldMkLst>
          <pc:docMk/>
          <pc:sldMk cId="3844129755" sldId="289"/>
        </pc:sldMkLst>
      </pc:sldChg>
      <pc:sldChg chg="modSp mod">
        <pc:chgData name="Rob Grieve" userId="b0f7fee3-167f-4f47-b69c-0e83d001e27f" providerId="ADAL" clId="{4D0B5073-DD86-4F67-84E5-806929CDE867}" dt="2026-03-22T09:04:46.331" v="466" actId="5793"/>
        <pc:sldMkLst>
          <pc:docMk/>
          <pc:sldMk cId="0" sldId="617"/>
        </pc:sldMkLst>
        <pc:spChg chg="mod">
          <ac:chgData name="Rob Grieve" userId="b0f7fee3-167f-4f47-b69c-0e83d001e27f" providerId="ADAL" clId="{4D0B5073-DD86-4F67-84E5-806929CDE867}" dt="2026-03-22T09:04:46.331" v="466" actId="5793"/>
          <ac:spMkLst>
            <pc:docMk/>
            <pc:sldMk cId="0" sldId="617"/>
            <ac:spMk id="2" creationId="{00000000-0000-0000-0000-000000000000}"/>
          </ac:spMkLst>
        </pc:spChg>
      </pc:sldChg>
      <pc:sldChg chg="addSp delSp modSp mod">
        <pc:chgData name="Rob Grieve" userId="b0f7fee3-167f-4f47-b69c-0e83d001e27f" providerId="ADAL" clId="{4D0B5073-DD86-4F67-84E5-806929CDE867}" dt="2026-03-22T09:10:40.496" v="510" actId="14100"/>
        <pc:sldMkLst>
          <pc:docMk/>
          <pc:sldMk cId="527828841" sldId="645"/>
        </pc:sldMkLst>
        <pc:spChg chg="add del mod">
          <ac:chgData name="Rob Grieve" userId="b0f7fee3-167f-4f47-b69c-0e83d001e27f" providerId="ADAL" clId="{4D0B5073-DD86-4F67-84E5-806929CDE867}" dt="2026-03-22T09:09:28.872" v="504" actId="478"/>
          <ac:spMkLst>
            <pc:docMk/>
            <pc:sldMk cId="527828841" sldId="645"/>
            <ac:spMk id="8" creationId="{41D5F2C4-D8F9-CB86-FF1A-E870697144B3}"/>
          </ac:spMkLst>
        </pc:spChg>
        <pc:spChg chg="add del">
          <ac:chgData name="Rob Grieve" userId="b0f7fee3-167f-4f47-b69c-0e83d001e27f" providerId="ADAL" clId="{4D0B5073-DD86-4F67-84E5-806929CDE867}" dt="2026-03-22T09:08:31.286" v="473" actId="22"/>
          <ac:spMkLst>
            <pc:docMk/>
            <pc:sldMk cId="527828841" sldId="645"/>
            <ac:spMk id="10" creationId="{1D363E6A-2688-4799-93E3-3DA65EBDD6CA}"/>
          </ac:spMkLst>
        </pc:spChg>
        <pc:picChg chg="mod">
          <ac:chgData name="Rob Grieve" userId="b0f7fee3-167f-4f47-b69c-0e83d001e27f" providerId="ADAL" clId="{4D0B5073-DD86-4F67-84E5-806929CDE867}" dt="2026-03-22T09:10:40.496" v="510" actId="14100"/>
          <ac:picMkLst>
            <pc:docMk/>
            <pc:sldMk cId="527828841" sldId="645"/>
            <ac:picMk id="4" creationId="{A50573C6-61BC-36D5-C494-4426FE0BB086}"/>
          </ac:picMkLst>
        </pc:picChg>
      </pc:sldChg>
      <pc:sldChg chg="modSp mod ord">
        <pc:chgData name="Rob Grieve" userId="b0f7fee3-167f-4f47-b69c-0e83d001e27f" providerId="ADAL" clId="{4D0B5073-DD86-4F67-84E5-806929CDE867}" dt="2026-03-22T10:06:21.279" v="1165" actId="20577"/>
        <pc:sldMkLst>
          <pc:docMk/>
          <pc:sldMk cId="971919755" sldId="647"/>
        </pc:sldMkLst>
        <pc:spChg chg="mod">
          <ac:chgData name="Rob Grieve" userId="b0f7fee3-167f-4f47-b69c-0e83d001e27f" providerId="ADAL" clId="{4D0B5073-DD86-4F67-84E5-806929CDE867}" dt="2026-03-22T10:06:21.279" v="1165" actId="20577"/>
          <ac:spMkLst>
            <pc:docMk/>
            <pc:sldMk cId="971919755" sldId="647"/>
            <ac:spMk id="3" creationId="{2A27BB29-8835-C577-6690-E2A209611476}"/>
          </ac:spMkLst>
        </pc:spChg>
      </pc:sldChg>
      <pc:sldChg chg="modSp mod modAnim">
        <pc:chgData name="Rob Grieve" userId="b0f7fee3-167f-4f47-b69c-0e83d001e27f" providerId="ADAL" clId="{4D0B5073-DD86-4F67-84E5-806929CDE867}" dt="2026-03-22T09:13:42.903" v="527"/>
        <pc:sldMkLst>
          <pc:docMk/>
          <pc:sldMk cId="2105326403" sldId="649"/>
        </pc:sldMkLst>
        <pc:spChg chg="mod">
          <ac:chgData name="Rob Grieve" userId="b0f7fee3-167f-4f47-b69c-0e83d001e27f" providerId="ADAL" clId="{4D0B5073-DD86-4F67-84E5-806929CDE867}" dt="2026-03-22T09:13:12.592" v="524" actId="255"/>
          <ac:spMkLst>
            <pc:docMk/>
            <pc:sldMk cId="2105326403" sldId="649"/>
            <ac:spMk id="2" creationId="{B4ADAF59-C009-2198-3C0B-027EE342B46D}"/>
          </ac:spMkLst>
        </pc:spChg>
        <pc:spChg chg="mod">
          <ac:chgData name="Rob Grieve" userId="b0f7fee3-167f-4f47-b69c-0e83d001e27f" providerId="ADAL" clId="{4D0B5073-DD86-4F67-84E5-806929CDE867}" dt="2026-03-22T09:12:48.840" v="522" actId="1076"/>
          <ac:spMkLst>
            <pc:docMk/>
            <pc:sldMk cId="2105326403" sldId="649"/>
            <ac:spMk id="7" creationId="{4F42A60E-2FEF-1215-67D4-8E81F7376968}"/>
          </ac:spMkLst>
        </pc:spChg>
      </pc:sldChg>
      <pc:sldChg chg="modSp mod">
        <pc:chgData name="Rob Grieve" userId="b0f7fee3-167f-4f47-b69c-0e83d001e27f" providerId="ADAL" clId="{4D0B5073-DD86-4F67-84E5-806929CDE867}" dt="2026-03-22T09:16:56.306" v="543" actId="14100"/>
        <pc:sldMkLst>
          <pc:docMk/>
          <pc:sldMk cId="3400691470" sldId="665"/>
        </pc:sldMkLst>
        <pc:spChg chg="mod">
          <ac:chgData name="Rob Grieve" userId="b0f7fee3-167f-4f47-b69c-0e83d001e27f" providerId="ADAL" clId="{4D0B5073-DD86-4F67-84E5-806929CDE867}" dt="2026-03-22T09:16:56.306" v="543" actId="14100"/>
          <ac:spMkLst>
            <pc:docMk/>
            <pc:sldMk cId="3400691470" sldId="665"/>
            <ac:spMk id="6" creationId="{A44FBD79-6FDD-0503-7903-2200DF5A3365}"/>
          </ac:spMkLst>
        </pc:spChg>
      </pc:sldChg>
      <pc:sldChg chg="addSp modSp mod">
        <pc:chgData name="Rob Grieve" userId="b0f7fee3-167f-4f47-b69c-0e83d001e27f" providerId="ADAL" clId="{4D0B5073-DD86-4F67-84E5-806929CDE867}" dt="2026-03-22T09:49:26.555" v="873" actId="1076"/>
        <pc:sldMkLst>
          <pc:docMk/>
          <pc:sldMk cId="3345187913" sldId="666"/>
        </pc:sldMkLst>
        <pc:picChg chg="add mod">
          <ac:chgData name="Rob Grieve" userId="b0f7fee3-167f-4f47-b69c-0e83d001e27f" providerId="ADAL" clId="{4D0B5073-DD86-4F67-84E5-806929CDE867}" dt="2026-03-22T09:49:26.555" v="873" actId="1076"/>
          <ac:picMkLst>
            <pc:docMk/>
            <pc:sldMk cId="3345187913" sldId="666"/>
            <ac:picMk id="4" creationId="{0CE4F698-BED1-7824-D257-52142A9AC530}"/>
          </ac:picMkLst>
        </pc:picChg>
      </pc:sldChg>
      <pc:sldChg chg="addSp modSp mod">
        <pc:chgData name="Rob Grieve" userId="b0f7fee3-167f-4f47-b69c-0e83d001e27f" providerId="ADAL" clId="{4D0B5073-DD86-4F67-84E5-806929CDE867}" dt="2026-03-22T09:50:36.883" v="878" actId="14100"/>
        <pc:sldMkLst>
          <pc:docMk/>
          <pc:sldMk cId="3206793815" sldId="667"/>
        </pc:sldMkLst>
        <pc:picChg chg="add mod">
          <ac:chgData name="Rob Grieve" userId="b0f7fee3-167f-4f47-b69c-0e83d001e27f" providerId="ADAL" clId="{4D0B5073-DD86-4F67-84E5-806929CDE867}" dt="2026-03-22T09:50:36.883" v="878" actId="14100"/>
          <ac:picMkLst>
            <pc:docMk/>
            <pc:sldMk cId="3206793815" sldId="667"/>
            <ac:picMk id="6" creationId="{39F3872A-7911-4F88-789C-5D721631A706}"/>
          </ac:picMkLst>
        </pc:picChg>
      </pc:sldChg>
      <pc:sldChg chg="addSp delSp modSp mod modClrScheme chgLayout">
        <pc:chgData name="Rob Grieve" userId="b0f7fee3-167f-4f47-b69c-0e83d001e27f" providerId="ADAL" clId="{4D0B5073-DD86-4F67-84E5-806929CDE867}" dt="2026-03-22T10:02:07.157" v="1113" actId="20577"/>
        <pc:sldMkLst>
          <pc:docMk/>
          <pc:sldMk cId="119242866" sldId="668"/>
        </pc:sldMkLst>
        <pc:spChg chg="add del mod ord">
          <ac:chgData name="Rob Grieve" userId="b0f7fee3-167f-4f47-b69c-0e83d001e27f" providerId="ADAL" clId="{4D0B5073-DD86-4F67-84E5-806929CDE867}" dt="2026-03-22T09:52:27.447" v="887" actId="478"/>
          <ac:spMkLst>
            <pc:docMk/>
            <pc:sldMk cId="119242866" sldId="668"/>
            <ac:spMk id="2" creationId="{48D3852D-3CBE-1B36-F7B3-E5DDF2CB5A74}"/>
          </ac:spMkLst>
        </pc:spChg>
        <pc:spChg chg="mod ord">
          <ac:chgData name="Rob Grieve" userId="b0f7fee3-167f-4f47-b69c-0e83d001e27f" providerId="ADAL" clId="{4D0B5073-DD86-4F67-84E5-806929CDE867}" dt="2026-03-22T09:56:46.444" v="982" actId="1076"/>
          <ac:spMkLst>
            <pc:docMk/>
            <pc:sldMk cId="119242866" sldId="668"/>
            <ac:spMk id="5" creationId="{916BE876-7729-0273-01BD-CDAA8502CA6D}"/>
          </ac:spMkLst>
        </pc:spChg>
        <pc:spChg chg="add del mod ord">
          <ac:chgData name="Rob Grieve" userId="b0f7fee3-167f-4f47-b69c-0e83d001e27f" providerId="ADAL" clId="{4D0B5073-DD86-4F67-84E5-806929CDE867}" dt="2026-03-22T10:02:07.157" v="1113" actId="20577"/>
          <ac:spMkLst>
            <pc:docMk/>
            <pc:sldMk cId="119242866" sldId="668"/>
            <ac:spMk id="6" creationId="{7EB01F03-888E-BC8D-05F4-F50616FD9910}"/>
          </ac:spMkLst>
        </pc:spChg>
        <pc:spChg chg="add del mod">
          <ac:chgData name="Rob Grieve" userId="b0f7fee3-167f-4f47-b69c-0e83d001e27f" providerId="ADAL" clId="{4D0B5073-DD86-4F67-84E5-806929CDE867}" dt="2026-03-22T09:59:37.963" v="1028" actId="478"/>
          <ac:spMkLst>
            <pc:docMk/>
            <pc:sldMk cId="119242866" sldId="668"/>
            <ac:spMk id="8" creationId="{E9D8F958-B0BF-85A3-90D6-5C0B5136785C}"/>
          </ac:spMkLst>
        </pc:spChg>
        <pc:picChg chg="add mod">
          <ac:chgData name="Rob Grieve" userId="b0f7fee3-167f-4f47-b69c-0e83d001e27f" providerId="ADAL" clId="{4D0B5073-DD86-4F67-84E5-806929CDE867}" dt="2026-03-22T09:57:14.389" v="986" actId="1076"/>
          <ac:picMkLst>
            <pc:docMk/>
            <pc:sldMk cId="119242866" sldId="668"/>
            <ac:picMk id="4" creationId="{C79E6BAF-AFCB-C4AA-D27C-671A2D312469}"/>
          </ac:picMkLst>
        </pc:picChg>
      </pc:sldChg>
      <pc:sldChg chg="modSp mod">
        <pc:chgData name="Rob Grieve" userId="b0f7fee3-167f-4f47-b69c-0e83d001e27f" providerId="ADAL" clId="{4D0B5073-DD86-4F67-84E5-806929CDE867}" dt="2026-03-22T09:28:37.308" v="865" actId="20577"/>
        <pc:sldMkLst>
          <pc:docMk/>
          <pc:sldMk cId="3162427113" sldId="670"/>
        </pc:sldMkLst>
        <pc:spChg chg="mod">
          <ac:chgData name="Rob Grieve" userId="b0f7fee3-167f-4f47-b69c-0e83d001e27f" providerId="ADAL" clId="{4D0B5073-DD86-4F67-84E5-806929CDE867}" dt="2026-03-22T09:28:37.308" v="865" actId="20577"/>
          <ac:spMkLst>
            <pc:docMk/>
            <pc:sldMk cId="3162427113" sldId="670"/>
            <ac:spMk id="6" creationId="{FFC4D346-B58C-4B07-A518-8672047E3817}"/>
          </ac:spMkLst>
        </pc:spChg>
      </pc:sldChg>
      <pc:sldChg chg="add del">
        <pc:chgData name="Rob Grieve" userId="b0f7fee3-167f-4f47-b69c-0e83d001e27f" providerId="ADAL" clId="{4D0B5073-DD86-4F67-84E5-806929CDE867}" dt="2026-03-22T09:08:31.076" v="472"/>
        <pc:sldMkLst>
          <pc:docMk/>
          <pc:sldMk cId="56509516" sldId="685"/>
        </pc:sldMkLst>
      </pc:sldChg>
      <pc:sldChg chg="new del">
        <pc:chgData name="Rob Grieve" userId="b0f7fee3-167f-4f47-b69c-0e83d001e27f" providerId="ADAL" clId="{4D0B5073-DD86-4F67-84E5-806929CDE867}" dt="2026-03-22T10:02:24.354" v="1114" actId="47"/>
        <pc:sldMkLst>
          <pc:docMk/>
          <pc:sldMk cId="3500081221" sldId="6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Calibri" panose="020F0502020204030204" pitchFamily="34" charset="0"/>
                <a:ea typeface="ＭＳ Ｐゴシック" charset="0"/>
                <a:cs typeface="ＭＳ Ｐゴシック" charset="0"/>
              </a:defRPr>
            </a:lvl1pPr>
          </a:lstStyle>
          <a:p>
            <a:pPr>
              <a:defRPr/>
            </a:pPr>
            <a:endParaRPr lang="en-US" dirty="0"/>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ea typeface="ＭＳ Ｐゴシック" charset="0"/>
                <a:cs typeface="ＭＳ Ｐゴシック" charset="0"/>
              </a:defRPr>
            </a:lvl1pPr>
          </a:lstStyle>
          <a:p>
            <a:pPr>
              <a:defRPr/>
            </a:pPr>
            <a:endParaRPr lang="en-US" dirty="0"/>
          </a:p>
        </p:txBody>
      </p:sp>
      <p:sp>
        <p:nvSpPr>
          <p:cNvPr id="12292" name="Rectangle 4"/>
          <p:cNvSpPr>
            <a:spLocks noGrp="1" noRot="1" noChangeAspect="1" noChangeArrowheads="1" noTextEdit="1"/>
          </p:cNvSpPr>
          <p:nvPr>
            <p:ph type="sldImg" idx="2"/>
          </p:nvPr>
        </p:nvSpPr>
        <p:spPr bwMode="auto">
          <a:xfrm>
            <a:off x="2286000" y="514350"/>
            <a:ext cx="4572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Calibri" panose="020F0502020204030204" pitchFamily="34" charset="0"/>
                <a:ea typeface="ＭＳ Ｐゴシック" charset="0"/>
                <a:cs typeface="ＭＳ Ｐゴシック" charset="0"/>
              </a:defRPr>
            </a:lvl1pPr>
          </a:lstStyle>
          <a:p>
            <a:pPr>
              <a:defRPr/>
            </a:pPr>
            <a:endParaRPr lang="en-US" dirty="0"/>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85360570-2B09-DB43-BBE0-DA076DA911F1}" type="slidenum">
              <a:rPr lang="en-US" altLang="en-US" smtClean="0"/>
              <a:pPr>
                <a:defRPr/>
              </a:pPr>
              <a:t>‹#›</a:t>
            </a:fld>
            <a:endParaRPr lang="en-US" altLang="en-US" dirty="0"/>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ＭＳ Ｐゴシック" charset="0"/>
        <a:cs typeface="ＭＳ Ｐゴシック" charset="0"/>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could get students to discuss what empathy means as a sport rehabilitator</a:t>
            </a:r>
          </a:p>
        </p:txBody>
      </p:sp>
      <p:sp>
        <p:nvSpPr>
          <p:cNvPr id="4" name="Slide Number Placeholder 3"/>
          <p:cNvSpPr>
            <a:spLocks noGrp="1"/>
          </p:cNvSpPr>
          <p:nvPr>
            <p:ph type="sldNum" sz="quarter" idx="10"/>
          </p:nvPr>
        </p:nvSpPr>
        <p:spPr/>
        <p:txBody>
          <a:bodyPr/>
          <a:lstStyle/>
          <a:p>
            <a:fld id="{7D4A9670-4A51-4846-8C65-004530D9A3E1}" type="slidenum">
              <a:rPr lang="en-GB" smtClean="0"/>
              <a:t>10</a:t>
            </a:fld>
            <a:endParaRPr lang="en-GB"/>
          </a:p>
        </p:txBody>
      </p:sp>
    </p:spTree>
    <p:extLst>
      <p:ext uri="{BB962C8B-B14F-4D97-AF65-F5344CB8AC3E}">
        <p14:creationId xmlns:p14="http://schemas.microsoft.com/office/powerpoint/2010/main" val="605374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38</a:t>
            </a:fld>
            <a:endParaRPr lang="en-US" altLang="en-US" dirty="0"/>
          </a:p>
        </p:txBody>
      </p:sp>
    </p:spTree>
    <p:extLst>
      <p:ext uri="{BB962C8B-B14F-4D97-AF65-F5344CB8AC3E}">
        <p14:creationId xmlns:p14="http://schemas.microsoft.com/office/powerpoint/2010/main" val="1763335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52</a:t>
            </a:fld>
            <a:endParaRPr lang="en-US" altLang="en-US" dirty="0"/>
          </a:p>
        </p:txBody>
      </p:sp>
    </p:spTree>
    <p:extLst>
      <p:ext uri="{BB962C8B-B14F-4D97-AF65-F5344CB8AC3E}">
        <p14:creationId xmlns:p14="http://schemas.microsoft.com/office/powerpoint/2010/main" val="3972495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presentation title slide">
    <p:bg>
      <p:bgPr>
        <a:solidFill>
          <a:srgbClr val="1A9DAC"/>
        </a:solid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1775346" y="1617868"/>
            <a:ext cx="0" cy="2743200"/>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5" name="Text Placeholder 14"/>
          <p:cNvSpPr>
            <a:spLocks noGrp="1"/>
          </p:cNvSpPr>
          <p:nvPr>
            <p:ph type="body" sz="quarter" idx="14"/>
          </p:nvPr>
        </p:nvSpPr>
        <p:spPr>
          <a:xfrm>
            <a:off x="2181658" y="1540814"/>
            <a:ext cx="6062750" cy="2831136"/>
          </a:xfrm>
          <a:prstGeom prst="rect">
            <a:avLst/>
          </a:prstGeom>
        </p:spPr>
        <p:txBody>
          <a:bodyPr lIns="0" tIns="0" rIns="0" bIns="0"/>
          <a:lstStyle>
            <a:lvl1pPr marL="0" indent="0">
              <a:lnSpc>
                <a:spcPts val="4800"/>
              </a:lnSpc>
              <a:spcBef>
                <a:spcPts val="0"/>
              </a:spcBef>
              <a:buFontTx/>
              <a:buNone/>
              <a:defRPr sz="44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18" name="Text Placeholder 14"/>
          <p:cNvSpPr>
            <a:spLocks noGrp="1"/>
          </p:cNvSpPr>
          <p:nvPr>
            <p:ph type="body" sz="quarter" idx="15"/>
          </p:nvPr>
        </p:nvSpPr>
        <p:spPr>
          <a:xfrm>
            <a:off x="496861" y="1605616"/>
            <a:ext cx="1219139" cy="269081"/>
          </a:xfrm>
          <a:prstGeom prst="rect">
            <a:avLst/>
          </a:prstGeom>
        </p:spPr>
        <p:txBody>
          <a:bodyPr lIns="0" tIns="0" rIns="0" bIns="0"/>
          <a:lstStyle>
            <a:lvl1pPr marL="0" indent="0">
              <a:lnSpc>
                <a:spcPts val="1300"/>
              </a:lnSpc>
              <a:spcBef>
                <a:spcPts val="0"/>
              </a:spcBef>
              <a:buFontTx/>
              <a:buNone/>
              <a:defRPr sz="11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19" name="Text Placeholder 14"/>
          <p:cNvSpPr>
            <a:spLocks noGrp="1"/>
          </p:cNvSpPr>
          <p:nvPr>
            <p:ph type="body" sz="quarter" idx="16"/>
          </p:nvPr>
        </p:nvSpPr>
        <p:spPr>
          <a:xfrm>
            <a:off x="496861" y="1875614"/>
            <a:ext cx="1219139" cy="402300"/>
          </a:xfrm>
          <a:prstGeom prst="rect">
            <a:avLst/>
          </a:prstGeom>
        </p:spPr>
        <p:txBody>
          <a:bodyPr lIns="0" tIns="0" rIns="0" bIns="0"/>
          <a:lstStyle>
            <a:lvl1pPr marL="0" indent="0">
              <a:lnSpc>
                <a:spcPts val="1300"/>
              </a:lnSpc>
              <a:spcBef>
                <a:spcPts val="0"/>
              </a:spcBef>
              <a:buFontTx/>
              <a:buNone/>
              <a:defRPr sz="1100" b="1"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20" name="Text Placeholder 14"/>
          <p:cNvSpPr>
            <a:spLocks noGrp="1"/>
          </p:cNvSpPr>
          <p:nvPr>
            <p:ph type="body" sz="quarter" idx="17"/>
          </p:nvPr>
        </p:nvSpPr>
        <p:spPr>
          <a:xfrm>
            <a:off x="496861" y="2283314"/>
            <a:ext cx="1219139" cy="521494"/>
          </a:xfrm>
          <a:prstGeom prst="rect">
            <a:avLst/>
          </a:prstGeom>
        </p:spPr>
        <p:txBody>
          <a:bodyPr lIns="0" tIns="0" rIns="0" bIns="0"/>
          <a:lstStyle>
            <a:lvl1pPr marL="0" indent="0">
              <a:lnSpc>
                <a:spcPts val="1300"/>
              </a:lnSpc>
              <a:spcBef>
                <a:spcPts val="0"/>
              </a:spcBef>
              <a:buFontTx/>
              <a:buNone/>
              <a:defRPr sz="1100" b="1"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4188" y="0"/>
            <a:ext cx="2166937"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14"/>
          <p:cNvSpPr>
            <a:spLocks noGrp="1"/>
          </p:cNvSpPr>
          <p:nvPr>
            <p:ph type="body" sz="quarter" idx="18"/>
          </p:nvPr>
        </p:nvSpPr>
        <p:spPr>
          <a:xfrm>
            <a:off x="496861" y="4221384"/>
            <a:ext cx="1219139" cy="229774"/>
          </a:xfrm>
          <a:prstGeom prst="rect">
            <a:avLst/>
          </a:prstGeom>
        </p:spPr>
        <p:txBody>
          <a:bodyPr lIns="0" tIns="0" rIns="0" bIns="0"/>
          <a:lstStyle>
            <a:lvl1pPr marL="0" indent="0">
              <a:lnSpc>
                <a:spcPts val="1300"/>
              </a:lnSpc>
              <a:spcBef>
                <a:spcPts val="0"/>
              </a:spcBef>
              <a:buFontTx/>
              <a:buNone/>
              <a:defRPr sz="11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Tree>
    <p:extLst>
      <p:ext uri="{BB962C8B-B14F-4D97-AF65-F5344CB8AC3E}">
        <p14:creationId xmlns:p14="http://schemas.microsoft.com/office/powerpoint/2010/main" val="2037226853"/>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899594" y="1418035"/>
            <a:ext cx="6668019" cy="1024590"/>
          </a:xfrm>
          <a:prstGeom prst="rect">
            <a:avLst/>
          </a:prstGeom>
        </p:spPr>
        <p:txBody>
          <a:bodyPr lIns="0" tIns="0" rIns="0" bIns="0"/>
          <a:lstStyle>
            <a:lvl1pPr marL="0" indent="0">
              <a:lnSpc>
                <a:spcPts val="4800"/>
              </a:lnSpc>
              <a:spcBef>
                <a:spcPts val="0"/>
              </a:spcBef>
              <a:buFontTx/>
              <a:buNone/>
              <a:defRPr sz="44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7" name="Text Placeholder 5"/>
          <p:cNvSpPr>
            <a:spLocks noGrp="1"/>
          </p:cNvSpPr>
          <p:nvPr>
            <p:ph type="body" sz="quarter" idx="11"/>
          </p:nvPr>
        </p:nvSpPr>
        <p:spPr>
          <a:xfrm>
            <a:off x="899591" y="3165872"/>
            <a:ext cx="6668021" cy="452328"/>
          </a:xfrm>
          <a:prstGeom prst="rect">
            <a:avLst/>
          </a:prstGeom>
        </p:spPr>
        <p:txBody>
          <a:bodyPr lIns="0" tIns="0" rIns="0" bIns="0"/>
          <a:lstStyle>
            <a:lvl1pPr marL="0" indent="0">
              <a:lnSpc>
                <a:spcPct val="100000"/>
              </a:lnSpc>
              <a:buFontTx/>
              <a:buNone/>
              <a:defRPr sz="1600" b="0" i="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5"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450603"/>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594" y="699542"/>
            <a:ext cx="6668019" cy="488301"/>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5"/>
          <p:cNvSpPr>
            <a:spLocks noGrp="1"/>
          </p:cNvSpPr>
          <p:nvPr>
            <p:ph type="body" sz="quarter" idx="11"/>
          </p:nvPr>
        </p:nvSpPr>
        <p:spPr>
          <a:xfrm>
            <a:off x="827583" y="1347635"/>
            <a:ext cx="6740030" cy="3404603"/>
          </a:xfrm>
          <a:prstGeom prst="rect">
            <a:avLst/>
          </a:prstGeom>
        </p:spPr>
        <p:txBody>
          <a:bodyPr/>
          <a:lstStyle>
            <a:lvl1pPr marL="266700" indent="-266700">
              <a:buClr>
                <a:srgbClr val="16818D"/>
              </a:buClr>
              <a:defRPr sz="1600">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600">
                <a:latin typeface="Calibri" panose="020F0502020204030204" pitchFamily="34" charset="0"/>
                <a:ea typeface="Calibri" panose="020F0502020204030204" pitchFamily="34" charset="0"/>
                <a:cs typeface="Calibri" panose="020F0502020204030204" pitchFamily="34" charset="0"/>
              </a:defRPr>
            </a:lvl2pPr>
            <a:lvl3pPr marL="808038" indent="-266700">
              <a:buClr>
                <a:srgbClr val="16818D"/>
              </a:buClr>
              <a:buFont typeface="Arial" panose="020B0604020202020204" pitchFamily="34" charset="0"/>
              <a:buChar char="̶"/>
              <a:defRPr sz="1600">
                <a:latin typeface="Calibri" panose="020F0502020204030204" pitchFamily="34" charset="0"/>
                <a:ea typeface="Calibri" panose="020F0502020204030204" pitchFamily="34" charset="0"/>
                <a:cs typeface="Calibri" panose="020F050202020403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41" userDrawn="1">
          <p15:clr>
            <a:srgbClr val="FBAE40"/>
          </p15:clr>
        </p15:guide>
        <p15:guide id="2" pos="4768" userDrawn="1">
          <p15:clr>
            <a:srgbClr val="FBAE40"/>
          </p15:clr>
        </p15:guide>
        <p15:guide id="3"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594" y="697943"/>
            <a:ext cx="6668019" cy="47600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Placeholder 2"/>
          <p:cNvSpPr>
            <a:spLocks noGrp="1"/>
          </p:cNvSpPr>
          <p:nvPr>
            <p:ph type="body" sz="quarter" idx="11"/>
          </p:nvPr>
        </p:nvSpPr>
        <p:spPr>
          <a:xfrm>
            <a:off x="840769" y="1346400"/>
            <a:ext cx="6726844" cy="3510074"/>
          </a:xfrm>
          <a:prstGeom prst="rect">
            <a:avLst/>
          </a:prstGeom>
        </p:spPr>
        <p:txBody>
          <a:bodyPr/>
          <a:lstStyle>
            <a:lvl1pPr marL="266700" indent="-266700">
              <a:buClr>
                <a:srgbClr val="16818D"/>
              </a:buClr>
              <a:buFont typeface="+mj-lt"/>
              <a:buAutoNum type="arabicPeriod"/>
              <a:defRPr sz="1600">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mj-lt"/>
              <a:buAutoNum type="romanLcPeriod"/>
              <a:defRPr sz="1600">
                <a:latin typeface="Calibri" panose="020F0502020204030204" pitchFamily="34" charset="0"/>
                <a:ea typeface="Calibri" panose="020F0502020204030204" pitchFamily="34" charset="0"/>
                <a:cs typeface="Calibri" panose="020F0502020204030204" pitchFamily="34" charset="0"/>
              </a:defRPr>
            </a:lvl2pPr>
            <a:lvl3pPr marL="896938" indent="-266700">
              <a:buClr>
                <a:srgbClr val="16818D"/>
              </a:buClr>
              <a:buFont typeface="Arial" panose="020B0604020202020204" pitchFamily="34" charset="0"/>
              <a:buChar char="̶"/>
              <a:defRPr sz="1600">
                <a:latin typeface="Calibri" panose="020F0502020204030204" pitchFamily="34" charset="0"/>
                <a:ea typeface="Calibri" panose="020F0502020204030204" pitchFamily="34" charset="0"/>
                <a:cs typeface="Calibri" panose="020F050202020403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86068825"/>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899666" y="1368000"/>
            <a:ext cx="3167583" cy="3402378"/>
          </a:xfrm>
          <a:prstGeom prst="rect">
            <a:avLst/>
          </a:prstGeom>
        </p:spPr>
        <p:txBody>
          <a:bodyPr lIns="0" tIns="0" rIns="0" bIns="0" numCol="1" spcCol="216000"/>
          <a:lstStyle>
            <a:lvl1pPr marL="0" marR="0" indent="0" algn="l" defTabSz="606410" rtl="0" eaLnBrk="1" fontAlgn="base" latinLnBrk="0" hangingPunct="1">
              <a:lnSpc>
                <a:spcPts val="2000"/>
              </a:lnSpc>
              <a:spcBef>
                <a:spcPts val="0"/>
              </a:spcBef>
              <a:spcAft>
                <a:spcPct val="0"/>
              </a:spcAft>
              <a:buClrTx/>
              <a:buSzTx/>
              <a:buFontTx/>
              <a:buNone/>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Text Placeholder 5"/>
          <p:cNvSpPr>
            <a:spLocks noGrp="1"/>
          </p:cNvSpPr>
          <p:nvPr>
            <p:ph type="body" sz="quarter" idx="10"/>
          </p:nvPr>
        </p:nvSpPr>
        <p:spPr>
          <a:xfrm>
            <a:off x="899665" y="700088"/>
            <a:ext cx="6552655"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7" name="Text Placeholder 5"/>
          <p:cNvSpPr>
            <a:spLocks noGrp="1"/>
          </p:cNvSpPr>
          <p:nvPr>
            <p:ph type="body" sz="quarter" idx="12"/>
          </p:nvPr>
        </p:nvSpPr>
        <p:spPr>
          <a:xfrm>
            <a:off x="4211961" y="1368000"/>
            <a:ext cx="3240360" cy="3402378"/>
          </a:xfrm>
          <a:prstGeom prst="rect">
            <a:avLst/>
          </a:prstGeom>
        </p:spPr>
        <p:txBody>
          <a:bodyPr lIns="0" tIns="0" rIns="0" bIns="0" numCol="1" spcCol="216000"/>
          <a:lstStyle>
            <a:lvl1pPr marL="0" marR="0" indent="0" algn="l" defTabSz="606410" rtl="0" eaLnBrk="1" fontAlgn="base" latinLnBrk="0" hangingPunct="1">
              <a:lnSpc>
                <a:spcPts val="2000"/>
              </a:lnSpc>
              <a:spcBef>
                <a:spcPts val="0"/>
              </a:spcBef>
              <a:spcAft>
                <a:spcPct val="0"/>
              </a:spcAft>
              <a:buClrTx/>
              <a:buSzTx/>
              <a:buFontTx/>
              <a:buNone/>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9"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3622766"/>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guide id="3" pos="2517" userDrawn="1">
          <p15:clr>
            <a:srgbClr val="FBAE40"/>
          </p15:clr>
        </p15:guide>
        <p15:guide id="4" pos="2653" userDrawn="1">
          <p15:clr>
            <a:srgbClr val="FBAE40"/>
          </p15:clr>
        </p15:guide>
        <p15:guide id="5" pos="4649"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900113" y="700088"/>
            <a:ext cx="6553200"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5"/>
          <p:cNvSpPr>
            <a:spLocks noGrp="1"/>
          </p:cNvSpPr>
          <p:nvPr>
            <p:ph type="body" sz="quarter" idx="11" hasCustomPrompt="1"/>
          </p:nvPr>
        </p:nvSpPr>
        <p:spPr>
          <a:xfrm>
            <a:off x="900113" y="1368566"/>
            <a:ext cx="3167583" cy="3391657"/>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400">
                <a:latin typeface="Calibri" panose="020F0502020204030204" pitchFamily="34" charset="0"/>
                <a:ea typeface="Calibri" panose="020F0502020204030204" pitchFamily="34" charset="0"/>
                <a:cs typeface="Calibri" panose="020F0502020204030204" pitchFamily="34" charset="0"/>
              </a:defRPr>
            </a:lvl2pPr>
            <a:lvl3pPr marL="808038" indent="-1778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163638" indent="-301625">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10" name="Text Placeholder 5"/>
          <p:cNvSpPr>
            <a:spLocks noGrp="1"/>
          </p:cNvSpPr>
          <p:nvPr>
            <p:ph type="body" sz="quarter" idx="12" hasCustomPrompt="1"/>
          </p:nvPr>
        </p:nvSpPr>
        <p:spPr>
          <a:xfrm>
            <a:off x="4214194" y="1368566"/>
            <a:ext cx="3239119" cy="3391657"/>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400">
                <a:latin typeface="Calibri" panose="020F0502020204030204" pitchFamily="34" charset="0"/>
                <a:ea typeface="Calibri" panose="020F0502020204030204" pitchFamily="34" charset="0"/>
                <a:cs typeface="Calibri" panose="020F0502020204030204" pitchFamily="34" charset="0"/>
              </a:defRPr>
            </a:lvl2pPr>
            <a:lvl3pPr marL="808038" indent="-1778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163638" indent="-301625">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guide id="3" pos="2517" userDrawn="1">
          <p15:clr>
            <a:srgbClr val="FBAE40"/>
          </p15:clr>
        </p15:guide>
        <p15:guide id="4" pos="2653" userDrawn="1">
          <p15:clr>
            <a:srgbClr val="FBAE40"/>
          </p15:clr>
        </p15:guide>
        <p15:guide id="5" pos="464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120" y="700088"/>
            <a:ext cx="6553200"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5"/>
          <p:cNvSpPr>
            <a:spLocks noGrp="1"/>
          </p:cNvSpPr>
          <p:nvPr>
            <p:ph type="body" sz="quarter" idx="11" hasCustomPrompt="1"/>
          </p:nvPr>
        </p:nvSpPr>
        <p:spPr>
          <a:xfrm>
            <a:off x="899120" y="1368678"/>
            <a:ext cx="3167583" cy="3435867"/>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6818D"/>
              </a:buClr>
              <a:buSzTx/>
              <a:buFont typeface="+mj-lt"/>
              <a:buAutoNum type="arabicPeriod"/>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mj-lt"/>
              <a:buAutoNum type="romanLcPeriod"/>
              <a:defRPr sz="1400" baseline="0">
                <a:latin typeface="Calibri" panose="020F0502020204030204" pitchFamily="34" charset="0"/>
                <a:ea typeface="Calibri" panose="020F0502020204030204" pitchFamily="34" charset="0"/>
                <a:cs typeface="Calibri" panose="020F0502020204030204" pitchFamily="34" charset="0"/>
              </a:defRPr>
            </a:lvl2pPr>
            <a:lvl3pPr marL="896938" indent="-2667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252538" indent="-285750">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10" name="Text Placeholder 5"/>
          <p:cNvSpPr>
            <a:spLocks noGrp="1"/>
          </p:cNvSpPr>
          <p:nvPr>
            <p:ph type="body" sz="quarter" idx="12" hasCustomPrompt="1"/>
          </p:nvPr>
        </p:nvSpPr>
        <p:spPr>
          <a:xfrm>
            <a:off x="4214194" y="1368678"/>
            <a:ext cx="3238126" cy="3435867"/>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6818D"/>
              </a:buClr>
              <a:buSzTx/>
              <a:buFont typeface="+mj-lt"/>
              <a:buAutoNum type="arabicPeriod"/>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mj-lt"/>
              <a:buAutoNum type="romanLcPeriod"/>
              <a:defRPr sz="1400">
                <a:latin typeface="Calibri" panose="020F0502020204030204" pitchFamily="34" charset="0"/>
                <a:ea typeface="Calibri" panose="020F0502020204030204" pitchFamily="34" charset="0"/>
                <a:cs typeface="Calibri" panose="020F0502020204030204" pitchFamily="34" charset="0"/>
              </a:defRPr>
            </a:lvl2pPr>
            <a:lvl3pPr marL="896938" indent="-2667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252538" indent="-285750">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guide id="3" pos="2653" userDrawn="1">
          <p15:clr>
            <a:srgbClr val="FBAE40"/>
          </p15:clr>
        </p15:guide>
        <p15:guide id="4" pos="2517" userDrawn="1">
          <p15:clr>
            <a:srgbClr val="FBAE40"/>
          </p15:clr>
        </p15:guide>
        <p15:guide id="5" pos="464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594" y="700088"/>
            <a:ext cx="6515621"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3" name="Chart Placeholder 2"/>
          <p:cNvSpPr>
            <a:spLocks noGrp="1"/>
          </p:cNvSpPr>
          <p:nvPr>
            <p:ph type="chart" sz="quarter" idx="11"/>
          </p:nvPr>
        </p:nvSpPr>
        <p:spPr>
          <a:xfrm>
            <a:off x="899592" y="1346637"/>
            <a:ext cx="6515620" cy="3403549"/>
          </a:xfrm>
          <a:prstGeom prst="rect">
            <a:avLst/>
          </a:prstGeom>
        </p:spPr>
        <p:txBody>
          <a:bodyPr/>
          <a:lstStyle/>
          <a:p>
            <a:pPr lvl="0"/>
            <a:endParaRPr lang="en-US" noProof="0"/>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7534947"/>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898974" y="1402166"/>
            <a:ext cx="3167583" cy="3402378"/>
          </a:xfrm>
          <a:prstGeom prst="rect">
            <a:avLst/>
          </a:prstGeom>
        </p:spPr>
        <p:txBody>
          <a:bodyPr lIns="0" tIns="0" rIns="0" bIns="0" numCol="1" spcCol="216000"/>
          <a:lstStyle>
            <a:lvl1pPr marL="0" marR="0" indent="0" algn="l" defTabSz="606410" rtl="0" eaLnBrk="1" fontAlgn="base" latinLnBrk="0" hangingPunct="1">
              <a:lnSpc>
                <a:spcPts val="2000"/>
              </a:lnSpc>
              <a:spcBef>
                <a:spcPts val="0"/>
              </a:spcBef>
              <a:spcAft>
                <a:spcPct val="0"/>
              </a:spcAft>
              <a:buClrTx/>
              <a:buSzTx/>
              <a:buFontTx/>
              <a:buNone/>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Text Placeholder 5"/>
          <p:cNvSpPr>
            <a:spLocks noGrp="1"/>
          </p:cNvSpPr>
          <p:nvPr>
            <p:ph type="body" sz="quarter" idx="10"/>
          </p:nvPr>
        </p:nvSpPr>
        <p:spPr>
          <a:xfrm>
            <a:off x="898973" y="700088"/>
            <a:ext cx="6515621"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3" name="Chart Placeholder 2"/>
          <p:cNvSpPr>
            <a:spLocks noGrp="1"/>
          </p:cNvSpPr>
          <p:nvPr>
            <p:ph type="chart" sz="quarter" idx="12"/>
          </p:nvPr>
        </p:nvSpPr>
        <p:spPr>
          <a:xfrm>
            <a:off x="4284042" y="1402167"/>
            <a:ext cx="3816350" cy="3348019"/>
          </a:xfrm>
          <a:prstGeom prst="rect">
            <a:avLst/>
          </a:prstGeom>
        </p:spPr>
        <p:txBody>
          <a:bodyPr/>
          <a:lstStyle/>
          <a:p>
            <a:pPr lvl="0"/>
            <a:endParaRPr lang="en-US" noProof="0"/>
          </a:p>
        </p:txBody>
      </p:sp>
      <p:pic>
        <p:nvPicPr>
          <p:cNvPr id="8"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8611724"/>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pic>
        <p:nvPicPr>
          <p:cNvPr id="4"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2"/>
          <p:cNvSpPr>
            <a:spLocks noGrp="1"/>
          </p:cNvSpPr>
          <p:nvPr>
            <p:ph type="pic" sz="quarter" idx="13"/>
          </p:nvPr>
        </p:nvSpPr>
        <p:spPr>
          <a:xfrm>
            <a:off x="0" y="771550"/>
            <a:ext cx="9144000" cy="4371950"/>
          </a:xfrm>
          <a:prstGeom prst="rect">
            <a:avLst/>
          </a:prstGeom>
        </p:spPr>
        <p:txBody>
          <a:bodyPr/>
          <a:lstStyle/>
          <a:p>
            <a:endParaRPr lang="en-US"/>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ext Placeholder 5"/>
          <p:cNvSpPr>
            <a:spLocks noGrp="1"/>
          </p:cNvSpPr>
          <p:nvPr>
            <p:ph type="body" sz="quarter" idx="10"/>
          </p:nvPr>
        </p:nvSpPr>
        <p:spPr>
          <a:xfrm>
            <a:off x="467545" y="307250"/>
            <a:ext cx="6552727" cy="608316"/>
          </a:xfrm>
          <a:prstGeom prst="rect">
            <a:avLst/>
          </a:prstGeom>
        </p:spPr>
        <p:txBody>
          <a:bodyPr lIns="0" tIns="0" rIns="0" bIns="0"/>
          <a:lstStyle>
            <a:lvl1pPr marL="0" indent="0">
              <a:lnSpc>
                <a:spcPts val="4200"/>
              </a:lnSpc>
              <a:buFontTx/>
              <a:buNone/>
              <a:defRPr sz="3200" b="0" i="0" baseline="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Picture Placeholder 12"/>
          <p:cNvSpPr>
            <a:spLocks noGrp="1"/>
          </p:cNvSpPr>
          <p:nvPr>
            <p:ph type="pic" sz="quarter" idx="11"/>
          </p:nvPr>
        </p:nvSpPr>
        <p:spPr>
          <a:xfrm>
            <a:off x="6118225" y="1059582"/>
            <a:ext cx="3025775" cy="4083918"/>
          </a:xfrm>
          <a:prstGeom prst="rect">
            <a:avLst/>
          </a:prstGeom>
        </p:spPr>
        <p:txBody>
          <a:bodyPr/>
          <a:lstStyle/>
          <a:p>
            <a:endParaRPr lang="en-US"/>
          </a:p>
        </p:txBody>
      </p:sp>
      <p:sp>
        <p:nvSpPr>
          <p:cNvPr id="6" name="Picture Placeholder 12"/>
          <p:cNvSpPr>
            <a:spLocks noGrp="1"/>
          </p:cNvSpPr>
          <p:nvPr>
            <p:ph type="pic" sz="quarter" idx="12"/>
          </p:nvPr>
        </p:nvSpPr>
        <p:spPr>
          <a:xfrm>
            <a:off x="0" y="1059582"/>
            <a:ext cx="3024188" cy="4083918"/>
          </a:xfrm>
          <a:prstGeom prst="rect">
            <a:avLst/>
          </a:prstGeom>
        </p:spPr>
        <p:txBody>
          <a:bodyPr/>
          <a:lstStyle/>
          <a:p>
            <a:endParaRPr lang="en-US"/>
          </a:p>
        </p:txBody>
      </p:sp>
      <p:sp>
        <p:nvSpPr>
          <p:cNvPr id="7" name="Picture Placeholder 12"/>
          <p:cNvSpPr>
            <a:spLocks noGrp="1"/>
          </p:cNvSpPr>
          <p:nvPr>
            <p:ph type="pic" sz="quarter" idx="13"/>
          </p:nvPr>
        </p:nvSpPr>
        <p:spPr>
          <a:xfrm>
            <a:off x="3059113" y="1059583"/>
            <a:ext cx="3020316" cy="1977305"/>
          </a:xfrm>
          <a:prstGeom prst="rect">
            <a:avLst/>
          </a:prstGeom>
        </p:spPr>
        <p:txBody>
          <a:bodyPr/>
          <a:lstStyle/>
          <a:p>
            <a:endParaRPr lang="en-US"/>
          </a:p>
        </p:txBody>
      </p:sp>
      <p:sp>
        <p:nvSpPr>
          <p:cNvPr id="8" name="Picture Placeholder 12"/>
          <p:cNvSpPr>
            <a:spLocks noGrp="1"/>
          </p:cNvSpPr>
          <p:nvPr>
            <p:ph type="pic" sz="quarter" idx="14"/>
          </p:nvPr>
        </p:nvSpPr>
        <p:spPr>
          <a:xfrm>
            <a:off x="3059113" y="3076575"/>
            <a:ext cx="3020316" cy="2066925"/>
          </a:xfrm>
          <a:prstGeom prst="rect">
            <a:avLst/>
          </a:prstGeom>
        </p:spPr>
        <p:txBody>
          <a:bodyPr/>
          <a:lstStyle/>
          <a:p>
            <a:endParaRPr lang="en-US"/>
          </a:p>
        </p:txBody>
      </p:sp>
      <p:pic>
        <p:nvPicPr>
          <p:cNvPr id="9"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5673224"/>
      </p:ext>
    </p:extLst>
  </p:cSld>
  <p:clrMapOvr>
    <a:masterClrMapping/>
  </p:clrMapOvr>
  <p:transition spd="slow">
    <p:fade/>
  </p:transition>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guide id="3" orient="horz" pos="1938" userDrawn="1">
          <p15:clr>
            <a:srgbClr val="FBAE40"/>
          </p15:clr>
        </p15:guide>
        <p15:guide id="4" orient="horz" pos="191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Text Placeholder 5"/>
          <p:cNvSpPr>
            <a:spLocks noGrp="1"/>
          </p:cNvSpPr>
          <p:nvPr>
            <p:ph type="body" sz="quarter" idx="10"/>
          </p:nvPr>
        </p:nvSpPr>
        <p:spPr>
          <a:xfrm>
            <a:off x="467545" y="307250"/>
            <a:ext cx="6552727" cy="608316"/>
          </a:xfrm>
          <a:prstGeom prst="rect">
            <a:avLst/>
          </a:prstGeom>
        </p:spPr>
        <p:txBody>
          <a:bodyPr lIns="0" tIns="0" rIns="0" bIns="0"/>
          <a:lstStyle>
            <a:lvl1pPr marL="0" indent="0">
              <a:lnSpc>
                <a:spcPts val="4200"/>
              </a:lnSpc>
              <a:buFontTx/>
              <a:buNone/>
              <a:defRPr sz="3200" b="0" i="0" baseline="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Picture Placeholder 12"/>
          <p:cNvSpPr>
            <a:spLocks noGrp="1"/>
          </p:cNvSpPr>
          <p:nvPr>
            <p:ph type="pic" sz="quarter" idx="11"/>
          </p:nvPr>
        </p:nvSpPr>
        <p:spPr>
          <a:xfrm>
            <a:off x="6118225" y="1059582"/>
            <a:ext cx="3025775" cy="4083918"/>
          </a:xfrm>
          <a:prstGeom prst="rect">
            <a:avLst/>
          </a:prstGeom>
        </p:spPr>
        <p:txBody>
          <a:bodyPr/>
          <a:lstStyle/>
          <a:p>
            <a:endParaRPr lang="en-US"/>
          </a:p>
        </p:txBody>
      </p:sp>
      <p:sp>
        <p:nvSpPr>
          <p:cNvPr id="7" name="Picture Placeholder 12"/>
          <p:cNvSpPr>
            <a:spLocks noGrp="1"/>
          </p:cNvSpPr>
          <p:nvPr>
            <p:ph type="pic" sz="quarter" idx="13"/>
          </p:nvPr>
        </p:nvSpPr>
        <p:spPr>
          <a:xfrm>
            <a:off x="3059113" y="1059583"/>
            <a:ext cx="3020316" cy="1977305"/>
          </a:xfrm>
          <a:prstGeom prst="rect">
            <a:avLst/>
          </a:prstGeom>
        </p:spPr>
        <p:txBody>
          <a:bodyPr/>
          <a:lstStyle/>
          <a:p>
            <a:endParaRPr lang="en-US"/>
          </a:p>
        </p:txBody>
      </p:sp>
      <p:sp>
        <p:nvSpPr>
          <p:cNvPr id="8" name="Picture Placeholder 12"/>
          <p:cNvSpPr>
            <a:spLocks noGrp="1"/>
          </p:cNvSpPr>
          <p:nvPr>
            <p:ph type="pic" sz="quarter" idx="14"/>
          </p:nvPr>
        </p:nvSpPr>
        <p:spPr>
          <a:xfrm>
            <a:off x="3059113" y="3076575"/>
            <a:ext cx="3020316" cy="2066925"/>
          </a:xfrm>
          <a:prstGeom prst="rect">
            <a:avLst/>
          </a:prstGeom>
        </p:spPr>
        <p:txBody>
          <a:bodyPr/>
          <a:lstStyle/>
          <a:p>
            <a:endParaRPr lang="en-US"/>
          </a:p>
        </p:txBody>
      </p:sp>
      <p:sp>
        <p:nvSpPr>
          <p:cNvPr id="9" name="Text Placeholder 5"/>
          <p:cNvSpPr>
            <a:spLocks noGrp="1"/>
          </p:cNvSpPr>
          <p:nvPr>
            <p:ph type="body" sz="quarter" idx="15" hasCustomPrompt="1"/>
          </p:nvPr>
        </p:nvSpPr>
        <p:spPr>
          <a:xfrm>
            <a:off x="458065" y="1059582"/>
            <a:ext cx="2385743" cy="3600400"/>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400">
                <a:latin typeface="Calibri" panose="020F0502020204030204" pitchFamily="34" charset="0"/>
                <a:ea typeface="Calibri" panose="020F0502020204030204" pitchFamily="34" charset="0"/>
                <a:cs typeface="Calibri" panose="020F0502020204030204" pitchFamily="34" charset="0"/>
              </a:defRPr>
            </a:lvl2pPr>
            <a:lvl3pPr marL="808038" indent="-1778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163638" indent="-301625">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pic>
        <p:nvPicPr>
          <p:cNvPr id="10"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4470880"/>
      </p:ext>
    </p:extLst>
  </p:cSld>
  <p:clrMapOvr>
    <a:masterClrMapping/>
  </p:clrMapOvr>
  <p:transition spd="slow">
    <p:fade/>
  </p:transition>
  <p:extLst>
    <p:ext uri="{DCECCB84-F9BA-43D5-87BE-67443E8EF086}">
      <p15:sldGuideLst xmlns:p15="http://schemas.microsoft.com/office/powerpoint/2012/main">
        <p15:guide id="1" orient="horz" pos="1620">
          <p15:clr>
            <a:srgbClr val="FBAE40"/>
          </p15:clr>
        </p15:guide>
        <p15:guide id="2" pos="2880">
          <p15:clr>
            <a:srgbClr val="FBAE40"/>
          </p15:clr>
        </p15:guide>
        <p15:guide id="3" orient="horz" pos="1938">
          <p15:clr>
            <a:srgbClr val="FBAE40"/>
          </p15:clr>
        </p15:guide>
        <p15:guide id="4" orient="horz" pos="1913">
          <p15:clr>
            <a:srgbClr val="FBAE40"/>
          </p15:clr>
        </p15:guide>
        <p15:guide id="5" pos="3833" userDrawn="1">
          <p15:clr>
            <a:srgbClr val="FBAE40"/>
          </p15:clr>
        </p15:guide>
        <p15:guide id="6" pos="385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Text Placeholder 12"/>
          <p:cNvSpPr>
            <a:spLocks noGrp="1"/>
          </p:cNvSpPr>
          <p:nvPr>
            <p:ph type="body" sz="quarter" idx="12"/>
          </p:nvPr>
        </p:nvSpPr>
        <p:spPr>
          <a:xfrm>
            <a:off x="1042988" y="1131590"/>
            <a:ext cx="7058025" cy="2880320"/>
          </a:xfrm>
          <a:prstGeom prst="rect">
            <a:avLst/>
          </a:prstGeom>
        </p:spPr>
        <p:txBody>
          <a:bodyPr/>
          <a:lstStyle>
            <a:lvl1pPr marL="0" indent="0">
              <a:lnSpc>
                <a:spcPts val="3600"/>
              </a:lnSpc>
              <a:buNone/>
              <a:defRPr sz="2800" b="0" i="1" baseline="0">
                <a:solidFill>
                  <a:srgbClr val="16818D"/>
                </a:solidFill>
                <a:latin typeface="Calibri" panose="020F0502020204030204" pitchFamily="34" charset="0"/>
              </a:defRPr>
            </a:lvl1pPr>
            <a:lvl2pPr marL="609600" indent="0">
              <a:lnSpc>
                <a:spcPts val="3600"/>
              </a:lnSpc>
              <a:buNone/>
              <a:defRPr sz="2800" b="0" i="1" baseline="0">
                <a:solidFill>
                  <a:srgbClr val="16818D"/>
                </a:solidFill>
                <a:latin typeface="Calibri" panose="020F0502020204030204" pitchFamily="34" charset="0"/>
              </a:defRPr>
            </a:lvl2pPr>
            <a:lvl3pPr marL="1219200" indent="0">
              <a:lnSpc>
                <a:spcPts val="3600"/>
              </a:lnSpc>
              <a:buNone/>
              <a:defRPr sz="2800" b="0" i="1" baseline="0">
                <a:solidFill>
                  <a:srgbClr val="16818D"/>
                </a:solidFill>
                <a:latin typeface="Calibri" panose="020F0502020204030204" pitchFamily="34" charset="0"/>
              </a:defRPr>
            </a:lvl3pPr>
            <a:lvl4pPr marL="1828800" indent="0">
              <a:lnSpc>
                <a:spcPts val="3600"/>
              </a:lnSpc>
              <a:buNone/>
              <a:defRPr sz="2800" b="0" i="1" baseline="0">
                <a:solidFill>
                  <a:srgbClr val="16818D"/>
                </a:solidFill>
                <a:latin typeface="Calibri" panose="020F0502020204030204" pitchFamily="34" charset="0"/>
              </a:defRPr>
            </a:lvl4pPr>
            <a:lvl5pPr marL="2438400" indent="0">
              <a:lnSpc>
                <a:spcPts val="3600"/>
              </a:lnSpc>
              <a:buNone/>
              <a:defRPr sz="2800" b="0" i="1" baseline="0">
                <a:solidFill>
                  <a:srgbClr val="16818D"/>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14"/>
          <p:cNvSpPr>
            <a:spLocks noGrp="1"/>
          </p:cNvSpPr>
          <p:nvPr>
            <p:ph type="body" sz="quarter" idx="13"/>
          </p:nvPr>
        </p:nvSpPr>
        <p:spPr>
          <a:xfrm>
            <a:off x="1042988" y="4327103"/>
            <a:ext cx="7058025" cy="620911"/>
          </a:xfrm>
          <a:prstGeom prst="rect">
            <a:avLst/>
          </a:prstGeom>
        </p:spPr>
        <p:txBody>
          <a:bodyPr/>
          <a:lstStyle>
            <a:lvl1pPr marL="0" indent="0" algn="r">
              <a:lnSpc>
                <a:spcPts val="1800"/>
              </a:lnSpc>
              <a:buNone/>
              <a:defRPr sz="1200" baseline="0">
                <a:solidFill>
                  <a:schemeClr val="tx1"/>
                </a:solidFill>
                <a:latin typeface="Calibri" panose="020F0502020204030204" pitchFamily="34" charset="0"/>
              </a:defRPr>
            </a:lvl1pPr>
            <a:lvl2pPr marL="609600" indent="0" algn="r">
              <a:lnSpc>
                <a:spcPts val="1800"/>
              </a:lnSpc>
              <a:buNone/>
              <a:defRPr sz="1200" baseline="0">
                <a:solidFill>
                  <a:schemeClr val="tx1"/>
                </a:solidFill>
                <a:latin typeface="Calibri" panose="020F0502020204030204" pitchFamily="34" charset="0"/>
              </a:defRPr>
            </a:lvl2pPr>
            <a:lvl3pPr marL="1219200" indent="0" algn="r">
              <a:lnSpc>
                <a:spcPts val="1800"/>
              </a:lnSpc>
              <a:buNone/>
              <a:defRPr sz="1200" baseline="0">
                <a:solidFill>
                  <a:schemeClr val="tx1"/>
                </a:solidFill>
                <a:latin typeface="Calibri" panose="020F0502020204030204" pitchFamily="34" charset="0"/>
              </a:defRPr>
            </a:lvl3pPr>
            <a:lvl4pPr marL="1828800" indent="0" algn="r">
              <a:lnSpc>
                <a:spcPts val="1800"/>
              </a:lnSpc>
              <a:buNone/>
              <a:defRPr sz="1200" baseline="0">
                <a:solidFill>
                  <a:schemeClr val="tx1"/>
                </a:solidFill>
                <a:latin typeface="Calibri" panose="020F0502020204030204" pitchFamily="34" charset="0"/>
              </a:defRPr>
            </a:lvl4pPr>
            <a:lvl5pPr marL="2438400" indent="0" algn="r">
              <a:lnSpc>
                <a:spcPts val="1800"/>
              </a:lnSpc>
              <a:buNone/>
              <a:defRPr sz="1200" baseline="0">
                <a:solidFill>
                  <a:schemeClr val="tx1"/>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16440"/>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ext Placeholder 12"/>
          <p:cNvSpPr>
            <a:spLocks noGrp="1"/>
          </p:cNvSpPr>
          <p:nvPr>
            <p:ph type="body" sz="quarter" idx="12" hasCustomPrompt="1"/>
          </p:nvPr>
        </p:nvSpPr>
        <p:spPr>
          <a:xfrm>
            <a:off x="215403" y="1995686"/>
            <a:ext cx="4283969" cy="1872208"/>
          </a:xfrm>
          <a:prstGeom prst="rect">
            <a:avLst/>
          </a:prstGeom>
        </p:spPr>
        <p:txBody>
          <a:bodyPr/>
          <a:lstStyle>
            <a:lvl1pPr marL="0" indent="0" algn="r">
              <a:lnSpc>
                <a:spcPts val="9600"/>
              </a:lnSpc>
              <a:buNone/>
              <a:defRPr sz="13000" b="0" i="0" baseline="0">
                <a:solidFill>
                  <a:srgbClr val="16818D"/>
                </a:solidFill>
                <a:latin typeface="Calibri" panose="020F0502020204030204" pitchFamily="34" charset="0"/>
                <a:ea typeface="Calibri" panose="020F0502020204030204" pitchFamily="34" charset="0"/>
                <a:cs typeface="Calibri" panose="020F0502020204030204" pitchFamily="34" charset="0"/>
              </a:defRPr>
            </a:lvl1pPr>
            <a:lvl2pPr marL="609600" indent="0" algn="r">
              <a:lnSpc>
                <a:spcPts val="3600"/>
              </a:lnSpc>
              <a:buNone/>
              <a:defRPr sz="9600" b="0" i="0" baseline="0">
                <a:solidFill>
                  <a:schemeClr val="bg1"/>
                </a:solidFill>
                <a:latin typeface="Georgia" charset="0"/>
                <a:ea typeface="Georgia" charset="0"/>
                <a:cs typeface="Georgia" charset="0"/>
              </a:defRPr>
            </a:lvl2pPr>
            <a:lvl3pPr marL="1219200" indent="0" algn="r">
              <a:lnSpc>
                <a:spcPts val="3600"/>
              </a:lnSpc>
              <a:buNone/>
              <a:defRPr sz="9600" b="0" i="0" baseline="0">
                <a:solidFill>
                  <a:schemeClr val="bg1"/>
                </a:solidFill>
                <a:latin typeface="Georgia" charset="0"/>
                <a:ea typeface="Georgia" charset="0"/>
                <a:cs typeface="Georgia" charset="0"/>
              </a:defRPr>
            </a:lvl3pPr>
            <a:lvl4pPr marL="1828800" indent="0" algn="r">
              <a:lnSpc>
                <a:spcPts val="3600"/>
              </a:lnSpc>
              <a:buNone/>
              <a:defRPr sz="9600" b="0" i="0" baseline="0">
                <a:solidFill>
                  <a:schemeClr val="bg1"/>
                </a:solidFill>
                <a:latin typeface="Georgia" charset="0"/>
                <a:ea typeface="Georgia" charset="0"/>
                <a:cs typeface="Georgia" charset="0"/>
              </a:defRPr>
            </a:lvl4pPr>
            <a:lvl5pPr marL="2438400" indent="0" algn="r">
              <a:lnSpc>
                <a:spcPts val="3600"/>
              </a:lnSpc>
              <a:buNone/>
              <a:defRPr sz="9600" b="0" i="0" baseline="0">
                <a:solidFill>
                  <a:schemeClr val="bg1"/>
                </a:solidFill>
                <a:latin typeface="Georgia" charset="0"/>
                <a:ea typeface="Georgia" charset="0"/>
                <a:cs typeface="Georgia" charset="0"/>
              </a:defRPr>
            </a:lvl5pPr>
          </a:lstStyle>
          <a:p>
            <a:pPr lvl="0"/>
            <a:r>
              <a:rPr lang="en-GB" dirty="0"/>
              <a:t>100%</a:t>
            </a:r>
          </a:p>
        </p:txBody>
      </p:sp>
      <p:sp>
        <p:nvSpPr>
          <p:cNvPr id="4" name="Text Placeholder 14"/>
          <p:cNvSpPr>
            <a:spLocks noGrp="1"/>
          </p:cNvSpPr>
          <p:nvPr>
            <p:ph type="body" sz="quarter" idx="13"/>
          </p:nvPr>
        </p:nvSpPr>
        <p:spPr>
          <a:xfrm>
            <a:off x="4715395" y="2012765"/>
            <a:ext cx="3601021" cy="1855129"/>
          </a:xfrm>
          <a:prstGeom prst="rect">
            <a:avLst/>
          </a:prstGeom>
        </p:spPr>
        <p:txBody>
          <a:bodyPr/>
          <a:lstStyle>
            <a:lvl1pPr marL="0" indent="0" algn="l">
              <a:lnSpc>
                <a:spcPts val="2200"/>
              </a:lnSpc>
              <a:buNone/>
              <a:defRPr sz="1800" baseline="0">
                <a:solidFill>
                  <a:srgbClr val="16818D"/>
                </a:solidFill>
                <a:latin typeface="Calibri" panose="020F0502020204030204" pitchFamily="34" charset="0"/>
              </a:defRPr>
            </a:lvl1pPr>
            <a:lvl2pPr marL="609600" indent="0" algn="l">
              <a:lnSpc>
                <a:spcPts val="2200"/>
              </a:lnSpc>
              <a:buNone/>
              <a:defRPr sz="1800" baseline="0">
                <a:solidFill>
                  <a:srgbClr val="16818D"/>
                </a:solidFill>
                <a:latin typeface="Calibri" panose="020F0502020204030204" pitchFamily="34" charset="0"/>
              </a:defRPr>
            </a:lvl2pPr>
            <a:lvl3pPr marL="1219200" indent="0" algn="l">
              <a:lnSpc>
                <a:spcPts val="2200"/>
              </a:lnSpc>
              <a:buNone/>
              <a:defRPr sz="1800" baseline="0">
                <a:solidFill>
                  <a:srgbClr val="16818D"/>
                </a:solidFill>
                <a:latin typeface="Calibri" panose="020F0502020204030204" pitchFamily="34" charset="0"/>
              </a:defRPr>
            </a:lvl3pPr>
            <a:lvl4pPr marL="1828800" indent="0" algn="l">
              <a:lnSpc>
                <a:spcPts val="2200"/>
              </a:lnSpc>
              <a:buNone/>
              <a:defRPr sz="1800" baseline="0">
                <a:solidFill>
                  <a:srgbClr val="16818D"/>
                </a:solidFill>
                <a:latin typeface="Calibri" panose="020F0502020204030204" pitchFamily="34" charset="0"/>
              </a:defRPr>
            </a:lvl4pPr>
            <a:lvl5pPr marL="2438400" indent="0" algn="l">
              <a:lnSpc>
                <a:spcPts val="2200"/>
              </a:lnSpc>
              <a:buNone/>
              <a:defRPr sz="1800" baseline="0">
                <a:solidFill>
                  <a:srgbClr val="16818D"/>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Text Placeholder 14"/>
          <p:cNvSpPr>
            <a:spLocks noGrp="1"/>
          </p:cNvSpPr>
          <p:nvPr>
            <p:ph type="body" sz="quarter" idx="14"/>
          </p:nvPr>
        </p:nvSpPr>
        <p:spPr>
          <a:xfrm>
            <a:off x="970980" y="4155926"/>
            <a:ext cx="7129412" cy="648295"/>
          </a:xfrm>
          <a:prstGeom prst="rect">
            <a:avLst/>
          </a:prstGeom>
        </p:spPr>
        <p:txBody>
          <a:bodyPr/>
          <a:lstStyle>
            <a:lvl1pPr marL="0" indent="0" algn="r">
              <a:lnSpc>
                <a:spcPts val="1400"/>
              </a:lnSpc>
              <a:buNone/>
              <a:defRPr sz="1000" baseline="0">
                <a:solidFill>
                  <a:schemeClr val="tx1"/>
                </a:solidFill>
                <a:latin typeface="Calibri" panose="020F0502020204030204" pitchFamily="34" charset="0"/>
              </a:defRPr>
            </a:lvl1pPr>
            <a:lvl2pPr marL="609600" indent="0" algn="r">
              <a:lnSpc>
                <a:spcPts val="1400"/>
              </a:lnSpc>
              <a:buNone/>
              <a:defRPr sz="1000" baseline="0">
                <a:solidFill>
                  <a:schemeClr val="tx1"/>
                </a:solidFill>
                <a:latin typeface="Calibri" panose="020F0502020204030204" pitchFamily="34" charset="0"/>
              </a:defRPr>
            </a:lvl2pPr>
            <a:lvl3pPr marL="1219200" indent="0" algn="r">
              <a:lnSpc>
                <a:spcPts val="1400"/>
              </a:lnSpc>
              <a:buNone/>
              <a:defRPr sz="1000" baseline="0">
                <a:solidFill>
                  <a:schemeClr val="tx1"/>
                </a:solidFill>
                <a:latin typeface="Calibri" panose="020F0502020204030204" pitchFamily="34" charset="0"/>
              </a:defRPr>
            </a:lvl3pPr>
            <a:lvl4pPr marL="1828800" indent="0" algn="r">
              <a:lnSpc>
                <a:spcPts val="1400"/>
              </a:lnSpc>
              <a:buNone/>
              <a:defRPr sz="1000" baseline="0">
                <a:solidFill>
                  <a:schemeClr val="tx1"/>
                </a:solidFill>
                <a:latin typeface="Calibri" panose="020F0502020204030204" pitchFamily="34" charset="0"/>
              </a:defRPr>
            </a:lvl4pPr>
            <a:lvl5pPr marL="2438400" indent="0" algn="r">
              <a:lnSpc>
                <a:spcPts val="1400"/>
              </a:lnSpc>
              <a:buNone/>
              <a:defRPr sz="1000" baseline="0">
                <a:solidFill>
                  <a:schemeClr val="tx1"/>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0263878"/>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Calibri" panose="020F0502020204030204" pitchFamily="34" charset="0"/>
              </a:defRPr>
            </a:lvl1pPr>
          </a:lstStyle>
          <a:p>
            <a:fld id="{AD31F5AB-84ED-4BD0-9CDD-B2C862705B50}" type="datetimeFigureOut">
              <a:rPr lang="en-GB" smtClean="0"/>
              <a:pPr/>
              <a:t>27/03/2026</a:t>
            </a:fld>
            <a:endParaRPr lang="en-GB"/>
          </a:p>
        </p:txBody>
      </p:sp>
      <p:sp>
        <p:nvSpPr>
          <p:cNvPr id="3" name="Footer Placeholder 2"/>
          <p:cNvSpPr>
            <a:spLocks noGrp="1"/>
          </p:cNvSpPr>
          <p:nvPr>
            <p:ph type="ftr" sz="quarter" idx="11"/>
          </p:nvPr>
        </p:nvSpPr>
        <p:spPr/>
        <p:txBody>
          <a:bodyPr/>
          <a:lstStyle>
            <a:lvl1pPr>
              <a:defRPr>
                <a:latin typeface="Calibri" panose="020F0502020204030204" pitchFamily="34" charset="0"/>
              </a:defRPr>
            </a:lvl1pPr>
          </a:lstStyle>
          <a:p>
            <a:endParaRPr lang="en-GB"/>
          </a:p>
        </p:txBody>
      </p:sp>
      <p:sp>
        <p:nvSpPr>
          <p:cNvPr id="4" name="Slide Number Placeholder 3"/>
          <p:cNvSpPr>
            <a:spLocks noGrp="1"/>
          </p:cNvSpPr>
          <p:nvPr>
            <p:ph type="sldNum" sz="quarter" idx="12"/>
          </p:nvPr>
        </p:nvSpPr>
        <p:spPr/>
        <p:txBody>
          <a:bodyPr/>
          <a:lstStyle>
            <a:lvl1pPr>
              <a:defRPr>
                <a:latin typeface="Calibri" panose="020F0502020204030204" pitchFamily="34" charset="0"/>
              </a:defRPr>
            </a:lvl1pPr>
          </a:lstStyle>
          <a:p>
            <a:fld id="{A1F65EF9-E31B-47B9-811E-F183E55DEFCF}" type="slidenum">
              <a:rPr lang="en-GB" smtClean="0"/>
              <a:pPr/>
              <a:t>‹#›</a:t>
            </a:fld>
            <a:endParaRPr lang="en-GB"/>
          </a:p>
        </p:txBody>
      </p:sp>
    </p:spTree>
    <p:extLst>
      <p:ext uri="{BB962C8B-B14F-4D97-AF65-F5344CB8AC3E}">
        <p14:creationId xmlns:p14="http://schemas.microsoft.com/office/powerpoint/2010/main" val="3151518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GB"/>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atin typeface="Calibri" panose="020F0502020204030204" pitchFamily="34" charset="0"/>
              </a:defRPr>
            </a:lvl1pPr>
          </a:lstStyle>
          <a:p>
            <a:fld id="{AD31F5AB-84ED-4BD0-9CDD-B2C862705B50}" type="datetimeFigureOut">
              <a:rPr lang="en-GB" smtClean="0"/>
              <a:pPr/>
              <a:t>27/03/2026</a:t>
            </a:fld>
            <a:endParaRPr lang="en-GB"/>
          </a:p>
        </p:txBody>
      </p:sp>
      <p:sp>
        <p:nvSpPr>
          <p:cNvPr id="6" name="Footer Placeholder 5"/>
          <p:cNvSpPr>
            <a:spLocks noGrp="1"/>
          </p:cNvSpPr>
          <p:nvPr>
            <p:ph type="ftr" sz="quarter" idx="11"/>
          </p:nvPr>
        </p:nvSpPr>
        <p:spPr/>
        <p:txBody>
          <a:bodyPr/>
          <a:lstStyle>
            <a:lvl1pPr>
              <a:defRPr>
                <a:latin typeface="Calibri" panose="020F0502020204030204" pitchFamily="34" charset="0"/>
              </a:defRPr>
            </a:lvl1pPr>
          </a:lstStyle>
          <a:p>
            <a:endParaRPr lang="en-GB"/>
          </a:p>
        </p:txBody>
      </p:sp>
      <p:sp>
        <p:nvSpPr>
          <p:cNvPr id="7" name="Slide Number Placeholder 6"/>
          <p:cNvSpPr>
            <a:spLocks noGrp="1"/>
          </p:cNvSpPr>
          <p:nvPr>
            <p:ph type="sldNum" sz="quarter" idx="12"/>
          </p:nvPr>
        </p:nvSpPr>
        <p:spPr/>
        <p:txBody>
          <a:bodyPr/>
          <a:lstStyle>
            <a:lvl1pPr>
              <a:defRPr>
                <a:latin typeface="Calibri" panose="020F0502020204030204" pitchFamily="34" charset="0"/>
              </a:defRPr>
            </a:lvl1pPr>
          </a:lstStyle>
          <a:p>
            <a:fld id="{A1F65EF9-E31B-47B9-811E-F183E55DEFCF}" type="slidenum">
              <a:rPr lang="en-GB" smtClean="0"/>
              <a:pPr/>
              <a:t>‹#›</a:t>
            </a:fld>
            <a:endParaRPr lang="en-GB"/>
          </a:p>
        </p:txBody>
      </p:sp>
    </p:spTree>
    <p:extLst>
      <p:ext uri="{BB962C8B-B14F-4D97-AF65-F5344CB8AC3E}">
        <p14:creationId xmlns:p14="http://schemas.microsoft.com/office/powerpoint/2010/main" val="1553053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ain presentation title slide">
    <p:bg>
      <p:bgPr>
        <a:solidFill>
          <a:srgbClr val="1A9DAC"/>
        </a:solid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1775346" y="1617868"/>
            <a:ext cx="0" cy="2743200"/>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5" name="Text Placeholder 14"/>
          <p:cNvSpPr>
            <a:spLocks noGrp="1"/>
          </p:cNvSpPr>
          <p:nvPr>
            <p:ph type="body" sz="quarter" idx="14"/>
          </p:nvPr>
        </p:nvSpPr>
        <p:spPr>
          <a:xfrm>
            <a:off x="2181658" y="1540814"/>
            <a:ext cx="6062750" cy="2831136"/>
          </a:xfrm>
          <a:prstGeom prst="rect">
            <a:avLst/>
          </a:prstGeom>
        </p:spPr>
        <p:txBody>
          <a:bodyPr lIns="0" tIns="0" rIns="0" bIns="0"/>
          <a:lstStyle>
            <a:lvl1pPr marL="0" indent="0">
              <a:lnSpc>
                <a:spcPts val="4800"/>
              </a:lnSpc>
              <a:spcBef>
                <a:spcPts val="0"/>
              </a:spcBef>
              <a:buFontTx/>
              <a:buNone/>
              <a:defRPr sz="44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18" name="Text Placeholder 14"/>
          <p:cNvSpPr>
            <a:spLocks noGrp="1"/>
          </p:cNvSpPr>
          <p:nvPr>
            <p:ph type="body" sz="quarter" idx="15"/>
          </p:nvPr>
        </p:nvSpPr>
        <p:spPr>
          <a:xfrm>
            <a:off x="496861" y="1605616"/>
            <a:ext cx="1219139" cy="269081"/>
          </a:xfrm>
          <a:prstGeom prst="rect">
            <a:avLst/>
          </a:prstGeom>
        </p:spPr>
        <p:txBody>
          <a:bodyPr lIns="0" tIns="0" rIns="0" bIns="0"/>
          <a:lstStyle>
            <a:lvl1pPr marL="0" indent="0">
              <a:lnSpc>
                <a:spcPts val="1300"/>
              </a:lnSpc>
              <a:spcBef>
                <a:spcPts val="0"/>
              </a:spcBef>
              <a:buFontTx/>
              <a:buNone/>
              <a:defRPr sz="11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19" name="Text Placeholder 14"/>
          <p:cNvSpPr>
            <a:spLocks noGrp="1"/>
          </p:cNvSpPr>
          <p:nvPr>
            <p:ph type="body" sz="quarter" idx="16"/>
          </p:nvPr>
        </p:nvSpPr>
        <p:spPr>
          <a:xfrm>
            <a:off x="496861" y="1875614"/>
            <a:ext cx="1219139" cy="402300"/>
          </a:xfrm>
          <a:prstGeom prst="rect">
            <a:avLst/>
          </a:prstGeom>
        </p:spPr>
        <p:txBody>
          <a:bodyPr lIns="0" tIns="0" rIns="0" bIns="0"/>
          <a:lstStyle>
            <a:lvl1pPr marL="0" indent="0">
              <a:lnSpc>
                <a:spcPts val="1300"/>
              </a:lnSpc>
              <a:spcBef>
                <a:spcPts val="0"/>
              </a:spcBef>
              <a:buFontTx/>
              <a:buNone/>
              <a:defRPr sz="1100" b="1"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20" name="Text Placeholder 14"/>
          <p:cNvSpPr>
            <a:spLocks noGrp="1"/>
          </p:cNvSpPr>
          <p:nvPr>
            <p:ph type="body" sz="quarter" idx="17"/>
          </p:nvPr>
        </p:nvSpPr>
        <p:spPr>
          <a:xfrm>
            <a:off x="496861" y="2283314"/>
            <a:ext cx="1219139" cy="521494"/>
          </a:xfrm>
          <a:prstGeom prst="rect">
            <a:avLst/>
          </a:prstGeom>
        </p:spPr>
        <p:txBody>
          <a:bodyPr lIns="0" tIns="0" rIns="0" bIns="0"/>
          <a:lstStyle>
            <a:lvl1pPr marL="0" indent="0">
              <a:lnSpc>
                <a:spcPts val="1300"/>
              </a:lnSpc>
              <a:spcBef>
                <a:spcPts val="0"/>
              </a:spcBef>
              <a:buFontTx/>
              <a:buNone/>
              <a:defRPr sz="1100" b="1"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4188" y="0"/>
            <a:ext cx="2166937"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14"/>
          <p:cNvSpPr>
            <a:spLocks noGrp="1"/>
          </p:cNvSpPr>
          <p:nvPr>
            <p:ph type="body" sz="quarter" idx="18"/>
          </p:nvPr>
        </p:nvSpPr>
        <p:spPr>
          <a:xfrm>
            <a:off x="496861" y="4221384"/>
            <a:ext cx="1219139" cy="229774"/>
          </a:xfrm>
          <a:prstGeom prst="rect">
            <a:avLst/>
          </a:prstGeom>
        </p:spPr>
        <p:txBody>
          <a:bodyPr lIns="0" tIns="0" rIns="0" bIns="0"/>
          <a:lstStyle>
            <a:lvl1pPr marL="0" indent="0">
              <a:lnSpc>
                <a:spcPts val="1300"/>
              </a:lnSpc>
              <a:spcBef>
                <a:spcPts val="0"/>
              </a:spcBef>
              <a:buFontTx/>
              <a:buNone/>
              <a:defRPr sz="11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Tree>
    <p:extLst>
      <p:ext uri="{BB962C8B-B14F-4D97-AF65-F5344CB8AC3E}">
        <p14:creationId xmlns:p14="http://schemas.microsoft.com/office/powerpoint/2010/main" val="471741293"/>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899594" y="1418035"/>
            <a:ext cx="6668019" cy="1024590"/>
          </a:xfrm>
          <a:prstGeom prst="rect">
            <a:avLst/>
          </a:prstGeom>
        </p:spPr>
        <p:txBody>
          <a:bodyPr lIns="0" tIns="0" rIns="0" bIns="0"/>
          <a:lstStyle>
            <a:lvl1pPr marL="0" indent="0">
              <a:lnSpc>
                <a:spcPts val="4800"/>
              </a:lnSpc>
              <a:spcBef>
                <a:spcPts val="0"/>
              </a:spcBef>
              <a:buFontTx/>
              <a:buNone/>
              <a:defRPr sz="44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7" name="Text Placeholder 5"/>
          <p:cNvSpPr>
            <a:spLocks noGrp="1"/>
          </p:cNvSpPr>
          <p:nvPr>
            <p:ph type="body" sz="quarter" idx="11"/>
          </p:nvPr>
        </p:nvSpPr>
        <p:spPr>
          <a:xfrm>
            <a:off x="899591" y="3165872"/>
            <a:ext cx="6668021" cy="452328"/>
          </a:xfrm>
          <a:prstGeom prst="rect">
            <a:avLst/>
          </a:prstGeom>
        </p:spPr>
        <p:txBody>
          <a:bodyPr lIns="0" tIns="0" rIns="0" bIns="0"/>
          <a:lstStyle>
            <a:lvl1pPr marL="0" indent="0">
              <a:lnSpc>
                <a:spcPct val="100000"/>
              </a:lnSpc>
              <a:buFontTx/>
              <a:buNone/>
              <a:defRPr sz="1600" b="0" i="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5"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2615392"/>
      </p:ext>
    </p:extLst>
  </p:cSld>
  <p:clrMapOvr>
    <a:masterClrMapping/>
  </p:clrMapOvr>
  <p:transition spd="slow">
    <p:fade/>
  </p:transition>
  <p:extLst>
    <p:ext uri="{DCECCB84-F9BA-43D5-87BE-67443E8EF086}">
      <p15:sldGuideLst xmlns:p15="http://schemas.microsoft.com/office/powerpoint/2012/main">
        <p15:guide id="1" pos="56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594" y="699542"/>
            <a:ext cx="6668019" cy="488301"/>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5"/>
          <p:cNvSpPr>
            <a:spLocks noGrp="1"/>
          </p:cNvSpPr>
          <p:nvPr>
            <p:ph type="body" sz="quarter" idx="11"/>
          </p:nvPr>
        </p:nvSpPr>
        <p:spPr>
          <a:xfrm>
            <a:off x="827583" y="1347635"/>
            <a:ext cx="6740030" cy="3404603"/>
          </a:xfrm>
          <a:prstGeom prst="rect">
            <a:avLst/>
          </a:prstGeom>
        </p:spPr>
        <p:txBody>
          <a:bodyPr/>
          <a:lstStyle>
            <a:lvl1pPr marL="266700" indent="-266700">
              <a:buClr>
                <a:srgbClr val="16818D"/>
              </a:buClr>
              <a:defRPr sz="1600">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600">
                <a:latin typeface="Calibri" panose="020F0502020204030204" pitchFamily="34" charset="0"/>
                <a:ea typeface="Calibri" panose="020F0502020204030204" pitchFamily="34" charset="0"/>
                <a:cs typeface="Calibri" panose="020F0502020204030204" pitchFamily="34" charset="0"/>
              </a:defRPr>
            </a:lvl2pPr>
            <a:lvl3pPr marL="808038" indent="-266700">
              <a:buClr>
                <a:srgbClr val="16818D"/>
              </a:buClr>
              <a:buFont typeface="Arial" panose="020B0604020202020204" pitchFamily="34" charset="0"/>
              <a:buChar char="̶"/>
              <a:defRPr sz="1600">
                <a:latin typeface="Calibri" panose="020F0502020204030204" pitchFamily="34" charset="0"/>
                <a:ea typeface="Calibri" panose="020F0502020204030204" pitchFamily="34" charset="0"/>
                <a:cs typeface="Calibri" panose="020F050202020403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80505664"/>
      </p:ext>
    </p:extLst>
  </p:cSld>
  <p:clrMapOvr>
    <a:masterClrMapping/>
  </p:clrMapOvr>
  <p:transition spd="slow">
    <p:fade/>
  </p:transition>
  <p:extLst>
    <p:ext uri="{DCECCB84-F9BA-43D5-87BE-67443E8EF086}">
      <p15:sldGuideLst xmlns:p15="http://schemas.microsoft.com/office/powerpoint/2012/main">
        <p15:guide id="1" orient="horz" pos="441">
          <p15:clr>
            <a:srgbClr val="FBAE40"/>
          </p15:clr>
        </p15:guide>
        <p15:guide id="2" pos="4768">
          <p15:clr>
            <a:srgbClr val="FBAE40"/>
          </p15:clr>
        </p15:guide>
        <p15:guide id="3" pos="56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594" y="697943"/>
            <a:ext cx="6668019" cy="47600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Placeholder 2"/>
          <p:cNvSpPr>
            <a:spLocks noGrp="1"/>
          </p:cNvSpPr>
          <p:nvPr>
            <p:ph type="body" sz="quarter" idx="11"/>
          </p:nvPr>
        </p:nvSpPr>
        <p:spPr>
          <a:xfrm>
            <a:off x="840769" y="1346400"/>
            <a:ext cx="6726844" cy="3510074"/>
          </a:xfrm>
          <a:prstGeom prst="rect">
            <a:avLst/>
          </a:prstGeom>
        </p:spPr>
        <p:txBody>
          <a:bodyPr/>
          <a:lstStyle>
            <a:lvl1pPr marL="266700" indent="-266700">
              <a:buClr>
                <a:srgbClr val="16818D"/>
              </a:buClr>
              <a:buFont typeface="+mj-lt"/>
              <a:buAutoNum type="arabicPeriod"/>
              <a:defRPr sz="1600">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mj-lt"/>
              <a:buAutoNum type="romanLcPeriod"/>
              <a:defRPr sz="1600">
                <a:latin typeface="Calibri" panose="020F0502020204030204" pitchFamily="34" charset="0"/>
                <a:ea typeface="Calibri" panose="020F0502020204030204" pitchFamily="34" charset="0"/>
                <a:cs typeface="Calibri" panose="020F0502020204030204" pitchFamily="34" charset="0"/>
              </a:defRPr>
            </a:lvl2pPr>
            <a:lvl3pPr marL="896938" indent="-266700">
              <a:buClr>
                <a:srgbClr val="16818D"/>
              </a:buClr>
              <a:buFont typeface="Arial" panose="020B0604020202020204" pitchFamily="34" charset="0"/>
              <a:buChar char="̶"/>
              <a:defRPr sz="1600">
                <a:latin typeface="Calibri" panose="020F0502020204030204" pitchFamily="34" charset="0"/>
                <a:ea typeface="Calibri" panose="020F0502020204030204" pitchFamily="34" charset="0"/>
                <a:cs typeface="Calibri" panose="020F050202020403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989851519"/>
      </p:ext>
    </p:extLst>
  </p:cSld>
  <p:clrMapOvr>
    <a:masterClrMapping/>
  </p:clrMapOvr>
  <p:transition spd="slow">
    <p:fade/>
  </p:transition>
  <p:extLst>
    <p:ext uri="{DCECCB84-F9BA-43D5-87BE-67443E8EF086}">
      <p15:sldGuideLst xmlns:p15="http://schemas.microsoft.com/office/powerpoint/2012/main">
        <p15:guide id="1" pos="567">
          <p15:clr>
            <a:srgbClr val="FBAE40"/>
          </p15:clr>
        </p15:guide>
        <p15:guide id="2" orient="horz" pos="44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899666" y="1368000"/>
            <a:ext cx="3167583" cy="3402378"/>
          </a:xfrm>
          <a:prstGeom prst="rect">
            <a:avLst/>
          </a:prstGeom>
        </p:spPr>
        <p:txBody>
          <a:bodyPr lIns="0" tIns="0" rIns="0" bIns="0" numCol="1" spcCol="216000"/>
          <a:lstStyle>
            <a:lvl1pPr marL="0" marR="0" indent="0" algn="l" defTabSz="606410" rtl="0" eaLnBrk="1" fontAlgn="base" latinLnBrk="0" hangingPunct="1">
              <a:lnSpc>
                <a:spcPts val="2000"/>
              </a:lnSpc>
              <a:spcBef>
                <a:spcPts val="0"/>
              </a:spcBef>
              <a:spcAft>
                <a:spcPct val="0"/>
              </a:spcAft>
              <a:buClrTx/>
              <a:buSzTx/>
              <a:buFontTx/>
              <a:buNone/>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Text Placeholder 5"/>
          <p:cNvSpPr>
            <a:spLocks noGrp="1"/>
          </p:cNvSpPr>
          <p:nvPr>
            <p:ph type="body" sz="quarter" idx="10"/>
          </p:nvPr>
        </p:nvSpPr>
        <p:spPr>
          <a:xfrm>
            <a:off x="899665" y="700088"/>
            <a:ext cx="6552655"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7" name="Text Placeholder 5"/>
          <p:cNvSpPr>
            <a:spLocks noGrp="1"/>
          </p:cNvSpPr>
          <p:nvPr>
            <p:ph type="body" sz="quarter" idx="12"/>
          </p:nvPr>
        </p:nvSpPr>
        <p:spPr>
          <a:xfrm>
            <a:off x="4211961" y="1368000"/>
            <a:ext cx="3240360" cy="3402378"/>
          </a:xfrm>
          <a:prstGeom prst="rect">
            <a:avLst/>
          </a:prstGeom>
        </p:spPr>
        <p:txBody>
          <a:bodyPr lIns="0" tIns="0" rIns="0" bIns="0" numCol="1" spcCol="216000"/>
          <a:lstStyle>
            <a:lvl1pPr marL="0" marR="0" indent="0" algn="l" defTabSz="606410" rtl="0" eaLnBrk="1" fontAlgn="base" latinLnBrk="0" hangingPunct="1">
              <a:lnSpc>
                <a:spcPts val="2000"/>
              </a:lnSpc>
              <a:spcBef>
                <a:spcPts val="0"/>
              </a:spcBef>
              <a:spcAft>
                <a:spcPct val="0"/>
              </a:spcAft>
              <a:buClrTx/>
              <a:buSzTx/>
              <a:buFontTx/>
              <a:buNone/>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9"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802652"/>
      </p:ext>
    </p:extLst>
  </p:cSld>
  <p:clrMapOvr>
    <a:masterClrMapping/>
  </p:clrMapOvr>
  <p:transition spd="slow">
    <p:fade/>
  </p:transition>
  <p:extLst>
    <p:ext uri="{DCECCB84-F9BA-43D5-87BE-67443E8EF086}">
      <p15:sldGuideLst xmlns:p15="http://schemas.microsoft.com/office/powerpoint/2012/main">
        <p15:guide id="1" pos="567">
          <p15:clr>
            <a:srgbClr val="FBAE40"/>
          </p15:clr>
        </p15:guide>
        <p15:guide id="2" orient="horz" pos="441">
          <p15:clr>
            <a:srgbClr val="FBAE40"/>
          </p15:clr>
        </p15:guide>
        <p15:guide id="3" pos="2517">
          <p15:clr>
            <a:srgbClr val="FBAE40"/>
          </p15:clr>
        </p15:guide>
        <p15:guide id="4" pos="2653">
          <p15:clr>
            <a:srgbClr val="FBAE40"/>
          </p15:clr>
        </p15:guide>
        <p15:guide id="5" pos="464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900113" y="700088"/>
            <a:ext cx="6553200"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5"/>
          <p:cNvSpPr>
            <a:spLocks noGrp="1"/>
          </p:cNvSpPr>
          <p:nvPr>
            <p:ph type="body" sz="quarter" idx="11" hasCustomPrompt="1"/>
          </p:nvPr>
        </p:nvSpPr>
        <p:spPr>
          <a:xfrm>
            <a:off x="900113" y="1368566"/>
            <a:ext cx="3167583" cy="3391657"/>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400">
                <a:latin typeface="Calibri" panose="020F0502020204030204" pitchFamily="34" charset="0"/>
                <a:ea typeface="Calibri" panose="020F0502020204030204" pitchFamily="34" charset="0"/>
                <a:cs typeface="Calibri" panose="020F0502020204030204" pitchFamily="34" charset="0"/>
              </a:defRPr>
            </a:lvl2pPr>
            <a:lvl3pPr marL="808038" indent="-1778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163638" indent="-301625">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10" name="Text Placeholder 5"/>
          <p:cNvSpPr>
            <a:spLocks noGrp="1"/>
          </p:cNvSpPr>
          <p:nvPr>
            <p:ph type="body" sz="quarter" idx="12" hasCustomPrompt="1"/>
          </p:nvPr>
        </p:nvSpPr>
        <p:spPr>
          <a:xfrm>
            <a:off x="4214194" y="1368566"/>
            <a:ext cx="3239119" cy="3391657"/>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400">
                <a:latin typeface="Calibri" panose="020F0502020204030204" pitchFamily="34" charset="0"/>
                <a:ea typeface="Calibri" panose="020F0502020204030204" pitchFamily="34" charset="0"/>
                <a:cs typeface="Calibri" panose="020F0502020204030204" pitchFamily="34" charset="0"/>
              </a:defRPr>
            </a:lvl2pPr>
            <a:lvl3pPr marL="808038" indent="-1778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163638" indent="-301625">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4067590607"/>
      </p:ext>
    </p:extLst>
  </p:cSld>
  <p:clrMapOvr>
    <a:masterClrMapping/>
  </p:clrMapOvr>
  <p:transition spd="slow">
    <p:fade/>
  </p:transition>
  <p:extLst>
    <p:ext uri="{DCECCB84-F9BA-43D5-87BE-67443E8EF086}">
      <p15:sldGuideLst xmlns:p15="http://schemas.microsoft.com/office/powerpoint/2012/main">
        <p15:guide id="1" pos="567">
          <p15:clr>
            <a:srgbClr val="FBAE40"/>
          </p15:clr>
        </p15:guide>
        <p15:guide id="2" orient="horz" pos="441">
          <p15:clr>
            <a:srgbClr val="FBAE40"/>
          </p15:clr>
        </p15:guide>
        <p15:guide id="3" pos="2517">
          <p15:clr>
            <a:srgbClr val="FBAE40"/>
          </p15:clr>
        </p15:guide>
        <p15:guide id="4" pos="2653">
          <p15:clr>
            <a:srgbClr val="FBAE40"/>
          </p15:clr>
        </p15:guide>
        <p15:guide id="5" pos="464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120" y="700088"/>
            <a:ext cx="6553200"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5"/>
          <p:cNvSpPr>
            <a:spLocks noGrp="1"/>
          </p:cNvSpPr>
          <p:nvPr>
            <p:ph type="body" sz="quarter" idx="11" hasCustomPrompt="1"/>
          </p:nvPr>
        </p:nvSpPr>
        <p:spPr>
          <a:xfrm>
            <a:off x="899120" y="1368678"/>
            <a:ext cx="3167583" cy="3435867"/>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6818D"/>
              </a:buClr>
              <a:buSzTx/>
              <a:buFont typeface="+mj-lt"/>
              <a:buAutoNum type="arabicPeriod"/>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mj-lt"/>
              <a:buAutoNum type="romanLcPeriod"/>
              <a:defRPr sz="1400" baseline="0">
                <a:latin typeface="Calibri" panose="020F0502020204030204" pitchFamily="34" charset="0"/>
                <a:ea typeface="Calibri" panose="020F0502020204030204" pitchFamily="34" charset="0"/>
                <a:cs typeface="Calibri" panose="020F0502020204030204" pitchFamily="34" charset="0"/>
              </a:defRPr>
            </a:lvl2pPr>
            <a:lvl3pPr marL="896938" indent="-2667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252538" indent="-285750">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10" name="Text Placeholder 5"/>
          <p:cNvSpPr>
            <a:spLocks noGrp="1"/>
          </p:cNvSpPr>
          <p:nvPr>
            <p:ph type="body" sz="quarter" idx="12" hasCustomPrompt="1"/>
          </p:nvPr>
        </p:nvSpPr>
        <p:spPr>
          <a:xfrm>
            <a:off x="4214194" y="1368678"/>
            <a:ext cx="3238126" cy="3435867"/>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6818D"/>
              </a:buClr>
              <a:buSzTx/>
              <a:buFont typeface="+mj-lt"/>
              <a:buAutoNum type="arabicPeriod"/>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mj-lt"/>
              <a:buAutoNum type="romanLcPeriod"/>
              <a:defRPr sz="1400">
                <a:latin typeface="Calibri" panose="020F0502020204030204" pitchFamily="34" charset="0"/>
                <a:ea typeface="Calibri" panose="020F0502020204030204" pitchFamily="34" charset="0"/>
                <a:cs typeface="Calibri" panose="020F0502020204030204" pitchFamily="34" charset="0"/>
              </a:defRPr>
            </a:lvl2pPr>
            <a:lvl3pPr marL="896938" indent="-2667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252538" indent="-285750">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536842053"/>
      </p:ext>
    </p:extLst>
  </p:cSld>
  <p:clrMapOvr>
    <a:masterClrMapping/>
  </p:clrMapOvr>
  <p:transition spd="slow">
    <p:fade/>
  </p:transition>
  <p:extLst>
    <p:ext uri="{DCECCB84-F9BA-43D5-87BE-67443E8EF086}">
      <p15:sldGuideLst xmlns:p15="http://schemas.microsoft.com/office/powerpoint/2012/main">
        <p15:guide id="1" pos="567">
          <p15:clr>
            <a:srgbClr val="FBAE40"/>
          </p15:clr>
        </p15:guide>
        <p15:guide id="2" orient="horz" pos="441">
          <p15:clr>
            <a:srgbClr val="FBAE40"/>
          </p15:clr>
        </p15:guide>
        <p15:guide id="3" pos="2653">
          <p15:clr>
            <a:srgbClr val="FBAE40"/>
          </p15:clr>
        </p15:guide>
        <p15:guide id="4" pos="2517">
          <p15:clr>
            <a:srgbClr val="FBAE40"/>
          </p15:clr>
        </p15:guide>
        <p15:guide id="5" pos="46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594" y="700088"/>
            <a:ext cx="6515621"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3" name="Chart Placeholder 2"/>
          <p:cNvSpPr>
            <a:spLocks noGrp="1"/>
          </p:cNvSpPr>
          <p:nvPr>
            <p:ph type="chart" sz="quarter" idx="11"/>
          </p:nvPr>
        </p:nvSpPr>
        <p:spPr>
          <a:xfrm>
            <a:off x="899592" y="1346637"/>
            <a:ext cx="6515620" cy="3403549"/>
          </a:xfrm>
          <a:prstGeom prst="rect">
            <a:avLst/>
          </a:prstGeom>
        </p:spPr>
        <p:txBody>
          <a:bodyPr/>
          <a:lstStyle/>
          <a:p>
            <a:pPr lvl="0"/>
            <a:endParaRPr lang="en-US" noProof="0"/>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3680272"/>
      </p:ext>
    </p:extLst>
  </p:cSld>
  <p:clrMapOvr>
    <a:masterClrMapping/>
  </p:clrMapOvr>
  <p:transition spd="slow">
    <p:fade/>
  </p:transition>
  <p:extLst>
    <p:ext uri="{DCECCB84-F9BA-43D5-87BE-67443E8EF086}">
      <p15:sldGuideLst xmlns:p15="http://schemas.microsoft.com/office/powerpoint/2012/main">
        <p15:guide id="1" pos="567">
          <p15:clr>
            <a:srgbClr val="FBAE40"/>
          </p15:clr>
        </p15:guide>
        <p15:guide id="2" orient="horz" pos="44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898974" y="1402166"/>
            <a:ext cx="3167583" cy="3402378"/>
          </a:xfrm>
          <a:prstGeom prst="rect">
            <a:avLst/>
          </a:prstGeom>
        </p:spPr>
        <p:txBody>
          <a:bodyPr lIns="0" tIns="0" rIns="0" bIns="0" numCol="1" spcCol="216000"/>
          <a:lstStyle>
            <a:lvl1pPr marL="0" marR="0" indent="0" algn="l" defTabSz="606410" rtl="0" eaLnBrk="1" fontAlgn="base" latinLnBrk="0" hangingPunct="1">
              <a:lnSpc>
                <a:spcPts val="2000"/>
              </a:lnSpc>
              <a:spcBef>
                <a:spcPts val="0"/>
              </a:spcBef>
              <a:spcAft>
                <a:spcPct val="0"/>
              </a:spcAft>
              <a:buClrTx/>
              <a:buSzTx/>
              <a:buFontTx/>
              <a:buNone/>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Text Placeholder 5"/>
          <p:cNvSpPr>
            <a:spLocks noGrp="1"/>
          </p:cNvSpPr>
          <p:nvPr>
            <p:ph type="body" sz="quarter" idx="10"/>
          </p:nvPr>
        </p:nvSpPr>
        <p:spPr>
          <a:xfrm>
            <a:off x="898973" y="700088"/>
            <a:ext cx="6515621"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3" name="Chart Placeholder 2"/>
          <p:cNvSpPr>
            <a:spLocks noGrp="1"/>
          </p:cNvSpPr>
          <p:nvPr>
            <p:ph type="chart" sz="quarter" idx="12"/>
          </p:nvPr>
        </p:nvSpPr>
        <p:spPr>
          <a:xfrm>
            <a:off x="4284042" y="1402167"/>
            <a:ext cx="3816350" cy="3348019"/>
          </a:xfrm>
          <a:prstGeom prst="rect">
            <a:avLst/>
          </a:prstGeom>
        </p:spPr>
        <p:txBody>
          <a:bodyPr/>
          <a:lstStyle/>
          <a:p>
            <a:pPr lvl="0"/>
            <a:endParaRPr lang="en-US" noProof="0"/>
          </a:p>
        </p:txBody>
      </p:sp>
      <p:pic>
        <p:nvPicPr>
          <p:cNvPr id="8"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6960261"/>
      </p:ext>
    </p:extLst>
  </p:cSld>
  <p:clrMapOvr>
    <a:masterClrMapping/>
  </p:clrMapOvr>
  <p:transition spd="slow">
    <p:fade/>
  </p:transition>
  <p:extLst>
    <p:ext uri="{DCECCB84-F9BA-43D5-87BE-67443E8EF086}">
      <p15:sldGuideLst xmlns:p15="http://schemas.microsoft.com/office/powerpoint/2012/main">
        <p15:guide id="1" pos="567">
          <p15:clr>
            <a:srgbClr val="FBAE40"/>
          </p15:clr>
        </p15:guide>
        <p15:guide id="2" orient="horz" pos="44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pic>
        <p:nvPicPr>
          <p:cNvPr id="4"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2"/>
          <p:cNvSpPr>
            <a:spLocks noGrp="1"/>
          </p:cNvSpPr>
          <p:nvPr>
            <p:ph type="pic" sz="quarter" idx="13"/>
          </p:nvPr>
        </p:nvSpPr>
        <p:spPr>
          <a:xfrm>
            <a:off x="0" y="771550"/>
            <a:ext cx="9144000" cy="4371950"/>
          </a:xfrm>
          <a:prstGeom prst="rect">
            <a:avLst/>
          </a:prstGeom>
        </p:spPr>
        <p:txBody>
          <a:bodyPr/>
          <a:lstStyle/>
          <a:p>
            <a:endParaRPr lang="en-US"/>
          </a:p>
        </p:txBody>
      </p:sp>
    </p:spTree>
    <p:extLst>
      <p:ext uri="{BB962C8B-B14F-4D97-AF65-F5344CB8AC3E}">
        <p14:creationId xmlns:p14="http://schemas.microsoft.com/office/powerpoint/2010/main" val="148194533"/>
      </p:ext>
    </p:extLst>
  </p:cSld>
  <p:clrMapOvr>
    <a:masterClrMapping/>
  </p:clrMapOvr>
  <p:transition spd="slow">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ext Placeholder 5"/>
          <p:cNvSpPr>
            <a:spLocks noGrp="1"/>
          </p:cNvSpPr>
          <p:nvPr>
            <p:ph type="body" sz="quarter" idx="10"/>
          </p:nvPr>
        </p:nvSpPr>
        <p:spPr>
          <a:xfrm>
            <a:off x="467545" y="307250"/>
            <a:ext cx="6552727" cy="608316"/>
          </a:xfrm>
          <a:prstGeom prst="rect">
            <a:avLst/>
          </a:prstGeom>
        </p:spPr>
        <p:txBody>
          <a:bodyPr lIns="0" tIns="0" rIns="0" bIns="0"/>
          <a:lstStyle>
            <a:lvl1pPr marL="0" indent="0">
              <a:lnSpc>
                <a:spcPts val="4200"/>
              </a:lnSpc>
              <a:buFontTx/>
              <a:buNone/>
              <a:defRPr sz="3200" b="0" i="0" baseline="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Picture Placeholder 12"/>
          <p:cNvSpPr>
            <a:spLocks noGrp="1"/>
          </p:cNvSpPr>
          <p:nvPr>
            <p:ph type="pic" sz="quarter" idx="11"/>
          </p:nvPr>
        </p:nvSpPr>
        <p:spPr>
          <a:xfrm>
            <a:off x="6118225" y="1059582"/>
            <a:ext cx="3025775" cy="4083918"/>
          </a:xfrm>
          <a:prstGeom prst="rect">
            <a:avLst/>
          </a:prstGeom>
        </p:spPr>
        <p:txBody>
          <a:bodyPr/>
          <a:lstStyle/>
          <a:p>
            <a:endParaRPr lang="en-US"/>
          </a:p>
        </p:txBody>
      </p:sp>
      <p:sp>
        <p:nvSpPr>
          <p:cNvPr id="6" name="Picture Placeholder 12"/>
          <p:cNvSpPr>
            <a:spLocks noGrp="1"/>
          </p:cNvSpPr>
          <p:nvPr>
            <p:ph type="pic" sz="quarter" idx="12"/>
          </p:nvPr>
        </p:nvSpPr>
        <p:spPr>
          <a:xfrm>
            <a:off x="0" y="1059582"/>
            <a:ext cx="3024188" cy="4083918"/>
          </a:xfrm>
          <a:prstGeom prst="rect">
            <a:avLst/>
          </a:prstGeom>
        </p:spPr>
        <p:txBody>
          <a:bodyPr/>
          <a:lstStyle/>
          <a:p>
            <a:endParaRPr lang="en-US"/>
          </a:p>
        </p:txBody>
      </p:sp>
      <p:sp>
        <p:nvSpPr>
          <p:cNvPr id="7" name="Picture Placeholder 12"/>
          <p:cNvSpPr>
            <a:spLocks noGrp="1"/>
          </p:cNvSpPr>
          <p:nvPr>
            <p:ph type="pic" sz="quarter" idx="13"/>
          </p:nvPr>
        </p:nvSpPr>
        <p:spPr>
          <a:xfrm>
            <a:off x="3059113" y="1059583"/>
            <a:ext cx="3020316" cy="1977305"/>
          </a:xfrm>
          <a:prstGeom prst="rect">
            <a:avLst/>
          </a:prstGeom>
        </p:spPr>
        <p:txBody>
          <a:bodyPr/>
          <a:lstStyle/>
          <a:p>
            <a:endParaRPr lang="en-US"/>
          </a:p>
        </p:txBody>
      </p:sp>
      <p:sp>
        <p:nvSpPr>
          <p:cNvPr id="8" name="Picture Placeholder 12"/>
          <p:cNvSpPr>
            <a:spLocks noGrp="1"/>
          </p:cNvSpPr>
          <p:nvPr>
            <p:ph type="pic" sz="quarter" idx="14"/>
          </p:nvPr>
        </p:nvSpPr>
        <p:spPr>
          <a:xfrm>
            <a:off x="3059113" y="3076575"/>
            <a:ext cx="3020316" cy="2066925"/>
          </a:xfrm>
          <a:prstGeom prst="rect">
            <a:avLst/>
          </a:prstGeom>
        </p:spPr>
        <p:txBody>
          <a:bodyPr/>
          <a:lstStyle/>
          <a:p>
            <a:endParaRPr lang="en-US"/>
          </a:p>
        </p:txBody>
      </p:sp>
      <p:pic>
        <p:nvPicPr>
          <p:cNvPr id="9"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9827601"/>
      </p:ext>
    </p:extLst>
  </p:cSld>
  <p:clrMapOvr>
    <a:masterClrMapping/>
  </p:clrMapOvr>
  <p:transition spd="slow">
    <p:fade/>
  </p:transition>
  <p:extLst>
    <p:ext uri="{DCECCB84-F9BA-43D5-87BE-67443E8EF086}">
      <p15:sldGuideLst xmlns:p15="http://schemas.microsoft.com/office/powerpoint/2012/main">
        <p15:guide id="1" orient="horz" pos="1620">
          <p15:clr>
            <a:srgbClr val="FBAE40"/>
          </p15:clr>
        </p15:guide>
        <p15:guide id="2" pos="2880">
          <p15:clr>
            <a:srgbClr val="FBAE40"/>
          </p15:clr>
        </p15:guide>
        <p15:guide id="3" orient="horz" pos="1938">
          <p15:clr>
            <a:srgbClr val="FBAE40"/>
          </p15:clr>
        </p15:guide>
        <p15:guide id="4" orient="horz" pos="1913">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Text Placeholder 5"/>
          <p:cNvSpPr>
            <a:spLocks noGrp="1"/>
          </p:cNvSpPr>
          <p:nvPr>
            <p:ph type="body" sz="quarter" idx="10"/>
          </p:nvPr>
        </p:nvSpPr>
        <p:spPr>
          <a:xfrm>
            <a:off x="467545" y="307250"/>
            <a:ext cx="6552727" cy="608316"/>
          </a:xfrm>
          <a:prstGeom prst="rect">
            <a:avLst/>
          </a:prstGeom>
        </p:spPr>
        <p:txBody>
          <a:bodyPr lIns="0" tIns="0" rIns="0" bIns="0"/>
          <a:lstStyle>
            <a:lvl1pPr marL="0" indent="0">
              <a:lnSpc>
                <a:spcPts val="4200"/>
              </a:lnSpc>
              <a:buFontTx/>
              <a:buNone/>
              <a:defRPr sz="3200" b="0" i="0" baseline="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Picture Placeholder 12"/>
          <p:cNvSpPr>
            <a:spLocks noGrp="1"/>
          </p:cNvSpPr>
          <p:nvPr>
            <p:ph type="pic" sz="quarter" idx="11"/>
          </p:nvPr>
        </p:nvSpPr>
        <p:spPr>
          <a:xfrm>
            <a:off x="6118225" y="1059582"/>
            <a:ext cx="3025775" cy="4083918"/>
          </a:xfrm>
          <a:prstGeom prst="rect">
            <a:avLst/>
          </a:prstGeom>
        </p:spPr>
        <p:txBody>
          <a:bodyPr/>
          <a:lstStyle/>
          <a:p>
            <a:endParaRPr lang="en-US"/>
          </a:p>
        </p:txBody>
      </p:sp>
      <p:sp>
        <p:nvSpPr>
          <p:cNvPr id="7" name="Picture Placeholder 12"/>
          <p:cNvSpPr>
            <a:spLocks noGrp="1"/>
          </p:cNvSpPr>
          <p:nvPr>
            <p:ph type="pic" sz="quarter" idx="13"/>
          </p:nvPr>
        </p:nvSpPr>
        <p:spPr>
          <a:xfrm>
            <a:off x="3059113" y="1059583"/>
            <a:ext cx="3020316" cy="1977305"/>
          </a:xfrm>
          <a:prstGeom prst="rect">
            <a:avLst/>
          </a:prstGeom>
        </p:spPr>
        <p:txBody>
          <a:bodyPr/>
          <a:lstStyle/>
          <a:p>
            <a:endParaRPr lang="en-US"/>
          </a:p>
        </p:txBody>
      </p:sp>
      <p:sp>
        <p:nvSpPr>
          <p:cNvPr id="8" name="Picture Placeholder 12"/>
          <p:cNvSpPr>
            <a:spLocks noGrp="1"/>
          </p:cNvSpPr>
          <p:nvPr>
            <p:ph type="pic" sz="quarter" idx="14"/>
          </p:nvPr>
        </p:nvSpPr>
        <p:spPr>
          <a:xfrm>
            <a:off x="3059113" y="3076575"/>
            <a:ext cx="3020316" cy="2066925"/>
          </a:xfrm>
          <a:prstGeom prst="rect">
            <a:avLst/>
          </a:prstGeom>
        </p:spPr>
        <p:txBody>
          <a:bodyPr/>
          <a:lstStyle/>
          <a:p>
            <a:endParaRPr lang="en-US"/>
          </a:p>
        </p:txBody>
      </p:sp>
      <p:sp>
        <p:nvSpPr>
          <p:cNvPr id="9" name="Text Placeholder 5"/>
          <p:cNvSpPr>
            <a:spLocks noGrp="1"/>
          </p:cNvSpPr>
          <p:nvPr>
            <p:ph type="body" sz="quarter" idx="15" hasCustomPrompt="1"/>
          </p:nvPr>
        </p:nvSpPr>
        <p:spPr>
          <a:xfrm>
            <a:off x="458065" y="1059582"/>
            <a:ext cx="2385743" cy="3600400"/>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400">
                <a:latin typeface="Calibri" panose="020F0502020204030204" pitchFamily="34" charset="0"/>
                <a:ea typeface="Calibri" panose="020F0502020204030204" pitchFamily="34" charset="0"/>
                <a:cs typeface="Calibri" panose="020F0502020204030204" pitchFamily="34" charset="0"/>
              </a:defRPr>
            </a:lvl2pPr>
            <a:lvl3pPr marL="808038" indent="-1778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163638" indent="-301625">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pic>
        <p:nvPicPr>
          <p:cNvPr id="10"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395921"/>
      </p:ext>
    </p:extLst>
  </p:cSld>
  <p:clrMapOvr>
    <a:masterClrMapping/>
  </p:clrMapOvr>
  <p:transition spd="slow">
    <p:fade/>
  </p:transition>
  <p:extLst>
    <p:ext uri="{DCECCB84-F9BA-43D5-87BE-67443E8EF086}">
      <p15:sldGuideLst xmlns:p15="http://schemas.microsoft.com/office/powerpoint/2012/main">
        <p15:guide id="1" orient="horz" pos="1620">
          <p15:clr>
            <a:srgbClr val="FBAE40"/>
          </p15:clr>
        </p15:guide>
        <p15:guide id="2" pos="2880">
          <p15:clr>
            <a:srgbClr val="FBAE40"/>
          </p15:clr>
        </p15:guide>
        <p15:guide id="3" orient="horz" pos="1938">
          <p15:clr>
            <a:srgbClr val="FBAE40"/>
          </p15:clr>
        </p15:guide>
        <p15:guide id="4" orient="horz" pos="1913">
          <p15:clr>
            <a:srgbClr val="FBAE40"/>
          </p15:clr>
        </p15:guide>
        <p15:guide id="5" pos="3833">
          <p15:clr>
            <a:srgbClr val="FBAE40"/>
          </p15:clr>
        </p15:guide>
        <p15:guide id="6" pos="385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Text Placeholder 12"/>
          <p:cNvSpPr>
            <a:spLocks noGrp="1"/>
          </p:cNvSpPr>
          <p:nvPr>
            <p:ph type="body" sz="quarter" idx="12"/>
          </p:nvPr>
        </p:nvSpPr>
        <p:spPr>
          <a:xfrm>
            <a:off x="1042988" y="1131590"/>
            <a:ext cx="7058025" cy="2880320"/>
          </a:xfrm>
          <a:prstGeom prst="rect">
            <a:avLst/>
          </a:prstGeom>
        </p:spPr>
        <p:txBody>
          <a:bodyPr/>
          <a:lstStyle>
            <a:lvl1pPr marL="0" indent="0">
              <a:lnSpc>
                <a:spcPts val="3600"/>
              </a:lnSpc>
              <a:buNone/>
              <a:defRPr sz="2800" b="0" i="1" baseline="0">
                <a:solidFill>
                  <a:srgbClr val="16818D"/>
                </a:solidFill>
                <a:latin typeface="Calibri" panose="020F0502020204030204" pitchFamily="34" charset="0"/>
              </a:defRPr>
            </a:lvl1pPr>
            <a:lvl2pPr marL="609600" indent="0">
              <a:lnSpc>
                <a:spcPts val="3600"/>
              </a:lnSpc>
              <a:buNone/>
              <a:defRPr sz="2800" b="0" i="1" baseline="0">
                <a:solidFill>
                  <a:srgbClr val="16818D"/>
                </a:solidFill>
                <a:latin typeface="Calibri" panose="020F0502020204030204" pitchFamily="34" charset="0"/>
              </a:defRPr>
            </a:lvl2pPr>
            <a:lvl3pPr marL="1219200" indent="0">
              <a:lnSpc>
                <a:spcPts val="3600"/>
              </a:lnSpc>
              <a:buNone/>
              <a:defRPr sz="2800" b="0" i="1" baseline="0">
                <a:solidFill>
                  <a:srgbClr val="16818D"/>
                </a:solidFill>
                <a:latin typeface="Calibri" panose="020F0502020204030204" pitchFamily="34" charset="0"/>
              </a:defRPr>
            </a:lvl3pPr>
            <a:lvl4pPr marL="1828800" indent="0">
              <a:lnSpc>
                <a:spcPts val="3600"/>
              </a:lnSpc>
              <a:buNone/>
              <a:defRPr sz="2800" b="0" i="1" baseline="0">
                <a:solidFill>
                  <a:srgbClr val="16818D"/>
                </a:solidFill>
                <a:latin typeface="Calibri" panose="020F0502020204030204" pitchFamily="34" charset="0"/>
              </a:defRPr>
            </a:lvl4pPr>
            <a:lvl5pPr marL="2438400" indent="0">
              <a:lnSpc>
                <a:spcPts val="3600"/>
              </a:lnSpc>
              <a:buNone/>
              <a:defRPr sz="2800" b="0" i="1" baseline="0">
                <a:solidFill>
                  <a:srgbClr val="16818D"/>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14"/>
          <p:cNvSpPr>
            <a:spLocks noGrp="1"/>
          </p:cNvSpPr>
          <p:nvPr>
            <p:ph type="body" sz="quarter" idx="13"/>
          </p:nvPr>
        </p:nvSpPr>
        <p:spPr>
          <a:xfrm>
            <a:off x="1042988" y="4327103"/>
            <a:ext cx="7058025" cy="620911"/>
          </a:xfrm>
          <a:prstGeom prst="rect">
            <a:avLst/>
          </a:prstGeom>
        </p:spPr>
        <p:txBody>
          <a:bodyPr/>
          <a:lstStyle>
            <a:lvl1pPr marL="0" indent="0" algn="r">
              <a:lnSpc>
                <a:spcPts val="1800"/>
              </a:lnSpc>
              <a:buNone/>
              <a:defRPr sz="1200" baseline="0">
                <a:solidFill>
                  <a:schemeClr val="tx1"/>
                </a:solidFill>
                <a:latin typeface="Calibri" panose="020F0502020204030204" pitchFamily="34" charset="0"/>
              </a:defRPr>
            </a:lvl1pPr>
            <a:lvl2pPr marL="609600" indent="0" algn="r">
              <a:lnSpc>
                <a:spcPts val="1800"/>
              </a:lnSpc>
              <a:buNone/>
              <a:defRPr sz="1200" baseline="0">
                <a:solidFill>
                  <a:schemeClr val="tx1"/>
                </a:solidFill>
                <a:latin typeface="Calibri" panose="020F0502020204030204" pitchFamily="34" charset="0"/>
              </a:defRPr>
            </a:lvl2pPr>
            <a:lvl3pPr marL="1219200" indent="0" algn="r">
              <a:lnSpc>
                <a:spcPts val="1800"/>
              </a:lnSpc>
              <a:buNone/>
              <a:defRPr sz="1200" baseline="0">
                <a:solidFill>
                  <a:schemeClr val="tx1"/>
                </a:solidFill>
                <a:latin typeface="Calibri" panose="020F0502020204030204" pitchFamily="34" charset="0"/>
              </a:defRPr>
            </a:lvl3pPr>
            <a:lvl4pPr marL="1828800" indent="0" algn="r">
              <a:lnSpc>
                <a:spcPts val="1800"/>
              </a:lnSpc>
              <a:buNone/>
              <a:defRPr sz="1200" baseline="0">
                <a:solidFill>
                  <a:schemeClr val="tx1"/>
                </a:solidFill>
                <a:latin typeface="Calibri" panose="020F0502020204030204" pitchFamily="34" charset="0"/>
              </a:defRPr>
            </a:lvl4pPr>
            <a:lvl5pPr marL="2438400" indent="0" algn="r">
              <a:lnSpc>
                <a:spcPts val="1800"/>
              </a:lnSpc>
              <a:buNone/>
              <a:defRPr sz="1200" baseline="0">
                <a:solidFill>
                  <a:schemeClr val="tx1"/>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8584705"/>
      </p:ext>
    </p:extLst>
  </p:cSld>
  <p:clrMapOvr>
    <a:masterClrMapping/>
  </p:clrMapOvr>
  <p:transition spd="slow">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ext Placeholder 12"/>
          <p:cNvSpPr>
            <a:spLocks noGrp="1"/>
          </p:cNvSpPr>
          <p:nvPr>
            <p:ph type="body" sz="quarter" idx="12" hasCustomPrompt="1"/>
          </p:nvPr>
        </p:nvSpPr>
        <p:spPr>
          <a:xfrm>
            <a:off x="215403" y="1995686"/>
            <a:ext cx="4283969" cy="1872208"/>
          </a:xfrm>
          <a:prstGeom prst="rect">
            <a:avLst/>
          </a:prstGeom>
        </p:spPr>
        <p:txBody>
          <a:bodyPr/>
          <a:lstStyle>
            <a:lvl1pPr marL="0" indent="0" algn="r">
              <a:lnSpc>
                <a:spcPts val="9600"/>
              </a:lnSpc>
              <a:buNone/>
              <a:defRPr sz="13000" b="0" i="0" baseline="0">
                <a:solidFill>
                  <a:srgbClr val="16818D"/>
                </a:solidFill>
                <a:latin typeface="Calibri" panose="020F0502020204030204" pitchFamily="34" charset="0"/>
                <a:ea typeface="Calibri" panose="020F0502020204030204" pitchFamily="34" charset="0"/>
                <a:cs typeface="Calibri" panose="020F0502020204030204" pitchFamily="34" charset="0"/>
              </a:defRPr>
            </a:lvl1pPr>
            <a:lvl2pPr marL="609600" indent="0" algn="r">
              <a:lnSpc>
                <a:spcPts val="3600"/>
              </a:lnSpc>
              <a:buNone/>
              <a:defRPr sz="9600" b="0" i="0" baseline="0">
                <a:solidFill>
                  <a:schemeClr val="bg1"/>
                </a:solidFill>
                <a:latin typeface="Georgia" charset="0"/>
                <a:ea typeface="Georgia" charset="0"/>
                <a:cs typeface="Georgia" charset="0"/>
              </a:defRPr>
            </a:lvl2pPr>
            <a:lvl3pPr marL="1219200" indent="0" algn="r">
              <a:lnSpc>
                <a:spcPts val="3600"/>
              </a:lnSpc>
              <a:buNone/>
              <a:defRPr sz="9600" b="0" i="0" baseline="0">
                <a:solidFill>
                  <a:schemeClr val="bg1"/>
                </a:solidFill>
                <a:latin typeface="Georgia" charset="0"/>
                <a:ea typeface="Georgia" charset="0"/>
                <a:cs typeface="Georgia" charset="0"/>
              </a:defRPr>
            </a:lvl3pPr>
            <a:lvl4pPr marL="1828800" indent="0" algn="r">
              <a:lnSpc>
                <a:spcPts val="3600"/>
              </a:lnSpc>
              <a:buNone/>
              <a:defRPr sz="9600" b="0" i="0" baseline="0">
                <a:solidFill>
                  <a:schemeClr val="bg1"/>
                </a:solidFill>
                <a:latin typeface="Georgia" charset="0"/>
                <a:ea typeface="Georgia" charset="0"/>
                <a:cs typeface="Georgia" charset="0"/>
              </a:defRPr>
            </a:lvl4pPr>
            <a:lvl5pPr marL="2438400" indent="0" algn="r">
              <a:lnSpc>
                <a:spcPts val="3600"/>
              </a:lnSpc>
              <a:buNone/>
              <a:defRPr sz="9600" b="0" i="0" baseline="0">
                <a:solidFill>
                  <a:schemeClr val="bg1"/>
                </a:solidFill>
                <a:latin typeface="Georgia" charset="0"/>
                <a:ea typeface="Georgia" charset="0"/>
                <a:cs typeface="Georgia" charset="0"/>
              </a:defRPr>
            </a:lvl5pPr>
          </a:lstStyle>
          <a:p>
            <a:pPr lvl="0"/>
            <a:r>
              <a:rPr lang="en-GB" dirty="0"/>
              <a:t>100%</a:t>
            </a:r>
          </a:p>
        </p:txBody>
      </p:sp>
      <p:sp>
        <p:nvSpPr>
          <p:cNvPr id="4" name="Text Placeholder 14"/>
          <p:cNvSpPr>
            <a:spLocks noGrp="1"/>
          </p:cNvSpPr>
          <p:nvPr>
            <p:ph type="body" sz="quarter" idx="13"/>
          </p:nvPr>
        </p:nvSpPr>
        <p:spPr>
          <a:xfrm>
            <a:off x="4715395" y="2012765"/>
            <a:ext cx="3601021" cy="1855129"/>
          </a:xfrm>
          <a:prstGeom prst="rect">
            <a:avLst/>
          </a:prstGeom>
        </p:spPr>
        <p:txBody>
          <a:bodyPr/>
          <a:lstStyle>
            <a:lvl1pPr marL="0" indent="0" algn="l">
              <a:lnSpc>
                <a:spcPts val="2200"/>
              </a:lnSpc>
              <a:buNone/>
              <a:defRPr sz="1800" baseline="0">
                <a:solidFill>
                  <a:srgbClr val="16818D"/>
                </a:solidFill>
                <a:latin typeface="Calibri" panose="020F0502020204030204" pitchFamily="34" charset="0"/>
              </a:defRPr>
            </a:lvl1pPr>
            <a:lvl2pPr marL="609600" indent="0" algn="l">
              <a:lnSpc>
                <a:spcPts val="2200"/>
              </a:lnSpc>
              <a:buNone/>
              <a:defRPr sz="1800" baseline="0">
                <a:solidFill>
                  <a:srgbClr val="16818D"/>
                </a:solidFill>
                <a:latin typeface="Calibri" panose="020F0502020204030204" pitchFamily="34" charset="0"/>
              </a:defRPr>
            </a:lvl2pPr>
            <a:lvl3pPr marL="1219200" indent="0" algn="l">
              <a:lnSpc>
                <a:spcPts val="2200"/>
              </a:lnSpc>
              <a:buNone/>
              <a:defRPr sz="1800" baseline="0">
                <a:solidFill>
                  <a:srgbClr val="16818D"/>
                </a:solidFill>
                <a:latin typeface="Calibri" panose="020F0502020204030204" pitchFamily="34" charset="0"/>
              </a:defRPr>
            </a:lvl3pPr>
            <a:lvl4pPr marL="1828800" indent="0" algn="l">
              <a:lnSpc>
                <a:spcPts val="2200"/>
              </a:lnSpc>
              <a:buNone/>
              <a:defRPr sz="1800" baseline="0">
                <a:solidFill>
                  <a:srgbClr val="16818D"/>
                </a:solidFill>
                <a:latin typeface="Calibri" panose="020F0502020204030204" pitchFamily="34" charset="0"/>
              </a:defRPr>
            </a:lvl4pPr>
            <a:lvl5pPr marL="2438400" indent="0" algn="l">
              <a:lnSpc>
                <a:spcPts val="2200"/>
              </a:lnSpc>
              <a:buNone/>
              <a:defRPr sz="1800" baseline="0">
                <a:solidFill>
                  <a:srgbClr val="16818D"/>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Text Placeholder 14"/>
          <p:cNvSpPr>
            <a:spLocks noGrp="1"/>
          </p:cNvSpPr>
          <p:nvPr>
            <p:ph type="body" sz="quarter" idx="14"/>
          </p:nvPr>
        </p:nvSpPr>
        <p:spPr>
          <a:xfrm>
            <a:off x="970980" y="4155926"/>
            <a:ext cx="7129412" cy="648295"/>
          </a:xfrm>
          <a:prstGeom prst="rect">
            <a:avLst/>
          </a:prstGeom>
        </p:spPr>
        <p:txBody>
          <a:bodyPr/>
          <a:lstStyle>
            <a:lvl1pPr marL="0" indent="0" algn="r">
              <a:lnSpc>
                <a:spcPts val="1400"/>
              </a:lnSpc>
              <a:buNone/>
              <a:defRPr sz="1000" baseline="0">
                <a:solidFill>
                  <a:schemeClr val="tx1"/>
                </a:solidFill>
                <a:latin typeface="Calibri" panose="020F0502020204030204" pitchFamily="34" charset="0"/>
              </a:defRPr>
            </a:lvl1pPr>
            <a:lvl2pPr marL="609600" indent="0" algn="r">
              <a:lnSpc>
                <a:spcPts val="1400"/>
              </a:lnSpc>
              <a:buNone/>
              <a:defRPr sz="1000" baseline="0">
                <a:solidFill>
                  <a:schemeClr val="tx1"/>
                </a:solidFill>
                <a:latin typeface="Calibri" panose="020F0502020204030204" pitchFamily="34" charset="0"/>
              </a:defRPr>
            </a:lvl2pPr>
            <a:lvl3pPr marL="1219200" indent="0" algn="r">
              <a:lnSpc>
                <a:spcPts val="1400"/>
              </a:lnSpc>
              <a:buNone/>
              <a:defRPr sz="1000" baseline="0">
                <a:solidFill>
                  <a:schemeClr val="tx1"/>
                </a:solidFill>
                <a:latin typeface="Calibri" panose="020F0502020204030204" pitchFamily="34" charset="0"/>
              </a:defRPr>
            </a:lvl3pPr>
            <a:lvl4pPr marL="1828800" indent="0" algn="r">
              <a:lnSpc>
                <a:spcPts val="1400"/>
              </a:lnSpc>
              <a:buNone/>
              <a:defRPr sz="1000" baseline="0">
                <a:solidFill>
                  <a:schemeClr val="tx1"/>
                </a:solidFill>
                <a:latin typeface="Calibri" panose="020F0502020204030204" pitchFamily="34" charset="0"/>
              </a:defRPr>
            </a:lvl4pPr>
            <a:lvl5pPr marL="2438400" indent="0" algn="r">
              <a:lnSpc>
                <a:spcPts val="1400"/>
              </a:lnSpc>
              <a:buNone/>
              <a:defRPr sz="1000" baseline="0">
                <a:solidFill>
                  <a:schemeClr val="tx1"/>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5044385"/>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theme" Target="../theme/theme2.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 id="2147483976" r:id="rId15"/>
    <p:sldLayoutId id="2147483977" r:id="rId16"/>
  </p:sldLayoutIdLst>
  <p:transition spd="slow">
    <p:fade/>
  </p:transition>
  <p:txStyles>
    <p:titleStyle>
      <a:lvl1pPr algn="ctr" defTabSz="606410" rtl="0" eaLnBrk="0" fontAlgn="base" hangingPunct="0">
        <a:spcBef>
          <a:spcPct val="0"/>
        </a:spcBef>
        <a:spcAft>
          <a:spcPct val="0"/>
        </a:spcAft>
        <a:defRPr sz="5800" kern="1200">
          <a:solidFill>
            <a:schemeClr val="tx1"/>
          </a:solidFill>
          <a:latin typeface="+mj-lt"/>
          <a:ea typeface="ＭＳ Ｐゴシック" charset="0"/>
          <a:cs typeface="ＭＳ Ｐゴシック" charset="0"/>
        </a:defRPr>
      </a:lvl1pPr>
      <a:lvl2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5pPr>
      <a:lvl6pPr marL="609539"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080"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18"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158"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14" indent="-454014" algn="l" defTabSz="606410" rtl="0" eaLnBrk="0" fontAlgn="base" hangingPunct="0">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39" rtl="0" eaLnBrk="1" latinLnBrk="0" hangingPunct="1">
        <a:defRPr sz="2400" kern="1200">
          <a:solidFill>
            <a:schemeClr val="tx1"/>
          </a:solidFill>
          <a:latin typeface="+mn-lt"/>
          <a:ea typeface="+mn-ea"/>
          <a:cs typeface="+mn-cs"/>
        </a:defRPr>
      </a:lvl1pPr>
      <a:lvl2pPr marL="609539" algn="l" defTabSz="609539" rtl="0" eaLnBrk="1" latinLnBrk="0" hangingPunct="1">
        <a:defRPr sz="2400" kern="1200">
          <a:solidFill>
            <a:schemeClr val="tx1"/>
          </a:solidFill>
          <a:latin typeface="+mn-lt"/>
          <a:ea typeface="+mn-ea"/>
          <a:cs typeface="+mn-cs"/>
        </a:defRPr>
      </a:lvl2pPr>
      <a:lvl3pPr marL="1219080" algn="l" defTabSz="609539" rtl="0" eaLnBrk="1" latinLnBrk="0" hangingPunct="1">
        <a:defRPr sz="2400" kern="1200">
          <a:solidFill>
            <a:schemeClr val="tx1"/>
          </a:solidFill>
          <a:latin typeface="+mn-lt"/>
          <a:ea typeface="+mn-ea"/>
          <a:cs typeface="+mn-cs"/>
        </a:defRPr>
      </a:lvl3pPr>
      <a:lvl4pPr marL="1828618" algn="l" defTabSz="609539" rtl="0" eaLnBrk="1" latinLnBrk="0" hangingPunct="1">
        <a:defRPr sz="2400" kern="1200">
          <a:solidFill>
            <a:schemeClr val="tx1"/>
          </a:solidFill>
          <a:latin typeface="+mn-lt"/>
          <a:ea typeface="+mn-ea"/>
          <a:cs typeface="+mn-cs"/>
        </a:defRPr>
      </a:lvl4pPr>
      <a:lvl5pPr marL="2438158" algn="l" defTabSz="609539" rtl="0" eaLnBrk="1" latinLnBrk="0" hangingPunct="1">
        <a:defRPr sz="2400" kern="1200">
          <a:solidFill>
            <a:schemeClr val="tx1"/>
          </a:solidFill>
          <a:latin typeface="+mn-lt"/>
          <a:ea typeface="+mn-ea"/>
          <a:cs typeface="+mn-cs"/>
        </a:defRPr>
      </a:lvl5pPr>
      <a:lvl6pPr marL="3047696" algn="l" defTabSz="609539" rtl="0" eaLnBrk="1" latinLnBrk="0" hangingPunct="1">
        <a:defRPr sz="2400" kern="1200">
          <a:solidFill>
            <a:schemeClr val="tx1"/>
          </a:solidFill>
          <a:latin typeface="+mn-lt"/>
          <a:ea typeface="+mn-ea"/>
          <a:cs typeface="+mn-cs"/>
        </a:defRPr>
      </a:lvl6pPr>
      <a:lvl7pPr marL="3657235" algn="l" defTabSz="609539" rtl="0" eaLnBrk="1" latinLnBrk="0" hangingPunct="1">
        <a:defRPr sz="2400" kern="1200">
          <a:solidFill>
            <a:schemeClr val="tx1"/>
          </a:solidFill>
          <a:latin typeface="+mn-lt"/>
          <a:ea typeface="+mn-ea"/>
          <a:cs typeface="+mn-cs"/>
        </a:defRPr>
      </a:lvl7pPr>
      <a:lvl8pPr marL="4266773" algn="l" defTabSz="609539" rtl="0" eaLnBrk="1" latinLnBrk="0" hangingPunct="1">
        <a:defRPr sz="2400" kern="1200">
          <a:solidFill>
            <a:schemeClr val="tx1"/>
          </a:solidFill>
          <a:latin typeface="+mn-lt"/>
          <a:ea typeface="+mn-ea"/>
          <a:cs typeface="+mn-cs"/>
        </a:defRPr>
      </a:lvl8pPr>
      <a:lvl9pPr marL="4876313" algn="l" defTabSz="609539"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4853963"/>
      </p:ext>
    </p:extLst>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 id="2147483987" r:id="rId9"/>
    <p:sldLayoutId id="2147483988" r:id="rId10"/>
    <p:sldLayoutId id="2147483989" r:id="rId11"/>
    <p:sldLayoutId id="2147483990" r:id="rId12"/>
    <p:sldLayoutId id="2147483991" r:id="rId13"/>
    <p:sldLayoutId id="2147483992" r:id="rId14"/>
  </p:sldLayoutIdLst>
  <p:transition spd="slow">
    <p:fade/>
  </p:transition>
  <p:txStyles>
    <p:titleStyle>
      <a:lvl1pPr algn="ctr" defTabSz="606410" rtl="0" eaLnBrk="0" fontAlgn="base" hangingPunct="0">
        <a:spcBef>
          <a:spcPct val="0"/>
        </a:spcBef>
        <a:spcAft>
          <a:spcPct val="0"/>
        </a:spcAft>
        <a:defRPr sz="5800" kern="1200">
          <a:solidFill>
            <a:schemeClr val="tx1"/>
          </a:solidFill>
          <a:latin typeface="+mj-lt"/>
          <a:ea typeface="ＭＳ Ｐゴシック" charset="0"/>
          <a:cs typeface="ＭＳ Ｐゴシック" charset="0"/>
        </a:defRPr>
      </a:lvl1pPr>
      <a:lvl2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5pPr>
      <a:lvl6pPr marL="609539"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080"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18"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158"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14" indent="-454014" algn="l" defTabSz="606410" rtl="0" eaLnBrk="0" fontAlgn="base" hangingPunct="0">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39" rtl="0" eaLnBrk="1" latinLnBrk="0" hangingPunct="1">
        <a:defRPr sz="2400" kern="1200">
          <a:solidFill>
            <a:schemeClr val="tx1"/>
          </a:solidFill>
          <a:latin typeface="+mn-lt"/>
          <a:ea typeface="+mn-ea"/>
          <a:cs typeface="+mn-cs"/>
        </a:defRPr>
      </a:lvl1pPr>
      <a:lvl2pPr marL="609539" algn="l" defTabSz="609539" rtl="0" eaLnBrk="1" latinLnBrk="0" hangingPunct="1">
        <a:defRPr sz="2400" kern="1200">
          <a:solidFill>
            <a:schemeClr val="tx1"/>
          </a:solidFill>
          <a:latin typeface="+mn-lt"/>
          <a:ea typeface="+mn-ea"/>
          <a:cs typeface="+mn-cs"/>
        </a:defRPr>
      </a:lvl2pPr>
      <a:lvl3pPr marL="1219080" algn="l" defTabSz="609539" rtl="0" eaLnBrk="1" latinLnBrk="0" hangingPunct="1">
        <a:defRPr sz="2400" kern="1200">
          <a:solidFill>
            <a:schemeClr val="tx1"/>
          </a:solidFill>
          <a:latin typeface="+mn-lt"/>
          <a:ea typeface="+mn-ea"/>
          <a:cs typeface="+mn-cs"/>
        </a:defRPr>
      </a:lvl3pPr>
      <a:lvl4pPr marL="1828618" algn="l" defTabSz="609539" rtl="0" eaLnBrk="1" latinLnBrk="0" hangingPunct="1">
        <a:defRPr sz="2400" kern="1200">
          <a:solidFill>
            <a:schemeClr val="tx1"/>
          </a:solidFill>
          <a:latin typeface="+mn-lt"/>
          <a:ea typeface="+mn-ea"/>
          <a:cs typeface="+mn-cs"/>
        </a:defRPr>
      </a:lvl4pPr>
      <a:lvl5pPr marL="2438158" algn="l" defTabSz="609539" rtl="0" eaLnBrk="1" latinLnBrk="0" hangingPunct="1">
        <a:defRPr sz="2400" kern="1200">
          <a:solidFill>
            <a:schemeClr val="tx1"/>
          </a:solidFill>
          <a:latin typeface="+mn-lt"/>
          <a:ea typeface="+mn-ea"/>
          <a:cs typeface="+mn-cs"/>
        </a:defRPr>
      </a:lvl5pPr>
      <a:lvl6pPr marL="3047696" algn="l" defTabSz="609539" rtl="0" eaLnBrk="1" latinLnBrk="0" hangingPunct="1">
        <a:defRPr sz="2400" kern="1200">
          <a:solidFill>
            <a:schemeClr val="tx1"/>
          </a:solidFill>
          <a:latin typeface="+mn-lt"/>
          <a:ea typeface="+mn-ea"/>
          <a:cs typeface="+mn-cs"/>
        </a:defRPr>
      </a:lvl6pPr>
      <a:lvl7pPr marL="3657235" algn="l" defTabSz="609539" rtl="0" eaLnBrk="1" latinLnBrk="0" hangingPunct="1">
        <a:defRPr sz="2400" kern="1200">
          <a:solidFill>
            <a:schemeClr val="tx1"/>
          </a:solidFill>
          <a:latin typeface="+mn-lt"/>
          <a:ea typeface="+mn-ea"/>
          <a:cs typeface="+mn-cs"/>
        </a:defRPr>
      </a:lvl7pPr>
      <a:lvl8pPr marL="4266773" algn="l" defTabSz="609539" rtl="0" eaLnBrk="1" latinLnBrk="0" hangingPunct="1">
        <a:defRPr sz="2400" kern="1200">
          <a:solidFill>
            <a:schemeClr val="tx1"/>
          </a:solidFill>
          <a:latin typeface="+mn-lt"/>
          <a:ea typeface="+mn-ea"/>
          <a:cs typeface="+mn-cs"/>
        </a:defRPr>
      </a:lvl8pPr>
      <a:lvl9pPr marL="4876313" algn="l" defTabSz="609539"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hyperlink" Target="https://eparmedx.com/resources/knowledge%e2%80%91mobilization/" TargetMode="External"/><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audio" Target="../media/audio1.wav"/><Relationship Id="rId1" Type="http://schemas.openxmlformats.org/officeDocument/2006/relationships/slideLayout" Target="../slideLayouts/slideLayout15.xml"/><Relationship Id="rId4" Type="http://schemas.openxmlformats.org/officeDocument/2006/relationships/hyperlink" Target="http://www.flickr.com/photos/debsilver/102508862/"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ptpioneer.com/personal-training/certifications/acsm/acsm-cpt-chapter-7/" TargetMode="Externa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8.jpeg"/><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1.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2" Type="http://schemas.openxmlformats.org/officeDocument/2006/relationships/hyperlink" Target="https://vizhub.healthdata.org/gbd-results/" TargetMode="Externa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Placeholder 1"/>
          <p:cNvSpPr>
            <a:spLocks noGrp="1"/>
          </p:cNvSpPr>
          <p:nvPr>
            <p:ph type="body" sz="quarter" idx="14"/>
          </p:nvPr>
        </p:nvSpPr>
        <p:spPr bwMode="auto">
          <a:xfrm>
            <a:off x="1904427" y="1289676"/>
            <a:ext cx="7019567" cy="17285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lgn="ctr" eaLnBrk="1" hangingPunct="1">
              <a:lnSpc>
                <a:spcPct val="100000"/>
              </a:lnSpc>
              <a:spcBef>
                <a:spcPct val="0"/>
              </a:spcBef>
            </a:pPr>
            <a:r>
              <a:rPr lang="en-GB" altLang="en-US" sz="2800" dirty="0">
                <a:solidFill>
                  <a:srgbClr val="FFFF00"/>
                </a:solidFill>
                <a:latin typeface="Calibri" panose="020F0502020204030204" pitchFamily="34" charset="0"/>
                <a:ea typeface="Calibri" panose="020F0502020204030204" pitchFamily="34" charset="0"/>
                <a:cs typeface="Calibri" panose="020F0502020204030204" pitchFamily="34" charset="0"/>
              </a:rPr>
              <a:t>Key principals and planning (plan, design, adapt, review) of exercise prescription for medical conditions (general).</a:t>
            </a:r>
          </a:p>
          <a:p>
            <a:pPr algn="ctr" eaLnBrk="1" hangingPunct="1">
              <a:spcBef>
                <a:spcPct val="0"/>
              </a:spcBef>
            </a:pPr>
            <a:endParaRPr lang="en-GB" altLang="en-US" sz="2800" dirty="0"/>
          </a:p>
          <a:p>
            <a:pPr algn="ctr" eaLnBrk="1" hangingPunct="1">
              <a:lnSpc>
                <a:spcPts val="2600"/>
              </a:lnSpc>
              <a:spcBef>
                <a:spcPct val="0"/>
              </a:spcBef>
            </a:pPr>
            <a:r>
              <a:rPr lang="en-GB" altLang="en-US" sz="2000" dirty="0">
                <a:latin typeface="Calibri" panose="020F0502020204030204" pitchFamily="34" charset="0"/>
                <a:ea typeface="Calibri" panose="020F0502020204030204" pitchFamily="34" charset="0"/>
                <a:cs typeface="Calibri" panose="020F0502020204030204" pitchFamily="34" charset="0"/>
              </a:rPr>
              <a:t>Exercise Prescription for Special Populations</a:t>
            </a:r>
          </a:p>
          <a:p>
            <a:pPr marL="0" marR="0" lvl="0" indent="0" algn="ctr" defTabSz="606410" rtl="0" eaLnBrk="1" fontAlgn="base" latinLnBrk="0" hangingPunct="1">
              <a:lnSpc>
                <a:spcPts val="2600"/>
              </a:lnSpc>
              <a:spcBef>
                <a:spcPct val="0"/>
              </a:spcBef>
              <a:spcAft>
                <a:spcPct val="0"/>
              </a:spcAft>
              <a:buClrTx/>
              <a:buSzTx/>
              <a:buFontTx/>
              <a:buNone/>
              <a:tabLst/>
              <a:defRPr/>
            </a:pPr>
            <a:r>
              <a:rPr kumimoji="0" lang="en-GB" sz="20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UZYKG9-15-3</a:t>
            </a:r>
            <a:endParaRPr kumimoji="0" lang="en-GB" altLang="en-US" sz="20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charset="-128"/>
              <a:cs typeface="Calibri" panose="020F0502020204030204" pitchFamily="34" charset="0"/>
            </a:endParaRPr>
          </a:p>
          <a:p>
            <a:pPr algn="ctr" eaLnBrk="1" hangingPunct="1">
              <a:spcBef>
                <a:spcPct val="0"/>
              </a:spcBef>
            </a:pPr>
            <a:endParaRPr lang="en-GB" alt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13314" name="Text Placeholder 2"/>
          <p:cNvSpPr>
            <a:spLocks noGrp="1"/>
          </p:cNvSpPr>
          <p:nvPr>
            <p:ph type="body" sz="quarter" idx="1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GB" altLang="en-US" dirty="0">
                <a:ea typeface="ＭＳ Ｐゴシック" charset="-128"/>
              </a:rPr>
              <a:t>Presentation by</a:t>
            </a:r>
          </a:p>
          <a:p>
            <a:pPr>
              <a:spcBef>
                <a:spcPct val="0"/>
              </a:spcBef>
            </a:pPr>
            <a:endParaRPr lang="en-US" altLang="en-US" dirty="0">
              <a:ea typeface="ＭＳ Ｐゴシック" charset="-128"/>
            </a:endParaRPr>
          </a:p>
        </p:txBody>
      </p:sp>
      <p:sp>
        <p:nvSpPr>
          <p:cNvPr id="13315" name="Text Placeholder 3"/>
          <p:cNvSpPr>
            <a:spLocks noGrp="1"/>
          </p:cNvSpPr>
          <p:nvPr>
            <p:ph type="body"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en-US" dirty="0">
                <a:ea typeface="ＭＳ Ｐゴシック"/>
              </a:rPr>
              <a:t>Dr Rob Grieve</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Placeholder 3"/>
          <p:cNvSpPr>
            <a:spLocks noGrp="1"/>
          </p:cNvSpPr>
          <p:nvPr>
            <p:ph type="body" sz="quarter" idx="10"/>
          </p:nvPr>
        </p:nvSpPr>
        <p:spPr bwMode="auto">
          <a:xfrm>
            <a:off x="495547" y="192810"/>
            <a:ext cx="6436898" cy="4883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marL="0" marR="0" lvl="0" indent="0" algn="l" defTabSz="606410" rtl="0" eaLnBrk="0" fontAlgn="base" latinLnBrk="0" hangingPunct="0">
              <a:lnSpc>
                <a:spcPts val="4200"/>
              </a:lnSpc>
              <a:spcBef>
                <a:spcPct val="20000"/>
              </a:spcBef>
              <a:spcAft>
                <a:spcPct val="0"/>
              </a:spcAft>
              <a:buClrTx/>
              <a:buSzTx/>
              <a:buFontTx/>
              <a:buNone/>
              <a:tabLst/>
              <a:defRPr/>
            </a:pPr>
            <a:r>
              <a:rPr kumimoji="0" lang="en-GB" sz="4000" b="0" i="0" u="none" strike="noStrike" kern="1200" cap="none" spc="0" normalizeH="0" baseline="0" noProof="0" dirty="0">
                <a:ln>
                  <a:noFill/>
                </a:ln>
                <a:solidFill>
                  <a:srgbClr val="16818D"/>
                </a:solidFill>
                <a:effectLst/>
                <a:uLnTx/>
                <a:uFillTx/>
                <a:latin typeface="Calibri" panose="020F0502020204030204" pitchFamily="34" charset="0"/>
                <a:ea typeface="Calibri" panose="020F0502020204030204" pitchFamily="34" charset="0"/>
                <a:cs typeface="Calibri" panose="020F0502020204030204" pitchFamily="34" charset="0"/>
              </a:rPr>
              <a:t>Aims/Objectives</a:t>
            </a:r>
          </a:p>
          <a:p>
            <a:endParaRPr lang="en-US" altLang="en-US" dirty="0">
              <a:ea typeface="ＭＳ Ｐゴシック"/>
            </a:endParaRPr>
          </a:p>
        </p:txBody>
      </p:sp>
      <p:sp>
        <p:nvSpPr>
          <p:cNvPr id="2" name="Text Placeholder 1"/>
          <p:cNvSpPr>
            <a:spLocks noGrp="1"/>
          </p:cNvSpPr>
          <p:nvPr>
            <p:ph type="body" sz="quarter" idx="11"/>
          </p:nvPr>
        </p:nvSpPr>
        <p:spPr>
          <a:xfrm>
            <a:off x="374697" y="847516"/>
            <a:ext cx="8394605" cy="2702565"/>
          </a:xfrm>
        </p:spPr>
        <p:txBody>
          <a:bodyPr lIns="68580" tIns="34290" rIns="68580" bIns="34290" anchor="t"/>
          <a:lstStyle/>
          <a:p>
            <a:pPr marL="0" indent="0">
              <a:buNone/>
            </a:pPr>
            <a:r>
              <a:rPr lang="en-US" altLang="en-US" sz="1800" b="1" dirty="0"/>
              <a:t>The aims of this session are:</a:t>
            </a:r>
          </a:p>
          <a:p>
            <a:pPr marL="0" marR="0" lvl="0" indent="0" algn="l" defTabSz="606410" rtl="0" eaLnBrk="0" fontAlgn="base" latinLnBrk="0" hangingPunct="0">
              <a:lnSpc>
                <a:spcPct val="100000"/>
              </a:lnSpc>
              <a:spcBef>
                <a:spcPts val="0"/>
              </a:spcBef>
              <a:spcAft>
                <a:spcPct val="0"/>
              </a:spcAft>
              <a:buClr>
                <a:srgbClr val="16818D"/>
              </a:buClr>
              <a:buSzTx/>
              <a:buNone/>
              <a:tabLst/>
              <a:defRPr/>
            </a:pPr>
            <a:endParaRPr lang="en-GB" sz="1800" dirty="0">
              <a:solidFill>
                <a:prstClr val="black"/>
              </a:solidFill>
            </a:endParaRPr>
          </a:p>
          <a:p>
            <a:pPr marL="0" marR="0" lvl="0" indent="0" algn="l" defTabSz="606410" rtl="0" eaLnBrk="0" fontAlgn="base" latinLnBrk="0" hangingPunct="0">
              <a:lnSpc>
                <a:spcPct val="100000"/>
              </a:lnSpc>
              <a:spcBef>
                <a:spcPts val="0"/>
              </a:spcBef>
              <a:spcAft>
                <a:spcPct val="0"/>
              </a:spcAft>
              <a:buClr>
                <a:srgbClr val="16818D"/>
              </a:buClr>
              <a:buSz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To review the </a:t>
            </a:r>
            <a:r>
              <a:rPr lang="en-GB" sz="1800" dirty="0">
                <a:solidFill>
                  <a:prstClr val="black"/>
                </a:solidFill>
              </a:rPr>
              <a:t>a</a:t>
            </a:r>
            <a:r>
              <a:rPr kumimoji="0" lang="en-GB"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pplication</a:t>
            </a: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of knowledge and understanding of the benefits of exercise and physical activity applied to special population groups. </a:t>
            </a:r>
          </a:p>
          <a:p>
            <a:pPr marL="0" marR="0" lvl="0" indent="0" algn="l" defTabSz="606410" rtl="0" eaLnBrk="0" fontAlgn="base" latinLnBrk="0" hangingPunct="0">
              <a:lnSpc>
                <a:spcPct val="100000"/>
              </a:lnSpc>
              <a:spcBef>
                <a:spcPts val="0"/>
              </a:spcBef>
              <a:spcAft>
                <a:spcPct val="0"/>
              </a:spcAft>
              <a:buClr>
                <a:srgbClr val="16818D"/>
              </a:buClr>
              <a:buSz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To apply the principles of planning and designing exercise </a:t>
            </a:r>
            <a:r>
              <a:rPr kumimoji="0" lang="en-GB"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progammes</a:t>
            </a: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for special  populations.</a:t>
            </a:r>
            <a:endParaRPr lang="en-GB" sz="1800" dirty="0">
              <a:solidFill>
                <a:prstClr val="black"/>
              </a:solidFill>
            </a:endParaRPr>
          </a:p>
          <a:p>
            <a:pPr marL="0" marR="0" lvl="0" indent="0" algn="l" defTabSz="606410" rtl="0" eaLnBrk="0" fontAlgn="base" latinLnBrk="0" hangingPunct="0">
              <a:lnSpc>
                <a:spcPct val="100000"/>
              </a:lnSpc>
              <a:spcBef>
                <a:spcPts val="0"/>
              </a:spcBef>
              <a:spcAft>
                <a:spcPct val="0"/>
              </a:spcAft>
              <a:buClr>
                <a:srgbClr val="16818D"/>
              </a:buClr>
              <a:buSzTx/>
              <a:buNone/>
              <a:tabLst/>
              <a:defRPr/>
            </a:pPr>
            <a:r>
              <a:rPr lang="en-GB" sz="1800" dirty="0">
                <a:solidFill>
                  <a:prstClr val="black"/>
                </a:solidFill>
              </a:rPr>
              <a:t>To provide an overview of the main stages in designing and developing an exercise programme.</a:t>
            </a: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606410" rtl="0" eaLnBrk="0" fontAlgn="base" latinLnBrk="0" hangingPunct="0">
              <a:lnSpc>
                <a:spcPct val="100000"/>
              </a:lnSpc>
              <a:spcBef>
                <a:spcPts val="0"/>
              </a:spcBef>
              <a:spcAft>
                <a:spcPct val="0"/>
              </a:spcAft>
              <a:buClr>
                <a:srgbClr val="16818D"/>
              </a:buClr>
              <a:buSz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a:spcBef>
                <a:spcPts val="0"/>
              </a:spcBef>
              <a:defRPr/>
            </a:pPr>
            <a:endParaRPr lang="en-GB" sz="1800" dirty="0"/>
          </a:p>
          <a:p>
            <a:pPr marL="0" indent="0">
              <a:spcBef>
                <a:spcPts val="0"/>
              </a:spcBef>
              <a:buNone/>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altLang="en-US" sz="1350"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DC17B9-2699-47A7-7B2F-CA2849546075}"/>
              </a:ext>
            </a:extLst>
          </p:cNvPr>
          <p:cNvSpPr>
            <a:spLocks noGrp="1"/>
          </p:cNvSpPr>
          <p:nvPr>
            <p:ph type="body" sz="quarter" idx="10"/>
          </p:nvPr>
        </p:nvSpPr>
        <p:spPr>
          <a:xfrm>
            <a:off x="486229" y="79830"/>
            <a:ext cx="7009373" cy="1267806"/>
          </a:xfrm>
        </p:spPr>
        <p:txBody>
          <a:bodyPr/>
          <a:lstStyle/>
          <a:p>
            <a:pPr>
              <a:lnSpc>
                <a:spcPts val="2700"/>
              </a:lnSpc>
            </a:pPr>
            <a:r>
              <a:rPr lang="en-GB" sz="2800" b="1" dirty="0">
                <a:solidFill>
                  <a:schemeClr val="accent1"/>
                </a:solidFill>
              </a:rPr>
              <a:t>Main stages in designing and developing an exercise programme.</a:t>
            </a:r>
          </a:p>
          <a:p>
            <a:r>
              <a:rPr lang="en-GB" sz="2800" dirty="0"/>
              <a:t>We will review the following:</a:t>
            </a:r>
          </a:p>
        </p:txBody>
      </p:sp>
      <p:sp>
        <p:nvSpPr>
          <p:cNvPr id="3" name="Text Placeholder 2">
            <a:extLst>
              <a:ext uri="{FF2B5EF4-FFF2-40B4-BE49-F238E27FC236}">
                <a16:creationId xmlns:a16="http://schemas.microsoft.com/office/drawing/2014/main" id="{A2A223CD-93F6-4150-8C7B-79A2F7BF7030}"/>
              </a:ext>
            </a:extLst>
          </p:cNvPr>
          <p:cNvSpPr>
            <a:spLocks noGrp="1"/>
          </p:cNvSpPr>
          <p:nvPr>
            <p:ph type="body" sz="quarter" idx="11"/>
          </p:nvPr>
        </p:nvSpPr>
        <p:spPr>
          <a:xfrm>
            <a:off x="210458" y="1246035"/>
            <a:ext cx="8933542" cy="3404603"/>
          </a:xfrm>
        </p:spPr>
        <p:txBody>
          <a:bodyPr/>
          <a:lstStyle/>
          <a:p>
            <a:endParaRPr lang="en-GB" dirty="0"/>
          </a:p>
          <a:p>
            <a:r>
              <a:rPr lang="en-GB" sz="2400" dirty="0"/>
              <a:t>Pre Exercise Screening &amp; Risk Stratification (related to ACSM, guidelines) </a:t>
            </a:r>
          </a:p>
          <a:p>
            <a:r>
              <a:rPr lang="en-GB" sz="2400" dirty="0"/>
              <a:t>Goal Setting (Individualised &amp; Condition Specific) </a:t>
            </a:r>
          </a:p>
          <a:p>
            <a:r>
              <a:rPr lang="en-GB" sz="2400" dirty="0"/>
              <a:t>Exercise Prescription (FITT VP Model) (ACSM Specific) </a:t>
            </a:r>
          </a:p>
          <a:p>
            <a:r>
              <a:rPr lang="en-GB" sz="2400" dirty="0"/>
              <a:t>Monitoring, Dosage, Adherence, Safety &amp; Symptom Management </a:t>
            </a:r>
          </a:p>
          <a:p>
            <a:r>
              <a:rPr lang="en-GB" sz="2400" dirty="0"/>
              <a:t>Behaviour Change &amp; Education </a:t>
            </a:r>
          </a:p>
          <a:p>
            <a:r>
              <a:rPr lang="en-GB" sz="2400" dirty="0"/>
              <a:t>Follow Up, Review &amp; Progression 	</a:t>
            </a:r>
          </a:p>
          <a:p>
            <a:endParaRPr lang="en-GB" dirty="0"/>
          </a:p>
        </p:txBody>
      </p:sp>
    </p:spTree>
    <p:extLst>
      <p:ext uri="{BB962C8B-B14F-4D97-AF65-F5344CB8AC3E}">
        <p14:creationId xmlns:p14="http://schemas.microsoft.com/office/powerpoint/2010/main" val="259174942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1BD28-3EF7-097F-D1C7-A61481B1CFAB}"/>
            </a:ext>
          </a:extLst>
        </p:cNvPr>
        <p:cNvGrpSpPr/>
        <p:nvPr/>
      </p:nvGrpSpPr>
      <p:grpSpPr>
        <a:xfrm>
          <a:off x="0" y="0"/>
          <a:ext cx="0" cy="0"/>
          <a:chOff x="0" y="0"/>
          <a:chExt cx="0" cy="0"/>
        </a:xfrm>
      </p:grpSpPr>
      <p:sp>
        <p:nvSpPr>
          <p:cNvPr id="15361" name="Text Placeholder 3">
            <a:extLst>
              <a:ext uri="{FF2B5EF4-FFF2-40B4-BE49-F238E27FC236}">
                <a16:creationId xmlns:a16="http://schemas.microsoft.com/office/drawing/2014/main" id="{FF6DDF1E-510F-D413-688D-5F764C1E7D25}"/>
              </a:ext>
            </a:extLst>
          </p:cNvPr>
          <p:cNvSpPr>
            <a:spLocks noGrp="1"/>
          </p:cNvSpPr>
          <p:nvPr>
            <p:ph type="body" sz="quarter" idx="10"/>
          </p:nvPr>
        </p:nvSpPr>
        <p:spPr bwMode="auto">
          <a:xfrm>
            <a:off x="665838" y="196054"/>
            <a:ext cx="6668019" cy="476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lgn="ctr"/>
            <a:r>
              <a:rPr lang="en-US" altLang="en-US" sz="2800" dirty="0">
                <a:ea typeface="ＭＳ Ｐゴシック" charset="-128"/>
              </a:rPr>
              <a:t>Module Learning Outcomes/Goals</a:t>
            </a:r>
          </a:p>
        </p:txBody>
      </p:sp>
      <p:sp>
        <p:nvSpPr>
          <p:cNvPr id="4" name="Text Placeholder 3">
            <a:extLst>
              <a:ext uri="{FF2B5EF4-FFF2-40B4-BE49-F238E27FC236}">
                <a16:creationId xmlns:a16="http://schemas.microsoft.com/office/drawing/2014/main" id="{138B3D99-1A69-18B5-E98C-6F73F3597551}"/>
              </a:ext>
            </a:extLst>
          </p:cNvPr>
          <p:cNvSpPr>
            <a:spLocks noGrp="1"/>
          </p:cNvSpPr>
          <p:nvPr>
            <p:ph type="body" sz="quarter" idx="11"/>
          </p:nvPr>
        </p:nvSpPr>
        <p:spPr>
          <a:xfrm>
            <a:off x="151254" y="770020"/>
            <a:ext cx="8992746" cy="4076987"/>
          </a:xfrm>
        </p:spPr>
        <p:txBody>
          <a:bodyPr lIns="91440" tIns="45720" rIns="91440" bIns="45720" anchor="t"/>
          <a:lstStyle/>
          <a:p>
            <a:pPr marL="0" indent="0">
              <a:spcBef>
                <a:spcPts val="0"/>
              </a:spcBef>
              <a:buNone/>
            </a:pPr>
            <a:endParaRPr lang="en-GB" b="1" i="1" dirty="0"/>
          </a:p>
          <a:p>
            <a:pPr marL="0" indent="0">
              <a:spcBef>
                <a:spcPts val="0"/>
              </a:spcBef>
              <a:buNone/>
            </a:pPr>
            <a:r>
              <a:rPr lang="en-GB" sz="1800" b="1" i="1" dirty="0">
                <a:solidFill>
                  <a:srgbClr val="FF0000"/>
                </a:solidFill>
              </a:rPr>
              <a:t>COURSE 2</a:t>
            </a:r>
            <a:r>
              <a:rPr lang="en-GB" sz="1800" i="1" dirty="0">
                <a:solidFill>
                  <a:srgbClr val="FF0000"/>
                </a:solidFill>
              </a:rPr>
              <a:t>:</a:t>
            </a:r>
            <a:r>
              <a:rPr lang="en-GB" sz="1800" b="1" i="1" dirty="0">
                <a:solidFill>
                  <a:srgbClr val="FF0000"/>
                </a:solidFill>
              </a:rPr>
              <a:t>Benefits, Prescription and Application of Exercise and Physical Activity to Special Populations.</a:t>
            </a:r>
            <a:endParaRPr lang="en-GB" sz="1800" i="1" dirty="0">
              <a:solidFill>
                <a:srgbClr val="FF0000"/>
              </a:solidFill>
            </a:endParaRPr>
          </a:p>
          <a:p>
            <a:r>
              <a:rPr lang="en-GB" sz="1800" dirty="0">
                <a:solidFill>
                  <a:schemeClr val="tx2"/>
                </a:solidFill>
                <a:highlight>
                  <a:srgbClr val="FFFF00"/>
                </a:highlight>
              </a:rPr>
              <a:t>Apply the underpinning knowledge required to </a:t>
            </a:r>
            <a:r>
              <a:rPr lang="en-GB" sz="1800" b="1" dirty="0">
                <a:solidFill>
                  <a:schemeClr val="tx2"/>
                </a:solidFill>
                <a:highlight>
                  <a:srgbClr val="FFFF00"/>
                </a:highlight>
              </a:rPr>
              <a:t>plan, design, adapt and review </a:t>
            </a:r>
            <a:r>
              <a:rPr lang="en-GB" sz="1800" dirty="0">
                <a:solidFill>
                  <a:schemeClr val="tx2"/>
                </a:solidFill>
                <a:highlight>
                  <a:srgbClr val="FFFF00"/>
                </a:highlight>
              </a:rPr>
              <a:t>a scientific </a:t>
            </a:r>
            <a:r>
              <a:rPr lang="en-GB" sz="1800" b="1" dirty="0">
                <a:solidFill>
                  <a:schemeClr val="tx2"/>
                </a:solidFill>
                <a:highlight>
                  <a:srgbClr val="FFFF00"/>
                </a:highlight>
              </a:rPr>
              <a:t>exercise prescription for selected controlled medical conditions</a:t>
            </a:r>
            <a:r>
              <a:rPr lang="en-GB" sz="1800" dirty="0">
                <a:solidFill>
                  <a:schemeClr val="tx2"/>
                </a:solidFill>
                <a:highlight>
                  <a:srgbClr val="FFFF00"/>
                </a:highlight>
              </a:rPr>
              <a:t>. </a:t>
            </a:r>
          </a:p>
          <a:p>
            <a:r>
              <a:rPr lang="en-GB" sz="1800" dirty="0">
                <a:solidFill>
                  <a:schemeClr val="tx2"/>
                </a:solidFill>
              </a:rPr>
              <a:t>Demonstrate a critical awareness of the </a:t>
            </a:r>
            <a:r>
              <a:rPr lang="en-GB" sz="1800" b="1" dirty="0">
                <a:solidFill>
                  <a:schemeClr val="tx2"/>
                </a:solidFill>
              </a:rPr>
              <a:t>dose response issues </a:t>
            </a:r>
            <a:r>
              <a:rPr lang="en-GB" sz="1800" dirty="0">
                <a:solidFill>
                  <a:schemeClr val="tx2"/>
                </a:solidFill>
              </a:rPr>
              <a:t>related to exercise prescription in selected controlled medical conditions. </a:t>
            </a:r>
          </a:p>
          <a:p>
            <a:pPr marL="0" indent="0" algn="ctr">
              <a:buNone/>
            </a:pPr>
            <a:r>
              <a:rPr lang="en-GB" sz="1800" b="1" dirty="0">
                <a:solidFill>
                  <a:schemeClr val="tx2"/>
                </a:solidFill>
              </a:rPr>
              <a:t>Course Content</a:t>
            </a:r>
            <a:endParaRPr lang="en-US" sz="1800" b="1" dirty="0">
              <a:solidFill>
                <a:schemeClr val="tx2"/>
              </a:solidFill>
            </a:endParaRPr>
          </a:p>
          <a:p>
            <a:pPr>
              <a:spcBef>
                <a:spcPts val="0"/>
              </a:spcBef>
            </a:pPr>
            <a:r>
              <a:rPr lang="en-GB" sz="1800" dirty="0"/>
              <a:t>Application of knowledge and understanding of the benefits of exercise and physical activity applied to special population groups. </a:t>
            </a:r>
          </a:p>
          <a:p>
            <a:pPr>
              <a:spcBef>
                <a:spcPts val="0"/>
              </a:spcBef>
            </a:pPr>
            <a:r>
              <a:rPr lang="en-GB" sz="1800" dirty="0"/>
              <a:t>Principles of planning and designing exercise </a:t>
            </a:r>
            <a:r>
              <a:rPr lang="en-GB" sz="1800" dirty="0" err="1"/>
              <a:t>progammes</a:t>
            </a:r>
            <a:r>
              <a:rPr lang="en-GB" sz="1800" dirty="0"/>
              <a:t> for special  populations – things to consider. </a:t>
            </a:r>
          </a:p>
          <a:p>
            <a:pPr>
              <a:spcBef>
                <a:spcPts val="0"/>
              </a:spcBef>
            </a:pPr>
            <a:r>
              <a:rPr lang="en-GB" sz="1800" dirty="0"/>
              <a:t>How exercise programmes can be adapted. </a:t>
            </a:r>
          </a:p>
          <a:p>
            <a:pPr>
              <a:spcBef>
                <a:spcPts val="0"/>
              </a:spcBef>
            </a:pPr>
            <a:r>
              <a:rPr lang="en-GB" sz="1800" dirty="0"/>
              <a:t>Evidence review of adaption of exercise for special population groups. </a:t>
            </a:r>
          </a:p>
          <a:p>
            <a:endParaRPr lang="en-US" dirty="0"/>
          </a:p>
        </p:txBody>
      </p:sp>
    </p:spTree>
    <p:extLst>
      <p:ext uri="{BB962C8B-B14F-4D97-AF65-F5344CB8AC3E}">
        <p14:creationId xmlns:p14="http://schemas.microsoft.com/office/powerpoint/2010/main" val="985896978"/>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F7E5D-D358-6697-75B8-96BB9C816C2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CC7F812-5AD5-40CA-FFE8-4911DC8B2AE3}"/>
              </a:ext>
            </a:extLst>
          </p:cNvPr>
          <p:cNvSpPr>
            <a:spLocks noGrp="1"/>
          </p:cNvSpPr>
          <p:nvPr>
            <p:ph type="body" sz="quarter" idx="10"/>
          </p:nvPr>
        </p:nvSpPr>
        <p:spPr>
          <a:xfrm>
            <a:off x="585990" y="262666"/>
            <a:ext cx="8452346" cy="476000"/>
          </a:xfrm>
        </p:spPr>
        <p:txBody>
          <a:bodyPr/>
          <a:lstStyle/>
          <a:p>
            <a:r>
              <a:rPr lang="en-GB" sz="3600" dirty="0"/>
              <a:t>This module is made up of two courses…although closely linked! </a:t>
            </a:r>
          </a:p>
          <a:p>
            <a:pPr>
              <a:lnSpc>
                <a:spcPct val="100000"/>
              </a:lnSpc>
              <a:spcBef>
                <a:spcPts val="0"/>
              </a:spcBef>
            </a:pPr>
            <a:endParaRPr lang="en-GB" sz="2800" dirty="0">
              <a:solidFill>
                <a:srgbClr val="FF0000"/>
              </a:solidFill>
            </a:endParaRPr>
          </a:p>
          <a:p>
            <a:pPr>
              <a:lnSpc>
                <a:spcPct val="100000"/>
              </a:lnSpc>
              <a:spcBef>
                <a:spcPts val="0"/>
              </a:spcBef>
            </a:pPr>
            <a:r>
              <a:rPr lang="en-GB" sz="2800" i="1" dirty="0">
                <a:solidFill>
                  <a:srgbClr val="FF0000"/>
                </a:solidFill>
              </a:rPr>
              <a:t>Progression from Foundations of Exercise Prescription. </a:t>
            </a:r>
          </a:p>
          <a:p>
            <a:pPr>
              <a:lnSpc>
                <a:spcPct val="100000"/>
              </a:lnSpc>
              <a:spcBef>
                <a:spcPts val="0"/>
              </a:spcBef>
            </a:pPr>
            <a:r>
              <a:rPr lang="en-GB" sz="1800" i="1" dirty="0">
                <a:solidFill>
                  <a:srgbClr val="FF0000"/>
                </a:solidFill>
              </a:rPr>
              <a:t>Important to review the previous material covered  and build on it in this module.</a:t>
            </a:r>
          </a:p>
          <a:p>
            <a:endParaRPr lang="en-GB" sz="3600" dirty="0"/>
          </a:p>
        </p:txBody>
      </p:sp>
      <p:sp>
        <p:nvSpPr>
          <p:cNvPr id="10" name="Freeform 9">
            <a:extLst>
              <a:ext uri="{FF2B5EF4-FFF2-40B4-BE49-F238E27FC236}">
                <a16:creationId xmlns:a16="http://schemas.microsoft.com/office/drawing/2014/main" id="{E1A6E89F-45BB-B4D4-3B2D-6668082522A9}"/>
              </a:ext>
            </a:extLst>
          </p:cNvPr>
          <p:cNvSpPr/>
          <p:nvPr/>
        </p:nvSpPr>
        <p:spPr>
          <a:xfrm>
            <a:off x="3501027" y="2067695"/>
            <a:ext cx="1590535" cy="1512168"/>
          </a:xfrm>
          <a:custGeom>
            <a:avLst/>
            <a:gdLst>
              <a:gd name="connsiteX0" fmla="*/ 0 w 1479098"/>
              <a:gd name="connsiteY0" fmla="*/ 0 h 1512168"/>
              <a:gd name="connsiteX1" fmla="*/ 1479098 w 1479098"/>
              <a:gd name="connsiteY1" fmla="*/ 0 h 1512168"/>
              <a:gd name="connsiteX2" fmla="*/ 1479098 w 1479098"/>
              <a:gd name="connsiteY2" fmla="*/ 1512168 h 1512168"/>
              <a:gd name="connsiteX3" fmla="*/ 0 w 1479098"/>
              <a:gd name="connsiteY3" fmla="*/ 1512168 h 1512168"/>
              <a:gd name="connsiteX4" fmla="*/ 0 w 1479098"/>
              <a:gd name="connsiteY4" fmla="*/ 0 h 1512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9098" h="1512168">
                <a:moveTo>
                  <a:pt x="0" y="0"/>
                </a:moveTo>
                <a:lnTo>
                  <a:pt x="1479098" y="0"/>
                </a:lnTo>
                <a:lnTo>
                  <a:pt x="1479098" y="1512168"/>
                </a:lnTo>
                <a:lnTo>
                  <a:pt x="0" y="1512168"/>
                </a:lnTo>
                <a:lnTo>
                  <a:pt x="0" y="0"/>
                </a:lnTo>
                <a:close/>
              </a:path>
            </a:pathLst>
          </a:custGeom>
          <a:noFill/>
          <a:ln>
            <a:noFill/>
          </a:ln>
          <a:sp3d/>
        </p:spPr>
        <p:style>
          <a:lnRef idx="2">
            <a:scrgbClr r="0" g="0" b="0"/>
          </a:lnRef>
          <a:fillRef idx="1">
            <a:scrgbClr r="0" g="0" b="0"/>
          </a:fillRef>
          <a:effectRef idx="0">
            <a:schemeClr val="accent5">
              <a:hueOff val="-4966938"/>
              <a:satOff val="19906"/>
              <a:lumOff val="4314"/>
              <a:alphaOff val="0"/>
            </a:schemeClr>
          </a:effectRef>
          <a:fontRef idx="minor">
            <a:schemeClr val="lt1"/>
          </a:fontRef>
        </p:style>
        <p:txBody>
          <a:bodyPr spcFirstLastPara="0" vert="horz" wrap="square" lIns="0" tIns="68580" rIns="0" bIns="0" numCol="1" spcCol="1270" anchor="t" anchorCtr="0">
            <a:noAutofit/>
          </a:bodyPr>
          <a:lstStyle/>
          <a:p>
            <a:pPr marL="0" marR="0" lvl="0" indent="0" algn="l" defTabSz="889000" rtl="0" eaLnBrk="0" fontAlgn="base" latinLnBrk="0" hangingPunct="0">
              <a:lnSpc>
                <a:spcPct val="90000"/>
              </a:lnSpc>
              <a:spcBef>
                <a:spcPct val="0"/>
              </a:spcBef>
              <a:spcAft>
                <a:spcPct val="3500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Freeform 10">
            <a:extLst>
              <a:ext uri="{FF2B5EF4-FFF2-40B4-BE49-F238E27FC236}">
                <a16:creationId xmlns:a16="http://schemas.microsoft.com/office/drawing/2014/main" id="{BB5B8EB8-0C21-4D68-91BF-F36F4BE14E8E}"/>
              </a:ext>
            </a:extLst>
          </p:cNvPr>
          <p:cNvSpPr/>
          <p:nvPr/>
        </p:nvSpPr>
        <p:spPr>
          <a:xfrm>
            <a:off x="4237587" y="2846231"/>
            <a:ext cx="3051856" cy="1796601"/>
          </a:xfrm>
          <a:custGeom>
            <a:avLst/>
            <a:gdLst>
              <a:gd name="connsiteX0" fmla="*/ 0 w 1985367"/>
              <a:gd name="connsiteY0" fmla="*/ 75608 h 1512168"/>
              <a:gd name="connsiteX1" fmla="*/ 75608 w 1985367"/>
              <a:gd name="connsiteY1" fmla="*/ 0 h 1512168"/>
              <a:gd name="connsiteX2" fmla="*/ 1909759 w 1985367"/>
              <a:gd name="connsiteY2" fmla="*/ 0 h 1512168"/>
              <a:gd name="connsiteX3" fmla="*/ 1985367 w 1985367"/>
              <a:gd name="connsiteY3" fmla="*/ 75608 h 1512168"/>
              <a:gd name="connsiteX4" fmla="*/ 1985367 w 1985367"/>
              <a:gd name="connsiteY4" fmla="*/ 1436560 h 1512168"/>
              <a:gd name="connsiteX5" fmla="*/ 1909759 w 1985367"/>
              <a:gd name="connsiteY5" fmla="*/ 1512168 h 1512168"/>
              <a:gd name="connsiteX6" fmla="*/ 75608 w 1985367"/>
              <a:gd name="connsiteY6" fmla="*/ 1512168 h 1512168"/>
              <a:gd name="connsiteX7" fmla="*/ 0 w 1985367"/>
              <a:gd name="connsiteY7" fmla="*/ 1436560 h 1512168"/>
              <a:gd name="connsiteX8" fmla="*/ 0 w 1985367"/>
              <a:gd name="connsiteY8" fmla="*/ 75608 h 1512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5367" h="1512168">
                <a:moveTo>
                  <a:pt x="1886099" y="0"/>
                </a:moveTo>
                <a:cubicBezTo>
                  <a:pt x="1940922" y="0"/>
                  <a:pt x="1985366" y="25783"/>
                  <a:pt x="1985366" y="57588"/>
                </a:cubicBezTo>
                <a:lnTo>
                  <a:pt x="1985366" y="1454580"/>
                </a:lnTo>
                <a:cubicBezTo>
                  <a:pt x="1985366" y="1486385"/>
                  <a:pt x="1940922" y="1512168"/>
                  <a:pt x="1886099" y="1512168"/>
                </a:cubicBezTo>
                <a:lnTo>
                  <a:pt x="99268" y="1512168"/>
                </a:lnTo>
                <a:cubicBezTo>
                  <a:pt x="44445" y="1512168"/>
                  <a:pt x="1" y="1486385"/>
                  <a:pt x="1" y="1454580"/>
                </a:cubicBezTo>
                <a:lnTo>
                  <a:pt x="1" y="57588"/>
                </a:lnTo>
                <a:cubicBezTo>
                  <a:pt x="1" y="25783"/>
                  <a:pt x="44445" y="0"/>
                  <a:pt x="99268" y="0"/>
                </a:cubicBezTo>
                <a:lnTo>
                  <a:pt x="1886099" y="0"/>
                </a:lnTo>
                <a:close/>
              </a:path>
            </a:pathLst>
          </a:custGeom>
        </p:spPr>
        <p:style>
          <a:lnRef idx="2">
            <a:schemeClr val="lt1">
              <a:hueOff val="0"/>
              <a:satOff val="0"/>
              <a:lumOff val="0"/>
              <a:alphaOff val="0"/>
            </a:schemeClr>
          </a:lnRef>
          <a:fillRef idx="1">
            <a:schemeClr val="accent5">
              <a:hueOff val="-9933876"/>
              <a:satOff val="39811"/>
              <a:lumOff val="8628"/>
              <a:alphaOff val="0"/>
            </a:schemeClr>
          </a:fillRef>
          <a:effectRef idx="0">
            <a:schemeClr val="accent5">
              <a:hueOff val="-9933876"/>
              <a:satOff val="39811"/>
              <a:lumOff val="8628"/>
              <a:alphaOff val="0"/>
            </a:schemeClr>
          </a:effectRef>
          <a:fontRef idx="minor">
            <a:schemeClr val="lt1"/>
          </a:fontRef>
        </p:style>
        <p:txBody>
          <a:bodyPr spcFirstLastPara="0" vert="horz" wrap="square" lIns="272191" tIns="75439" rIns="97791" bIns="1588294" numCol="1" spcCol="1270" anchor="t" anchorCtr="0">
            <a:noAutofit/>
          </a:bodyPr>
          <a:lstStyle/>
          <a:p>
            <a:pPr marL="0" marR="0" lvl="0" indent="0" algn="ctr" defTabSz="606410" rtl="0" eaLnBrk="0" fontAlgn="base" latinLnBrk="0" hangingPunct="0">
              <a:lnSpc>
                <a:spcPct val="100000"/>
              </a:lnSpc>
              <a:spcBef>
                <a:spcPts val="0"/>
              </a:spcBef>
              <a:spcAft>
                <a:spcPct val="0"/>
              </a:spcAft>
              <a:buClr>
                <a:srgbClr val="16818D"/>
              </a:buClr>
              <a:buSzTx/>
              <a:buFontTx/>
              <a:buNone/>
              <a:tabLst/>
              <a:defRPr/>
            </a:pPr>
            <a:r>
              <a:rPr kumimoji="0" lang="en-GB" sz="1800" b="1" i="0" u="sng" strike="noStrike" kern="1200" cap="none" spc="0" normalizeH="0" baseline="0" noProof="0" dirty="0">
                <a:ln>
                  <a:noFill/>
                </a:ln>
                <a:solidFill>
                  <a:srgbClr val="F3FAFF"/>
                </a:solidFill>
                <a:effectLst/>
                <a:uLnTx/>
                <a:uFillTx/>
                <a:latin typeface="Calibri" panose="020F0502020204030204" pitchFamily="34" charset="0"/>
                <a:ea typeface="Calibri" panose="020F0502020204030204" pitchFamily="34" charset="0"/>
                <a:cs typeface="Calibri" panose="020F0502020204030204" pitchFamily="34" charset="0"/>
              </a:rPr>
              <a:t>COURSE 2</a:t>
            </a:r>
            <a:endParaRPr kumimoji="0" lang="en-GB" sz="1800" b="0" i="0" u="sng" strike="noStrike" kern="1200" cap="none" spc="0" normalizeH="0" baseline="0" noProof="0" dirty="0">
              <a:ln>
                <a:noFill/>
              </a:ln>
              <a:solidFill>
                <a:srgbClr val="F3FAFF"/>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606410" rtl="0" eaLnBrk="0" fontAlgn="base" latinLnBrk="0" hangingPunct="0">
              <a:lnSpc>
                <a:spcPct val="100000"/>
              </a:lnSpc>
              <a:spcBef>
                <a:spcPts val="0"/>
              </a:spcBef>
              <a:spcAft>
                <a:spcPct val="0"/>
              </a:spcAft>
              <a:buClr>
                <a:srgbClr val="16818D"/>
              </a:buClr>
              <a:buSzTx/>
              <a:buFontTx/>
              <a:buNone/>
              <a:tabLst/>
              <a:defRPr/>
            </a:pPr>
            <a:r>
              <a:rPr kumimoji="0" lang="en-GB" sz="1800" b="1" i="0" u="none" strike="noStrike" kern="1200" cap="none" spc="0" normalizeH="0" baseline="0" noProof="0" dirty="0">
                <a:ln>
                  <a:noFill/>
                </a:ln>
                <a:solidFill>
                  <a:srgbClr val="F7FCFF"/>
                </a:solidFill>
                <a:effectLst/>
                <a:uLnTx/>
                <a:uFillTx/>
                <a:latin typeface="Calibri" panose="020F0502020204030204" pitchFamily="34" charset="0"/>
                <a:ea typeface="Calibri" panose="020F0502020204030204" pitchFamily="34" charset="0"/>
                <a:cs typeface="Calibri" panose="020F0502020204030204" pitchFamily="34" charset="0"/>
              </a:rPr>
              <a:t>Benefits, Prescription and Application of Exercise and Physical Activity to Special Populations.</a:t>
            </a:r>
            <a:endParaRPr kumimoji="0" lang="en-GB" sz="1800" b="0" i="0" u="none" strike="noStrike" kern="1200" cap="none" spc="0" normalizeH="0" baseline="0" noProof="0" dirty="0">
              <a:ln>
                <a:noFill/>
              </a:ln>
              <a:solidFill>
                <a:srgbClr val="F7FC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 name="Freeform 7">
            <a:extLst>
              <a:ext uri="{FF2B5EF4-FFF2-40B4-BE49-F238E27FC236}">
                <a16:creationId xmlns:a16="http://schemas.microsoft.com/office/drawing/2014/main" id="{FE1830FE-34A8-D346-5C35-CC185F57948A}"/>
              </a:ext>
            </a:extLst>
          </p:cNvPr>
          <p:cNvSpPr/>
          <p:nvPr/>
        </p:nvSpPr>
        <p:spPr>
          <a:xfrm>
            <a:off x="680644" y="2846232"/>
            <a:ext cx="3051856" cy="1796602"/>
          </a:xfrm>
          <a:custGeom>
            <a:avLst/>
            <a:gdLst>
              <a:gd name="connsiteX0" fmla="*/ 0 w 1985367"/>
              <a:gd name="connsiteY0" fmla="*/ 75608 h 1512168"/>
              <a:gd name="connsiteX1" fmla="*/ 75608 w 1985367"/>
              <a:gd name="connsiteY1" fmla="*/ 0 h 1512168"/>
              <a:gd name="connsiteX2" fmla="*/ 1909759 w 1985367"/>
              <a:gd name="connsiteY2" fmla="*/ 0 h 1512168"/>
              <a:gd name="connsiteX3" fmla="*/ 1985367 w 1985367"/>
              <a:gd name="connsiteY3" fmla="*/ 75608 h 1512168"/>
              <a:gd name="connsiteX4" fmla="*/ 1985367 w 1985367"/>
              <a:gd name="connsiteY4" fmla="*/ 1436560 h 1512168"/>
              <a:gd name="connsiteX5" fmla="*/ 1909759 w 1985367"/>
              <a:gd name="connsiteY5" fmla="*/ 1512168 h 1512168"/>
              <a:gd name="connsiteX6" fmla="*/ 75608 w 1985367"/>
              <a:gd name="connsiteY6" fmla="*/ 1512168 h 1512168"/>
              <a:gd name="connsiteX7" fmla="*/ 0 w 1985367"/>
              <a:gd name="connsiteY7" fmla="*/ 1436560 h 1512168"/>
              <a:gd name="connsiteX8" fmla="*/ 0 w 1985367"/>
              <a:gd name="connsiteY8" fmla="*/ 75608 h 1512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5367" h="1512168">
                <a:moveTo>
                  <a:pt x="1886099" y="0"/>
                </a:moveTo>
                <a:cubicBezTo>
                  <a:pt x="1940922" y="0"/>
                  <a:pt x="1985366" y="25783"/>
                  <a:pt x="1985366" y="57588"/>
                </a:cubicBezTo>
                <a:lnTo>
                  <a:pt x="1985366" y="1454580"/>
                </a:lnTo>
                <a:cubicBezTo>
                  <a:pt x="1985366" y="1486385"/>
                  <a:pt x="1940922" y="1512168"/>
                  <a:pt x="1886099" y="1512168"/>
                </a:cubicBezTo>
                <a:lnTo>
                  <a:pt x="99268" y="1512168"/>
                </a:lnTo>
                <a:cubicBezTo>
                  <a:pt x="44445" y="1512168"/>
                  <a:pt x="1" y="1486385"/>
                  <a:pt x="1" y="1454580"/>
                </a:cubicBezTo>
                <a:lnTo>
                  <a:pt x="1" y="57588"/>
                </a:lnTo>
                <a:cubicBezTo>
                  <a:pt x="1" y="25783"/>
                  <a:pt x="44445" y="0"/>
                  <a:pt x="99268" y="0"/>
                </a:cubicBezTo>
                <a:lnTo>
                  <a:pt x="1886099" y="0"/>
                </a:lnTo>
                <a:close/>
              </a:path>
            </a:pathLst>
          </a:custGeom>
        </p:spPr>
        <p:style>
          <a:lnRef idx="2">
            <a:schemeClr val="lt1">
              <a:hueOff val="0"/>
              <a:satOff val="0"/>
              <a:lumOff val="0"/>
              <a:alphaOff val="0"/>
            </a:schemeClr>
          </a:lnRef>
          <a:fillRef idx="1">
            <a:schemeClr val="accent5">
              <a:hueOff val="-4966938"/>
              <a:satOff val="19906"/>
              <a:lumOff val="4314"/>
              <a:alphaOff val="0"/>
            </a:schemeClr>
          </a:fillRef>
          <a:effectRef idx="0">
            <a:schemeClr val="accent5">
              <a:hueOff val="-4966938"/>
              <a:satOff val="19906"/>
              <a:lumOff val="4314"/>
              <a:alphaOff val="0"/>
            </a:schemeClr>
          </a:effectRef>
          <a:fontRef idx="minor">
            <a:schemeClr val="lt1"/>
          </a:fontRef>
        </p:style>
        <p:txBody>
          <a:bodyPr spcFirstLastPara="0" vert="horz" wrap="square" lIns="272191" tIns="75439" rIns="97791" bIns="1588294" numCol="1" spcCol="1270" anchor="t" anchorCtr="0">
            <a:noAutofit/>
          </a:bodyPr>
          <a:lstStyle/>
          <a:p>
            <a:pPr marL="0" marR="0" lvl="0" indent="0" algn="ctr" defTabSz="606410" rtl="0" eaLnBrk="0" fontAlgn="base" latinLnBrk="0" hangingPunct="0">
              <a:lnSpc>
                <a:spcPct val="100000"/>
              </a:lnSpc>
              <a:spcBef>
                <a:spcPct val="20000"/>
              </a:spcBef>
              <a:spcAft>
                <a:spcPct val="0"/>
              </a:spcAft>
              <a:buClr>
                <a:srgbClr val="16818D"/>
              </a:buClr>
              <a:buSzTx/>
              <a:buFontTx/>
              <a:buNone/>
              <a:tabLst/>
              <a:defRPr/>
            </a:pPr>
            <a:r>
              <a:rPr kumimoji="0" lang="en-US" sz="1800" b="1" i="0" u="sng" strike="noStrike" kern="1200" cap="none" spc="0" normalizeH="0" baseline="0" noProof="0" dirty="0">
                <a:ln>
                  <a:noFill/>
                </a:ln>
                <a:solidFill>
                  <a:srgbClr val="FFFF66"/>
                </a:solidFill>
                <a:effectLst/>
                <a:uLnTx/>
                <a:uFillTx/>
                <a:latin typeface="Calibri" panose="020F0502020204030204" pitchFamily="34" charset="0"/>
                <a:ea typeface="Calibri" panose="020F0502020204030204" pitchFamily="34" charset="0"/>
                <a:cs typeface="Calibri" panose="020F0502020204030204" pitchFamily="34" charset="0"/>
              </a:rPr>
              <a:t>COURSE 1</a:t>
            </a:r>
          </a:p>
          <a:p>
            <a:pPr marL="0" marR="0" lvl="0" indent="0" algn="ctr" defTabSz="606410" rtl="0" eaLnBrk="0" fontAlgn="base" latinLnBrk="0" hangingPunct="0">
              <a:lnSpc>
                <a:spcPct val="100000"/>
              </a:lnSpc>
              <a:spcBef>
                <a:spcPct val="20000"/>
              </a:spcBef>
              <a:spcAft>
                <a:spcPct val="0"/>
              </a:spcAft>
              <a:buClr>
                <a:srgbClr val="16818D"/>
              </a:buClr>
              <a:buSzTx/>
              <a:buFontTx/>
              <a:buNone/>
              <a:tabLst/>
              <a:defRPr/>
            </a:pPr>
            <a:r>
              <a:rPr kumimoji="0" lang="en-GB" sz="1800" b="1" i="0" u="none" strike="noStrike" kern="1200" cap="none" spc="0" normalizeH="0" baseline="0" noProof="0" dirty="0">
                <a:ln>
                  <a:noFill/>
                </a:ln>
                <a:solidFill>
                  <a:srgbClr val="FFFF66"/>
                </a:solidFill>
                <a:effectLst/>
                <a:uLnTx/>
                <a:uFillTx/>
                <a:latin typeface="Calibri" panose="020F0502020204030204" pitchFamily="34" charset="0"/>
                <a:ea typeface="Calibri" panose="020F0502020204030204" pitchFamily="34" charset="0"/>
                <a:cs typeface="Calibri" panose="020F0502020204030204" pitchFamily="34" charset="0"/>
              </a:rPr>
              <a:t>Assessment and Clinical Reasoning Underpinning Exercise in Special Populations.</a:t>
            </a:r>
          </a:p>
          <a:p>
            <a:pPr marL="0" marR="0" lvl="0" indent="0" algn="l" defTabSz="606410" rtl="0" eaLnBrk="0" fontAlgn="base" latinLnBrk="0" hangingPunct="0">
              <a:lnSpc>
                <a:spcPct val="100000"/>
              </a:lnSpc>
              <a:spcBef>
                <a:spcPct val="20000"/>
              </a:spcBef>
              <a:spcAft>
                <a:spcPct val="0"/>
              </a:spcAft>
              <a:buClr>
                <a:srgbClr val="16818D"/>
              </a:buClr>
              <a:buSzTx/>
              <a:buFontTx/>
              <a:buNone/>
              <a:tabLst/>
              <a:defRPr/>
            </a:pPr>
            <a:endParaRPr kumimoji="0" lang="en-US" sz="1400" b="1" i="0" u="none" strike="noStrike" kern="1200" cap="none" spc="0" normalizeH="0" baseline="0" noProof="0" dirty="0">
              <a:ln>
                <a:noFill/>
              </a:ln>
              <a:solidFill>
                <a:srgbClr val="FFFF66"/>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5699070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B6BB805-950C-B141-5AEF-412E6FEF9EC0}"/>
              </a:ext>
            </a:extLst>
          </p:cNvPr>
          <p:cNvSpPr>
            <a:spLocks noGrp="1"/>
          </p:cNvSpPr>
          <p:nvPr>
            <p:ph type="body" sz="quarter" idx="10"/>
          </p:nvPr>
        </p:nvSpPr>
        <p:spPr>
          <a:xfrm>
            <a:off x="899594" y="665143"/>
            <a:ext cx="6668019" cy="488301"/>
          </a:xfrm>
        </p:spPr>
        <p:txBody>
          <a:bodyPr/>
          <a:lstStyle/>
          <a:p>
            <a:r>
              <a:rPr lang="en-GB" dirty="0"/>
              <a:t>Initial Consultation</a:t>
            </a:r>
            <a:endParaRPr lang="en-US" dirty="0"/>
          </a:p>
        </p:txBody>
      </p:sp>
      <p:sp>
        <p:nvSpPr>
          <p:cNvPr id="3" name="Text Placeholder 2">
            <a:extLst>
              <a:ext uri="{FF2B5EF4-FFF2-40B4-BE49-F238E27FC236}">
                <a16:creationId xmlns:a16="http://schemas.microsoft.com/office/drawing/2014/main" id="{8F28593B-F64F-255E-F3CB-40CFB4B19DB9}"/>
              </a:ext>
            </a:extLst>
          </p:cNvPr>
          <p:cNvSpPr>
            <a:spLocks noGrp="1"/>
          </p:cNvSpPr>
          <p:nvPr>
            <p:ph type="body" sz="quarter" idx="11"/>
          </p:nvPr>
        </p:nvSpPr>
        <p:spPr>
          <a:xfrm>
            <a:off x="827583" y="1347635"/>
            <a:ext cx="6740030" cy="2893061"/>
          </a:xfrm>
        </p:spPr>
        <p:txBody>
          <a:bodyPr/>
          <a:lstStyle/>
          <a:p>
            <a:endParaRPr lang="en-US" dirty="0"/>
          </a:p>
        </p:txBody>
      </p:sp>
      <p:pic>
        <p:nvPicPr>
          <p:cNvPr id="4" name="Picture 3">
            <a:extLst>
              <a:ext uri="{FF2B5EF4-FFF2-40B4-BE49-F238E27FC236}">
                <a16:creationId xmlns:a16="http://schemas.microsoft.com/office/drawing/2014/main" id="{A50573C6-61BC-36D5-C494-4426FE0BB0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3" y="1281168"/>
            <a:ext cx="6740030" cy="2959528"/>
          </a:xfrm>
          <a:prstGeom prst="rect">
            <a:avLst/>
          </a:prstGeom>
        </p:spPr>
      </p:pic>
      <p:sp>
        <p:nvSpPr>
          <p:cNvPr id="5" name="TextBox 4">
            <a:extLst>
              <a:ext uri="{FF2B5EF4-FFF2-40B4-BE49-F238E27FC236}">
                <a16:creationId xmlns:a16="http://schemas.microsoft.com/office/drawing/2014/main" id="{D41904E9-DC6F-C1DD-16E0-65E3D3C83D2D}"/>
              </a:ext>
            </a:extLst>
          </p:cNvPr>
          <p:cNvSpPr txBox="1"/>
          <p:nvPr/>
        </p:nvSpPr>
        <p:spPr>
          <a:xfrm>
            <a:off x="3657600" y="1656521"/>
            <a:ext cx="1828800" cy="1828800"/>
          </a:xfrm>
          <a:prstGeom prst="rect">
            <a:avLst/>
          </a:prstGeom>
          <a:noFill/>
        </p:spPr>
        <p:txBody>
          <a:bodyPr wrap="square" rtlCol="0">
            <a:spAutoFit/>
          </a:bodyPr>
          <a:lstStyle/>
          <a:p>
            <a:pPr algn="l"/>
            <a:endParaRPr lang="en-US" dirty="0"/>
          </a:p>
        </p:txBody>
      </p:sp>
      <p:sp>
        <p:nvSpPr>
          <p:cNvPr id="7" name="TextBox 6">
            <a:extLst>
              <a:ext uri="{FF2B5EF4-FFF2-40B4-BE49-F238E27FC236}">
                <a16:creationId xmlns:a16="http://schemas.microsoft.com/office/drawing/2014/main" id="{B08B653E-EB89-AD4F-24E3-C68138B91CF2}"/>
              </a:ext>
            </a:extLst>
          </p:cNvPr>
          <p:cNvSpPr txBox="1"/>
          <p:nvPr/>
        </p:nvSpPr>
        <p:spPr>
          <a:xfrm>
            <a:off x="914400" y="4368419"/>
            <a:ext cx="4572000" cy="369332"/>
          </a:xfrm>
          <a:prstGeom prst="rect">
            <a:avLst/>
          </a:prstGeom>
          <a:noFill/>
        </p:spPr>
        <p:txBody>
          <a:bodyPr wrap="square">
            <a:spAutoFit/>
          </a:bodyPr>
          <a:lstStyle/>
          <a:p>
            <a:r>
              <a:rPr lang="en-IN" dirty="0"/>
              <a:t> </a:t>
            </a:r>
            <a:r>
              <a:rPr lang="en-IN" dirty="0" err="1"/>
              <a:t>Swainson</a:t>
            </a:r>
            <a:r>
              <a:rPr lang="en-IN" dirty="0"/>
              <a:t>, </a:t>
            </a:r>
            <a:r>
              <a:rPr lang="en-GB" dirty="0"/>
              <a:t>Rutherford,</a:t>
            </a:r>
            <a:r>
              <a:rPr lang="en-IN" dirty="0"/>
              <a:t> Buckley</a:t>
            </a:r>
            <a:r>
              <a:rPr lang="en-GB" dirty="0"/>
              <a:t> (2022).</a:t>
            </a:r>
            <a:endParaRPr lang="en-US" dirty="0"/>
          </a:p>
        </p:txBody>
      </p:sp>
    </p:spTree>
    <p:extLst>
      <p:ext uri="{BB962C8B-B14F-4D97-AF65-F5344CB8AC3E}">
        <p14:creationId xmlns:p14="http://schemas.microsoft.com/office/powerpoint/2010/main" val="527828841"/>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ADAF59-C009-2198-3C0B-027EE342B46D}"/>
              </a:ext>
            </a:extLst>
          </p:cNvPr>
          <p:cNvSpPr>
            <a:spLocks noGrp="1"/>
          </p:cNvSpPr>
          <p:nvPr>
            <p:ph type="body" sz="quarter" idx="11"/>
          </p:nvPr>
        </p:nvSpPr>
        <p:spPr>
          <a:xfrm>
            <a:off x="245889" y="965200"/>
            <a:ext cx="6365367" cy="3425371"/>
          </a:xfrm>
        </p:spPr>
        <p:txBody>
          <a:bodyPr/>
          <a:lstStyle/>
          <a:p>
            <a:pPr marL="285750" indent="-285750">
              <a:lnSpc>
                <a:spcPts val="2500"/>
              </a:lnSpc>
              <a:buFont typeface="Arial" panose="020B0604020202020204" pitchFamily="34" charset="0"/>
              <a:buChar char="•"/>
            </a:pPr>
            <a:r>
              <a:rPr lang="en-GB" sz="1800" dirty="0"/>
              <a:t>Take a medical history, including medications  and</a:t>
            </a:r>
            <a:r>
              <a:rPr lang="en-IN" sz="1800" dirty="0"/>
              <a:t> any medical/musculoskeletal issues</a:t>
            </a:r>
            <a:r>
              <a:rPr lang="en-GB" sz="1800" dirty="0"/>
              <a:t>.</a:t>
            </a:r>
            <a:r>
              <a:rPr lang="en-IN" sz="1800" dirty="0"/>
              <a:t> </a:t>
            </a:r>
            <a:endParaRPr lang="en-GB" sz="1800" dirty="0"/>
          </a:p>
          <a:p>
            <a:pPr marL="285750" indent="-285750">
              <a:lnSpc>
                <a:spcPts val="2500"/>
              </a:lnSpc>
              <a:buFont typeface="Arial" panose="020B0604020202020204" pitchFamily="34" charset="0"/>
              <a:buChar char="•"/>
            </a:pPr>
            <a:r>
              <a:rPr lang="en-GB" sz="1800" dirty="0"/>
              <a:t>Before r</a:t>
            </a:r>
            <a:r>
              <a:rPr lang="en-IN" sz="1800" dirty="0" err="1"/>
              <a:t>eferr</a:t>
            </a:r>
            <a:r>
              <a:rPr lang="en-GB" sz="1800" dirty="0"/>
              <a:t>al </a:t>
            </a:r>
            <a:r>
              <a:rPr lang="en-IN" sz="1800" dirty="0"/>
              <a:t>into an ERS, </a:t>
            </a:r>
            <a:r>
              <a:rPr lang="en-GB" sz="1800" dirty="0"/>
              <a:t>persons </a:t>
            </a:r>
            <a:r>
              <a:rPr lang="en-IN" sz="1800" dirty="0"/>
              <a:t>should have been  examined by the</a:t>
            </a:r>
            <a:r>
              <a:rPr lang="en-GB" sz="1800" dirty="0"/>
              <a:t> referring medical/HCP and </a:t>
            </a:r>
            <a:r>
              <a:rPr lang="en-IN" sz="1800" dirty="0"/>
              <a:t>deemed safe to exercise. Normally a referral form is also sent.</a:t>
            </a:r>
            <a:endParaRPr lang="en-GB" sz="1800" dirty="0"/>
          </a:p>
          <a:p>
            <a:pPr marL="285750" indent="-285750">
              <a:lnSpc>
                <a:spcPts val="2500"/>
              </a:lnSpc>
              <a:buFont typeface="Arial" panose="020B0604020202020204" pitchFamily="34" charset="0"/>
              <a:buChar char="•"/>
            </a:pPr>
            <a:r>
              <a:rPr lang="en-GB" sz="1800" dirty="0"/>
              <a:t>It</a:t>
            </a:r>
            <a:r>
              <a:rPr lang="en-IN" sz="1800" dirty="0"/>
              <a:t> is essential </a:t>
            </a:r>
            <a:r>
              <a:rPr lang="en-GB" sz="1800" dirty="0"/>
              <a:t> to </a:t>
            </a:r>
            <a:r>
              <a:rPr lang="en-GB" sz="1800" dirty="0" err="1"/>
              <a:t>ch</a:t>
            </a:r>
            <a:r>
              <a:rPr lang="en-IN" sz="1800" dirty="0" err="1"/>
              <a:t>eck</a:t>
            </a:r>
            <a:r>
              <a:rPr lang="en-IN" sz="1800" dirty="0"/>
              <a:t> for any absolute contraindications to exercise and in the event of one </a:t>
            </a:r>
            <a:r>
              <a:rPr lang="en-GB" sz="1800" dirty="0"/>
              <a:t>or </a:t>
            </a:r>
            <a:r>
              <a:rPr lang="en-IN" sz="1800" dirty="0"/>
              <a:t>more of these being present, the referred person must be referred back to their referring </a:t>
            </a:r>
            <a:r>
              <a:rPr lang="en-GB" sz="1800" dirty="0"/>
              <a:t>HCP.</a:t>
            </a:r>
          </a:p>
          <a:p>
            <a:pPr marL="285750" indent="-285750">
              <a:lnSpc>
                <a:spcPts val="2500"/>
              </a:lnSpc>
              <a:buFont typeface="Arial" panose="020B0604020202020204" pitchFamily="34" charset="0"/>
              <a:buChar char="•"/>
            </a:pPr>
            <a:r>
              <a:rPr lang="en-GB" sz="1800" dirty="0"/>
              <a:t>T</a:t>
            </a:r>
            <a:r>
              <a:rPr lang="en-IN" sz="1800" dirty="0"/>
              <a:t>he standard screening questionnaire used </a:t>
            </a:r>
            <a:r>
              <a:rPr lang="en-GB" sz="1800" dirty="0" err="1"/>
              <a:t>i</a:t>
            </a:r>
            <a:r>
              <a:rPr lang="en-IN" sz="1800" dirty="0"/>
              <a:t>n practice is the Physical Activity Readiness Questionnaire (PAR-Q)</a:t>
            </a:r>
            <a:r>
              <a:rPr lang="en-GB" sz="1800" dirty="0"/>
              <a:t>.</a:t>
            </a:r>
            <a:endParaRPr lang="en-US" sz="1800" dirty="0"/>
          </a:p>
        </p:txBody>
      </p:sp>
      <p:pic>
        <p:nvPicPr>
          <p:cNvPr id="5" name="Picture 4">
            <a:extLst>
              <a:ext uri="{FF2B5EF4-FFF2-40B4-BE49-F238E27FC236}">
                <a16:creationId xmlns:a16="http://schemas.microsoft.com/office/drawing/2014/main" id="{0D03BCE4-9AC0-69B5-90F1-8E1C2DE241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02399" y="1560469"/>
            <a:ext cx="2267659" cy="2227270"/>
          </a:xfrm>
          <a:prstGeom prst="rect">
            <a:avLst/>
          </a:prstGeom>
        </p:spPr>
      </p:pic>
      <p:sp>
        <p:nvSpPr>
          <p:cNvPr id="7" name="Text Placeholder 4">
            <a:extLst>
              <a:ext uri="{FF2B5EF4-FFF2-40B4-BE49-F238E27FC236}">
                <a16:creationId xmlns:a16="http://schemas.microsoft.com/office/drawing/2014/main" id="{4F42A60E-2FEF-1215-67D4-8E81F7376968}"/>
              </a:ext>
            </a:extLst>
          </p:cNvPr>
          <p:cNvSpPr txBox="1">
            <a:spLocks noGrp="1"/>
          </p:cNvSpPr>
          <p:nvPr>
            <p:ph type="body" sz="quarter" idx="10"/>
          </p:nvPr>
        </p:nvSpPr>
        <p:spPr>
          <a:xfrm>
            <a:off x="187832" y="271032"/>
            <a:ext cx="8200161" cy="468706"/>
          </a:xfrm>
          <a:prstGeom prst="rect">
            <a:avLst/>
          </a:prstGeom>
        </p:spPr>
        <p:txBody>
          <a:bodyPr lIns="0" tIns="0" rIns="0" bIns="0"/>
          <a:lstStyle>
            <a:lvl1pPr marL="0" indent="0" algn="l" defTabSz="606410" rtl="0" eaLnBrk="0" fontAlgn="base" hangingPunct="0">
              <a:lnSpc>
                <a:spcPts val="4200"/>
              </a:lnSpc>
              <a:spcBef>
                <a:spcPct val="20000"/>
              </a:spcBef>
              <a:spcAft>
                <a:spcPct val="0"/>
              </a:spcAft>
              <a:buFontTx/>
              <a:buNone/>
              <a:defRPr sz="4000" b="0" i="0" kern="1200">
                <a:solidFill>
                  <a:srgbClr val="16818D"/>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r>
              <a:rPr lang="en-GB" sz="2400" b="1" dirty="0"/>
              <a:t>Pre Exercise Screening &amp; Risk Stratification </a:t>
            </a:r>
            <a:r>
              <a:rPr lang="en-GB" sz="1600" b="1" dirty="0"/>
              <a:t>(related to ACSM, guidelines)</a:t>
            </a:r>
          </a:p>
        </p:txBody>
      </p:sp>
    </p:spTree>
    <p:extLst>
      <p:ext uri="{BB962C8B-B14F-4D97-AF65-F5344CB8AC3E}">
        <p14:creationId xmlns:p14="http://schemas.microsoft.com/office/powerpoint/2010/main" val="210532640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96738882"/>
              </p:ext>
            </p:extLst>
          </p:nvPr>
        </p:nvGraphicFramePr>
        <p:xfrm>
          <a:off x="747486" y="514352"/>
          <a:ext cx="7634513" cy="4242971"/>
        </p:xfrm>
        <a:graphic>
          <a:graphicData uri="http://schemas.openxmlformats.org/drawingml/2006/table">
            <a:tbl>
              <a:tblPr firstRow="1" firstCol="1" bandRow="1">
                <a:tableStyleId>{5C22544A-7EE6-4342-B048-85BDC9FD1C3A}</a:tableStyleId>
              </a:tblPr>
              <a:tblGrid>
                <a:gridCol w="2630079">
                  <a:extLst>
                    <a:ext uri="{9D8B030D-6E8A-4147-A177-3AD203B41FA5}">
                      <a16:colId xmlns:a16="http://schemas.microsoft.com/office/drawing/2014/main" val="20000"/>
                    </a:ext>
                  </a:extLst>
                </a:gridCol>
                <a:gridCol w="5004434">
                  <a:extLst>
                    <a:ext uri="{9D8B030D-6E8A-4147-A177-3AD203B41FA5}">
                      <a16:colId xmlns:a16="http://schemas.microsoft.com/office/drawing/2014/main" val="20001"/>
                    </a:ext>
                  </a:extLst>
                </a:gridCol>
              </a:tblGrid>
              <a:tr h="262890">
                <a:tc>
                  <a:txBody>
                    <a:bodyPr/>
                    <a:lstStyle/>
                    <a:p>
                      <a:pPr>
                        <a:lnSpc>
                          <a:spcPct val="115000"/>
                        </a:lnSpc>
                        <a:spcAft>
                          <a:spcPts val="0"/>
                        </a:spcAft>
                      </a:pPr>
                      <a:r>
                        <a:rPr lang="en-GB" sz="1500">
                          <a:effectLst/>
                        </a:rPr>
                        <a:t>Medical condition</a:t>
                      </a:r>
                      <a:endParaRPr lang="en-GB" sz="15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1500">
                          <a:effectLst/>
                        </a:rPr>
                        <a:t>Specific Inclusion Criterion</a:t>
                      </a:r>
                      <a:endParaRPr lang="en-GB" sz="15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00"/>
                  </a:ext>
                </a:extLst>
              </a:tr>
              <a:tr h="221930">
                <a:tc>
                  <a:txBody>
                    <a:bodyPr/>
                    <a:lstStyle/>
                    <a:p>
                      <a:pPr>
                        <a:lnSpc>
                          <a:spcPct val="115000"/>
                        </a:lnSpc>
                        <a:spcAft>
                          <a:spcPts val="0"/>
                        </a:spcAft>
                      </a:pPr>
                      <a:r>
                        <a:rPr lang="en-GB" sz="900">
                          <a:effectLst/>
                        </a:rPr>
                        <a:t>Obesity</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With or without additional CHD risk factors</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01"/>
                  </a:ext>
                </a:extLst>
              </a:tr>
              <a:tr h="221930">
                <a:tc>
                  <a:txBody>
                    <a:bodyPr/>
                    <a:lstStyle/>
                    <a:p>
                      <a:pPr>
                        <a:lnSpc>
                          <a:spcPct val="115000"/>
                        </a:lnSpc>
                        <a:spcAft>
                          <a:spcPts val="0"/>
                        </a:spcAft>
                      </a:pPr>
                      <a:r>
                        <a:rPr lang="en-GB" sz="900">
                          <a:effectLst/>
                        </a:rPr>
                        <a:t>Osteoarthritis (OA)</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Mild to moderate severity (as determined by the referring medical/health professional</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02"/>
                  </a:ext>
                </a:extLst>
              </a:tr>
              <a:tr h="157734">
                <a:tc>
                  <a:txBody>
                    <a:bodyPr/>
                    <a:lstStyle/>
                    <a:p>
                      <a:pPr>
                        <a:lnSpc>
                          <a:spcPct val="115000"/>
                        </a:lnSpc>
                        <a:spcAft>
                          <a:spcPts val="0"/>
                        </a:spcAft>
                      </a:pPr>
                      <a:r>
                        <a:rPr lang="en-GB" sz="900">
                          <a:effectLst/>
                        </a:rPr>
                        <a:t>Joint replacement</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At least 3 month post op</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03"/>
                  </a:ext>
                </a:extLst>
              </a:tr>
              <a:tr h="333074">
                <a:tc>
                  <a:txBody>
                    <a:bodyPr/>
                    <a:lstStyle/>
                    <a:p>
                      <a:pPr>
                        <a:lnSpc>
                          <a:spcPct val="115000"/>
                        </a:lnSpc>
                        <a:spcAft>
                          <a:spcPts val="0"/>
                        </a:spcAft>
                      </a:pPr>
                      <a:r>
                        <a:rPr lang="en-GB" sz="900">
                          <a:effectLst/>
                        </a:rPr>
                        <a:t>Osteoporosis</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Diagnosed, treated and stable. Pre or post-fracture dependent on the discretion of the referring medical/ health professional</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04"/>
                  </a:ext>
                </a:extLst>
              </a:tr>
              <a:tr h="221930">
                <a:tc>
                  <a:txBody>
                    <a:bodyPr/>
                    <a:lstStyle/>
                    <a:p>
                      <a:pPr>
                        <a:lnSpc>
                          <a:spcPct val="115000"/>
                        </a:lnSpc>
                        <a:spcAft>
                          <a:spcPts val="0"/>
                        </a:spcAft>
                      </a:pPr>
                      <a:r>
                        <a:rPr lang="en-GB" sz="900">
                          <a:effectLst/>
                        </a:rPr>
                        <a:t>Simple mechanical Back Pain</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In the absence of red flags</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05"/>
                  </a:ext>
                </a:extLst>
              </a:tr>
              <a:tr h="221930">
                <a:tc>
                  <a:txBody>
                    <a:bodyPr/>
                    <a:lstStyle/>
                    <a:p>
                      <a:pPr>
                        <a:lnSpc>
                          <a:spcPct val="115000"/>
                        </a:lnSpc>
                        <a:spcAft>
                          <a:spcPts val="0"/>
                        </a:spcAft>
                      </a:pPr>
                      <a:r>
                        <a:rPr lang="en-GB" sz="900">
                          <a:effectLst/>
                        </a:rPr>
                        <a:t>Asthma</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Stable and controlled. The client must bring and keep their reliever with them</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06"/>
                  </a:ext>
                </a:extLst>
              </a:tr>
              <a:tr h="443862">
                <a:tc>
                  <a:txBody>
                    <a:bodyPr/>
                    <a:lstStyle/>
                    <a:p>
                      <a:pPr>
                        <a:lnSpc>
                          <a:spcPct val="115000"/>
                        </a:lnSpc>
                        <a:spcAft>
                          <a:spcPts val="0"/>
                        </a:spcAft>
                      </a:pPr>
                      <a:r>
                        <a:rPr lang="en-GB" sz="900">
                          <a:effectLst/>
                        </a:rPr>
                        <a:t>COPD</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Mild to moderate severity; at the discression of the referring medical professional, preferably as part of a structured clinical intervention</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07"/>
                  </a:ext>
                </a:extLst>
              </a:tr>
              <a:tr h="221930">
                <a:tc>
                  <a:txBody>
                    <a:bodyPr/>
                    <a:lstStyle/>
                    <a:p>
                      <a:pPr>
                        <a:lnSpc>
                          <a:spcPct val="115000"/>
                        </a:lnSpc>
                        <a:spcAft>
                          <a:spcPts val="0"/>
                        </a:spcAft>
                      </a:pPr>
                      <a:r>
                        <a:rPr lang="en-GB" sz="900">
                          <a:effectLst/>
                        </a:rPr>
                        <a:t>Stress</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GP’s provision as to the patients suitability for referral</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08"/>
                  </a:ext>
                </a:extLst>
              </a:tr>
              <a:tr h="221930">
                <a:tc>
                  <a:txBody>
                    <a:bodyPr/>
                    <a:lstStyle/>
                    <a:p>
                      <a:pPr>
                        <a:lnSpc>
                          <a:spcPct val="115000"/>
                        </a:lnSpc>
                        <a:spcAft>
                          <a:spcPts val="0"/>
                        </a:spcAft>
                      </a:pPr>
                      <a:r>
                        <a:rPr lang="en-GB" sz="900" dirty="0">
                          <a:effectLst/>
                        </a:rPr>
                        <a:t>Anxiety</a:t>
                      </a:r>
                      <a:endParaRPr lang="en-GB" sz="900" dirty="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Mild to moderate severity (HAD score between 8-14)</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09"/>
                  </a:ext>
                </a:extLst>
              </a:tr>
              <a:tr h="157734">
                <a:tc>
                  <a:txBody>
                    <a:bodyPr/>
                    <a:lstStyle/>
                    <a:p>
                      <a:pPr>
                        <a:lnSpc>
                          <a:spcPct val="115000"/>
                        </a:lnSpc>
                        <a:spcAft>
                          <a:spcPts val="0"/>
                        </a:spcAft>
                      </a:pPr>
                      <a:r>
                        <a:rPr lang="en-GB" sz="900">
                          <a:effectLst/>
                        </a:rPr>
                        <a:t>Depression</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Mild to moderate</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10"/>
                  </a:ext>
                </a:extLst>
              </a:tr>
              <a:tr h="333074">
                <a:tc>
                  <a:txBody>
                    <a:bodyPr/>
                    <a:lstStyle/>
                    <a:p>
                      <a:pPr>
                        <a:lnSpc>
                          <a:spcPct val="115000"/>
                        </a:lnSpc>
                        <a:spcAft>
                          <a:spcPts val="0"/>
                        </a:spcAft>
                      </a:pPr>
                      <a:r>
                        <a:rPr lang="en-GB" sz="900">
                          <a:effectLst/>
                        </a:rPr>
                        <a:t>Diabetes Mellitus</a:t>
                      </a:r>
                    </a:p>
                    <a:p>
                      <a:pPr>
                        <a:lnSpc>
                          <a:spcPct val="115000"/>
                        </a:lnSpc>
                        <a:spcAft>
                          <a:spcPts val="0"/>
                        </a:spcAft>
                      </a:pPr>
                      <a:r>
                        <a:rPr lang="en-GB" sz="900">
                          <a:effectLst/>
                        </a:rPr>
                        <a:t>Type 1</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Stable and controlled: GP or referring clinician to advise on modification of insulin prior to exercise or physical activity</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11"/>
                  </a:ext>
                </a:extLst>
              </a:tr>
              <a:tr h="446266">
                <a:tc>
                  <a:txBody>
                    <a:bodyPr/>
                    <a:lstStyle/>
                    <a:p>
                      <a:pPr>
                        <a:lnSpc>
                          <a:spcPct val="115000"/>
                        </a:lnSpc>
                        <a:spcAft>
                          <a:spcPts val="0"/>
                        </a:spcAft>
                      </a:pPr>
                      <a:r>
                        <a:rPr lang="en-GB" sz="900">
                          <a:effectLst/>
                        </a:rPr>
                        <a:t>Diabetes Mellitus</a:t>
                      </a:r>
                    </a:p>
                    <a:p>
                      <a:pPr>
                        <a:lnSpc>
                          <a:spcPct val="115000"/>
                        </a:lnSpc>
                        <a:spcAft>
                          <a:spcPts val="0"/>
                        </a:spcAft>
                      </a:pPr>
                      <a:r>
                        <a:rPr lang="en-GB" sz="900">
                          <a:effectLst/>
                        </a:rPr>
                        <a:t>Type 2</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Diet controlled or orally medicated. GP or referring clinician to advise on modification of insulin prior to exercise or physical activity</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12"/>
                  </a:ext>
                </a:extLst>
              </a:tr>
              <a:tr h="221930">
                <a:tc>
                  <a:txBody>
                    <a:bodyPr/>
                    <a:lstStyle/>
                    <a:p>
                      <a:pPr>
                        <a:lnSpc>
                          <a:spcPct val="115000"/>
                        </a:lnSpc>
                        <a:spcAft>
                          <a:spcPts val="0"/>
                        </a:spcAft>
                      </a:pPr>
                      <a:r>
                        <a:rPr lang="en-GB" sz="900">
                          <a:effectLst/>
                        </a:rPr>
                        <a:t>Hypercholesterolemia</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Diagnosed and stable</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13"/>
                  </a:ext>
                </a:extLst>
              </a:tr>
              <a:tr h="221930">
                <a:tc>
                  <a:txBody>
                    <a:bodyPr/>
                    <a:lstStyle/>
                    <a:p>
                      <a:pPr>
                        <a:lnSpc>
                          <a:spcPct val="115000"/>
                        </a:lnSpc>
                        <a:spcAft>
                          <a:spcPts val="0"/>
                        </a:spcAft>
                      </a:pPr>
                      <a:r>
                        <a:rPr lang="en-GB" sz="900">
                          <a:effectLst/>
                        </a:rPr>
                        <a:t>Hypertension</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a:effectLst/>
                        </a:rPr>
                        <a:t>Diagnosed and stable (&lt;180/100 mmHg prior to referral: 2014)</a:t>
                      </a:r>
                      <a:endParaRPr lang="en-GB" sz="90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14"/>
                  </a:ext>
                </a:extLst>
              </a:tr>
              <a:tr h="332897">
                <a:tc>
                  <a:txBody>
                    <a:bodyPr/>
                    <a:lstStyle/>
                    <a:p>
                      <a:pPr>
                        <a:lnSpc>
                          <a:spcPct val="115000"/>
                        </a:lnSpc>
                        <a:spcAft>
                          <a:spcPts val="0"/>
                        </a:spcAft>
                      </a:pPr>
                      <a:r>
                        <a:rPr lang="en-GB" sz="900" dirty="0">
                          <a:effectLst/>
                        </a:rPr>
                        <a:t>CHD/Angina pectoris</a:t>
                      </a:r>
                      <a:endParaRPr lang="en-GB" sz="900" dirty="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tc>
                  <a:txBody>
                    <a:bodyPr/>
                    <a:lstStyle/>
                    <a:p>
                      <a:pPr>
                        <a:lnSpc>
                          <a:spcPct val="115000"/>
                        </a:lnSpc>
                        <a:spcAft>
                          <a:spcPts val="0"/>
                        </a:spcAft>
                      </a:pPr>
                      <a:r>
                        <a:rPr lang="en-GB" sz="900" dirty="0">
                          <a:effectLst/>
                        </a:rPr>
                        <a:t>Provision for relief medication must be addressed</a:t>
                      </a:r>
                      <a:endParaRPr lang="en-GB" sz="900" dirty="0">
                        <a:effectLst/>
                        <a:latin typeface="Palatino Linotype" panose="02040502050505030304" pitchFamily="18" charset="0"/>
                        <a:ea typeface="Palatino Linotype" panose="02040502050505030304" pitchFamily="18" charset="0"/>
                        <a:cs typeface="Times New Roman" panose="02020603050405020304" pitchFamily="18" charset="0"/>
                      </a:endParaRPr>
                    </a:p>
                  </a:txBody>
                  <a:tcPr marL="25211" marR="25211" marT="0" marB="0"/>
                </a:tc>
                <a:extLst>
                  <a:ext uri="{0D108BD9-81ED-4DB2-BD59-A6C34878D82A}">
                    <a16:rowId xmlns:a16="http://schemas.microsoft.com/office/drawing/2014/main" val="10015"/>
                  </a:ext>
                </a:extLst>
              </a:tr>
            </a:tbl>
          </a:graphicData>
        </a:graphic>
      </p:graphicFrame>
      <p:sp>
        <p:nvSpPr>
          <p:cNvPr id="8" name="TextBox 7">
            <a:extLst>
              <a:ext uri="{FF2B5EF4-FFF2-40B4-BE49-F238E27FC236}">
                <a16:creationId xmlns:a16="http://schemas.microsoft.com/office/drawing/2014/main" id="{715974F7-AC89-C199-8872-54D7B57B365E}"/>
              </a:ext>
            </a:extLst>
          </p:cNvPr>
          <p:cNvSpPr txBox="1"/>
          <p:nvPr/>
        </p:nvSpPr>
        <p:spPr>
          <a:xfrm>
            <a:off x="1827443" y="0"/>
            <a:ext cx="4788490" cy="369332"/>
          </a:xfrm>
          <a:prstGeom prst="rect">
            <a:avLst/>
          </a:prstGeom>
          <a:noFill/>
        </p:spPr>
        <p:txBody>
          <a:bodyPr wrap="none" rtlCol="0">
            <a:spAutoFit/>
          </a:bodyPr>
          <a:lstStyle/>
          <a:p>
            <a:r>
              <a:rPr lang="en-GB" b="1" dirty="0">
                <a:solidFill>
                  <a:srgbClr val="0070C0"/>
                </a:solidFill>
              </a:rPr>
              <a:t>Medical Conditions and Inclusion Criteria </a:t>
            </a:r>
          </a:p>
        </p:txBody>
      </p:sp>
    </p:spTree>
    <p:extLst>
      <p:ext uri="{BB962C8B-B14F-4D97-AF65-F5344CB8AC3E}">
        <p14:creationId xmlns:p14="http://schemas.microsoft.com/office/powerpoint/2010/main" val="3213541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086FF8F-78BA-DA5F-D5B8-29314F195BD0}"/>
              </a:ext>
            </a:extLst>
          </p:cNvPr>
          <p:cNvGraphicFramePr>
            <a:graphicFrameLocks noGrp="1"/>
          </p:cNvGraphicFramePr>
          <p:nvPr>
            <p:extLst>
              <p:ext uri="{D42A27DB-BD31-4B8C-83A1-F6EECF244321}">
                <p14:modId xmlns:p14="http://schemas.microsoft.com/office/powerpoint/2010/main" val="3864563624"/>
              </p:ext>
            </p:extLst>
          </p:nvPr>
        </p:nvGraphicFramePr>
        <p:xfrm>
          <a:off x="486229" y="290285"/>
          <a:ext cx="7801428" cy="4045429"/>
        </p:xfrm>
        <a:graphic>
          <a:graphicData uri="http://schemas.openxmlformats.org/drawingml/2006/table">
            <a:tbl>
              <a:tblPr firstRow="1" bandRow="1">
                <a:tableStyleId>{5C22544A-7EE6-4342-B048-85BDC9FD1C3A}</a:tableStyleId>
              </a:tblPr>
              <a:tblGrid>
                <a:gridCol w="3900714">
                  <a:extLst>
                    <a:ext uri="{9D8B030D-6E8A-4147-A177-3AD203B41FA5}">
                      <a16:colId xmlns:a16="http://schemas.microsoft.com/office/drawing/2014/main" val="3313242088"/>
                    </a:ext>
                  </a:extLst>
                </a:gridCol>
                <a:gridCol w="3900714">
                  <a:extLst>
                    <a:ext uri="{9D8B030D-6E8A-4147-A177-3AD203B41FA5}">
                      <a16:colId xmlns:a16="http://schemas.microsoft.com/office/drawing/2014/main" val="1649499043"/>
                    </a:ext>
                  </a:extLst>
                </a:gridCol>
              </a:tblGrid>
              <a:tr h="330297">
                <a:tc>
                  <a:txBody>
                    <a:bodyPr/>
                    <a:lstStyle/>
                    <a:p>
                      <a:r>
                        <a:rPr lang="en-GB" sz="1600" dirty="0"/>
                        <a:t>Exclusion criteria</a:t>
                      </a:r>
                    </a:p>
                  </a:txBody>
                  <a:tcPr marL="76261" marR="76261" marT="38120" marB="38120"/>
                </a:tc>
                <a:tc>
                  <a:txBody>
                    <a:bodyPr/>
                    <a:lstStyle/>
                    <a:p>
                      <a:r>
                        <a:rPr lang="en-GB" sz="1600"/>
                        <a:t>Red Flags</a:t>
                      </a:r>
                    </a:p>
                  </a:txBody>
                  <a:tcPr marL="76261" marR="76261" marT="38120" marB="38120"/>
                </a:tc>
                <a:extLst>
                  <a:ext uri="{0D108BD9-81ED-4DB2-BD59-A6C34878D82A}">
                    <a16:rowId xmlns:a16="http://schemas.microsoft.com/office/drawing/2014/main" val="610457735"/>
                  </a:ext>
                </a:extLst>
              </a:tr>
              <a:tr h="319036">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dirty="0">
                          <a:effectLst/>
                          <a:latin typeface="+mj-lt"/>
                          <a:ea typeface="Palatino Linotype" panose="02040502050505030304" pitchFamily="18" charset="0"/>
                          <a:cs typeface="Times New Roman" panose="02020603050405020304" pitchFamily="18" charset="0"/>
                        </a:rPr>
                        <a:t>Any unstable medical condition</a:t>
                      </a:r>
                      <a:endParaRPr lang="en-GB" sz="1600" dirty="0"/>
                    </a:p>
                  </a:txBody>
                  <a:tcPr marL="76261" marR="76261" marT="38120" marB="38120"/>
                </a:tc>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b="0">
                          <a:latin typeface="+mj-lt"/>
                          <a:ea typeface="Palatino Linotype" panose="02040502050505030304" pitchFamily="18" charset="0"/>
                          <a:cs typeface="Times New Roman" panose="02020603050405020304" pitchFamily="18" charset="0"/>
                        </a:rPr>
                        <a:t>Non-mechanical pain</a:t>
                      </a:r>
                      <a:endParaRPr lang="en-GB" sz="1600" b="0"/>
                    </a:p>
                  </a:txBody>
                  <a:tcPr marL="76261" marR="76261" marT="38120" marB="38120"/>
                </a:tc>
                <a:extLst>
                  <a:ext uri="{0D108BD9-81ED-4DB2-BD59-A6C34878D82A}">
                    <a16:rowId xmlns:a16="http://schemas.microsoft.com/office/drawing/2014/main" val="3035620216"/>
                  </a:ext>
                </a:extLst>
              </a:tr>
              <a:tr h="319036">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a:effectLst/>
                          <a:latin typeface="+mj-lt"/>
                          <a:ea typeface="Palatino Linotype" panose="02040502050505030304" pitchFamily="18" charset="0"/>
                          <a:cs typeface="Times New Roman" panose="02020603050405020304" pitchFamily="18" charset="0"/>
                        </a:rPr>
                        <a:t>Resting BP &gt;180/100 mm/HG</a:t>
                      </a:r>
                      <a:endParaRPr lang="en-GB" sz="1600"/>
                    </a:p>
                  </a:txBody>
                  <a:tcPr marL="76261" marR="76261" marT="38120" marB="38120"/>
                </a:tc>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a:latin typeface="+mj-lt"/>
                          <a:ea typeface="Palatino Linotype" panose="02040502050505030304" pitchFamily="18" charset="0"/>
                          <a:cs typeface="Times New Roman" panose="02020603050405020304" pitchFamily="18" charset="0"/>
                        </a:rPr>
                        <a:t>Thoracic pain</a:t>
                      </a:r>
                      <a:endParaRPr lang="en-GB" sz="1600"/>
                    </a:p>
                  </a:txBody>
                  <a:tcPr marL="76261" marR="76261" marT="38120" marB="38120"/>
                </a:tc>
                <a:extLst>
                  <a:ext uri="{0D108BD9-81ED-4DB2-BD59-A6C34878D82A}">
                    <a16:rowId xmlns:a16="http://schemas.microsoft.com/office/drawing/2014/main" val="224919492"/>
                  </a:ext>
                </a:extLst>
              </a:tr>
              <a:tr h="722618">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dirty="0">
                          <a:effectLst/>
                          <a:latin typeface="+mj-lt"/>
                          <a:ea typeface="Palatino Linotype" panose="02040502050505030304" pitchFamily="18" charset="0"/>
                          <a:cs typeface="Times New Roman" panose="02020603050405020304" pitchFamily="18" charset="0"/>
                        </a:rPr>
                        <a:t>Previous Myocardial infarction(MI)? If not BACPR trained</a:t>
                      </a:r>
                      <a:endParaRPr lang="en-GB" sz="1600" dirty="0"/>
                    </a:p>
                  </a:txBody>
                  <a:tcPr marL="76261" marR="76261" marT="38120" marB="38120"/>
                </a:tc>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a:latin typeface="+mj-lt"/>
                          <a:ea typeface="Palatino Linotype" panose="02040502050505030304" pitchFamily="18" charset="0"/>
                          <a:cs typeface="Times New Roman" panose="02020603050405020304" pitchFamily="18" charset="0"/>
                        </a:rPr>
                        <a:t>Fever and unexplained weight loss</a:t>
                      </a:r>
                      <a:endParaRPr lang="en-GB" sz="1600"/>
                    </a:p>
                  </a:txBody>
                  <a:tcPr marL="76261" marR="76261" marT="38120" marB="38120"/>
                </a:tc>
                <a:extLst>
                  <a:ext uri="{0D108BD9-81ED-4DB2-BD59-A6C34878D82A}">
                    <a16:rowId xmlns:a16="http://schemas.microsoft.com/office/drawing/2014/main" val="1190163280"/>
                  </a:ext>
                </a:extLst>
              </a:tr>
              <a:tr h="319036">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a:effectLst/>
                          <a:latin typeface="+mj-lt"/>
                          <a:ea typeface="Palatino Linotype" panose="02040502050505030304" pitchFamily="18" charset="0"/>
                          <a:cs typeface="Times New Roman" panose="02020603050405020304" pitchFamily="18" charset="0"/>
                        </a:rPr>
                        <a:t>Active retinal haemorrhage</a:t>
                      </a:r>
                      <a:endParaRPr lang="en-GB" sz="1600"/>
                    </a:p>
                  </a:txBody>
                  <a:tcPr marL="76261" marR="76261" marT="38120" marB="38120"/>
                </a:tc>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a:latin typeface="+mj-lt"/>
                          <a:ea typeface="Palatino Linotype" panose="02040502050505030304" pitchFamily="18" charset="0"/>
                          <a:cs typeface="Times New Roman" panose="02020603050405020304" pitchFamily="18" charset="0"/>
                        </a:rPr>
                        <a:t>Bladder or bowel dysfunction</a:t>
                      </a:r>
                      <a:endParaRPr lang="en-GB" sz="1600"/>
                    </a:p>
                  </a:txBody>
                  <a:tcPr marL="76261" marR="76261" marT="38120" marB="38120"/>
                </a:tc>
                <a:extLst>
                  <a:ext uri="{0D108BD9-81ED-4DB2-BD59-A6C34878D82A}">
                    <a16:rowId xmlns:a16="http://schemas.microsoft.com/office/drawing/2014/main" val="2367898903"/>
                  </a:ext>
                </a:extLst>
              </a:tr>
              <a:tr h="562081">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dirty="0">
                          <a:effectLst/>
                          <a:latin typeface="+mj-lt"/>
                          <a:ea typeface="Palatino Linotype" panose="02040502050505030304" pitchFamily="18" charset="0"/>
                          <a:cs typeface="Times New Roman" panose="02020603050405020304" pitchFamily="18" charset="0"/>
                        </a:rPr>
                        <a:t>Any medical condition that you are not Qualified to deal with</a:t>
                      </a:r>
                      <a:endParaRPr lang="en-GB" sz="1600" dirty="0"/>
                    </a:p>
                  </a:txBody>
                  <a:tcPr marL="76261" marR="76261" marT="38120" marB="38120"/>
                </a:tc>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a:latin typeface="+mj-lt"/>
                          <a:ea typeface="Palatino Linotype" panose="02040502050505030304" pitchFamily="18" charset="0"/>
                          <a:cs typeface="Times New Roman" panose="02020603050405020304" pitchFamily="18" charset="0"/>
                        </a:rPr>
                        <a:t>Ill health or presence of other medical illness</a:t>
                      </a:r>
                      <a:endParaRPr lang="en-GB" sz="1600"/>
                    </a:p>
                  </a:txBody>
                  <a:tcPr marL="76261" marR="76261" marT="38120" marB="38120"/>
                </a:tc>
                <a:extLst>
                  <a:ext uri="{0D108BD9-81ED-4DB2-BD59-A6C34878D82A}">
                    <a16:rowId xmlns:a16="http://schemas.microsoft.com/office/drawing/2014/main" val="3989999365"/>
                  </a:ext>
                </a:extLst>
              </a:tr>
              <a:tr h="330297">
                <a:tc>
                  <a:txBody>
                    <a:bodyPr/>
                    <a:lstStyle/>
                    <a:p>
                      <a:endParaRPr lang="en-GB" sz="1600"/>
                    </a:p>
                  </a:txBody>
                  <a:tcPr marL="76261" marR="76261" marT="38120" marB="38120"/>
                </a:tc>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kern="1200">
                          <a:solidFill>
                            <a:schemeClr val="dk1"/>
                          </a:solidFill>
                          <a:latin typeface="+mn-lt"/>
                          <a:ea typeface="Palatino Linotype" panose="02040502050505030304" pitchFamily="18" charset="0"/>
                          <a:cs typeface="Times New Roman" panose="02020603050405020304" pitchFamily="18" charset="0"/>
                        </a:rPr>
                        <a:t>HIV</a:t>
                      </a:r>
                      <a:endParaRPr lang="en-GB" sz="1600"/>
                    </a:p>
                  </a:txBody>
                  <a:tcPr marL="76261" marR="76261" marT="38120" marB="38120"/>
                </a:tc>
                <a:extLst>
                  <a:ext uri="{0D108BD9-81ED-4DB2-BD59-A6C34878D82A}">
                    <a16:rowId xmlns:a16="http://schemas.microsoft.com/office/drawing/2014/main" val="4133886819"/>
                  </a:ext>
                </a:extLst>
              </a:tr>
              <a:tr h="330297">
                <a:tc>
                  <a:txBody>
                    <a:bodyPr/>
                    <a:lstStyle/>
                    <a:p>
                      <a:endParaRPr lang="en-GB" sz="1600"/>
                    </a:p>
                  </a:txBody>
                  <a:tcPr marL="76261" marR="76261" marT="38120" marB="38120"/>
                </a:tc>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kern="1200">
                          <a:solidFill>
                            <a:schemeClr val="dk1"/>
                          </a:solidFill>
                          <a:latin typeface="+mn-lt"/>
                          <a:ea typeface="Palatino Linotype" panose="02040502050505030304" pitchFamily="18" charset="0"/>
                          <a:cs typeface="Times New Roman" panose="02020603050405020304" pitchFamily="18" charset="0"/>
                        </a:rPr>
                        <a:t>Progressive neurological deficit</a:t>
                      </a:r>
                      <a:endParaRPr lang="en-GB" sz="1600"/>
                    </a:p>
                  </a:txBody>
                  <a:tcPr marL="76261" marR="76261" marT="38120" marB="38120"/>
                </a:tc>
                <a:extLst>
                  <a:ext uri="{0D108BD9-81ED-4DB2-BD59-A6C34878D82A}">
                    <a16:rowId xmlns:a16="http://schemas.microsoft.com/office/drawing/2014/main" val="1323867189"/>
                  </a:ext>
                </a:extLst>
              </a:tr>
              <a:tr h="0">
                <a:tc>
                  <a:txBody>
                    <a:bodyPr/>
                    <a:lstStyle/>
                    <a:p>
                      <a:endParaRPr lang="en-GB" sz="1600"/>
                    </a:p>
                  </a:txBody>
                  <a:tcPr marL="76261" marR="76261" marT="38120" marB="38120"/>
                </a:tc>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1600" kern="1200" dirty="0">
                          <a:solidFill>
                            <a:schemeClr val="dk1"/>
                          </a:solidFill>
                          <a:latin typeface="+mn-lt"/>
                          <a:ea typeface="Palatino Linotype" panose="02040502050505030304" pitchFamily="18" charset="0"/>
                          <a:cs typeface="Times New Roman" panose="02020603050405020304" pitchFamily="18" charset="0"/>
                        </a:rPr>
                        <a:t>Disturbed gait or saddle anaesthesia (a loss of sensation restricted to the area of the buttocks and perineum</a:t>
                      </a:r>
                      <a:r>
                        <a:rPr lang="en-GB" sz="1600" b="1" kern="1200" dirty="0">
                          <a:solidFill>
                            <a:schemeClr val="dk1"/>
                          </a:solidFill>
                          <a:latin typeface="+mn-lt"/>
                          <a:ea typeface="Palatino Linotype" panose="02040502050505030304" pitchFamily="18" charset="0"/>
                          <a:cs typeface="Times New Roman" panose="02020603050405020304" pitchFamily="18" charset="0"/>
                        </a:rPr>
                        <a:t>)</a:t>
                      </a:r>
                      <a:endParaRPr lang="en-GB" sz="1600" dirty="0"/>
                    </a:p>
                  </a:txBody>
                  <a:tcPr marL="76261" marR="76261" marT="38120" marB="38120"/>
                </a:tc>
                <a:extLst>
                  <a:ext uri="{0D108BD9-81ED-4DB2-BD59-A6C34878D82A}">
                    <a16:rowId xmlns:a16="http://schemas.microsoft.com/office/drawing/2014/main" val="200009519"/>
                  </a:ext>
                </a:extLst>
              </a:tr>
            </a:tbl>
          </a:graphicData>
        </a:graphic>
      </p:graphicFrame>
      <p:sp>
        <p:nvSpPr>
          <p:cNvPr id="8" name="TextBox 7">
            <a:extLst>
              <a:ext uri="{FF2B5EF4-FFF2-40B4-BE49-F238E27FC236}">
                <a16:creationId xmlns:a16="http://schemas.microsoft.com/office/drawing/2014/main" id="{56832A63-B904-CD22-836A-DEF7B781B1BF}"/>
              </a:ext>
            </a:extLst>
          </p:cNvPr>
          <p:cNvSpPr txBox="1"/>
          <p:nvPr/>
        </p:nvSpPr>
        <p:spPr>
          <a:xfrm>
            <a:off x="139803" y="4458363"/>
            <a:ext cx="9144000" cy="646331"/>
          </a:xfrm>
          <a:prstGeom prst="rect">
            <a:avLst/>
          </a:prstGeom>
          <a:noFill/>
        </p:spPr>
        <p:txBody>
          <a:bodyPr wrap="square">
            <a:spAutoFit/>
          </a:bodyPr>
          <a:lstStyle/>
          <a:p>
            <a:r>
              <a:rPr lang="en-GB" b="1" dirty="0">
                <a:solidFill>
                  <a:srgbClr val="FF0000"/>
                </a:solidFill>
                <a:latin typeface="Calibri" panose="020F0502020204030204" pitchFamily="34" charset="0"/>
              </a:rPr>
              <a:t>Red Flags are internationally recognised as precluding a patient/client from exercising, as they indicate the likely need for higher level care/intervention</a:t>
            </a:r>
          </a:p>
        </p:txBody>
      </p:sp>
    </p:spTree>
    <p:extLst>
      <p:ext uri="{BB962C8B-B14F-4D97-AF65-F5344CB8AC3E}">
        <p14:creationId xmlns:p14="http://schemas.microsoft.com/office/powerpoint/2010/main" val="1762296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1922" y="818405"/>
            <a:ext cx="8604991" cy="4431278"/>
          </a:xfrm>
          <a:prstGeom prst="rect">
            <a:avLst/>
          </a:prstGeom>
        </p:spPr>
        <p:txBody>
          <a:bodyPr wrap="square">
            <a:spAutoFit/>
          </a:bodyPr>
          <a:lstStyle/>
          <a:p>
            <a:pPr fontAlgn="auto">
              <a:lnSpc>
                <a:spcPct val="115000"/>
              </a:lnSpc>
              <a:spcAft>
                <a:spcPts val="0"/>
              </a:spcAft>
            </a:pPr>
            <a:r>
              <a:rPr lang="en-GB" b="1" dirty="0">
                <a:latin typeface="+mj-lt"/>
                <a:ea typeface="Times New Roman" panose="02020603050405020304" pitchFamily="18" charset="0"/>
                <a:cs typeface="Times New Roman" panose="02020603050405020304" pitchFamily="18" charset="0"/>
              </a:rPr>
              <a:t>(In ERS/PARS)</a:t>
            </a:r>
            <a:endParaRPr lang="en-GB" b="1" dirty="0">
              <a:latin typeface="+mj-lt"/>
              <a:ea typeface="Palatino Linotype" panose="02040502050505030304" pitchFamily="18" charset="0"/>
              <a:cs typeface="Times New Roman" panose="02020603050405020304" pitchFamily="18" charset="0"/>
            </a:endParaRPr>
          </a:p>
          <a:p>
            <a:pPr fontAlgn="auto">
              <a:lnSpc>
                <a:spcPct val="115000"/>
              </a:lnSpc>
              <a:spcAft>
                <a:spcPts val="0"/>
              </a:spcAft>
            </a:pPr>
            <a:r>
              <a:rPr lang="en-GB" sz="1200" dirty="0">
                <a:latin typeface="+mj-lt"/>
                <a:ea typeface="Times New Roman" panose="02020603050405020304" pitchFamily="18" charset="0"/>
                <a:cs typeface="Times New Roman" panose="02020603050405020304" pitchFamily="18" charset="0"/>
              </a:rPr>
              <a:t> </a:t>
            </a:r>
            <a:endParaRPr lang="en-GB" sz="1200" dirty="0">
              <a:latin typeface="+mj-lt"/>
              <a:ea typeface="Palatino Linotype" panose="02040502050505030304" pitchFamily="18" charset="0"/>
              <a:cs typeface="Times New Roman" panose="02020603050405020304" pitchFamily="18" charset="0"/>
            </a:endParaRPr>
          </a:p>
          <a:p>
            <a:pPr fontAlgn="auto">
              <a:lnSpc>
                <a:spcPct val="115000"/>
              </a:lnSpc>
              <a:spcAft>
                <a:spcPts val="0"/>
              </a:spcAft>
            </a:pPr>
            <a:r>
              <a:rPr lang="en-GB" sz="1400" dirty="0">
                <a:latin typeface="+mn-lt"/>
                <a:ea typeface="Times New Roman" panose="02020603050405020304" pitchFamily="18" charset="0"/>
                <a:cs typeface="Times New Roman" panose="02020603050405020304" pitchFamily="18" charset="0"/>
              </a:rPr>
              <a:t>Initial Session/Formal introduction and putting the client at ease.</a:t>
            </a:r>
            <a:endParaRPr lang="en-GB" sz="1400" dirty="0">
              <a:latin typeface="+mn-lt"/>
              <a:ea typeface="Palatino Linotype" panose="02040502050505030304" pitchFamily="18" charset="0"/>
              <a:cs typeface="Times New Roman" panose="02020603050405020304" pitchFamily="18" charset="0"/>
            </a:endParaRPr>
          </a:p>
          <a:p>
            <a:pPr fontAlgn="auto">
              <a:lnSpc>
                <a:spcPct val="115000"/>
              </a:lnSpc>
              <a:spcAft>
                <a:spcPts val="0"/>
              </a:spcAft>
            </a:pPr>
            <a:r>
              <a:rPr lang="en-GB" sz="1400" dirty="0">
                <a:latin typeface="+mn-lt"/>
                <a:ea typeface="Times New Roman" panose="02020603050405020304" pitchFamily="18" charset="0"/>
                <a:cs typeface="Times New Roman" panose="02020603050405020304" pitchFamily="18" charset="0"/>
              </a:rPr>
              <a:t> </a:t>
            </a:r>
            <a:endParaRPr lang="en-GB" sz="1400" dirty="0">
              <a:latin typeface="+mn-lt"/>
              <a:ea typeface="Palatino Linotype" panose="02040502050505030304" pitchFamily="18" charset="0"/>
              <a:cs typeface="Times New Roman" panose="02020603050405020304" pitchFamily="18" charset="0"/>
            </a:endParaRPr>
          </a:p>
          <a:p>
            <a:pPr fontAlgn="auto">
              <a:lnSpc>
                <a:spcPct val="115000"/>
              </a:lnSpc>
              <a:spcAft>
                <a:spcPts val="0"/>
              </a:spcAft>
            </a:pPr>
            <a:r>
              <a:rPr lang="en-GB" b="1" dirty="0">
                <a:latin typeface="+mn-lt"/>
                <a:ea typeface="Times New Roman" panose="02020603050405020304" pitchFamily="18" charset="0"/>
                <a:cs typeface="Times New Roman" panose="02020603050405020304" pitchFamily="18" charset="0"/>
              </a:rPr>
              <a:t>Going through the PARQ form</a:t>
            </a:r>
            <a:r>
              <a:rPr lang="en-GB" sz="1400" dirty="0">
                <a:latin typeface="+mn-lt"/>
                <a:ea typeface="Times New Roman" panose="02020603050405020304" pitchFamily="18" charset="0"/>
                <a:cs typeface="Times New Roman" panose="02020603050405020304" pitchFamily="18" charset="0"/>
              </a:rPr>
              <a:t>. </a:t>
            </a:r>
            <a:r>
              <a:rPr lang="en-GB" sz="1400" dirty="0">
                <a:latin typeface="+mn-lt"/>
                <a:ea typeface="Times New Roman" panose="02020603050405020304" pitchFamily="18" charset="0"/>
                <a:cs typeface="Times New Roman" panose="02020603050405020304" pitchFamily="18" charset="0"/>
                <a:hlinkClick r:id="rId3"/>
              </a:rPr>
              <a:t>https://eparmedx.com/resources/knowledge%e2%80%91mobilization/</a:t>
            </a:r>
            <a:endParaRPr lang="en-GB" sz="1400" dirty="0">
              <a:latin typeface="+mn-lt"/>
              <a:ea typeface="Times New Roman" panose="02020603050405020304" pitchFamily="18" charset="0"/>
              <a:cs typeface="Times New Roman" panose="02020603050405020304" pitchFamily="18" charset="0"/>
            </a:endParaRPr>
          </a:p>
          <a:p>
            <a:pPr fontAlgn="auto">
              <a:lnSpc>
                <a:spcPct val="115000"/>
              </a:lnSpc>
              <a:spcAft>
                <a:spcPts val="0"/>
              </a:spcAft>
            </a:pPr>
            <a:endParaRPr lang="en-GB" sz="1400" dirty="0">
              <a:latin typeface="+mn-lt"/>
              <a:ea typeface="Palatino Linotype" panose="02040502050505030304" pitchFamily="18" charset="0"/>
              <a:cs typeface="Times New Roman" panose="02020603050405020304" pitchFamily="18" charset="0"/>
            </a:endParaRPr>
          </a:p>
          <a:p>
            <a:pPr marL="285750" lvl="0" indent="-285750">
              <a:lnSpc>
                <a:spcPct val="115000"/>
              </a:lnSpc>
              <a:buFont typeface="Arial" panose="020B0604020202020204" pitchFamily="34" charset="0"/>
              <a:buChar char="•"/>
            </a:pPr>
            <a:r>
              <a:rPr lang="en-GB" sz="1600" dirty="0">
                <a:latin typeface="+mn-lt"/>
                <a:ea typeface="Times New Roman" panose="02020603050405020304" pitchFamily="18" charset="0"/>
                <a:cs typeface="Times New Roman" panose="02020603050405020304" pitchFamily="18" charset="0"/>
              </a:rPr>
              <a:t>This is the initial screening tool and provokes good conversation between client and instructor and allows both verbal and non-verbal communication. </a:t>
            </a:r>
          </a:p>
          <a:p>
            <a:pPr marL="285750" lvl="0" indent="-285750">
              <a:lnSpc>
                <a:spcPct val="115000"/>
              </a:lnSpc>
              <a:buFont typeface="Arial" panose="020B0604020202020204" pitchFamily="34" charset="0"/>
              <a:buChar char="•"/>
            </a:pPr>
            <a:r>
              <a:rPr lang="en-GB" sz="1600" dirty="0">
                <a:latin typeface="+mn-lt"/>
                <a:ea typeface="Times New Roman" panose="02020603050405020304" pitchFamily="18" charset="0"/>
                <a:cs typeface="Times New Roman" panose="02020603050405020304" pitchFamily="18" charset="0"/>
              </a:rPr>
              <a:t>You should ask a range of open and closed questions, shows empathy and sensitivity. Do not criticise, be a good listener, and reflect on the information given. This will improve mutual understanding, reduce tension and allow you to provide an appropriate response.</a:t>
            </a:r>
            <a:r>
              <a:rPr lang="en-GB" sz="1600" dirty="0">
                <a:solidFill>
                  <a:prstClr val="black"/>
                </a:solidFill>
                <a:latin typeface="Calibri" panose="020F0502020204030204" pitchFamily="34" charset="0"/>
                <a:ea typeface="Calibri" panose="020F0502020204030204" pitchFamily="34" charset="0"/>
                <a:cs typeface="Calibri" panose="020F0502020204030204" pitchFamily="34" charset="0"/>
              </a:rPr>
              <a:t> </a:t>
            </a:r>
          </a:p>
          <a:p>
            <a:pPr marL="285750" lvl="0" indent="-285750">
              <a:lnSpc>
                <a:spcPct val="115000"/>
              </a:lnSpc>
              <a:buFont typeface="Arial" panose="020B0604020202020204" pitchFamily="34" charset="0"/>
              <a:buChar char="•"/>
            </a:pPr>
            <a:r>
              <a:rPr lang="en-GB" sz="1600" dirty="0">
                <a:solidFill>
                  <a:prstClr val="black"/>
                </a:solidFill>
                <a:latin typeface="Calibri" panose="020F0502020204030204" pitchFamily="34" charset="0"/>
                <a:ea typeface="Calibri" panose="020F0502020204030204" pitchFamily="34" charset="0"/>
                <a:cs typeface="Calibri" panose="020F0502020204030204" pitchFamily="34" charset="0"/>
              </a:rPr>
              <a:t>If the client answers no to all questions and the blood pressure is less than 140/90 and the heart rate is regular and under 100 beats per min, the risk of exercise is low. </a:t>
            </a:r>
          </a:p>
          <a:p>
            <a:pPr lvl="0">
              <a:lnSpc>
                <a:spcPct val="115000"/>
              </a:lnSpc>
            </a:pPr>
            <a:r>
              <a:rPr lang="en-GB" sz="1600" dirty="0">
                <a:solidFill>
                  <a:prstClr val="black"/>
                </a:solidFill>
                <a:latin typeface="Calibri" panose="020F0502020204030204" pitchFamily="34" charset="0"/>
                <a:ea typeface="Calibri" panose="020F0502020204030204" pitchFamily="34" charset="0"/>
                <a:cs typeface="Calibri" panose="020F0502020204030204" pitchFamily="34" charset="0"/>
              </a:rPr>
              <a:t> </a:t>
            </a:r>
          </a:p>
          <a:p>
            <a:pPr lvl="0">
              <a:lnSpc>
                <a:spcPct val="115000"/>
              </a:lnSpc>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(If yes to any Question then you must Risk stratify)  </a:t>
            </a:r>
          </a:p>
          <a:p>
            <a:pPr fontAlgn="auto">
              <a:lnSpc>
                <a:spcPct val="115000"/>
              </a:lnSpc>
              <a:spcAft>
                <a:spcPts val="0"/>
              </a:spcAft>
            </a:pPr>
            <a:endParaRPr lang="en-GB" sz="1400" dirty="0">
              <a:latin typeface="+mn-lt"/>
              <a:ea typeface="Palatino Linotype" panose="02040502050505030304" pitchFamily="18" charset="0"/>
              <a:cs typeface="Times New Roman" panose="02020603050405020304" pitchFamily="18" charset="0"/>
            </a:endParaRPr>
          </a:p>
        </p:txBody>
      </p:sp>
      <p:pic>
        <p:nvPicPr>
          <p:cNvPr id="5" name="Picture 4" descr="Doctor getting patient's weight">
            <a:extLst>
              <a:ext uri="{FF2B5EF4-FFF2-40B4-BE49-F238E27FC236}">
                <a16:creationId xmlns:a16="http://schemas.microsoft.com/office/drawing/2014/main" id="{09C9D110-F323-9289-5674-DDC03CA19410}"/>
              </a:ext>
            </a:extLst>
          </p:cNvPr>
          <p:cNvPicPr>
            <a:picLocks noChangeAspect="1"/>
          </p:cNvPicPr>
          <p:nvPr/>
        </p:nvPicPr>
        <p:blipFill>
          <a:blip r:embed="rId4" cstate="print">
            <a:alphaModFix amt="20000"/>
            <a:extLst>
              <a:ext uri="{28A0092B-C50C-407E-A947-70E740481C1C}">
                <a14:useLocalDpi xmlns:a14="http://schemas.microsoft.com/office/drawing/2010/main" val="0"/>
              </a:ext>
            </a:extLst>
          </a:blip>
          <a:stretch>
            <a:fillRect/>
          </a:stretch>
        </p:blipFill>
        <p:spPr>
          <a:xfrm>
            <a:off x="7647049" y="909675"/>
            <a:ext cx="1045029" cy="937243"/>
          </a:xfrm>
          <a:prstGeom prst="rect">
            <a:avLst/>
          </a:prstGeom>
        </p:spPr>
      </p:pic>
      <p:sp>
        <p:nvSpPr>
          <p:cNvPr id="4" name="TextBox 3">
            <a:extLst>
              <a:ext uri="{FF2B5EF4-FFF2-40B4-BE49-F238E27FC236}">
                <a16:creationId xmlns:a16="http://schemas.microsoft.com/office/drawing/2014/main" id="{05CA4445-80FC-390F-CB38-BCC720B0BE17}"/>
              </a:ext>
            </a:extLst>
          </p:cNvPr>
          <p:cNvSpPr txBox="1"/>
          <p:nvPr/>
        </p:nvSpPr>
        <p:spPr>
          <a:xfrm>
            <a:off x="370115" y="333829"/>
            <a:ext cx="8498114" cy="369332"/>
          </a:xfrm>
          <a:prstGeom prst="rect">
            <a:avLst/>
          </a:prstGeom>
          <a:noFill/>
        </p:spPr>
        <p:txBody>
          <a:bodyPr wrap="square" rtlCol="0">
            <a:spAutoFit/>
          </a:bodyPr>
          <a:lstStyle/>
          <a:p>
            <a:r>
              <a:rPr lang="en-GB" b="1" dirty="0">
                <a:solidFill>
                  <a:srgbClr val="0070C0"/>
                </a:solidFill>
              </a:rPr>
              <a:t>Pre Exercise Screening &amp; Risk Stratification (related to ACSM, guidelines)</a:t>
            </a:r>
          </a:p>
        </p:txBody>
      </p:sp>
    </p:spTree>
    <p:extLst>
      <p:ext uri="{BB962C8B-B14F-4D97-AF65-F5344CB8AC3E}">
        <p14:creationId xmlns:p14="http://schemas.microsoft.com/office/powerpoint/2010/main" val="371862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B033BB-598B-AD43-5181-B629DEE3E514}"/>
              </a:ext>
            </a:extLst>
          </p:cNvPr>
          <p:cNvPicPr>
            <a:picLocks noChangeAspect="1"/>
          </p:cNvPicPr>
          <p:nvPr/>
        </p:nvPicPr>
        <p:blipFill>
          <a:blip r:embed="rId2"/>
          <a:stretch>
            <a:fillRect/>
          </a:stretch>
        </p:blipFill>
        <p:spPr>
          <a:xfrm>
            <a:off x="2581275" y="0"/>
            <a:ext cx="3981450" cy="5143500"/>
          </a:xfrm>
          <a:prstGeom prst="rect">
            <a:avLst/>
          </a:prstGeom>
        </p:spPr>
      </p:pic>
    </p:spTree>
    <p:extLst>
      <p:ext uri="{BB962C8B-B14F-4D97-AF65-F5344CB8AC3E}">
        <p14:creationId xmlns:p14="http://schemas.microsoft.com/office/powerpoint/2010/main" val="1338419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1984A2-5FBD-487C-7FE5-F962B5B349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550" y="171450"/>
            <a:ext cx="7454900" cy="4800600"/>
          </a:xfrm>
          <a:prstGeom prst="rect">
            <a:avLst/>
          </a:prstGeom>
        </p:spPr>
      </p:pic>
    </p:spTree>
    <p:extLst>
      <p:ext uri="{BB962C8B-B14F-4D97-AF65-F5344CB8AC3E}">
        <p14:creationId xmlns:p14="http://schemas.microsoft.com/office/powerpoint/2010/main" val="1317287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352AC1-A87A-407D-6CE7-3623E2202D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062" y="225425"/>
            <a:ext cx="7927597" cy="4692650"/>
          </a:xfrm>
          <a:prstGeom prst="rect">
            <a:avLst/>
          </a:prstGeom>
        </p:spPr>
      </p:pic>
    </p:spTree>
    <p:extLst>
      <p:ext uri="{BB962C8B-B14F-4D97-AF65-F5344CB8AC3E}">
        <p14:creationId xmlns:p14="http://schemas.microsoft.com/office/powerpoint/2010/main" val="4192181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D2C05C-99E0-9E6B-516B-C5B9D91141C5}"/>
              </a:ext>
            </a:extLst>
          </p:cNvPr>
          <p:cNvPicPr>
            <a:picLocks noChangeAspect="1"/>
          </p:cNvPicPr>
          <p:nvPr/>
        </p:nvPicPr>
        <p:blipFill>
          <a:blip r:embed="rId2"/>
          <a:stretch>
            <a:fillRect/>
          </a:stretch>
        </p:blipFill>
        <p:spPr>
          <a:xfrm>
            <a:off x="2704655" y="159390"/>
            <a:ext cx="3858070" cy="4984109"/>
          </a:xfrm>
          <a:prstGeom prst="rect">
            <a:avLst/>
          </a:prstGeom>
        </p:spPr>
      </p:pic>
    </p:spTree>
    <p:extLst>
      <p:ext uri="{BB962C8B-B14F-4D97-AF65-F5344CB8AC3E}">
        <p14:creationId xmlns:p14="http://schemas.microsoft.com/office/powerpoint/2010/main" val="258284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26B41F-FC02-9255-1CB6-535E3B6491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675" y="247650"/>
            <a:ext cx="7486650" cy="4648200"/>
          </a:xfrm>
          <a:prstGeom prst="rect">
            <a:avLst/>
          </a:prstGeom>
        </p:spPr>
      </p:pic>
    </p:spTree>
    <p:extLst>
      <p:ext uri="{BB962C8B-B14F-4D97-AF65-F5344CB8AC3E}">
        <p14:creationId xmlns:p14="http://schemas.microsoft.com/office/powerpoint/2010/main" val="1162520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E05DF4-BC78-E43C-BDC8-EF0ECC4EFF18}"/>
              </a:ext>
            </a:extLst>
          </p:cNvPr>
          <p:cNvPicPr>
            <a:picLocks noChangeAspect="1"/>
          </p:cNvPicPr>
          <p:nvPr/>
        </p:nvPicPr>
        <p:blipFill>
          <a:blip r:embed="rId2"/>
          <a:stretch>
            <a:fillRect/>
          </a:stretch>
        </p:blipFill>
        <p:spPr>
          <a:xfrm>
            <a:off x="901511" y="253881"/>
            <a:ext cx="7340977" cy="4635738"/>
          </a:xfrm>
          <a:prstGeom prst="rect">
            <a:avLst/>
          </a:prstGeom>
        </p:spPr>
      </p:pic>
    </p:spTree>
    <p:extLst>
      <p:ext uri="{BB962C8B-B14F-4D97-AF65-F5344CB8AC3E}">
        <p14:creationId xmlns:p14="http://schemas.microsoft.com/office/powerpoint/2010/main" val="2080158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086" y="392159"/>
            <a:ext cx="8665827" cy="4606133"/>
          </a:xfrm>
          <a:prstGeom prst="rect">
            <a:avLst/>
          </a:prstGeom>
          <a:ln w="38100">
            <a:solidFill>
              <a:srgbClr val="FF0000"/>
            </a:solidFill>
          </a:ln>
        </p:spPr>
        <p:txBody>
          <a:bodyPr wrap="square" lIns="91440" tIns="45720" rIns="91440" bIns="45720" anchor="t">
            <a:spAutoFit/>
          </a:bodyPr>
          <a:lstStyle/>
          <a:p>
            <a:pPr fontAlgn="auto">
              <a:lnSpc>
                <a:spcPct val="115000"/>
              </a:lnSpc>
              <a:spcAft>
                <a:spcPts val="0"/>
              </a:spcAft>
            </a:pPr>
            <a:r>
              <a:rPr lang="en-GB" sz="1600" i="1" dirty="0">
                <a:latin typeface="+mj-lt"/>
                <a:ea typeface="Times New Roman" panose="02020603050405020304" pitchFamily="18" charset="0"/>
                <a:cs typeface="Times New Roman"/>
              </a:rPr>
              <a:t>The Irwin and Morgan Risk Stratification Tool</a:t>
            </a:r>
            <a:r>
              <a:rPr lang="en-GB" sz="1600" dirty="0">
                <a:latin typeface="+mj-lt"/>
                <a:ea typeface="Times New Roman" panose="02020603050405020304" pitchFamily="18" charset="0"/>
                <a:cs typeface="Times New Roman"/>
              </a:rPr>
              <a:t>. </a:t>
            </a:r>
            <a:endParaRPr lang="en-GB" sz="1200" dirty="0">
              <a:latin typeface="+mj-lt"/>
              <a:ea typeface="Palatino Linotype" panose="02040502050505030304" pitchFamily="18" charset="0"/>
              <a:cs typeface="Times New Roman" panose="02020603050405020304" pitchFamily="18" charset="0"/>
            </a:endParaRPr>
          </a:p>
          <a:p>
            <a:pPr fontAlgn="auto">
              <a:lnSpc>
                <a:spcPct val="115000"/>
              </a:lnSpc>
              <a:spcAft>
                <a:spcPts val="0"/>
              </a:spcAft>
            </a:pPr>
            <a:r>
              <a:rPr lang="en-GB" sz="1600" dirty="0">
                <a:latin typeface="+mn-lt"/>
                <a:ea typeface="Times New Roman" panose="02020603050405020304" pitchFamily="18" charset="0"/>
                <a:cs typeface="Times New Roman"/>
              </a:rPr>
              <a:t>This uses a simple traffic light system whereby</a:t>
            </a:r>
            <a:endParaRPr lang="en-GB" sz="1600" dirty="0">
              <a:latin typeface="+mn-lt"/>
              <a:ea typeface="Palatino Linotype" panose="02040502050505030304" pitchFamily="18" charset="0"/>
              <a:cs typeface="Times New Roman" panose="02020603050405020304" pitchFamily="18" charset="0"/>
            </a:endParaRPr>
          </a:p>
          <a:p>
            <a:pPr marL="257175" indent="-257175" fontAlgn="auto">
              <a:lnSpc>
                <a:spcPct val="115000"/>
              </a:lnSpc>
              <a:spcAft>
                <a:spcPts val="0"/>
              </a:spcAft>
              <a:buFont typeface="Wingdings" panose="05000000000000000000" pitchFamily="2" charset="2"/>
              <a:buChar char="§"/>
            </a:pPr>
            <a:r>
              <a:rPr lang="en-GB" sz="1600" dirty="0">
                <a:latin typeface="+mn-lt"/>
                <a:ea typeface="Times New Roman" panose="02020603050405020304" pitchFamily="18" charset="0"/>
                <a:cs typeface="Times New Roman"/>
              </a:rPr>
              <a:t>Green = Low Risk</a:t>
            </a:r>
            <a:endParaRPr lang="en-GB" sz="1600" dirty="0">
              <a:latin typeface="+mn-lt"/>
              <a:ea typeface="Palatino Linotype" panose="02040502050505030304" pitchFamily="18" charset="0"/>
              <a:cs typeface="Times New Roman"/>
            </a:endParaRPr>
          </a:p>
          <a:p>
            <a:pPr marL="257175" indent="-257175" fontAlgn="auto">
              <a:lnSpc>
                <a:spcPct val="115000"/>
              </a:lnSpc>
              <a:spcAft>
                <a:spcPts val="0"/>
              </a:spcAft>
              <a:buFont typeface="Wingdings" panose="05000000000000000000" pitchFamily="2" charset="2"/>
              <a:buChar char="§"/>
            </a:pPr>
            <a:r>
              <a:rPr lang="en-GB" sz="1600" dirty="0">
                <a:latin typeface="+mn-lt"/>
                <a:ea typeface="Times New Roman" panose="02020603050405020304" pitchFamily="18" charset="0"/>
                <a:cs typeface="Times New Roman"/>
              </a:rPr>
              <a:t>Amber = Medium risk</a:t>
            </a:r>
            <a:endParaRPr lang="en-GB" sz="1600" dirty="0">
              <a:latin typeface="+mn-lt"/>
              <a:ea typeface="Palatino Linotype" panose="02040502050505030304" pitchFamily="18" charset="0"/>
              <a:cs typeface="Times New Roman"/>
            </a:endParaRPr>
          </a:p>
          <a:p>
            <a:pPr marL="257175" indent="-257175" fontAlgn="auto">
              <a:lnSpc>
                <a:spcPct val="115000"/>
              </a:lnSpc>
              <a:spcAft>
                <a:spcPts val="0"/>
              </a:spcAft>
              <a:buFont typeface="Wingdings" panose="05000000000000000000" pitchFamily="2" charset="2"/>
              <a:buChar char="§"/>
            </a:pPr>
            <a:r>
              <a:rPr lang="en-GB" sz="1600" dirty="0">
                <a:latin typeface="+mn-lt"/>
                <a:ea typeface="Times New Roman" panose="02020603050405020304" pitchFamily="18" charset="0"/>
                <a:cs typeface="Times New Roman"/>
              </a:rPr>
              <a:t>Red = High Risk</a:t>
            </a:r>
            <a:endParaRPr lang="en-GB" sz="1600" dirty="0">
              <a:latin typeface="+mn-lt"/>
              <a:ea typeface="Palatino Linotype" panose="02040502050505030304" pitchFamily="18" charset="0"/>
              <a:cs typeface="Times New Roman" panose="02020603050405020304" pitchFamily="18" charset="0"/>
            </a:endParaRPr>
          </a:p>
          <a:p>
            <a:pPr fontAlgn="auto">
              <a:lnSpc>
                <a:spcPct val="115000"/>
              </a:lnSpc>
              <a:spcAft>
                <a:spcPts val="0"/>
              </a:spcAft>
            </a:pPr>
            <a:r>
              <a:rPr lang="en-GB" sz="1600" dirty="0">
                <a:solidFill>
                  <a:srgbClr val="92D050"/>
                </a:solidFill>
                <a:latin typeface="+mn-lt"/>
                <a:ea typeface="Times New Roman" panose="02020603050405020304" pitchFamily="18" charset="0"/>
                <a:cs typeface="Times New Roman"/>
              </a:rPr>
              <a:t>Low Risk </a:t>
            </a:r>
            <a:r>
              <a:rPr lang="en-GB" sz="1600" dirty="0">
                <a:latin typeface="+mn-lt"/>
                <a:ea typeface="Times New Roman" panose="02020603050405020304" pitchFamily="18" charset="0"/>
                <a:cs typeface="Times New Roman"/>
              </a:rPr>
              <a:t>Patients identified in this way should remain within the exercise referral service and may undertake a wide range of activities, programmed but not necessarily supervised by, the referral instructor.</a:t>
            </a:r>
            <a:endParaRPr lang="en-GB" sz="1600" dirty="0">
              <a:latin typeface="+mn-lt"/>
              <a:ea typeface="Palatino Linotype" panose="02040502050505030304" pitchFamily="18" charset="0"/>
              <a:cs typeface="Times New Roman" panose="02020603050405020304" pitchFamily="18" charset="0"/>
            </a:endParaRPr>
          </a:p>
          <a:p>
            <a:pPr fontAlgn="auto">
              <a:lnSpc>
                <a:spcPct val="115000"/>
              </a:lnSpc>
              <a:spcAft>
                <a:spcPts val="0"/>
              </a:spcAft>
            </a:pPr>
            <a:r>
              <a:rPr lang="en-GB" sz="1600" dirty="0">
                <a:solidFill>
                  <a:srgbClr val="FFC000"/>
                </a:solidFill>
                <a:latin typeface="+mn-lt"/>
                <a:ea typeface="Times New Roman" panose="02020603050405020304" pitchFamily="18" charset="0"/>
                <a:cs typeface="Times New Roman"/>
              </a:rPr>
              <a:t>Medium risk </a:t>
            </a:r>
            <a:r>
              <a:rPr lang="en-GB" sz="1600" dirty="0">
                <a:latin typeface="+mn-lt"/>
                <a:ea typeface="Times New Roman" panose="02020603050405020304" pitchFamily="18" charset="0"/>
                <a:cs typeface="Times New Roman"/>
              </a:rPr>
              <a:t>patients must be entered into an individualised, supervised exercise program relevant to their condition</a:t>
            </a:r>
            <a:endParaRPr lang="en-GB" sz="1600" dirty="0">
              <a:latin typeface="+mn-lt"/>
              <a:ea typeface="Palatino Linotype" panose="02040502050505030304" pitchFamily="18" charset="0"/>
              <a:cs typeface="Times New Roman"/>
            </a:endParaRPr>
          </a:p>
          <a:p>
            <a:pPr fontAlgn="auto">
              <a:lnSpc>
                <a:spcPct val="115000"/>
              </a:lnSpc>
              <a:spcAft>
                <a:spcPts val="0"/>
              </a:spcAft>
            </a:pPr>
            <a:endParaRPr lang="en-GB" sz="1600" dirty="0">
              <a:latin typeface="+mn-lt"/>
              <a:ea typeface="Palatino Linotype" panose="02040502050505030304" pitchFamily="18" charset="0"/>
              <a:cs typeface="Times New Roman" panose="02020603050405020304" pitchFamily="18" charset="0"/>
            </a:endParaRPr>
          </a:p>
          <a:p>
            <a:pPr fontAlgn="auto">
              <a:lnSpc>
                <a:spcPct val="115000"/>
              </a:lnSpc>
              <a:spcAft>
                <a:spcPts val="0"/>
              </a:spcAft>
            </a:pPr>
            <a:r>
              <a:rPr lang="en-GB" sz="1600" dirty="0">
                <a:latin typeface="+mn-lt"/>
                <a:ea typeface="Times New Roman" panose="02020603050405020304" pitchFamily="18" charset="0"/>
                <a:cs typeface="Times New Roman"/>
              </a:rPr>
              <a:t>Patients with cardiac disease, who are assessed as </a:t>
            </a:r>
            <a:r>
              <a:rPr lang="en-GB" sz="1600" dirty="0">
                <a:solidFill>
                  <a:srgbClr val="FF0000"/>
                </a:solidFill>
                <a:latin typeface="+mn-lt"/>
                <a:ea typeface="Times New Roman" panose="02020603050405020304" pitchFamily="18" charset="0"/>
                <a:cs typeface="Times New Roman"/>
              </a:rPr>
              <a:t>High risk </a:t>
            </a:r>
            <a:r>
              <a:rPr lang="en-GB" sz="1600" dirty="0">
                <a:latin typeface="+mn-lt"/>
                <a:ea typeface="Times New Roman" panose="02020603050405020304" pitchFamily="18" charset="0"/>
                <a:cs typeface="Times New Roman"/>
              </a:rPr>
              <a:t>by the Irwin and Morgan method, must be referred to the original health care professional for referral to a Phase 3 then on to Phase 4 Cardiac Rehabilitation Service. Where non cardiac patients are identified they must be referred to a multi-disciplinary team for further assessment before embarking on an exercise program.</a:t>
            </a:r>
            <a:endParaRPr lang="en-GB" sz="1600" dirty="0">
              <a:latin typeface="+mn-lt"/>
              <a:ea typeface="Palatino Linotype" panose="02040502050505030304" pitchFamily="18" charset="0"/>
              <a:cs typeface="Times New Roman"/>
            </a:endParaRPr>
          </a:p>
          <a:p>
            <a:pPr fontAlgn="auto">
              <a:lnSpc>
                <a:spcPct val="115000"/>
              </a:lnSpc>
              <a:spcAft>
                <a:spcPts val="0"/>
              </a:spcAft>
            </a:pPr>
            <a:r>
              <a:rPr lang="en-GB" sz="1600" dirty="0">
                <a:latin typeface="+mn-lt"/>
                <a:ea typeface="Times New Roman" panose="02020603050405020304" pitchFamily="18" charset="0"/>
                <a:cs typeface="Times New Roman"/>
              </a:rPr>
              <a:t>(Professional and operational standards for exercise referral)</a:t>
            </a:r>
            <a:endParaRPr lang="en-GB" sz="1600" dirty="0">
              <a:latin typeface="+mn-lt"/>
              <a:ea typeface="Palatino Linotype" panose="02040502050505030304" pitchFamily="18" charset="0"/>
              <a:cs typeface="Times New Roman"/>
            </a:endParaRPr>
          </a:p>
        </p:txBody>
      </p:sp>
      <p:sp>
        <p:nvSpPr>
          <p:cNvPr id="3" name="Rectangle 2"/>
          <p:cNvSpPr/>
          <p:nvPr/>
        </p:nvSpPr>
        <p:spPr>
          <a:xfrm>
            <a:off x="393103" y="0"/>
            <a:ext cx="6334170" cy="392159"/>
          </a:xfrm>
          <a:prstGeom prst="rect">
            <a:avLst/>
          </a:prstGeom>
        </p:spPr>
        <p:txBody>
          <a:bodyPr wrap="none">
            <a:spAutoFit/>
          </a:bodyPr>
          <a:lstStyle/>
          <a:p>
            <a:pPr fontAlgn="auto">
              <a:lnSpc>
                <a:spcPct val="115000"/>
              </a:lnSpc>
              <a:spcAft>
                <a:spcPts val="0"/>
              </a:spcAft>
            </a:pPr>
            <a:r>
              <a:rPr lang="en-GB" b="1" dirty="0">
                <a:latin typeface="Calibri" panose="020F0502020204030204" pitchFamily="34" charset="0"/>
                <a:ea typeface="Palatino Linotype" panose="02040502050505030304" pitchFamily="18" charset="0"/>
                <a:cs typeface="Times New Roman" panose="02020603050405020304" pitchFamily="18" charset="0"/>
              </a:rPr>
              <a:t>Risk stratification-Normally conducted if NO to PARQ Question/s</a:t>
            </a:r>
          </a:p>
        </p:txBody>
      </p:sp>
      <p:pic>
        <p:nvPicPr>
          <p:cNvPr id="5" name="Picture 4">
            <a:extLst>
              <a:ext uri="{FF2B5EF4-FFF2-40B4-BE49-F238E27FC236}">
                <a16:creationId xmlns:a16="http://schemas.microsoft.com/office/drawing/2014/main" id="{4D7965FC-F00F-4674-B9D6-01BFF1711365}"/>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525657" y="799591"/>
            <a:ext cx="940480" cy="705360"/>
          </a:xfrm>
          <a:prstGeom prst="rect">
            <a:avLst/>
          </a:prstGeom>
        </p:spPr>
      </p:pic>
    </p:spTree>
    <p:extLst>
      <p:ext uri="{BB962C8B-B14F-4D97-AF65-F5344CB8AC3E}">
        <p14:creationId xmlns:p14="http://schemas.microsoft.com/office/powerpoint/2010/main" val="384412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A42A78-F85C-E830-AAD7-824D8065DD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131" y="548288"/>
            <a:ext cx="7394712" cy="4046924"/>
          </a:xfrm>
          <a:prstGeom prst="rect">
            <a:avLst/>
          </a:prstGeom>
        </p:spPr>
      </p:pic>
    </p:spTree>
    <p:extLst>
      <p:ext uri="{BB962C8B-B14F-4D97-AF65-F5344CB8AC3E}">
        <p14:creationId xmlns:p14="http://schemas.microsoft.com/office/powerpoint/2010/main" val="3422230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B89D6D-6B03-3754-B6F8-D939FDFC44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3966" y="577991"/>
            <a:ext cx="7368208" cy="3795226"/>
          </a:xfrm>
          <a:prstGeom prst="rect">
            <a:avLst/>
          </a:prstGeom>
        </p:spPr>
      </p:pic>
    </p:spTree>
    <p:extLst>
      <p:ext uri="{BB962C8B-B14F-4D97-AF65-F5344CB8AC3E}">
        <p14:creationId xmlns:p14="http://schemas.microsoft.com/office/powerpoint/2010/main" val="3601327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B95265-C90B-141E-CDFD-106E9BBFBD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5322" y="662609"/>
            <a:ext cx="7341704" cy="3878469"/>
          </a:xfrm>
          <a:prstGeom prst="rect">
            <a:avLst/>
          </a:prstGeom>
        </p:spPr>
      </p:pic>
    </p:spTree>
    <p:extLst>
      <p:ext uri="{BB962C8B-B14F-4D97-AF65-F5344CB8AC3E}">
        <p14:creationId xmlns:p14="http://schemas.microsoft.com/office/powerpoint/2010/main" val="2125488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03EB876-6A15-3C3E-5111-B3B8029B01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351" y="663437"/>
            <a:ext cx="7163298" cy="4064000"/>
          </a:xfrm>
          <a:prstGeom prst="rect">
            <a:avLst/>
          </a:prstGeom>
        </p:spPr>
      </p:pic>
    </p:spTree>
    <p:extLst>
      <p:ext uri="{BB962C8B-B14F-4D97-AF65-F5344CB8AC3E}">
        <p14:creationId xmlns:p14="http://schemas.microsoft.com/office/powerpoint/2010/main" val="1781098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B291E9-66B6-5125-872E-EA8EDE26830B}"/>
              </a:ext>
            </a:extLst>
          </p:cNvPr>
          <p:cNvSpPr>
            <a:spLocks noGrp="1"/>
          </p:cNvSpPr>
          <p:nvPr>
            <p:ph type="body" sz="quarter" idx="11"/>
          </p:nvPr>
        </p:nvSpPr>
        <p:spPr>
          <a:xfrm>
            <a:off x="91941" y="1012410"/>
            <a:ext cx="4846180" cy="3763617"/>
          </a:xfrm>
        </p:spPr>
        <p:txBody>
          <a:bodyPr/>
          <a:lstStyle/>
          <a:p>
            <a:pPr marL="285750" indent="-285750">
              <a:buFont typeface="Arial" panose="020B0604020202020204" pitchFamily="34" charset="0"/>
              <a:buChar char="•"/>
            </a:pPr>
            <a:r>
              <a:rPr lang="en-GB" sz="1800" dirty="0"/>
              <a:t>The following </a:t>
            </a:r>
            <a:r>
              <a:rPr lang="en-IN" sz="1800" dirty="0"/>
              <a:t>resting </a:t>
            </a:r>
            <a:r>
              <a:rPr lang="en-GB" sz="1800" dirty="0"/>
              <a:t>measurements would be included:</a:t>
            </a:r>
            <a:r>
              <a:rPr lang="en-IN" sz="1800" dirty="0"/>
              <a:t>  </a:t>
            </a:r>
          </a:p>
          <a:p>
            <a:pPr marL="285750" indent="-285750">
              <a:buFont typeface="Arial" panose="020B0604020202020204" pitchFamily="34" charset="0"/>
              <a:buChar char="•"/>
            </a:pPr>
            <a:r>
              <a:rPr lang="en-GB" sz="1800" b="1" dirty="0"/>
              <a:t>R</a:t>
            </a:r>
            <a:r>
              <a:rPr lang="en-IN" sz="1800" b="1" dirty="0" err="1"/>
              <a:t>esting</a:t>
            </a:r>
            <a:r>
              <a:rPr lang="en-IN" sz="1800" b="1" dirty="0"/>
              <a:t> heart rate, blood </a:t>
            </a:r>
            <a:r>
              <a:rPr lang="en-GB" sz="1800" b="1" dirty="0"/>
              <a:t>p</a:t>
            </a:r>
            <a:r>
              <a:rPr lang="en-IN" sz="1800" b="1" dirty="0" err="1"/>
              <a:t>ressure</a:t>
            </a:r>
            <a:r>
              <a:rPr lang="en-IN" sz="1800" b="1" dirty="0"/>
              <a:t>, height and weight</a:t>
            </a:r>
            <a:r>
              <a:rPr lang="en-GB" sz="1800" b="1" dirty="0"/>
              <a:t>.</a:t>
            </a:r>
          </a:p>
          <a:p>
            <a:pPr marL="285750" indent="-285750">
              <a:buFont typeface="Arial" panose="020B0604020202020204" pitchFamily="34" charset="0"/>
              <a:buChar char="•"/>
            </a:pPr>
            <a:r>
              <a:rPr lang="en-GB" sz="1800" dirty="0"/>
              <a:t>These baseline </a:t>
            </a:r>
            <a:r>
              <a:rPr lang="en-IN" sz="1800" dirty="0"/>
              <a:t> </a:t>
            </a:r>
            <a:r>
              <a:rPr lang="en-GB" sz="1800" dirty="0"/>
              <a:t>measurements are </a:t>
            </a:r>
            <a:r>
              <a:rPr lang="en-IN" sz="1800" dirty="0"/>
              <a:t> an extension of the standard screening </a:t>
            </a:r>
            <a:r>
              <a:rPr lang="en-GB" sz="1800" dirty="0"/>
              <a:t>and </a:t>
            </a:r>
            <a:r>
              <a:rPr lang="en-IN" sz="1800" dirty="0"/>
              <a:t>questionnaire procedures</a:t>
            </a:r>
            <a:r>
              <a:rPr lang="en-GB" sz="1800" dirty="0"/>
              <a:t>.</a:t>
            </a:r>
          </a:p>
          <a:p>
            <a:pPr marL="285750" indent="-285750">
              <a:buFont typeface="Arial" panose="020B0604020202020204" pitchFamily="34" charset="0"/>
              <a:buChar char="•"/>
            </a:pPr>
            <a:r>
              <a:rPr lang="en-IN" sz="1800" b="1" dirty="0">
                <a:solidFill>
                  <a:srgbClr val="FF0000"/>
                </a:solidFill>
              </a:rPr>
              <a:t>These are measured to control for cardiovascular risk even if a person is not referred for a cardiovascular-related condition. </a:t>
            </a:r>
            <a:endParaRPr lang="en-GB" sz="1800" b="1" dirty="0">
              <a:solidFill>
                <a:srgbClr val="FF0000"/>
              </a:solidFill>
            </a:endParaRPr>
          </a:p>
          <a:p>
            <a:pPr marL="285750" indent="-285750">
              <a:buFont typeface="Arial" panose="020B0604020202020204" pitchFamily="34" charset="0"/>
              <a:buChar char="•"/>
            </a:pPr>
            <a:r>
              <a:rPr lang="en-IN" sz="1800" dirty="0"/>
              <a:t>They are </a:t>
            </a:r>
            <a:r>
              <a:rPr lang="en-IN" sz="1800" b="1" dirty="0"/>
              <a:t>valuable </a:t>
            </a:r>
            <a:r>
              <a:rPr lang="en-GB" sz="1800" b="1" dirty="0"/>
              <a:t>markers </a:t>
            </a:r>
            <a:r>
              <a:rPr lang="en-IN" sz="1800" dirty="0"/>
              <a:t>to measure at baseline, midway through the programme and at the </a:t>
            </a:r>
            <a:r>
              <a:rPr lang="en-GB" sz="1800" dirty="0"/>
              <a:t>end to identify any changes/improvements.</a:t>
            </a:r>
            <a:endParaRPr lang="en-IN" sz="2400" dirty="0"/>
          </a:p>
          <a:p>
            <a:pPr marL="285750" indent="-285750">
              <a:buFont typeface="Arial" panose="020B0604020202020204" pitchFamily="34" charset="0"/>
              <a:buChar char="•"/>
            </a:pPr>
            <a:endParaRPr lang="en-GB" sz="1800" dirty="0"/>
          </a:p>
          <a:p>
            <a:endParaRPr lang="en-US" dirty="0"/>
          </a:p>
        </p:txBody>
      </p:sp>
      <p:sp>
        <p:nvSpPr>
          <p:cNvPr id="3" name="Text Placeholder 2">
            <a:extLst>
              <a:ext uri="{FF2B5EF4-FFF2-40B4-BE49-F238E27FC236}">
                <a16:creationId xmlns:a16="http://schemas.microsoft.com/office/drawing/2014/main" id="{2A27BB29-8835-C577-6690-E2A209611476}"/>
              </a:ext>
            </a:extLst>
          </p:cNvPr>
          <p:cNvSpPr>
            <a:spLocks noGrp="1"/>
          </p:cNvSpPr>
          <p:nvPr>
            <p:ph type="body" sz="quarter" idx="10"/>
          </p:nvPr>
        </p:nvSpPr>
        <p:spPr>
          <a:xfrm>
            <a:off x="174171" y="147327"/>
            <a:ext cx="8341488" cy="711539"/>
          </a:xfrm>
        </p:spPr>
        <p:txBody>
          <a:bodyPr/>
          <a:lstStyle/>
          <a:p>
            <a:pPr>
              <a:lnSpc>
                <a:spcPts val="2400"/>
              </a:lnSpc>
            </a:pPr>
            <a:r>
              <a:rPr lang="en-IN" sz="2400" b="1" dirty="0"/>
              <a:t>Resting baseline health measurement (Assessment)</a:t>
            </a:r>
          </a:p>
          <a:p>
            <a:pPr>
              <a:lnSpc>
                <a:spcPts val="2400"/>
              </a:lnSpc>
            </a:pPr>
            <a:r>
              <a:rPr lang="en-IN" sz="1800" dirty="0"/>
              <a:t>These are included as part of the physiological/health performance tests.</a:t>
            </a:r>
            <a:endParaRPr lang="en-US" sz="1800" dirty="0"/>
          </a:p>
        </p:txBody>
      </p:sp>
      <p:pic>
        <p:nvPicPr>
          <p:cNvPr id="5" name="Picture 4">
            <a:extLst>
              <a:ext uri="{FF2B5EF4-FFF2-40B4-BE49-F238E27FC236}">
                <a16:creationId xmlns:a16="http://schemas.microsoft.com/office/drawing/2014/main" id="{0D4B7F9C-41F2-5BC7-96CB-93BA0217C6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03248" y="1012410"/>
            <a:ext cx="3748811" cy="3118679"/>
          </a:xfrm>
          <a:prstGeom prst="rect">
            <a:avLst/>
          </a:prstGeom>
        </p:spPr>
      </p:pic>
    </p:spTree>
    <p:extLst>
      <p:ext uri="{BB962C8B-B14F-4D97-AF65-F5344CB8AC3E}">
        <p14:creationId xmlns:p14="http://schemas.microsoft.com/office/powerpoint/2010/main" val="97191975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AABA0-C6FA-CC35-56FE-93ABBFA633F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10A611-0B93-2C21-8262-323084EFD664}"/>
              </a:ext>
            </a:extLst>
          </p:cNvPr>
          <p:cNvSpPr>
            <a:spLocks noGrp="1"/>
          </p:cNvSpPr>
          <p:nvPr>
            <p:ph type="body" sz="quarter" idx="10"/>
          </p:nvPr>
        </p:nvSpPr>
        <p:spPr/>
        <p:txBody>
          <a:bodyPr/>
          <a:lstStyle/>
          <a:p>
            <a:r>
              <a:rPr lang="en-GB" dirty="0"/>
              <a:t>Group Activity</a:t>
            </a:r>
            <a:endParaRPr lang="en-US" dirty="0"/>
          </a:p>
        </p:txBody>
      </p:sp>
      <p:pic>
        <p:nvPicPr>
          <p:cNvPr id="5" name="Picture 4">
            <a:extLst>
              <a:ext uri="{FF2B5EF4-FFF2-40B4-BE49-F238E27FC236}">
                <a16:creationId xmlns:a16="http://schemas.microsoft.com/office/drawing/2014/main" id="{A20AE1E1-8089-2FF8-5F9D-3099D1AA69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4970" y="1184618"/>
            <a:ext cx="2912562" cy="2551784"/>
          </a:xfrm>
          <a:prstGeom prst="rect">
            <a:avLst/>
          </a:prstGeom>
        </p:spPr>
      </p:pic>
      <p:sp>
        <p:nvSpPr>
          <p:cNvPr id="7" name="Text Placeholder 3">
            <a:extLst>
              <a:ext uri="{FF2B5EF4-FFF2-40B4-BE49-F238E27FC236}">
                <a16:creationId xmlns:a16="http://schemas.microsoft.com/office/drawing/2014/main" id="{915D0D67-A2DC-6FCC-C68F-C7703C485A1D}"/>
              </a:ext>
            </a:extLst>
          </p:cNvPr>
          <p:cNvSpPr txBox="1">
            <a:spLocks noGrp="1"/>
          </p:cNvSpPr>
          <p:nvPr>
            <p:ph type="body" sz="quarter" idx="11"/>
          </p:nvPr>
        </p:nvSpPr>
        <p:spPr>
          <a:xfrm>
            <a:off x="378315" y="1376494"/>
            <a:ext cx="5086313" cy="3287174"/>
          </a:xfrm>
          <a:prstGeom prst="rect">
            <a:avLst/>
          </a:prstGeom>
        </p:spPr>
        <p:txBody>
          <a:bodyPr vert="horz" lIns="0" tIns="0" rIns="0" bIns="0" numCol="1" spcCol="216000" rtlCol="0">
            <a:normAutofit/>
          </a:bodyPr>
          <a:lstStyle>
            <a:lvl1pPr marL="0" marR="0" indent="0" algn="l" defTabSz="606410" rtl="0" eaLnBrk="1" fontAlgn="base" latinLnBrk="0" hangingPunct="1">
              <a:lnSpc>
                <a:spcPts val="2000"/>
              </a:lnSpc>
              <a:spcBef>
                <a:spcPts val="0"/>
              </a:spcBef>
              <a:spcAft>
                <a:spcPct val="0"/>
              </a:spcAft>
              <a:buClrTx/>
              <a:buSzTx/>
              <a:buFontTx/>
              <a:buNone/>
              <a:tabLst/>
              <a:defRPr sz="1400" b="0" i="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pPr>
              <a:lnSpc>
                <a:spcPts val="2200"/>
              </a:lnSpc>
            </a:pPr>
            <a:r>
              <a:rPr lang="en-GB" sz="2000" b="1" dirty="0">
                <a:solidFill>
                  <a:schemeClr val="accent5"/>
                </a:solidFill>
              </a:rPr>
              <a:t>Why is Screening and taking physiological measurements (BP, HR) important before an exercise programme?</a:t>
            </a:r>
          </a:p>
          <a:p>
            <a:pPr>
              <a:lnSpc>
                <a:spcPts val="2200"/>
              </a:lnSpc>
            </a:pPr>
            <a:endParaRPr lang="en-GB" sz="2000" b="1" dirty="0">
              <a:solidFill>
                <a:schemeClr val="accent5"/>
              </a:solidFill>
            </a:endParaRPr>
          </a:p>
          <a:p>
            <a:pPr>
              <a:lnSpc>
                <a:spcPts val="2200"/>
              </a:lnSpc>
            </a:pPr>
            <a:r>
              <a:rPr lang="en-GB" sz="2000" b="1" dirty="0">
                <a:solidFill>
                  <a:schemeClr val="accent5"/>
                </a:solidFill>
              </a:rPr>
              <a:t>Work in pairs, put ideas on a </a:t>
            </a:r>
            <a:r>
              <a:rPr lang="en-GB" sz="2000" b="1" dirty="0" err="1">
                <a:solidFill>
                  <a:schemeClr val="accent5"/>
                </a:solidFill>
              </a:rPr>
              <a:t>post-it</a:t>
            </a:r>
            <a:r>
              <a:rPr lang="en-GB" sz="2000" b="1" dirty="0">
                <a:solidFill>
                  <a:schemeClr val="accent5"/>
                </a:solidFill>
              </a:rPr>
              <a:t> or  interactive board and then share with the group.</a:t>
            </a:r>
          </a:p>
          <a:p>
            <a:endParaRPr lang="en-GB" sz="1800" b="1" dirty="0">
              <a:solidFill>
                <a:schemeClr val="accent5"/>
              </a:solidFill>
            </a:endParaRPr>
          </a:p>
          <a:p>
            <a:endParaRPr lang="en-GB" sz="1800" b="1" dirty="0">
              <a:solidFill>
                <a:schemeClr val="accent5"/>
              </a:solidFill>
            </a:endParaRPr>
          </a:p>
          <a:p>
            <a:endParaRPr lang="en-US" sz="1800" b="1" dirty="0">
              <a:solidFill>
                <a:schemeClr val="accent5"/>
              </a:solidFill>
            </a:endParaRPr>
          </a:p>
        </p:txBody>
      </p:sp>
      <p:pic>
        <p:nvPicPr>
          <p:cNvPr id="6" name="Picture 5">
            <a:extLst>
              <a:ext uri="{FF2B5EF4-FFF2-40B4-BE49-F238E27FC236}">
                <a16:creationId xmlns:a16="http://schemas.microsoft.com/office/drawing/2014/main" id="{7C096D94-E08E-3289-73C4-E7931701C3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1703" y="3878107"/>
            <a:ext cx="1111819" cy="884237"/>
          </a:xfrm>
          <a:prstGeom prst="rect">
            <a:avLst/>
          </a:prstGeom>
        </p:spPr>
      </p:pic>
    </p:spTree>
    <p:extLst>
      <p:ext uri="{BB962C8B-B14F-4D97-AF65-F5344CB8AC3E}">
        <p14:creationId xmlns:p14="http://schemas.microsoft.com/office/powerpoint/2010/main" val="1717738454"/>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261C2D-CBA2-DE44-885C-E1349F5DBE35}"/>
              </a:ext>
            </a:extLst>
          </p:cNvPr>
          <p:cNvSpPr>
            <a:spLocks noGrp="1"/>
          </p:cNvSpPr>
          <p:nvPr>
            <p:ph type="body" sz="quarter" idx="11"/>
          </p:nvPr>
        </p:nvSpPr>
        <p:spPr>
          <a:xfrm>
            <a:off x="304800" y="680046"/>
            <a:ext cx="8396515" cy="3783407"/>
          </a:xfrm>
        </p:spPr>
        <p:txBody>
          <a:bodyPr/>
          <a:lstStyle/>
          <a:p>
            <a:pPr algn="l">
              <a:lnSpc>
                <a:spcPts val="2900"/>
              </a:lnSpc>
              <a:buNone/>
            </a:pPr>
            <a:r>
              <a:rPr lang="en-GB" sz="2800" b="0" i="0" dirty="0">
                <a:solidFill>
                  <a:srgbClr val="222222"/>
                </a:solidFill>
                <a:effectLst/>
                <a:latin typeface="+mn-lt"/>
              </a:rPr>
              <a:t>Ideally identified by the individual based on their desired results (self determination).</a:t>
            </a:r>
          </a:p>
          <a:p>
            <a:pPr algn="l">
              <a:lnSpc>
                <a:spcPts val="2900"/>
              </a:lnSpc>
              <a:buNone/>
            </a:pPr>
            <a:r>
              <a:rPr lang="en-GB" sz="2800" dirty="0">
                <a:solidFill>
                  <a:srgbClr val="222222"/>
                </a:solidFill>
                <a:latin typeface="+mn-lt"/>
              </a:rPr>
              <a:t>………………</a:t>
            </a:r>
          </a:p>
          <a:p>
            <a:pPr algn="l">
              <a:lnSpc>
                <a:spcPts val="2900"/>
              </a:lnSpc>
              <a:buNone/>
            </a:pPr>
            <a:r>
              <a:rPr lang="en-GB" sz="2800" b="0" i="0" dirty="0">
                <a:solidFill>
                  <a:srgbClr val="222222"/>
                </a:solidFill>
                <a:effectLst/>
                <a:latin typeface="+mn-lt"/>
              </a:rPr>
              <a:t>Goals should be……</a:t>
            </a:r>
          </a:p>
          <a:p>
            <a:pPr algn="l">
              <a:lnSpc>
                <a:spcPts val="2900"/>
              </a:lnSpc>
              <a:buFont typeface="Arial" panose="020B0604020202020204" pitchFamily="34" charset="0"/>
              <a:buChar char="•"/>
            </a:pPr>
            <a:r>
              <a:rPr lang="en-GB" sz="2800" b="1" i="0" dirty="0">
                <a:solidFill>
                  <a:srgbClr val="FF0000"/>
                </a:solidFill>
                <a:effectLst/>
                <a:latin typeface="+mn-lt"/>
              </a:rPr>
              <a:t>Specific</a:t>
            </a:r>
            <a:r>
              <a:rPr lang="en-GB" sz="2800" dirty="0">
                <a:solidFill>
                  <a:srgbClr val="222222"/>
                </a:solidFill>
                <a:latin typeface="+mn-lt"/>
              </a:rPr>
              <a:t>-</a:t>
            </a:r>
            <a:r>
              <a:rPr lang="en-GB" sz="2800" b="0" i="0" dirty="0">
                <a:solidFill>
                  <a:srgbClr val="222222"/>
                </a:solidFill>
                <a:effectLst/>
                <a:latin typeface="+mn-lt"/>
              </a:rPr>
              <a:t>precise and clear</a:t>
            </a:r>
          </a:p>
          <a:p>
            <a:pPr algn="l">
              <a:lnSpc>
                <a:spcPts val="2900"/>
              </a:lnSpc>
              <a:buFont typeface="Arial" panose="020B0604020202020204" pitchFamily="34" charset="0"/>
              <a:buChar char="•"/>
            </a:pPr>
            <a:r>
              <a:rPr lang="en-GB" sz="2800" b="1" i="0" dirty="0">
                <a:solidFill>
                  <a:srgbClr val="FF0000"/>
                </a:solidFill>
                <a:effectLst/>
                <a:latin typeface="+mn-lt"/>
              </a:rPr>
              <a:t>Measurable</a:t>
            </a:r>
            <a:r>
              <a:rPr lang="en-GB" sz="2800" b="0" i="0" dirty="0">
                <a:solidFill>
                  <a:srgbClr val="222222"/>
                </a:solidFill>
                <a:effectLst/>
                <a:latin typeface="+mn-lt"/>
              </a:rPr>
              <a:t>-quantifiable</a:t>
            </a:r>
          </a:p>
          <a:p>
            <a:pPr algn="l">
              <a:lnSpc>
                <a:spcPts val="2900"/>
              </a:lnSpc>
              <a:buFont typeface="Arial" panose="020B0604020202020204" pitchFamily="34" charset="0"/>
              <a:buChar char="•"/>
            </a:pPr>
            <a:r>
              <a:rPr lang="en-GB" sz="2800" b="1" i="0" dirty="0">
                <a:solidFill>
                  <a:srgbClr val="FF0000"/>
                </a:solidFill>
                <a:effectLst/>
                <a:latin typeface="+mn-lt"/>
              </a:rPr>
              <a:t>Action-orientated,</a:t>
            </a:r>
            <a:r>
              <a:rPr lang="en-GB" sz="2800" b="0" i="0" dirty="0">
                <a:solidFill>
                  <a:srgbClr val="222222"/>
                </a:solidFill>
                <a:effectLst/>
                <a:latin typeface="+mn-lt"/>
              </a:rPr>
              <a:t> should indicate what should be done</a:t>
            </a:r>
          </a:p>
          <a:p>
            <a:pPr algn="l">
              <a:lnSpc>
                <a:spcPts val="2900"/>
              </a:lnSpc>
              <a:buFont typeface="Arial" panose="020B0604020202020204" pitchFamily="34" charset="0"/>
              <a:buChar char="•"/>
            </a:pPr>
            <a:r>
              <a:rPr lang="en-GB" sz="2800" b="1" i="0" dirty="0">
                <a:solidFill>
                  <a:srgbClr val="FF0000"/>
                </a:solidFill>
                <a:effectLst/>
                <a:latin typeface="+mn-lt"/>
              </a:rPr>
              <a:t>Realistic</a:t>
            </a:r>
            <a:r>
              <a:rPr lang="en-GB" sz="2800" b="0" i="0" dirty="0">
                <a:solidFill>
                  <a:srgbClr val="222222"/>
                </a:solidFill>
                <a:effectLst/>
                <a:latin typeface="+mn-lt"/>
              </a:rPr>
              <a:t>-achievable</a:t>
            </a:r>
          </a:p>
          <a:p>
            <a:pPr algn="l">
              <a:lnSpc>
                <a:spcPts val="2900"/>
              </a:lnSpc>
              <a:buFont typeface="Arial" panose="020B0604020202020204" pitchFamily="34" charset="0"/>
              <a:buChar char="•"/>
            </a:pPr>
            <a:r>
              <a:rPr lang="en-GB" sz="2800" b="1" i="0" dirty="0">
                <a:solidFill>
                  <a:srgbClr val="FF0000"/>
                </a:solidFill>
                <a:effectLst/>
                <a:latin typeface="+mn-lt"/>
              </a:rPr>
              <a:t>Timely</a:t>
            </a:r>
            <a:r>
              <a:rPr lang="en-GB" sz="2800" b="0" i="0" dirty="0">
                <a:solidFill>
                  <a:srgbClr val="222222"/>
                </a:solidFill>
                <a:effectLst/>
                <a:latin typeface="+mn-lt"/>
              </a:rPr>
              <a:t>-have a specific/realistic time frame</a:t>
            </a:r>
          </a:p>
          <a:p>
            <a:pPr algn="l">
              <a:lnSpc>
                <a:spcPts val="2900"/>
              </a:lnSpc>
              <a:buFont typeface="Arial" panose="020B0604020202020204" pitchFamily="34" charset="0"/>
              <a:buChar char="•"/>
            </a:pPr>
            <a:r>
              <a:rPr lang="en-GB" sz="2800" b="1" dirty="0">
                <a:solidFill>
                  <a:srgbClr val="FF0000"/>
                </a:solidFill>
                <a:latin typeface="+mn-lt"/>
              </a:rPr>
              <a:t>Self-determined</a:t>
            </a:r>
            <a:r>
              <a:rPr lang="en-GB" sz="2800" dirty="0">
                <a:solidFill>
                  <a:srgbClr val="222222"/>
                </a:solidFill>
                <a:latin typeface="+mn-lt"/>
              </a:rPr>
              <a:t>-should be determined primarily by the individual</a:t>
            </a:r>
            <a:endParaRPr lang="en-GB" sz="2800" b="0" i="0" dirty="0">
              <a:solidFill>
                <a:srgbClr val="222222"/>
              </a:solidFill>
              <a:effectLst/>
              <a:latin typeface="+mn-lt"/>
            </a:endParaRPr>
          </a:p>
          <a:p>
            <a:endParaRPr lang="en-GB" dirty="0"/>
          </a:p>
        </p:txBody>
      </p:sp>
      <p:sp>
        <p:nvSpPr>
          <p:cNvPr id="3" name="Text Placeholder 2">
            <a:extLst>
              <a:ext uri="{FF2B5EF4-FFF2-40B4-BE49-F238E27FC236}">
                <a16:creationId xmlns:a16="http://schemas.microsoft.com/office/drawing/2014/main" id="{8AADB9C1-9AAA-05CF-9F68-F6000D9B33FC}"/>
              </a:ext>
            </a:extLst>
          </p:cNvPr>
          <p:cNvSpPr>
            <a:spLocks noGrp="1"/>
          </p:cNvSpPr>
          <p:nvPr>
            <p:ph type="body" sz="quarter" idx="10"/>
          </p:nvPr>
        </p:nvSpPr>
        <p:spPr>
          <a:xfrm>
            <a:off x="522293" y="130857"/>
            <a:ext cx="6552655" cy="484530"/>
          </a:xfrm>
        </p:spPr>
        <p:txBody>
          <a:bodyPr/>
          <a:lstStyle/>
          <a:p>
            <a:r>
              <a:rPr lang="en-GB" dirty="0"/>
              <a:t>SMARTS Goals (ACSM 2026)</a:t>
            </a:r>
          </a:p>
        </p:txBody>
      </p:sp>
    </p:spTree>
    <p:extLst>
      <p:ext uri="{BB962C8B-B14F-4D97-AF65-F5344CB8AC3E}">
        <p14:creationId xmlns:p14="http://schemas.microsoft.com/office/powerpoint/2010/main" val="369752391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F0AB45E-DA92-B0DD-F03A-E86068E80825}"/>
              </a:ext>
            </a:extLst>
          </p:cNvPr>
          <p:cNvSpPr>
            <a:spLocks noGrp="1"/>
          </p:cNvSpPr>
          <p:nvPr>
            <p:ph type="body" sz="quarter" idx="11"/>
          </p:nvPr>
        </p:nvSpPr>
        <p:spPr>
          <a:xfrm>
            <a:off x="232230" y="1368000"/>
            <a:ext cx="3835020" cy="3402378"/>
          </a:xfrm>
        </p:spPr>
        <p:txBody>
          <a:bodyPr/>
          <a:lstStyle/>
          <a:p>
            <a:r>
              <a:rPr lang="en-GB" sz="1600" b="1" dirty="0"/>
              <a:t>Goal Setting Theory</a:t>
            </a:r>
          </a:p>
          <a:p>
            <a:r>
              <a:rPr lang="en-GB" sz="1600" dirty="0"/>
              <a:t>Four mechanisms play a role in behaviour change with goals:</a:t>
            </a:r>
          </a:p>
          <a:p>
            <a:pPr marL="342900" indent="-342900">
              <a:buFont typeface="+mj-lt"/>
              <a:buAutoNum type="arabicPeriod"/>
            </a:pPr>
            <a:r>
              <a:rPr lang="en-GB" sz="1600" dirty="0"/>
              <a:t>Goals put your attention and energy toward behaviour that is desired.</a:t>
            </a:r>
          </a:p>
          <a:p>
            <a:pPr marL="342900" indent="-342900">
              <a:buFont typeface="+mj-lt"/>
              <a:buAutoNum type="arabicPeriod"/>
            </a:pPr>
            <a:r>
              <a:rPr lang="en-GB" sz="1600" dirty="0"/>
              <a:t>Goals will lead to more effort.</a:t>
            </a:r>
          </a:p>
          <a:p>
            <a:pPr marL="342900" indent="-342900">
              <a:buFont typeface="+mj-lt"/>
              <a:buAutoNum type="arabicPeriod"/>
            </a:pPr>
            <a:r>
              <a:rPr lang="en-GB" sz="1600" dirty="0"/>
              <a:t>Goals will extend the time and energy that is put into some behaviour that is desired.</a:t>
            </a:r>
          </a:p>
          <a:p>
            <a:pPr marL="342900" indent="-342900">
              <a:buFont typeface="+mj-lt"/>
              <a:buAutoNum type="arabicPeriod"/>
            </a:pPr>
            <a:r>
              <a:rPr lang="en-GB" sz="1600" dirty="0"/>
              <a:t>Goals will increase goal relevant skill usage.</a:t>
            </a:r>
          </a:p>
          <a:p>
            <a:endParaRPr lang="en-GB" dirty="0"/>
          </a:p>
        </p:txBody>
      </p:sp>
      <p:sp>
        <p:nvSpPr>
          <p:cNvPr id="3" name="Text Placeholder 2">
            <a:extLst>
              <a:ext uri="{FF2B5EF4-FFF2-40B4-BE49-F238E27FC236}">
                <a16:creationId xmlns:a16="http://schemas.microsoft.com/office/drawing/2014/main" id="{1F337EB3-0160-1A1C-6AED-04F6B455C4CA}"/>
              </a:ext>
            </a:extLst>
          </p:cNvPr>
          <p:cNvSpPr>
            <a:spLocks noGrp="1"/>
          </p:cNvSpPr>
          <p:nvPr>
            <p:ph type="body" sz="quarter" idx="10"/>
          </p:nvPr>
        </p:nvSpPr>
        <p:spPr>
          <a:xfrm>
            <a:off x="500744" y="293688"/>
            <a:ext cx="7692953" cy="838426"/>
          </a:xfrm>
        </p:spPr>
        <p:txBody>
          <a:bodyPr/>
          <a:lstStyle/>
          <a:p>
            <a:r>
              <a:rPr lang="en-GB" sz="2000" b="1" dirty="0"/>
              <a:t>Goal Setting (Individualised &amp; Condition Specific)</a:t>
            </a:r>
          </a:p>
          <a:p>
            <a:r>
              <a:rPr lang="en-GB" sz="2000" b="1" dirty="0">
                <a:hlinkClick r:id="rId2"/>
              </a:rPr>
              <a:t>ACSM-Theories of behaviour change</a:t>
            </a:r>
            <a:endParaRPr lang="en-GB" sz="2000" b="1" dirty="0"/>
          </a:p>
          <a:p>
            <a:endParaRPr lang="en-GB" sz="2000" b="1" dirty="0"/>
          </a:p>
          <a:p>
            <a:endParaRPr lang="en-GB" sz="2000" b="1" dirty="0"/>
          </a:p>
          <a:p>
            <a:endParaRPr lang="en-GB" sz="2000" b="1" dirty="0"/>
          </a:p>
          <a:p>
            <a:endParaRPr lang="en-GB" sz="2000" b="1" dirty="0"/>
          </a:p>
        </p:txBody>
      </p:sp>
      <p:pic>
        <p:nvPicPr>
          <p:cNvPr id="5" name="Picture 4">
            <a:extLst>
              <a:ext uri="{FF2B5EF4-FFF2-40B4-BE49-F238E27FC236}">
                <a16:creationId xmlns:a16="http://schemas.microsoft.com/office/drawing/2014/main" id="{969AC3A2-27AD-59CE-B629-51127C51C409}"/>
              </a:ext>
            </a:extLst>
          </p:cNvPr>
          <p:cNvPicPr>
            <a:picLocks noChangeAspect="1"/>
          </p:cNvPicPr>
          <p:nvPr/>
        </p:nvPicPr>
        <p:blipFill>
          <a:blip r:embed="rId3"/>
          <a:stretch>
            <a:fillRect/>
          </a:stretch>
        </p:blipFill>
        <p:spPr>
          <a:xfrm>
            <a:off x="4391206" y="1487826"/>
            <a:ext cx="3802491" cy="2532969"/>
          </a:xfrm>
          <a:prstGeom prst="rect">
            <a:avLst/>
          </a:prstGeom>
        </p:spPr>
      </p:pic>
    </p:spTree>
    <p:extLst>
      <p:ext uri="{BB962C8B-B14F-4D97-AF65-F5344CB8AC3E}">
        <p14:creationId xmlns:p14="http://schemas.microsoft.com/office/powerpoint/2010/main" val="3739938044"/>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80E837-7D48-7DA3-1921-8479CBDAADF8}"/>
              </a:ext>
            </a:extLst>
          </p:cNvPr>
          <p:cNvSpPr>
            <a:spLocks noGrp="1"/>
          </p:cNvSpPr>
          <p:nvPr>
            <p:ph type="body" sz="quarter" idx="10"/>
          </p:nvPr>
        </p:nvSpPr>
        <p:spPr/>
        <p:txBody>
          <a:bodyPr/>
          <a:lstStyle/>
          <a:p>
            <a:r>
              <a:rPr lang="en-GB" dirty="0"/>
              <a:t>Examples of goals (ACSM, 2026)</a:t>
            </a:r>
          </a:p>
        </p:txBody>
      </p:sp>
      <p:sp>
        <p:nvSpPr>
          <p:cNvPr id="5" name="Text Placeholder 4">
            <a:extLst>
              <a:ext uri="{FF2B5EF4-FFF2-40B4-BE49-F238E27FC236}">
                <a16:creationId xmlns:a16="http://schemas.microsoft.com/office/drawing/2014/main" id="{49F63EBA-D424-7669-9959-BC9B80F4F6E3}"/>
              </a:ext>
            </a:extLst>
          </p:cNvPr>
          <p:cNvSpPr>
            <a:spLocks noGrp="1"/>
          </p:cNvSpPr>
          <p:nvPr>
            <p:ph type="body" sz="quarter" idx="11"/>
          </p:nvPr>
        </p:nvSpPr>
        <p:spPr/>
        <p:txBody>
          <a:bodyPr/>
          <a:lstStyle/>
          <a:p>
            <a:r>
              <a:rPr lang="en-GB" dirty="0"/>
              <a:t>“</a:t>
            </a:r>
            <a:r>
              <a:rPr lang="en-GB" sz="2400" i="1" dirty="0"/>
              <a:t>My goal is to swim 10 laps each Saturday for the next 3 months.” </a:t>
            </a:r>
          </a:p>
          <a:p>
            <a:endParaRPr lang="en-GB" sz="2400" i="1" dirty="0"/>
          </a:p>
          <a:p>
            <a:r>
              <a:rPr lang="en-GB" sz="2400" i="1" dirty="0"/>
              <a:t>“My goal is to walk on the treadmill for 20 min/per day for 3 days a week, for the next month.”</a:t>
            </a:r>
          </a:p>
          <a:p>
            <a:endParaRPr lang="en-GB" dirty="0"/>
          </a:p>
          <a:p>
            <a:pPr marL="0" indent="0">
              <a:buNone/>
            </a:pPr>
            <a:r>
              <a:rPr lang="en-GB" b="1" dirty="0">
                <a:solidFill>
                  <a:srgbClr val="FF0000"/>
                </a:solidFill>
              </a:rPr>
              <a:t>Task: Any thoughts how these goals relate to SMARTS?</a:t>
            </a:r>
          </a:p>
        </p:txBody>
      </p:sp>
    </p:spTree>
    <p:extLst>
      <p:ext uri="{BB962C8B-B14F-4D97-AF65-F5344CB8AC3E}">
        <p14:creationId xmlns:p14="http://schemas.microsoft.com/office/powerpoint/2010/main" val="4283323386"/>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760F-30F9-2497-1593-66B068EA7D0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2CAE304-93B9-1C5D-825E-D835F0EB98C9}"/>
              </a:ext>
            </a:extLst>
          </p:cNvPr>
          <p:cNvSpPr>
            <a:spLocks noGrp="1"/>
          </p:cNvSpPr>
          <p:nvPr>
            <p:ph type="body" sz="quarter" idx="10"/>
          </p:nvPr>
        </p:nvSpPr>
        <p:spPr/>
        <p:txBody>
          <a:bodyPr/>
          <a:lstStyle/>
          <a:p>
            <a:r>
              <a:rPr lang="en-GB" dirty="0"/>
              <a:t>Group Activity</a:t>
            </a:r>
            <a:endParaRPr lang="en-US" dirty="0"/>
          </a:p>
        </p:txBody>
      </p:sp>
      <p:pic>
        <p:nvPicPr>
          <p:cNvPr id="5" name="Picture 4">
            <a:extLst>
              <a:ext uri="{FF2B5EF4-FFF2-40B4-BE49-F238E27FC236}">
                <a16:creationId xmlns:a16="http://schemas.microsoft.com/office/drawing/2014/main" id="{B254A50C-FE20-388C-5484-1721C117C6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4970" y="1184618"/>
            <a:ext cx="2912562" cy="2551784"/>
          </a:xfrm>
          <a:prstGeom prst="rect">
            <a:avLst/>
          </a:prstGeom>
        </p:spPr>
      </p:pic>
      <p:sp>
        <p:nvSpPr>
          <p:cNvPr id="7" name="Text Placeholder 3">
            <a:extLst>
              <a:ext uri="{FF2B5EF4-FFF2-40B4-BE49-F238E27FC236}">
                <a16:creationId xmlns:a16="http://schemas.microsoft.com/office/drawing/2014/main" id="{CE106A57-5495-D6AA-A36A-54E4A9F1FC04}"/>
              </a:ext>
            </a:extLst>
          </p:cNvPr>
          <p:cNvSpPr txBox="1">
            <a:spLocks noGrp="1"/>
          </p:cNvSpPr>
          <p:nvPr>
            <p:ph type="body" sz="quarter" idx="11"/>
          </p:nvPr>
        </p:nvSpPr>
        <p:spPr>
          <a:xfrm>
            <a:off x="378315" y="1376494"/>
            <a:ext cx="5086313" cy="3287174"/>
          </a:xfrm>
          <a:prstGeom prst="rect">
            <a:avLst/>
          </a:prstGeom>
        </p:spPr>
        <p:txBody>
          <a:bodyPr vert="horz" lIns="0" tIns="0" rIns="0" bIns="0" numCol="1" spcCol="216000" rtlCol="0">
            <a:normAutofit/>
          </a:bodyPr>
          <a:lstStyle>
            <a:lvl1pPr marL="0" marR="0" indent="0" algn="l" defTabSz="606410" rtl="0" eaLnBrk="1" fontAlgn="base" latinLnBrk="0" hangingPunct="1">
              <a:lnSpc>
                <a:spcPts val="2000"/>
              </a:lnSpc>
              <a:spcBef>
                <a:spcPts val="0"/>
              </a:spcBef>
              <a:spcAft>
                <a:spcPct val="0"/>
              </a:spcAft>
              <a:buClrTx/>
              <a:buSzTx/>
              <a:buFontTx/>
              <a:buNone/>
              <a:tabLst/>
              <a:defRPr sz="1400" b="0" i="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pPr>
              <a:lnSpc>
                <a:spcPts val="2200"/>
              </a:lnSpc>
            </a:pPr>
            <a:r>
              <a:rPr lang="en-GB" sz="2000" b="1" dirty="0">
                <a:solidFill>
                  <a:schemeClr val="accent5"/>
                </a:solidFill>
              </a:rPr>
              <a:t>Think of some SMARTS goals you could do with any of the three special populations?</a:t>
            </a:r>
          </a:p>
          <a:p>
            <a:pPr>
              <a:lnSpc>
                <a:spcPts val="2200"/>
              </a:lnSpc>
            </a:pPr>
            <a:endParaRPr lang="en-GB" sz="2000" b="1" dirty="0">
              <a:solidFill>
                <a:schemeClr val="accent5"/>
              </a:solidFill>
            </a:endParaRPr>
          </a:p>
          <a:p>
            <a:pPr>
              <a:lnSpc>
                <a:spcPts val="2200"/>
              </a:lnSpc>
            </a:pPr>
            <a:r>
              <a:rPr lang="en-GB" sz="2000" b="1" dirty="0">
                <a:solidFill>
                  <a:schemeClr val="accent5"/>
                </a:solidFill>
              </a:rPr>
              <a:t>Work in pairs, put ideas on a </a:t>
            </a:r>
            <a:r>
              <a:rPr lang="en-GB" sz="2000" b="1" dirty="0" err="1">
                <a:solidFill>
                  <a:schemeClr val="accent5"/>
                </a:solidFill>
              </a:rPr>
              <a:t>post-it</a:t>
            </a:r>
            <a:r>
              <a:rPr lang="en-GB" sz="2000" b="1" dirty="0">
                <a:solidFill>
                  <a:schemeClr val="accent5"/>
                </a:solidFill>
              </a:rPr>
              <a:t> or  interactive board and then share with the group.</a:t>
            </a:r>
          </a:p>
          <a:p>
            <a:endParaRPr lang="en-GB" sz="1800" b="1" dirty="0">
              <a:solidFill>
                <a:schemeClr val="accent5"/>
              </a:solidFill>
            </a:endParaRPr>
          </a:p>
          <a:p>
            <a:endParaRPr lang="en-GB" sz="1800" b="1" dirty="0">
              <a:solidFill>
                <a:schemeClr val="accent5"/>
              </a:solidFill>
            </a:endParaRPr>
          </a:p>
          <a:p>
            <a:endParaRPr lang="en-US" sz="1800" b="1" dirty="0">
              <a:solidFill>
                <a:schemeClr val="accent5"/>
              </a:solidFill>
            </a:endParaRPr>
          </a:p>
        </p:txBody>
      </p:sp>
      <p:pic>
        <p:nvPicPr>
          <p:cNvPr id="6" name="Picture 5">
            <a:extLst>
              <a:ext uri="{FF2B5EF4-FFF2-40B4-BE49-F238E27FC236}">
                <a16:creationId xmlns:a16="http://schemas.microsoft.com/office/drawing/2014/main" id="{5D8CE798-2574-B9FA-F98B-AF993E507E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760" y="3457193"/>
            <a:ext cx="1111819" cy="884237"/>
          </a:xfrm>
          <a:prstGeom prst="rect">
            <a:avLst/>
          </a:prstGeom>
        </p:spPr>
      </p:pic>
    </p:spTree>
    <p:extLst>
      <p:ext uri="{BB962C8B-B14F-4D97-AF65-F5344CB8AC3E}">
        <p14:creationId xmlns:p14="http://schemas.microsoft.com/office/powerpoint/2010/main" val="3141627440"/>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4566B27-04B8-4B9A-CD8C-332F2315699C}"/>
              </a:ext>
            </a:extLst>
          </p:cNvPr>
          <p:cNvSpPr>
            <a:spLocks noGrp="1"/>
          </p:cNvSpPr>
          <p:nvPr>
            <p:ph type="body" sz="quarter" idx="10"/>
          </p:nvPr>
        </p:nvSpPr>
        <p:spPr>
          <a:xfrm>
            <a:off x="108858" y="166914"/>
            <a:ext cx="8686800" cy="1020929"/>
          </a:xfrm>
        </p:spPr>
        <p:txBody>
          <a:bodyPr/>
          <a:lstStyle/>
          <a:p>
            <a:pPr>
              <a:lnSpc>
                <a:spcPct val="100000"/>
              </a:lnSpc>
              <a:spcBef>
                <a:spcPts val="0"/>
              </a:spcBef>
            </a:pPr>
            <a:r>
              <a:rPr kumimoji="0" lang="en-GB" sz="2400" b="0" i="0" u="none" strike="noStrike" kern="1200" cap="none" spc="0" normalizeH="0" baseline="0" noProof="0" dirty="0">
                <a:ln>
                  <a:noFill/>
                </a:ln>
                <a:solidFill>
                  <a:srgbClr val="16818D"/>
                </a:solidFill>
                <a:effectLst/>
                <a:uLnTx/>
                <a:uFillTx/>
                <a:latin typeface="Calibri" panose="020F0502020204030204" pitchFamily="34" charset="0"/>
                <a:ea typeface="Calibri" panose="020F0502020204030204" pitchFamily="34" charset="0"/>
                <a:cs typeface="Calibri" panose="020F0502020204030204" pitchFamily="34" charset="0"/>
              </a:rPr>
              <a:t>Special Considerations for Planning and Designing Exercise Programme</a:t>
            </a:r>
            <a:endParaRPr lang="en-GB" sz="2400" dirty="0"/>
          </a:p>
        </p:txBody>
      </p:sp>
      <p:sp>
        <p:nvSpPr>
          <p:cNvPr id="7" name="Text Placeholder 6">
            <a:extLst>
              <a:ext uri="{FF2B5EF4-FFF2-40B4-BE49-F238E27FC236}">
                <a16:creationId xmlns:a16="http://schemas.microsoft.com/office/drawing/2014/main" id="{460A6828-70AA-A081-EBA0-D06AABBD17FB}"/>
              </a:ext>
            </a:extLst>
          </p:cNvPr>
          <p:cNvSpPr>
            <a:spLocks noGrp="1"/>
          </p:cNvSpPr>
          <p:nvPr>
            <p:ph type="body" sz="quarter" idx="11"/>
          </p:nvPr>
        </p:nvSpPr>
        <p:spPr>
          <a:xfrm>
            <a:off x="486498" y="1289444"/>
            <a:ext cx="3483160" cy="2731014"/>
          </a:xfrm>
        </p:spPr>
        <p:txBody>
          <a:bodyPr/>
          <a:lstStyle/>
          <a:p>
            <a:pPr marL="0" indent="0">
              <a:buNone/>
            </a:pPr>
            <a:r>
              <a:rPr lang="en-GB" sz="2400" b="1" dirty="0">
                <a:solidFill>
                  <a:schemeClr val="tx2"/>
                </a:solidFill>
              </a:rPr>
              <a:t>We will cover specific special considerations for each of the three special populations next week in the further planning and design sessions.</a:t>
            </a:r>
          </a:p>
        </p:txBody>
      </p:sp>
      <p:pic>
        <p:nvPicPr>
          <p:cNvPr id="1026" name="Picture 2" descr="Considerations and Human Mind - Pictured As Word Considerations Inside ...">
            <a:extLst>
              <a:ext uri="{FF2B5EF4-FFF2-40B4-BE49-F238E27FC236}">
                <a16:creationId xmlns:a16="http://schemas.microsoft.com/office/drawing/2014/main" id="{F9675A9A-AAB7-2BEC-B991-E1F77044A9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5812" y="1081058"/>
            <a:ext cx="4311690" cy="3147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248525"/>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2EBF6E-6A9B-06D0-F27A-B53505F781F0}"/>
              </a:ext>
            </a:extLst>
          </p:cNvPr>
          <p:cNvSpPr>
            <a:spLocks noGrp="1"/>
          </p:cNvSpPr>
          <p:nvPr>
            <p:ph type="body" sz="quarter" idx="10"/>
          </p:nvPr>
        </p:nvSpPr>
        <p:spPr>
          <a:xfrm>
            <a:off x="624114" y="242342"/>
            <a:ext cx="7496629" cy="599487"/>
          </a:xfrm>
        </p:spPr>
        <p:txBody>
          <a:bodyPr/>
          <a:lstStyle/>
          <a:p>
            <a:r>
              <a:rPr lang="en-GB" sz="3200" dirty="0"/>
              <a:t>Exercise Testing/Performance testing</a:t>
            </a:r>
          </a:p>
        </p:txBody>
      </p:sp>
      <p:pic>
        <p:nvPicPr>
          <p:cNvPr id="4" name="Picture 3">
            <a:extLst>
              <a:ext uri="{FF2B5EF4-FFF2-40B4-BE49-F238E27FC236}">
                <a16:creationId xmlns:a16="http://schemas.microsoft.com/office/drawing/2014/main" id="{EC5BAAAF-D222-0F22-C6D5-8BD0712CF252}"/>
              </a:ext>
            </a:extLst>
          </p:cNvPr>
          <p:cNvPicPr>
            <a:picLocks noChangeAspect="1"/>
          </p:cNvPicPr>
          <p:nvPr/>
        </p:nvPicPr>
        <p:blipFill>
          <a:blip r:embed="rId2"/>
          <a:stretch>
            <a:fillRect/>
          </a:stretch>
        </p:blipFill>
        <p:spPr>
          <a:xfrm>
            <a:off x="943429" y="1285763"/>
            <a:ext cx="5914769" cy="3327058"/>
          </a:xfrm>
          <a:prstGeom prst="rect">
            <a:avLst/>
          </a:prstGeom>
        </p:spPr>
      </p:pic>
      <p:sp>
        <p:nvSpPr>
          <p:cNvPr id="3" name="Text Placeholder 2">
            <a:extLst>
              <a:ext uri="{FF2B5EF4-FFF2-40B4-BE49-F238E27FC236}">
                <a16:creationId xmlns:a16="http://schemas.microsoft.com/office/drawing/2014/main" id="{256E8332-3743-3FA8-1D60-405E2AE7CEEA}"/>
              </a:ext>
            </a:extLst>
          </p:cNvPr>
          <p:cNvSpPr>
            <a:spLocks noGrp="1"/>
          </p:cNvSpPr>
          <p:nvPr>
            <p:ph type="body" sz="quarter" idx="11"/>
          </p:nvPr>
        </p:nvSpPr>
        <p:spPr>
          <a:xfrm>
            <a:off x="399143" y="791029"/>
            <a:ext cx="8265886" cy="3961209"/>
          </a:xfrm>
        </p:spPr>
        <p:txBody>
          <a:bodyPr/>
          <a:lstStyle/>
          <a:p>
            <a:r>
              <a:rPr lang="en-GB" sz="1800" dirty="0"/>
              <a:t>See lecture notes for Exercise Testing/Performance testing.</a:t>
            </a:r>
          </a:p>
          <a:p>
            <a:endParaRPr lang="en-GB" dirty="0"/>
          </a:p>
        </p:txBody>
      </p:sp>
    </p:spTree>
    <p:extLst>
      <p:ext uri="{BB962C8B-B14F-4D97-AF65-F5344CB8AC3E}">
        <p14:creationId xmlns:p14="http://schemas.microsoft.com/office/powerpoint/2010/main" val="2155873301"/>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18D145D-E1B8-653C-0325-7F76B78C5A40}"/>
              </a:ext>
            </a:extLst>
          </p:cNvPr>
          <p:cNvSpPr>
            <a:spLocks noGrp="1"/>
          </p:cNvSpPr>
          <p:nvPr>
            <p:ph type="body" sz="quarter" idx="10"/>
          </p:nvPr>
        </p:nvSpPr>
        <p:spPr>
          <a:xfrm>
            <a:off x="863588" y="147111"/>
            <a:ext cx="6668019" cy="488301"/>
          </a:xfrm>
        </p:spPr>
        <p:txBody>
          <a:bodyPr/>
          <a:lstStyle/>
          <a:p>
            <a:r>
              <a:rPr lang="en-GB" sz="2000" b="1" dirty="0"/>
              <a:t>Exercise Prescription (FITT VP Model) (ACSM Specific)</a:t>
            </a:r>
          </a:p>
        </p:txBody>
      </p:sp>
      <p:sp>
        <p:nvSpPr>
          <p:cNvPr id="5" name="Text Placeholder 4">
            <a:extLst>
              <a:ext uri="{FF2B5EF4-FFF2-40B4-BE49-F238E27FC236}">
                <a16:creationId xmlns:a16="http://schemas.microsoft.com/office/drawing/2014/main" id="{52939D71-2596-9655-1AD9-7E0460351D65}"/>
              </a:ext>
            </a:extLst>
          </p:cNvPr>
          <p:cNvSpPr>
            <a:spLocks noGrp="1"/>
          </p:cNvSpPr>
          <p:nvPr>
            <p:ph type="body" sz="quarter" idx="11"/>
          </p:nvPr>
        </p:nvSpPr>
        <p:spPr>
          <a:xfrm>
            <a:off x="544286" y="781578"/>
            <a:ext cx="7023326" cy="3404603"/>
          </a:xfrm>
        </p:spPr>
        <p:txBody>
          <a:bodyPr/>
          <a:lstStyle/>
          <a:p>
            <a:pPr lvl="0"/>
            <a:r>
              <a:rPr lang="en-GB" b="1" dirty="0"/>
              <a:t>Frequency:</a:t>
            </a:r>
            <a:r>
              <a:rPr lang="en-GB" dirty="0"/>
              <a:t> How often an exercise is performed (e.g., 3–5 days a week).</a:t>
            </a:r>
          </a:p>
          <a:p>
            <a:pPr lvl="0"/>
            <a:r>
              <a:rPr lang="en-GB" b="1" dirty="0"/>
              <a:t>Intensity:</a:t>
            </a:r>
            <a:r>
              <a:rPr lang="en-GB" dirty="0"/>
              <a:t> How hard the exercise is, often measured by heart rate, % of 1RM (repetition maximum), or perceived exertion.</a:t>
            </a:r>
          </a:p>
          <a:p>
            <a:pPr lvl="0"/>
            <a:r>
              <a:rPr lang="en-GB" b="1" dirty="0"/>
              <a:t>Time</a:t>
            </a:r>
            <a:r>
              <a:rPr lang="en-GB" dirty="0"/>
              <a:t> (Duration): The duration of each session (e.g., 30–60 minutes).</a:t>
            </a:r>
          </a:p>
          <a:p>
            <a:pPr lvl="0"/>
            <a:r>
              <a:rPr lang="en-GB" b="1" dirty="0"/>
              <a:t>Type</a:t>
            </a:r>
            <a:r>
              <a:rPr lang="en-GB" dirty="0"/>
              <a:t> (Mode): Aerobic, resistance, lifestyle activity changes etc.</a:t>
            </a:r>
          </a:p>
          <a:p>
            <a:pPr lvl="0"/>
            <a:r>
              <a:rPr lang="en-GB" b="1" dirty="0"/>
              <a:t>Volume:</a:t>
            </a:r>
            <a:r>
              <a:rPr lang="en-GB" dirty="0"/>
              <a:t> The total amount of energy expended, or work done (e.g., sets </a:t>
            </a:r>
          </a:p>
          <a:p>
            <a:r>
              <a:rPr lang="en-GB" dirty="0"/>
              <a:t> reps, weight). Volume is a sum of the intensity, frequency, duration, and longevity of a physical activity program.</a:t>
            </a:r>
          </a:p>
          <a:p>
            <a:pPr lvl="0"/>
            <a:r>
              <a:rPr lang="en-GB" b="1" dirty="0"/>
              <a:t>Progression:</a:t>
            </a:r>
            <a:r>
              <a:rPr lang="en-GB" dirty="0"/>
              <a:t> The systematic advancement of the program to increase intensity or volume over time. Beware of exercise progression and regression over the course of the exercise prescription/programme. </a:t>
            </a:r>
          </a:p>
          <a:p>
            <a:r>
              <a:rPr lang="en-GB" dirty="0"/>
              <a:t> </a:t>
            </a:r>
          </a:p>
          <a:p>
            <a:pPr marL="0" indent="0">
              <a:buNone/>
            </a:pPr>
            <a:endParaRPr lang="en-GB" dirty="0"/>
          </a:p>
        </p:txBody>
      </p:sp>
    </p:spTree>
    <p:extLst>
      <p:ext uri="{BB962C8B-B14F-4D97-AF65-F5344CB8AC3E}">
        <p14:creationId xmlns:p14="http://schemas.microsoft.com/office/powerpoint/2010/main" val="4233448322"/>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91E2C1-C200-9AFA-D333-BA962551540C}"/>
              </a:ext>
            </a:extLst>
          </p:cNvPr>
          <p:cNvSpPr>
            <a:spLocks noGrp="1"/>
          </p:cNvSpPr>
          <p:nvPr>
            <p:ph type="body" sz="quarter" idx="10"/>
          </p:nvPr>
        </p:nvSpPr>
        <p:spPr>
          <a:xfrm>
            <a:off x="333830" y="341087"/>
            <a:ext cx="7233784" cy="537028"/>
          </a:xfrm>
        </p:spPr>
        <p:txBody>
          <a:bodyPr/>
          <a:lstStyle/>
          <a:p>
            <a:r>
              <a:rPr lang="en-GB" sz="2400" dirty="0"/>
              <a:t>Components of the Exercise Training session </a:t>
            </a:r>
            <a:r>
              <a:rPr lang="en-GB" sz="1800" dirty="0"/>
              <a:t>(ACSM, 2026)</a:t>
            </a:r>
          </a:p>
        </p:txBody>
      </p:sp>
      <p:sp>
        <p:nvSpPr>
          <p:cNvPr id="5" name="Text Placeholder 4">
            <a:extLst>
              <a:ext uri="{FF2B5EF4-FFF2-40B4-BE49-F238E27FC236}">
                <a16:creationId xmlns:a16="http://schemas.microsoft.com/office/drawing/2014/main" id="{6907E03B-70D4-A123-7E36-E5F36B9938E1}"/>
              </a:ext>
            </a:extLst>
          </p:cNvPr>
          <p:cNvSpPr>
            <a:spLocks noGrp="1"/>
          </p:cNvSpPr>
          <p:nvPr>
            <p:ph type="body" sz="quarter" idx="11"/>
          </p:nvPr>
        </p:nvSpPr>
        <p:spPr>
          <a:xfrm>
            <a:off x="261256" y="972456"/>
            <a:ext cx="4985657" cy="4064001"/>
          </a:xfrm>
        </p:spPr>
        <p:txBody>
          <a:bodyPr/>
          <a:lstStyle/>
          <a:p>
            <a:pPr marL="0" indent="0">
              <a:buNone/>
            </a:pPr>
            <a:r>
              <a:rPr lang="en-GB" dirty="0"/>
              <a:t>A single exercise training session is typically composed of the following phases:</a:t>
            </a:r>
          </a:p>
          <a:p>
            <a:pPr marL="285750" indent="-285750">
              <a:buFont typeface="Arial" panose="020B0604020202020204" pitchFamily="34" charset="0"/>
              <a:buChar char="•"/>
            </a:pPr>
            <a:r>
              <a:rPr lang="en-GB" b="1" dirty="0"/>
              <a:t>Warm up</a:t>
            </a:r>
          </a:p>
          <a:p>
            <a:pPr marL="285750" indent="-285750">
              <a:buFont typeface="Arial" panose="020B0604020202020204" pitchFamily="34" charset="0"/>
              <a:buChar char="•"/>
            </a:pPr>
            <a:r>
              <a:rPr lang="en-GB" b="1" dirty="0"/>
              <a:t>Conditioning </a:t>
            </a:r>
          </a:p>
          <a:p>
            <a:pPr marL="285750" indent="-285750">
              <a:buFont typeface="Arial" panose="020B0604020202020204" pitchFamily="34" charset="0"/>
              <a:buChar char="•"/>
            </a:pPr>
            <a:r>
              <a:rPr lang="en-GB" b="1" dirty="0"/>
              <a:t>Cool-Down</a:t>
            </a:r>
          </a:p>
          <a:p>
            <a:pPr marL="0" indent="0">
              <a:buNone/>
            </a:pPr>
            <a:r>
              <a:rPr lang="en-GB" dirty="0"/>
              <a:t>Each exercise session should be designed with a training goal in mind and include a specific warm-up and a type of conditioning exercise (Mc Gowan et al., 2015).</a:t>
            </a:r>
          </a:p>
          <a:p>
            <a:pPr marL="0" indent="0">
              <a:buNone/>
            </a:pPr>
            <a:r>
              <a:rPr lang="en-GB" dirty="0"/>
              <a:t>Flexibility exercises may also be incorporated into the training session, either before or after the conditioning phase, and/or separately, in order to improve range of motion ROM) and enhance muscular coordination (Kruse and Scheuermann (2017). </a:t>
            </a:r>
          </a:p>
        </p:txBody>
      </p:sp>
      <p:pic>
        <p:nvPicPr>
          <p:cNvPr id="2" name="Picture 1">
            <a:extLst>
              <a:ext uri="{FF2B5EF4-FFF2-40B4-BE49-F238E27FC236}">
                <a16:creationId xmlns:a16="http://schemas.microsoft.com/office/drawing/2014/main" id="{C76B4F7D-F5C3-42BC-A1CF-10E0C251FDD6}"/>
              </a:ext>
            </a:extLst>
          </p:cNvPr>
          <p:cNvPicPr>
            <a:picLocks noChangeAspect="1"/>
          </p:cNvPicPr>
          <p:nvPr/>
        </p:nvPicPr>
        <p:blipFill>
          <a:blip r:embed="rId2"/>
          <a:stretch>
            <a:fillRect/>
          </a:stretch>
        </p:blipFill>
        <p:spPr>
          <a:xfrm>
            <a:off x="5348074" y="1320800"/>
            <a:ext cx="3592726" cy="2699657"/>
          </a:xfrm>
          <a:prstGeom prst="rect">
            <a:avLst/>
          </a:prstGeom>
        </p:spPr>
      </p:pic>
    </p:spTree>
    <p:extLst>
      <p:ext uri="{BB962C8B-B14F-4D97-AF65-F5344CB8AC3E}">
        <p14:creationId xmlns:p14="http://schemas.microsoft.com/office/powerpoint/2010/main" val="178341803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B9A337-FB32-85C8-CE84-854CAAC8702F}"/>
              </a:ext>
            </a:extLst>
          </p:cNvPr>
          <p:cNvSpPr>
            <a:spLocks noGrp="1"/>
          </p:cNvSpPr>
          <p:nvPr>
            <p:ph type="body" sz="quarter" idx="11"/>
          </p:nvPr>
        </p:nvSpPr>
        <p:spPr>
          <a:xfrm>
            <a:off x="72571" y="470763"/>
            <a:ext cx="5892800" cy="4732607"/>
          </a:xfrm>
        </p:spPr>
        <p:txBody>
          <a:bodyPr/>
          <a:lstStyle/>
          <a:p>
            <a:pPr marL="285750" indent="-285750">
              <a:buFont typeface="Arial" panose="020B0604020202020204" pitchFamily="34" charset="0"/>
              <a:buChar char="•"/>
            </a:pPr>
            <a:r>
              <a:rPr lang="en-GB" sz="1800" dirty="0"/>
              <a:t>Is a transitional phase, allows the body to adjust to the changing physiological/biomechanical demands of the specific exercise session and should include light- to moderate-intensity activities specific to the muscle groups that will be employed during exercise (Mc Gowan et al., 2015) </a:t>
            </a:r>
          </a:p>
          <a:p>
            <a:pPr marL="285750" indent="-285750">
              <a:buFont typeface="Arial" panose="020B0604020202020204" pitchFamily="34" charset="0"/>
              <a:buChar char="•"/>
            </a:pPr>
            <a:r>
              <a:rPr lang="en-GB" sz="1800" dirty="0"/>
              <a:t>Warming up  improves ROM and may reduce the risk of injury during the exercise session (Garber et al., 2011).  </a:t>
            </a:r>
          </a:p>
          <a:p>
            <a:pPr marL="285750" indent="-285750">
              <a:buFont typeface="Arial" panose="020B0604020202020204" pitchFamily="34" charset="0"/>
              <a:buChar char="•"/>
            </a:pPr>
            <a:r>
              <a:rPr lang="en-GB" sz="1800" dirty="0"/>
              <a:t>A dynamic warm-up, involving large muscle groups ( </a:t>
            </a:r>
            <a:r>
              <a:rPr lang="en-GB" sz="1800" dirty="0" err="1"/>
              <a:t>walking,jogging</a:t>
            </a:r>
            <a:r>
              <a:rPr lang="en-GB" sz="1800" dirty="0"/>
              <a:t>, cycling), is superior to static flexibility exercises for the purpose of enhancing the performance of  aerobic exercise, sports, or resistance exercise, especially activities that are of long duration or with many repetitions (Simic et al., 2013). </a:t>
            </a:r>
          </a:p>
          <a:p>
            <a:pPr marL="285750" indent="-285750">
              <a:buFont typeface="Arial" panose="020B0604020202020204" pitchFamily="34" charset="0"/>
              <a:buChar char="•"/>
            </a:pPr>
            <a:r>
              <a:rPr lang="en-GB" sz="1800" dirty="0"/>
              <a:t>The specific time dedicated to a warm up may vary depending on the individual: evidence suggests this should be between 5 and 15 minutes (Mc Gowan et al., 2015)</a:t>
            </a:r>
          </a:p>
          <a:p>
            <a:endParaRPr lang="en-GB" dirty="0"/>
          </a:p>
        </p:txBody>
      </p:sp>
      <p:sp>
        <p:nvSpPr>
          <p:cNvPr id="3" name="Text Placeholder 2">
            <a:extLst>
              <a:ext uri="{FF2B5EF4-FFF2-40B4-BE49-F238E27FC236}">
                <a16:creationId xmlns:a16="http://schemas.microsoft.com/office/drawing/2014/main" id="{F13EA290-E4C4-4184-419F-3A24B9B3E638}"/>
              </a:ext>
            </a:extLst>
          </p:cNvPr>
          <p:cNvSpPr>
            <a:spLocks noGrp="1"/>
          </p:cNvSpPr>
          <p:nvPr>
            <p:ph type="body" sz="quarter" idx="10"/>
          </p:nvPr>
        </p:nvSpPr>
        <p:spPr>
          <a:xfrm>
            <a:off x="413656" y="-13766"/>
            <a:ext cx="6799177" cy="484530"/>
          </a:xfrm>
        </p:spPr>
        <p:txBody>
          <a:bodyPr/>
          <a:lstStyle/>
          <a:p>
            <a:r>
              <a:rPr lang="en-GB" dirty="0"/>
              <a:t>Warm up phase </a:t>
            </a:r>
            <a:r>
              <a:rPr lang="en-GB" sz="2800" dirty="0"/>
              <a:t>(ACSM 2026)</a:t>
            </a:r>
          </a:p>
        </p:txBody>
      </p:sp>
      <p:pic>
        <p:nvPicPr>
          <p:cNvPr id="5" name="Picture 4">
            <a:extLst>
              <a:ext uri="{FF2B5EF4-FFF2-40B4-BE49-F238E27FC236}">
                <a16:creationId xmlns:a16="http://schemas.microsoft.com/office/drawing/2014/main" id="{D19BA6B4-1837-E806-75BD-3B4F0CA89DA2}"/>
              </a:ext>
            </a:extLst>
          </p:cNvPr>
          <p:cNvPicPr>
            <a:picLocks noChangeAspect="1"/>
          </p:cNvPicPr>
          <p:nvPr/>
        </p:nvPicPr>
        <p:blipFill>
          <a:blip r:embed="rId2"/>
          <a:stretch>
            <a:fillRect/>
          </a:stretch>
        </p:blipFill>
        <p:spPr>
          <a:xfrm>
            <a:off x="5791200" y="570115"/>
            <a:ext cx="3280229" cy="3280229"/>
          </a:xfrm>
          <a:prstGeom prst="rect">
            <a:avLst/>
          </a:prstGeom>
        </p:spPr>
      </p:pic>
    </p:spTree>
    <p:extLst>
      <p:ext uri="{BB962C8B-B14F-4D97-AF65-F5344CB8AC3E}">
        <p14:creationId xmlns:p14="http://schemas.microsoft.com/office/powerpoint/2010/main" val="33481982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E10BD5E-F5D4-717F-B152-DA0FEF831B9C}"/>
              </a:ext>
            </a:extLst>
          </p:cNvPr>
          <p:cNvSpPr>
            <a:spLocks noGrp="1"/>
          </p:cNvSpPr>
          <p:nvPr>
            <p:ph type="body" sz="quarter" idx="11"/>
          </p:nvPr>
        </p:nvSpPr>
        <p:spPr>
          <a:xfrm>
            <a:off x="217713" y="1357086"/>
            <a:ext cx="4143829" cy="3413292"/>
          </a:xfrm>
        </p:spPr>
        <p:txBody>
          <a:bodyPr/>
          <a:lstStyle/>
          <a:p>
            <a:r>
              <a:rPr lang="en-GB" sz="1800" dirty="0"/>
              <a:t>During the conditioning phase, training exercises could include aerobic, "resistance, flexibility, and/or sports activities, depending on the specific goals al the exercise session. See specifics about these modes of exercise below. </a:t>
            </a:r>
          </a:p>
          <a:p>
            <a:endParaRPr lang="en-GB" sz="1800" dirty="0"/>
          </a:p>
          <a:p>
            <a:endParaRPr lang="en-GB" sz="1800" dirty="0"/>
          </a:p>
          <a:p>
            <a:endParaRPr lang="en-GB" sz="1800" dirty="0"/>
          </a:p>
          <a:p>
            <a:r>
              <a:rPr lang="en-GB" sz="1800" dirty="0"/>
              <a:t>Duration depends on the intensity and type of the activity.  </a:t>
            </a:r>
          </a:p>
          <a:p>
            <a:endParaRPr lang="en-GB" dirty="0"/>
          </a:p>
        </p:txBody>
      </p:sp>
      <p:sp>
        <p:nvSpPr>
          <p:cNvPr id="5" name="Text Placeholder 4">
            <a:extLst>
              <a:ext uri="{FF2B5EF4-FFF2-40B4-BE49-F238E27FC236}">
                <a16:creationId xmlns:a16="http://schemas.microsoft.com/office/drawing/2014/main" id="{E155CAB3-E30C-F742-DDD0-E800AA9B0D18}"/>
              </a:ext>
            </a:extLst>
          </p:cNvPr>
          <p:cNvSpPr>
            <a:spLocks noGrp="1"/>
          </p:cNvSpPr>
          <p:nvPr>
            <p:ph type="body" sz="quarter" idx="10"/>
          </p:nvPr>
        </p:nvSpPr>
        <p:spPr>
          <a:xfrm>
            <a:off x="899666" y="373122"/>
            <a:ext cx="6552655" cy="1063792"/>
          </a:xfrm>
        </p:spPr>
        <p:txBody>
          <a:bodyPr/>
          <a:lstStyle/>
          <a:p>
            <a:pPr algn="ctr">
              <a:lnSpc>
                <a:spcPct val="100000"/>
              </a:lnSpc>
              <a:spcBef>
                <a:spcPts val="0"/>
              </a:spcBef>
            </a:pPr>
            <a:r>
              <a:rPr lang="en-GB" dirty="0"/>
              <a:t>Conditioning Phase </a:t>
            </a:r>
            <a:r>
              <a:rPr lang="en-GB" sz="2400" dirty="0"/>
              <a:t>(ACSM 2026)</a:t>
            </a:r>
          </a:p>
          <a:p>
            <a:pPr marL="0" marR="0" lvl="0" indent="0" algn="ctr" defTabSz="606410" rtl="0" eaLnBrk="0" fontAlgn="base" latinLnBrk="0" hangingPunct="0">
              <a:lnSpc>
                <a:spcPct val="100000"/>
              </a:lnSpc>
              <a:spcBef>
                <a:spcPts val="0"/>
              </a:spcBef>
              <a:spcAft>
                <a:spcPct val="0"/>
              </a:spcAft>
              <a:buClrTx/>
              <a:buSzTx/>
              <a:buFontTx/>
              <a:buNone/>
              <a:tabLst/>
              <a:defRPr/>
            </a:pPr>
            <a:r>
              <a:rPr kumimoji="0" lang="en-GB" sz="2400" b="0" i="0" u="none" strike="noStrike" kern="1200" cap="none" spc="0" normalizeH="0" baseline="0" noProof="0" dirty="0">
                <a:ln>
                  <a:noFill/>
                </a:ln>
                <a:solidFill>
                  <a:srgbClr val="16818D"/>
                </a:solidFill>
                <a:effectLst/>
                <a:uLnTx/>
                <a:uFillTx/>
                <a:latin typeface="Calibri" panose="020F0502020204030204" pitchFamily="34" charset="0"/>
                <a:ea typeface="Calibri" panose="020F0502020204030204" pitchFamily="34" charset="0"/>
                <a:cs typeface="Calibri" panose="020F0502020204030204" pitchFamily="34" charset="0"/>
              </a:rPr>
              <a:t>(10-60 minutes) </a:t>
            </a:r>
          </a:p>
          <a:p>
            <a:endParaRPr lang="en-GB" sz="2400" dirty="0"/>
          </a:p>
        </p:txBody>
      </p:sp>
      <p:sp>
        <p:nvSpPr>
          <p:cNvPr id="7" name="Text Placeholder 6">
            <a:extLst>
              <a:ext uri="{FF2B5EF4-FFF2-40B4-BE49-F238E27FC236}">
                <a16:creationId xmlns:a16="http://schemas.microsoft.com/office/drawing/2014/main" id="{8A83D301-428A-C487-7B8F-0159B9E629DB}"/>
              </a:ext>
            </a:extLst>
          </p:cNvPr>
          <p:cNvSpPr>
            <a:spLocks noGrp="1"/>
          </p:cNvSpPr>
          <p:nvPr>
            <p:ph type="body" sz="quarter" idx="12"/>
          </p:nvPr>
        </p:nvSpPr>
        <p:spPr>
          <a:xfrm>
            <a:off x="6013916" y="1801365"/>
            <a:ext cx="957561" cy="1699388"/>
          </a:xfrm>
        </p:spPr>
        <p:txBody>
          <a:bodyPr/>
          <a:lstStyle/>
          <a:p>
            <a:endParaRPr lang="en-GB" dirty="0"/>
          </a:p>
        </p:txBody>
      </p:sp>
      <p:pic>
        <p:nvPicPr>
          <p:cNvPr id="1026" name="Picture 2" descr="People exercise and fitness cartoon set 693406 Vector Art at Vecteezy">
            <a:extLst>
              <a:ext uri="{FF2B5EF4-FFF2-40B4-BE49-F238E27FC236}">
                <a16:creationId xmlns:a16="http://schemas.microsoft.com/office/drawing/2014/main" id="{E476E15D-ACF3-FD61-CBE6-E26381E5B2C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0" y="1705430"/>
            <a:ext cx="3643211" cy="2569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9083115"/>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E3AED01-80F2-61A1-B14F-4879C2B2D85C}"/>
              </a:ext>
            </a:extLst>
          </p:cNvPr>
          <p:cNvSpPr>
            <a:spLocks noGrp="1"/>
          </p:cNvSpPr>
          <p:nvPr>
            <p:ph type="body" sz="quarter" idx="11"/>
          </p:nvPr>
        </p:nvSpPr>
        <p:spPr>
          <a:xfrm>
            <a:off x="232229" y="703944"/>
            <a:ext cx="4855028" cy="3892264"/>
          </a:xfrm>
        </p:spPr>
        <p:txBody>
          <a:bodyPr/>
          <a:lstStyle/>
          <a:p>
            <a:pPr>
              <a:lnSpc>
                <a:spcPts val="2300"/>
              </a:lnSpc>
            </a:pPr>
            <a:r>
              <a:rPr lang="en-GB" sz="2000" dirty="0"/>
              <a:t>Cool-downs are an integral part of an exercise session, evidence suggests that cool-downs have limited impact on improving the  psychobiological markers of recovery (Van </a:t>
            </a:r>
            <a:r>
              <a:rPr lang="en-GB" sz="2000" dirty="0" err="1"/>
              <a:t>Hooren</a:t>
            </a:r>
            <a:r>
              <a:rPr lang="en-GB" sz="2000" dirty="0"/>
              <a:t>, et al., 2018). </a:t>
            </a:r>
          </a:p>
          <a:p>
            <a:pPr>
              <a:lnSpc>
                <a:spcPts val="2300"/>
              </a:lnSpc>
            </a:pPr>
            <a:endParaRPr lang="en-GB" sz="2000" dirty="0"/>
          </a:p>
          <a:p>
            <a:pPr>
              <a:lnSpc>
                <a:spcPts val="2300"/>
              </a:lnSpc>
            </a:pPr>
            <a:r>
              <a:rPr lang="en-GB" sz="2000" dirty="0"/>
              <a:t>Cool-downs may be useful to allow the body to return to near-resting levels (</a:t>
            </a:r>
            <a:r>
              <a:rPr lang="en-GB" sz="2000" dirty="0" err="1"/>
              <a:t>eg.</a:t>
            </a:r>
            <a:r>
              <a:rPr lang="en-GB" sz="2000" dirty="0"/>
              <a:t>, volume of oxygen consumed per unit time VO2,  heart rate [HR]after the exercise session. </a:t>
            </a:r>
          </a:p>
          <a:p>
            <a:pPr>
              <a:lnSpc>
                <a:spcPts val="2300"/>
              </a:lnSpc>
            </a:pPr>
            <a:endParaRPr lang="en-GB" sz="2000" dirty="0"/>
          </a:p>
          <a:p>
            <a:pPr>
              <a:lnSpc>
                <a:spcPts val="2300"/>
              </a:lnSpc>
            </a:pPr>
            <a:r>
              <a:rPr lang="en-GB" sz="2000" dirty="0"/>
              <a:t>Low to moderate-intensity flexibility exercises, such as static stretching, may also be performed to help facilitate a more relaxed physiologic state (Behm et al., 2019).</a:t>
            </a:r>
          </a:p>
          <a:p>
            <a:endParaRPr lang="en-GB" dirty="0"/>
          </a:p>
        </p:txBody>
      </p:sp>
      <p:sp>
        <p:nvSpPr>
          <p:cNvPr id="4" name="Text Placeholder 3">
            <a:extLst>
              <a:ext uri="{FF2B5EF4-FFF2-40B4-BE49-F238E27FC236}">
                <a16:creationId xmlns:a16="http://schemas.microsoft.com/office/drawing/2014/main" id="{66AE3EF0-D39D-9138-62F9-9D2246BAD6C5}"/>
              </a:ext>
            </a:extLst>
          </p:cNvPr>
          <p:cNvSpPr>
            <a:spLocks noGrp="1"/>
          </p:cNvSpPr>
          <p:nvPr>
            <p:ph type="body" sz="quarter" idx="10"/>
          </p:nvPr>
        </p:nvSpPr>
        <p:spPr>
          <a:xfrm>
            <a:off x="370962" y="130857"/>
            <a:ext cx="6552655" cy="484530"/>
          </a:xfrm>
        </p:spPr>
        <p:txBody>
          <a:bodyPr/>
          <a:lstStyle/>
          <a:p>
            <a:r>
              <a:rPr lang="en-GB" dirty="0"/>
              <a:t>Cool-Down(ACSM, 2026)</a:t>
            </a:r>
          </a:p>
        </p:txBody>
      </p:sp>
      <p:pic>
        <p:nvPicPr>
          <p:cNvPr id="2" name="Picture 1">
            <a:extLst>
              <a:ext uri="{FF2B5EF4-FFF2-40B4-BE49-F238E27FC236}">
                <a16:creationId xmlns:a16="http://schemas.microsoft.com/office/drawing/2014/main" id="{B38E16B1-8193-7947-8A5C-13585D40A88A}"/>
              </a:ext>
            </a:extLst>
          </p:cNvPr>
          <p:cNvPicPr>
            <a:picLocks noChangeAspect="1"/>
          </p:cNvPicPr>
          <p:nvPr/>
        </p:nvPicPr>
        <p:blipFill>
          <a:blip r:embed="rId2"/>
          <a:stretch>
            <a:fillRect/>
          </a:stretch>
        </p:blipFill>
        <p:spPr>
          <a:xfrm>
            <a:off x="5087257" y="1052286"/>
            <a:ext cx="3912204" cy="2720893"/>
          </a:xfrm>
          <a:prstGeom prst="rect">
            <a:avLst/>
          </a:prstGeom>
        </p:spPr>
      </p:pic>
    </p:spTree>
    <p:extLst>
      <p:ext uri="{BB962C8B-B14F-4D97-AF65-F5344CB8AC3E}">
        <p14:creationId xmlns:p14="http://schemas.microsoft.com/office/powerpoint/2010/main" val="244446619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37BCE-4C30-C6C7-78FE-D1C0272E1E6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056AC56-774D-BD1D-5E8C-84325BF06D1E}"/>
              </a:ext>
            </a:extLst>
          </p:cNvPr>
          <p:cNvSpPr>
            <a:spLocks noGrp="1"/>
          </p:cNvSpPr>
          <p:nvPr>
            <p:ph type="body" sz="quarter" idx="10"/>
          </p:nvPr>
        </p:nvSpPr>
        <p:spPr/>
        <p:txBody>
          <a:bodyPr/>
          <a:lstStyle/>
          <a:p>
            <a:r>
              <a:rPr lang="en-GB" dirty="0"/>
              <a:t>Group Activity</a:t>
            </a:r>
            <a:endParaRPr lang="en-US" dirty="0"/>
          </a:p>
        </p:txBody>
      </p:sp>
      <p:pic>
        <p:nvPicPr>
          <p:cNvPr id="5" name="Picture 4">
            <a:extLst>
              <a:ext uri="{FF2B5EF4-FFF2-40B4-BE49-F238E27FC236}">
                <a16:creationId xmlns:a16="http://schemas.microsoft.com/office/drawing/2014/main" id="{37760A0D-3FF1-E98F-674C-66F9F60D11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4970" y="1184618"/>
            <a:ext cx="2912562" cy="2551784"/>
          </a:xfrm>
          <a:prstGeom prst="rect">
            <a:avLst/>
          </a:prstGeom>
        </p:spPr>
      </p:pic>
      <p:sp>
        <p:nvSpPr>
          <p:cNvPr id="7" name="Text Placeholder 3">
            <a:extLst>
              <a:ext uri="{FF2B5EF4-FFF2-40B4-BE49-F238E27FC236}">
                <a16:creationId xmlns:a16="http://schemas.microsoft.com/office/drawing/2014/main" id="{1DE296B5-1888-2CE4-4821-0E13F89F7150}"/>
              </a:ext>
            </a:extLst>
          </p:cNvPr>
          <p:cNvSpPr txBox="1">
            <a:spLocks noGrp="1"/>
          </p:cNvSpPr>
          <p:nvPr>
            <p:ph type="body" sz="quarter" idx="11"/>
          </p:nvPr>
        </p:nvSpPr>
        <p:spPr>
          <a:xfrm>
            <a:off x="378315" y="1376494"/>
            <a:ext cx="5086313" cy="3287174"/>
          </a:xfrm>
          <a:prstGeom prst="rect">
            <a:avLst/>
          </a:prstGeom>
        </p:spPr>
        <p:txBody>
          <a:bodyPr vert="horz" lIns="0" tIns="0" rIns="0" bIns="0" numCol="1" spcCol="216000" rtlCol="0">
            <a:normAutofit/>
          </a:bodyPr>
          <a:lstStyle>
            <a:lvl1pPr marL="0" marR="0" indent="0" algn="l" defTabSz="606410" rtl="0" eaLnBrk="1" fontAlgn="base" latinLnBrk="0" hangingPunct="1">
              <a:lnSpc>
                <a:spcPts val="2000"/>
              </a:lnSpc>
              <a:spcBef>
                <a:spcPts val="0"/>
              </a:spcBef>
              <a:spcAft>
                <a:spcPct val="0"/>
              </a:spcAft>
              <a:buClrTx/>
              <a:buSzTx/>
              <a:buFontTx/>
              <a:buNone/>
              <a:tabLst/>
              <a:defRPr sz="1400" b="0" i="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pPr>
              <a:lnSpc>
                <a:spcPts val="2200"/>
              </a:lnSpc>
            </a:pPr>
            <a:r>
              <a:rPr lang="en-GB" sz="2000" b="1" dirty="0">
                <a:solidFill>
                  <a:schemeClr val="accent5"/>
                </a:solidFill>
              </a:rPr>
              <a:t>Work in your group and think of some Warm Up, Conditioning and Cool Down exercises? </a:t>
            </a:r>
          </a:p>
          <a:p>
            <a:pPr>
              <a:lnSpc>
                <a:spcPts val="2200"/>
              </a:lnSpc>
            </a:pPr>
            <a:endParaRPr lang="en-GB" sz="2000" b="1" dirty="0">
              <a:solidFill>
                <a:schemeClr val="accent5"/>
              </a:solidFill>
            </a:endParaRPr>
          </a:p>
          <a:p>
            <a:pPr>
              <a:lnSpc>
                <a:spcPts val="2200"/>
              </a:lnSpc>
            </a:pPr>
            <a:endParaRPr lang="en-GB" sz="2000" b="1" dirty="0">
              <a:solidFill>
                <a:schemeClr val="accent5"/>
              </a:solidFill>
            </a:endParaRPr>
          </a:p>
          <a:p>
            <a:pPr>
              <a:lnSpc>
                <a:spcPts val="2200"/>
              </a:lnSpc>
            </a:pPr>
            <a:r>
              <a:rPr lang="en-GB" sz="2000" b="1" dirty="0">
                <a:solidFill>
                  <a:schemeClr val="accent5"/>
                </a:solidFill>
              </a:rPr>
              <a:t>Work in pairs, put ideas on a </a:t>
            </a:r>
            <a:r>
              <a:rPr lang="en-GB" sz="2000" b="1" dirty="0" err="1">
                <a:solidFill>
                  <a:schemeClr val="accent5"/>
                </a:solidFill>
              </a:rPr>
              <a:t>post-it</a:t>
            </a:r>
            <a:r>
              <a:rPr lang="en-GB" sz="2000" b="1" dirty="0">
                <a:solidFill>
                  <a:schemeClr val="accent5"/>
                </a:solidFill>
              </a:rPr>
              <a:t> or  interactive board and then share with the group.</a:t>
            </a:r>
          </a:p>
          <a:p>
            <a:endParaRPr lang="en-GB" sz="1800" b="1" dirty="0">
              <a:solidFill>
                <a:schemeClr val="accent5"/>
              </a:solidFill>
            </a:endParaRPr>
          </a:p>
          <a:p>
            <a:endParaRPr lang="en-GB" sz="1800" b="1" dirty="0">
              <a:solidFill>
                <a:schemeClr val="accent5"/>
              </a:solidFill>
            </a:endParaRPr>
          </a:p>
          <a:p>
            <a:endParaRPr lang="en-US" sz="1800" b="1" dirty="0">
              <a:solidFill>
                <a:schemeClr val="accent5"/>
              </a:solidFill>
            </a:endParaRPr>
          </a:p>
        </p:txBody>
      </p:sp>
      <p:pic>
        <p:nvPicPr>
          <p:cNvPr id="6" name="Picture 5">
            <a:extLst>
              <a:ext uri="{FF2B5EF4-FFF2-40B4-BE49-F238E27FC236}">
                <a16:creationId xmlns:a16="http://schemas.microsoft.com/office/drawing/2014/main" id="{A0B3849D-6BD2-ECB5-F681-C7229E2707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760" y="3457193"/>
            <a:ext cx="1111819" cy="884237"/>
          </a:xfrm>
          <a:prstGeom prst="rect">
            <a:avLst/>
          </a:prstGeom>
        </p:spPr>
      </p:pic>
    </p:spTree>
    <p:extLst>
      <p:ext uri="{BB962C8B-B14F-4D97-AF65-F5344CB8AC3E}">
        <p14:creationId xmlns:p14="http://schemas.microsoft.com/office/powerpoint/2010/main" val="4006744362"/>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7A4DF13-7DAD-12CA-49A7-9DFD905E043C}"/>
              </a:ext>
            </a:extLst>
          </p:cNvPr>
          <p:cNvSpPr>
            <a:spLocks noGrp="1"/>
          </p:cNvSpPr>
          <p:nvPr>
            <p:ph type="body" sz="quarter" idx="10"/>
          </p:nvPr>
        </p:nvSpPr>
        <p:spPr>
          <a:xfrm>
            <a:off x="569685" y="147111"/>
            <a:ext cx="7554685" cy="488301"/>
          </a:xfrm>
        </p:spPr>
        <p:txBody>
          <a:bodyPr/>
          <a:lstStyle/>
          <a:p>
            <a:r>
              <a:rPr lang="en-GB" sz="2800" b="1" dirty="0"/>
              <a:t>Cardiorespiratory/Aerobic Fitness (ACSM, 2026)</a:t>
            </a:r>
          </a:p>
        </p:txBody>
      </p:sp>
      <p:sp>
        <p:nvSpPr>
          <p:cNvPr id="6" name="Text Placeholder 5">
            <a:extLst>
              <a:ext uri="{FF2B5EF4-FFF2-40B4-BE49-F238E27FC236}">
                <a16:creationId xmlns:a16="http://schemas.microsoft.com/office/drawing/2014/main" id="{8DBC9F67-E1E5-2F12-DD68-321CD03438EB}"/>
              </a:ext>
            </a:extLst>
          </p:cNvPr>
          <p:cNvSpPr>
            <a:spLocks noGrp="1"/>
          </p:cNvSpPr>
          <p:nvPr>
            <p:ph type="body" sz="quarter" idx="11"/>
          </p:nvPr>
        </p:nvSpPr>
        <p:spPr>
          <a:xfrm>
            <a:off x="493485" y="774321"/>
            <a:ext cx="7852229" cy="3404603"/>
          </a:xfrm>
        </p:spPr>
        <p:txBody>
          <a:bodyPr/>
          <a:lstStyle/>
          <a:p>
            <a:r>
              <a:rPr lang="en-GB" sz="1800" dirty="0"/>
              <a:t>Cardiorespiratory fitness (CRF) reflects the functional capabilities of the heart, blood vessels, lungs, and skeletal muscles to transport and utilise oxygen to perform physical work (Ross et al., 2016). </a:t>
            </a:r>
          </a:p>
          <a:p>
            <a:r>
              <a:rPr lang="en-GB" sz="1800" dirty="0"/>
              <a:t>An exercise prescription,  featuring moderate- to vigorous-intensity continuous training consisting of large rhythmic movement for a sustained duration is the traditional method to improve CRF (Garber et al., 2011). </a:t>
            </a:r>
          </a:p>
          <a:p>
            <a:r>
              <a:rPr lang="en-GB" sz="1800" dirty="0"/>
              <a:t>Evidence support interval training, in which moderate- to high-intensity efforts interspersed with brief periods of rest or low-intensity activity performed repetitively demonstrate similar improvements in CRF as observed in traditional endurance training, with a reduced total exercise volume and time commitment(Ito  2019). </a:t>
            </a:r>
          </a:p>
        </p:txBody>
      </p:sp>
    </p:spTree>
    <p:extLst>
      <p:ext uri="{BB962C8B-B14F-4D97-AF65-F5344CB8AC3E}">
        <p14:creationId xmlns:p14="http://schemas.microsoft.com/office/powerpoint/2010/main" val="100216000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975D19F-9D1C-CAA4-C1A5-CCC99B6E5F34}"/>
              </a:ext>
            </a:extLst>
          </p:cNvPr>
          <p:cNvSpPr>
            <a:spLocks noGrp="1"/>
          </p:cNvSpPr>
          <p:nvPr>
            <p:ph type="body" sz="quarter" idx="10"/>
          </p:nvPr>
        </p:nvSpPr>
        <p:spPr>
          <a:xfrm>
            <a:off x="899594" y="147111"/>
            <a:ext cx="6668019" cy="488301"/>
          </a:xfrm>
        </p:spPr>
        <p:txBody>
          <a:bodyPr/>
          <a:lstStyle/>
          <a:p>
            <a:pPr marL="0" marR="0" lvl="0" indent="0" algn="l" defTabSz="606410" rtl="0" eaLnBrk="0" fontAlgn="base" latinLnBrk="0" hangingPunct="0">
              <a:lnSpc>
                <a:spcPts val="4200"/>
              </a:lnSpc>
              <a:spcBef>
                <a:spcPct val="20000"/>
              </a:spcBef>
              <a:spcAft>
                <a:spcPct val="0"/>
              </a:spcAft>
              <a:buClrTx/>
              <a:buSzTx/>
              <a:buFontTx/>
              <a:buNone/>
              <a:tabLst/>
              <a:defRPr/>
            </a:pPr>
            <a:r>
              <a:rPr kumimoji="0" lang="en-GB" sz="2800" b="0" i="0" u="none" strike="noStrike" kern="1200" cap="none" spc="0" normalizeH="0" baseline="0" noProof="0" dirty="0">
                <a:ln>
                  <a:noFill/>
                </a:ln>
                <a:solidFill>
                  <a:srgbClr val="16818D"/>
                </a:solidFill>
                <a:effectLst/>
                <a:uLnTx/>
                <a:uFillTx/>
                <a:latin typeface="Calibri" panose="020F0502020204030204" pitchFamily="34" charset="0"/>
                <a:ea typeface="Calibri" panose="020F0502020204030204" pitchFamily="34" charset="0"/>
                <a:cs typeface="Calibri" panose="020F0502020204030204" pitchFamily="34" charset="0"/>
              </a:rPr>
              <a:t>Cardiorespiratory/Aerobic Fitness (Cont`d)</a:t>
            </a:r>
          </a:p>
          <a:p>
            <a:endParaRPr lang="en-GB" dirty="0"/>
          </a:p>
        </p:txBody>
      </p:sp>
      <p:sp>
        <p:nvSpPr>
          <p:cNvPr id="6" name="Text Placeholder 5">
            <a:extLst>
              <a:ext uri="{FF2B5EF4-FFF2-40B4-BE49-F238E27FC236}">
                <a16:creationId xmlns:a16="http://schemas.microsoft.com/office/drawing/2014/main" id="{45EE8CB6-69BA-7575-A92C-EE4F875EA718}"/>
              </a:ext>
            </a:extLst>
          </p:cNvPr>
          <p:cNvSpPr>
            <a:spLocks noGrp="1"/>
          </p:cNvSpPr>
          <p:nvPr>
            <p:ph type="body" sz="quarter" idx="11"/>
          </p:nvPr>
        </p:nvSpPr>
        <p:spPr>
          <a:xfrm>
            <a:off x="464456" y="391261"/>
            <a:ext cx="8135257" cy="4217025"/>
          </a:xfrm>
        </p:spPr>
        <p:txBody>
          <a:bodyPr/>
          <a:lstStyle/>
          <a:p>
            <a:pPr marL="0" indent="0">
              <a:buNone/>
            </a:pPr>
            <a:endParaRPr lang="en-GB" dirty="0"/>
          </a:p>
          <a:p>
            <a:pPr marL="266700" marR="0" lvl="0" indent="-266700" algn="l" defTabSz="606410" rtl="0" eaLnBrk="0" fontAlgn="base" latinLnBrk="0" hangingPunct="0">
              <a:lnSpc>
                <a:spcPct val="100000"/>
              </a:lnSpc>
              <a:spcBef>
                <a:spcPct val="20000"/>
              </a:spcBef>
              <a:spcAft>
                <a:spcPct val="0"/>
              </a:spcAft>
              <a:buClr>
                <a:srgbClr val="16818D"/>
              </a:buClr>
              <a:buSzTx/>
              <a:buFont typeface="Arial" charset="0"/>
              <a:buChar char="•"/>
              <a:tabLst/>
              <a:defRPr/>
            </a:pPr>
            <a:r>
              <a:rPr kumimoji="0" lang="en-GB" sz="1800" b="1" i="0" u="none" strike="noStrike" kern="1200" cap="none" spc="0" normalizeH="0" baseline="0" noProof="0" dirty="0">
                <a:ln>
                  <a:noFill/>
                </a:ln>
                <a:solidFill>
                  <a:prstClr val="black"/>
                </a:solidFill>
                <a:effectLst/>
                <a:uLnTx/>
                <a:uFillTx/>
                <a:latin typeface="+mn-lt"/>
                <a:ea typeface="Calibri" panose="020F0502020204030204" pitchFamily="34" charset="0"/>
                <a:cs typeface="Calibri" panose="020F0502020204030204" pitchFamily="34" charset="0"/>
              </a:rPr>
              <a:t>Improvements</a:t>
            </a:r>
            <a:r>
              <a:rPr kumimoji="0" lang="en-GB" sz="1800" b="0" i="0" u="none" strike="noStrike" kern="1200" cap="none" spc="0" normalizeH="0" baseline="0" noProof="0" dirty="0">
                <a:ln>
                  <a:noFill/>
                </a:ln>
                <a:solidFill>
                  <a:prstClr val="black"/>
                </a:solidFill>
                <a:effectLst/>
                <a:uLnTx/>
                <a:uFillTx/>
                <a:latin typeface="+mn-lt"/>
                <a:ea typeface="Calibri" panose="020F0502020204030204" pitchFamily="34" charset="0"/>
                <a:cs typeface="Calibri" panose="020F0502020204030204" pitchFamily="34" charset="0"/>
              </a:rPr>
              <a:t> in CRF are primarily driven by </a:t>
            </a:r>
            <a:r>
              <a:rPr kumimoji="0" lang="en-GB" sz="1800" b="1" i="0" u="none" strike="noStrike" kern="1200" cap="none" spc="0" normalizeH="0" baseline="0" noProof="0" dirty="0">
                <a:ln>
                  <a:noFill/>
                </a:ln>
                <a:solidFill>
                  <a:prstClr val="black"/>
                </a:solidFill>
                <a:effectLst/>
                <a:uLnTx/>
                <a:uFillTx/>
                <a:latin typeface="+mn-lt"/>
                <a:ea typeface="Calibri" panose="020F0502020204030204" pitchFamily="34" charset="0"/>
                <a:cs typeface="Calibri" panose="020F0502020204030204" pitchFamily="34" charset="0"/>
              </a:rPr>
              <a:t>intensity, frequency, and duration</a:t>
            </a:r>
            <a:r>
              <a:rPr kumimoji="0" lang="en-GB" sz="1800" b="0" i="0" u="none" strike="noStrike" kern="1200" cap="none" spc="0" normalizeH="0" baseline="0" noProof="0" dirty="0">
                <a:ln>
                  <a:noFill/>
                </a:ln>
                <a:solidFill>
                  <a:prstClr val="black"/>
                </a:solidFill>
                <a:effectLst/>
                <a:uLnTx/>
                <a:uFillTx/>
                <a:latin typeface="+mn-lt"/>
                <a:ea typeface="Calibri" panose="020F0502020204030204" pitchFamily="34" charset="0"/>
                <a:cs typeface="Calibri" panose="020F0502020204030204" pitchFamily="34" charset="0"/>
              </a:rPr>
              <a:t>, all types or combinations of aerobic activities (e.g. walking, jogging, running, sprinting) can contribute toward meeting physical activity (PA) recommendations independent of improvements in CRF (Duran et al., 2023) and improving health outcomes especially true for individuals with lower CRF.</a:t>
            </a:r>
            <a:endParaRPr lang="en-GB" sz="1800" dirty="0">
              <a:latin typeface="+mn-lt"/>
            </a:endParaRPr>
          </a:p>
          <a:p>
            <a:pPr marL="0" indent="0">
              <a:buNone/>
            </a:pPr>
            <a:endParaRPr lang="en-GB" sz="1800" dirty="0">
              <a:latin typeface="+mn-lt"/>
            </a:endParaRPr>
          </a:p>
          <a:p>
            <a:r>
              <a:rPr lang="en-GB" sz="1800" dirty="0">
                <a:latin typeface="+mn-lt"/>
              </a:rPr>
              <a:t>For the purpose of enhancing CRF an exercise prescription consisting solely of 150 min per week of moderate-intensity exercise may not be </a:t>
            </a:r>
            <a:r>
              <a:rPr lang="en-GB" sz="1800" dirty="0">
                <a:solidFill>
                  <a:srgbClr val="000000"/>
                </a:solidFill>
                <a:effectLst/>
                <a:latin typeface="+mn-lt"/>
                <a:ea typeface="Times New Roman" panose="02020603050405020304" pitchFamily="18" charset="0"/>
                <a:cs typeface="Aptos" panose="020B0004020202020204" pitchFamily="34" charset="0"/>
              </a:rPr>
              <a:t>sufficient to improve CRF in a large portion of the population, thus requiring a marked increase in the dose-response exercise stimulus, specifically increases in intensity and/or duration (Ross et al., 2015). </a:t>
            </a:r>
          </a:p>
          <a:p>
            <a:endParaRPr lang="en-GB" dirty="0"/>
          </a:p>
        </p:txBody>
      </p:sp>
    </p:spTree>
    <p:extLst>
      <p:ext uri="{BB962C8B-B14F-4D97-AF65-F5344CB8AC3E}">
        <p14:creationId xmlns:p14="http://schemas.microsoft.com/office/powerpoint/2010/main" val="266946620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37F848-2763-C9E0-7AED-FDE3F3B03E1A}"/>
              </a:ext>
            </a:extLst>
          </p:cNvPr>
          <p:cNvSpPr>
            <a:spLocks noGrp="1"/>
          </p:cNvSpPr>
          <p:nvPr>
            <p:ph type="body" sz="quarter" idx="10"/>
          </p:nvPr>
        </p:nvSpPr>
        <p:spPr>
          <a:xfrm>
            <a:off x="515258" y="-104296"/>
            <a:ext cx="6668019" cy="488301"/>
          </a:xfrm>
        </p:spPr>
        <p:txBody>
          <a:bodyPr/>
          <a:lstStyle/>
          <a:p>
            <a:r>
              <a:rPr lang="en-GB" sz="1800" b="1" dirty="0"/>
              <a:t>Aerobic-Exercise Recommendations (ACSM, 2026)</a:t>
            </a:r>
            <a:endParaRPr lang="en-GB" b="1" dirty="0"/>
          </a:p>
        </p:txBody>
      </p:sp>
      <p:graphicFrame>
        <p:nvGraphicFramePr>
          <p:cNvPr id="4" name="Table 3">
            <a:extLst>
              <a:ext uri="{FF2B5EF4-FFF2-40B4-BE49-F238E27FC236}">
                <a16:creationId xmlns:a16="http://schemas.microsoft.com/office/drawing/2014/main" id="{4AA78EC8-6AE5-BCDA-8369-45D041F701E9}"/>
              </a:ext>
            </a:extLst>
          </p:cNvPr>
          <p:cNvGraphicFramePr>
            <a:graphicFrameLocks noGrp="1"/>
          </p:cNvGraphicFramePr>
          <p:nvPr>
            <p:extLst>
              <p:ext uri="{D42A27DB-BD31-4B8C-83A1-F6EECF244321}">
                <p14:modId xmlns:p14="http://schemas.microsoft.com/office/powerpoint/2010/main" val="96833999"/>
              </p:ext>
            </p:extLst>
          </p:nvPr>
        </p:nvGraphicFramePr>
        <p:xfrm>
          <a:off x="290287" y="384005"/>
          <a:ext cx="7249885" cy="4968240"/>
        </p:xfrm>
        <a:graphic>
          <a:graphicData uri="http://schemas.openxmlformats.org/drawingml/2006/table">
            <a:tbl>
              <a:tblPr firstRow="1" bandRow="1">
                <a:tableStyleId>{5C22544A-7EE6-4342-B048-85BDC9FD1C3A}</a:tableStyleId>
              </a:tblPr>
              <a:tblGrid>
                <a:gridCol w="1406394">
                  <a:extLst>
                    <a:ext uri="{9D8B030D-6E8A-4147-A177-3AD203B41FA5}">
                      <a16:colId xmlns:a16="http://schemas.microsoft.com/office/drawing/2014/main" val="3563104996"/>
                    </a:ext>
                  </a:extLst>
                </a:gridCol>
                <a:gridCol w="5843491">
                  <a:extLst>
                    <a:ext uri="{9D8B030D-6E8A-4147-A177-3AD203B41FA5}">
                      <a16:colId xmlns:a16="http://schemas.microsoft.com/office/drawing/2014/main" val="1695502780"/>
                    </a:ext>
                  </a:extLst>
                </a:gridCol>
              </a:tblGrid>
              <a:tr h="621732">
                <a:tc>
                  <a:txBody>
                    <a:bodyPr/>
                    <a:lstStyle/>
                    <a:p>
                      <a:r>
                        <a:rPr lang="en-GB" sz="2000" b="0" dirty="0"/>
                        <a:t>FITT</a:t>
                      </a:r>
                    </a:p>
                    <a:p>
                      <a:endParaRPr lang="en-GB" sz="2000" b="0" dirty="0"/>
                    </a:p>
                  </a:txBody>
                  <a:tcPr/>
                </a:tc>
                <a:tc>
                  <a: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en-GB" sz="2000" b="0" dirty="0"/>
                        <a:t>Recommendation</a:t>
                      </a:r>
                    </a:p>
                    <a:p>
                      <a:endParaRPr lang="en-GB" sz="2000" b="0" dirty="0"/>
                    </a:p>
                  </a:txBody>
                  <a:tcPr/>
                </a:tc>
                <a:extLst>
                  <a:ext uri="{0D108BD9-81ED-4DB2-BD59-A6C34878D82A}">
                    <a16:rowId xmlns:a16="http://schemas.microsoft.com/office/drawing/2014/main" val="4093403458"/>
                  </a:ext>
                </a:extLst>
              </a:tr>
              <a:tr h="806826">
                <a:tc>
                  <a:txBody>
                    <a:bodyPr/>
                    <a:lstStyle/>
                    <a:p>
                      <a:r>
                        <a:rPr lang="en-GB" sz="1600" b="1" dirty="0"/>
                        <a:t>Frequency</a:t>
                      </a:r>
                    </a:p>
                    <a:p>
                      <a:endParaRPr lang="en-GB" dirty="0"/>
                    </a:p>
                  </a:txBody>
                  <a:tcPr/>
                </a:tc>
                <a:tc>
                  <a:txBody>
                    <a:bodyPr/>
                    <a:lstStyle/>
                    <a:p>
                      <a:pPr marL="285750" indent="-285750">
                        <a:buFont typeface="Arial" panose="020B0604020202020204" pitchFamily="34" charset="0"/>
                        <a:buChar char="•"/>
                      </a:pPr>
                      <a:r>
                        <a:rPr lang="en-GB" sz="1600" dirty="0"/>
                        <a:t>At least 3 days per week</a:t>
                      </a:r>
                    </a:p>
                    <a:p>
                      <a:pPr marL="285750" indent="-285750">
                        <a:buFont typeface="Arial" panose="020B0604020202020204" pitchFamily="34" charset="0"/>
                        <a:buChar char="•"/>
                      </a:pPr>
                      <a:r>
                        <a:rPr lang="en-GB" sz="1600" dirty="0"/>
                        <a:t>Spreading exercise sessions across 3-5 days per week.</a:t>
                      </a:r>
                    </a:p>
                    <a:p>
                      <a:pPr marL="285750" indent="-285750">
                        <a:buFont typeface="Arial" panose="020B0604020202020204" pitchFamily="34" charset="0"/>
                        <a:buChar char="•"/>
                      </a:pPr>
                      <a:r>
                        <a:rPr lang="en-GB" sz="1600" dirty="0"/>
                        <a:t> Most conducive strategy to reach the recommended amounts of PA.</a:t>
                      </a:r>
                    </a:p>
                  </a:txBody>
                  <a:tcPr/>
                </a:tc>
                <a:extLst>
                  <a:ext uri="{0D108BD9-81ED-4DB2-BD59-A6C34878D82A}">
                    <a16:rowId xmlns:a16="http://schemas.microsoft.com/office/drawing/2014/main" val="176565879"/>
                  </a:ext>
                </a:extLst>
              </a:tr>
              <a:tr h="513605">
                <a:tc>
                  <a:txBody>
                    <a:bodyPr/>
                    <a:lstStyle/>
                    <a:p>
                      <a:r>
                        <a:rPr lang="en-GB" sz="1600" b="1" dirty="0"/>
                        <a:t>Intensity</a:t>
                      </a:r>
                    </a:p>
                  </a:txBody>
                  <a:tcPr/>
                </a:tc>
                <a:tc>
                  <a:txBody>
                    <a:bodyPr/>
                    <a:lstStyle/>
                    <a:p>
                      <a:pPr marL="285750" indent="-285750">
                        <a:buFont typeface="Arial" panose="020B0604020202020204" pitchFamily="34" charset="0"/>
                        <a:buChar char="•"/>
                      </a:pPr>
                      <a:r>
                        <a:rPr lang="en-GB" sz="1600" dirty="0"/>
                        <a:t>Moderate (40%-59% HRR) and/or vigorous (60%-89% HRR intensity is recommended for most adults.</a:t>
                      </a:r>
                    </a:p>
                  </a:txBody>
                  <a:tcPr/>
                </a:tc>
                <a:extLst>
                  <a:ext uri="{0D108BD9-81ED-4DB2-BD59-A6C34878D82A}">
                    <a16:rowId xmlns:a16="http://schemas.microsoft.com/office/drawing/2014/main" val="3707225749"/>
                  </a:ext>
                </a:extLst>
              </a:tr>
              <a:tr h="1378623">
                <a:tc>
                  <a:txBody>
                    <a:bodyPr/>
                    <a:lstStyle/>
                    <a:p>
                      <a:r>
                        <a:rPr lang="en-GB" sz="1600" b="1" dirty="0"/>
                        <a:t>Time</a:t>
                      </a:r>
                    </a:p>
                  </a:txBody>
                  <a:tcPr/>
                </a:tc>
                <a:tc>
                  <a:txBody>
                    <a:bodyPr/>
                    <a:lstStyle/>
                    <a:p>
                      <a:r>
                        <a:rPr lang="en-GB" sz="1600" dirty="0"/>
                        <a:t>Most adults should accumulate 30-60 min per day (≥150 min per week up to 300 min per week) of moderate-intensity exercise, also 20-60 min per day (≥ 75 min and up to 150 min per week)- wk-1) of vigorous-intensity exercise, or a combination of moderate and vigorous-intensity exercise daily to attain the recommended targeted volumes and health-related benefits of exercise.</a:t>
                      </a:r>
                    </a:p>
                  </a:txBody>
                  <a:tcPr/>
                </a:tc>
                <a:extLst>
                  <a:ext uri="{0D108BD9-81ED-4DB2-BD59-A6C34878D82A}">
                    <a16:rowId xmlns:a16="http://schemas.microsoft.com/office/drawing/2014/main" val="2518192428"/>
                  </a:ext>
                </a:extLst>
              </a:tr>
              <a:tr h="946114">
                <a:tc>
                  <a:txBody>
                    <a:bodyPr/>
                    <a:lstStyle/>
                    <a:p>
                      <a:r>
                        <a:rPr lang="en-GB" sz="1600" dirty="0"/>
                        <a:t>Type</a:t>
                      </a:r>
                    </a:p>
                  </a:txBody>
                  <a:tcPr/>
                </a:tc>
                <a:tc>
                  <a:txBody>
                    <a:bodyPr/>
                    <a:lstStyle/>
                    <a:p>
                      <a:r>
                        <a:rPr lang="en-GB" sz="1600" dirty="0"/>
                        <a:t>Aerobic exercise performed in a continuous or intermittent manner that involves major muscle groups is recommended for most adults</a:t>
                      </a:r>
                    </a:p>
                    <a:p>
                      <a:r>
                        <a:rPr lang="en-GB" sz="1600" dirty="0"/>
                        <a:t> </a:t>
                      </a:r>
                    </a:p>
                    <a:p>
                      <a:endParaRPr lang="en-GB" sz="1600" dirty="0"/>
                    </a:p>
                  </a:txBody>
                  <a:tcPr/>
                </a:tc>
                <a:extLst>
                  <a:ext uri="{0D108BD9-81ED-4DB2-BD59-A6C34878D82A}">
                    <a16:rowId xmlns:a16="http://schemas.microsoft.com/office/drawing/2014/main" val="505890185"/>
                  </a:ext>
                </a:extLst>
              </a:tr>
            </a:tbl>
          </a:graphicData>
        </a:graphic>
      </p:graphicFrame>
    </p:spTree>
    <p:extLst>
      <p:ext uri="{BB962C8B-B14F-4D97-AF65-F5344CB8AC3E}">
        <p14:creationId xmlns:p14="http://schemas.microsoft.com/office/powerpoint/2010/main" val="3431711435"/>
      </p:ext>
    </p:extLst>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500CEC-D19E-1B0C-3ACF-D6CD107C3FEA}"/>
              </a:ext>
            </a:extLst>
          </p:cNvPr>
          <p:cNvSpPr>
            <a:spLocks noGrp="1"/>
          </p:cNvSpPr>
          <p:nvPr>
            <p:ph type="body" sz="quarter" idx="10"/>
          </p:nvPr>
        </p:nvSpPr>
        <p:spPr>
          <a:xfrm>
            <a:off x="370115" y="111713"/>
            <a:ext cx="7474856" cy="484319"/>
          </a:xfrm>
        </p:spPr>
        <p:txBody>
          <a:bodyPr/>
          <a:lstStyle/>
          <a:p>
            <a:r>
              <a:rPr lang="en-IN" sz="2800" dirty="0"/>
              <a:t>Intensity Measures-Exercise prescription</a:t>
            </a:r>
            <a:endParaRPr lang="en-US" sz="2800" dirty="0"/>
          </a:p>
        </p:txBody>
      </p:sp>
      <p:sp>
        <p:nvSpPr>
          <p:cNvPr id="2" name="Text Placeholder 1">
            <a:extLst>
              <a:ext uri="{FF2B5EF4-FFF2-40B4-BE49-F238E27FC236}">
                <a16:creationId xmlns:a16="http://schemas.microsoft.com/office/drawing/2014/main" id="{33B0EA3A-FC3E-3F51-5964-28D1B2666003}"/>
              </a:ext>
            </a:extLst>
          </p:cNvPr>
          <p:cNvSpPr>
            <a:spLocks noGrp="1"/>
          </p:cNvSpPr>
          <p:nvPr>
            <p:ph type="body" sz="quarter" idx="11"/>
          </p:nvPr>
        </p:nvSpPr>
        <p:spPr>
          <a:xfrm>
            <a:off x="210459" y="596032"/>
            <a:ext cx="5145312" cy="8801800"/>
          </a:xfrm>
        </p:spPr>
        <p:txBody>
          <a:bodyPr/>
          <a:lstStyle/>
          <a:p>
            <a:pPr marL="0" indent="0">
              <a:buNone/>
            </a:pPr>
            <a:r>
              <a:rPr lang="en-GB" sz="2800" u="sng" dirty="0">
                <a:solidFill>
                  <a:schemeClr val="accent1"/>
                </a:solidFill>
              </a:rPr>
              <a:t>Aerobic-</a:t>
            </a:r>
            <a:r>
              <a:rPr kumimoji="0" lang="en-IN" sz="2800" b="0" i="0" u="sng" strike="noStrike" kern="1200" cap="none" spc="0" normalizeH="0" baseline="0" noProof="0" dirty="0">
                <a:ln>
                  <a:noFill/>
                </a:ln>
                <a:solidFill>
                  <a:srgbClr val="16818D"/>
                </a:solidFill>
                <a:effectLst/>
                <a:uLnTx/>
                <a:uFillTx/>
                <a:latin typeface="Calibri" panose="020F0502020204030204" pitchFamily="34" charset="0"/>
                <a:ea typeface="Calibri" panose="020F0502020204030204" pitchFamily="34" charset="0"/>
                <a:cs typeface="Calibri" panose="020F0502020204030204" pitchFamily="34" charset="0"/>
              </a:rPr>
              <a:t> Calculating HRR</a:t>
            </a:r>
            <a:endParaRPr lang="en-GB" sz="1200" u="sng" dirty="0"/>
          </a:p>
          <a:p>
            <a:pPr marL="0" indent="0">
              <a:buNone/>
            </a:pPr>
            <a:r>
              <a:rPr lang="en-IN" dirty="0"/>
              <a:t>To calculate 60% HRR for a 65-year-old with a resting HR of 70 beats per minute, you must:</a:t>
            </a:r>
            <a:br>
              <a:rPr lang="en-IN" dirty="0"/>
            </a:br>
            <a:r>
              <a:rPr lang="en-IN" dirty="0"/>
              <a:t>1. Calculate the maximum HR – estimated by [220 − age]: 220 − 65 = 155 bpm</a:t>
            </a:r>
            <a:br>
              <a:rPr lang="en-IN" dirty="0"/>
            </a:br>
            <a:r>
              <a:rPr lang="en-IN" dirty="0"/>
              <a:t>2. Deduct the resting RHR: 155 − 70 = 85 (HRR)</a:t>
            </a:r>
            <a:br>
              <a:rPr lang="en-IN" dirty="0"/>
            </a:br>
            <a:r>
              <a:rPr lang="en-IN" dirty="0"/>
              <a:t>3. Multiply HRR by 0.6: 85 × 0.6 = 51</a:t>
            </a:r>
            <a:br>
              <a:rPr lang="en-IN" dirty="0"/>
            </a:br>
            <a:r>
              <a:rPr lang="en-IN" dirty="0"/>
              <a:t>4. Add the RHR back on: 51 + 70 = 121 beats per minute.</a:t>
            </a:r>
          </a:p>
          <a:p>
            <a:pPr marL="0" indent="0">
              <a:buNone/>
            </a:pPr>
            <a:r>
              <a:rPr lang="en-IN" dirty="0"/>
              <a:t>……………………………………………………………………………………..</a:t>
            </a:r>
          </a:p>
          <a:p>
            <a:pPr marL="0" indent="0">
              <a:buNone/>
            </a:pPr>
            <a:r>
              <a:rPr lang="en-IN" dirty="0"/>
              <a:t>Also can use </a:t>
            </a:r>
            <a:r>
              <a:rPr lang="en-GB" b="0" i="0" u="none" strike="noStrike" baseline="0" dirty="0">
                <a:solidFill>
                  <a:srgbClr val="000000"/>
                </a:solidFill>
              </a:rPr>
              <a:t>60%–85% </a:t>
            </a:r>
            <a:r>
              <a:rPr lang="en-GB" b="0" i="0" u="none" strike="noStrike" baseline="0" dirty="0" err="1">
                <a:solidFill>
                  <a:srgbClr val="000000"/>
                </a:solidFill>
              </a:rPr>
              <a:t>Hrmax</a:t>
            </a:r>
            <a:r>
              <a:rPr lang="en-GB" b="0" i="0" u="none" strike="noStrike" baseline="0" dirty="0">
                <a:solidFill>
                  <a:srgbClr val="000000"/>
                </a:solidFill>
              </a:rPr>
              <a:t>.	</a:t>
            </a:r>
            <a:br>
              <a:rPr lang="en-IN" dirty="0"/>
            </a:br>
            <a:r>
              <a:rPr lang="en-IN" dirty="0"/>
              <a:t>OR Borg’s Ratings of Perceived Exertion 6–20 scale, OR 1–10 scale (e.g. when a person is taking beta-blocker medication). </a:t>
            </a:r>
          </a:p>
          <a:p>
            <a:pPr marL="0" indent="0">
              <a:buNone/>
            </a:pPr>
            <a:r>
              <a:rPr lang="en-IN" dirty="0"/>
              <a:t>Exercise prescription for resistance training can be based on the  ten-repetition maximum or using pain scales for musculoskeletal conditions.</a:t>
            </a:r>
            <a:br>
              <a:rPr lang="en-IN" dirty="0"/>
            </a:br>
            <a:br>
              <a:rPr lang="en-IN" dirty="0"/>
            </a:br>
            <a:endParaRPr lang="en-IN" dirty="0"/>
          </a:p>
        </p:txBody>
      </p:sp>
      <p:pic>
        <p:nvPicPr>
          <p:cNvPr id="5" name="Picture 4">
            <a:extLst>
              <a:ext uri="{FF2B5EF4-FFF2-40B4-BE49-F238E27FC236}">
                <a16:creationId xmlns:a16="http://schemas.microsoft.com/office/drawing/2014/main" id="{B3CE637E-1A12-99E6-78DD-F7C770D490F4}"/>
              </a:ext>
            </a:extLst>
          </p:cNvPr>
          <p:cNvPicPr>
            <a:picLocks noChangeAspect="1"/>
          </p:cNvPicPr>
          <p:nvPr/>
        </p:nvPicPr>
        <p:blipFill>
          <a:blip r:embed="rId2"/>
          <a:stretch>
            <a:fillRect/>
          </a:stretch>
        </p:blipFill>
        <p:spPr>
          <a:xfrm>
            <a:off x="5544457" y="1278282"/>
            <a:ext cx="3389084" cy="2586936"/>
          </a:xfrm>
          <a:prstGeom prst="rect">
            <a:avLst/>
          </a:prstGeom>
        </p:spPr>
      </p:pic>
    </p:spTree>
    <p:extLst>
      <p:ext uri="{BB962C8B-B14F-4D97-AF65-F5344CB8AC3E}">
        <p14:creationId xmlns:p14="http://schemas.microsoft.com/office/powerpoint/2010/main" val="362524150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8FD23-732D-A2F6-71C4-01D9E43245B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E5E358A-F014-DA19-9C1A-A09C84F6613C}"/>
              </a:ext>
            </a:extLst>
          </p:cNvPr>
          <p:cNvSpPr>
            <a:spLocks noGrp="1"/>
          </p:cNvSpPr>
          <p:nvPr>
            <p:ph type="body" sz="quarter" idx="10"/>
          </p:nvPr>
        </p:nvSpPr>
        <p:spPr/>
        <p:txBody>
          <a:bodyPr/>
          <a:lstStyle/>
          <a:p>
            <a:r>
              <a:rPr lang="en-GB" dirty="0"/>
              <a:t>Group Activity</a:t>
            </a:r>
            <a:endParaRPr lang="en-US" dirty="0"/>
          </a:p>
        </p:txBody>
      </p:sp>
      <p:pic>
        <p:nvPicPr>
          <p:cNvPr id="5" name="Picture 4">
            <a:extLst>
              <a:ext uri="{FF2B5EF4-FFF2-40B4-BE49-F238E27FC236}">
                <a16:creationId xmlns:a16="http://schemas.microsoft.com/office/drawing/2014/main" id="{7BF9D9FB-9959-85EB-A548-74B93C11BD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4970" y="1184618"/>
            <a:ext cx="2912562" cy="2551784"/>
          </a:xfrm>
          <a:prstGeom prst="rect">
            <a:avLst/>
          </a:prstGeom>
        </p:spPr>
      </p:pic>
      <p:sp>
        <p:nvSpPr>
          <p:cNvPr id="7" name="Text Placeholder 3">
            <a:extLst>
              <a:ext uri="{FF2B5EF4-FFF2-40B4-BE49-F238E27FC236}">
                <a16:creationId xmlns:a16="http://schemas.microsoft.com/office/drawing/2014/main" id="{10AFE0C1-EF1D-09C6-845A-FFBF1D00EFBD}"/>
              </a:ext>
            </a:extLst>
          </p:cNvPr>
          <p:cNvSpPr txBox="1">
            <a:spLocks noGrp="1"/>
          </p:cNvSpPr>
          <p:nvPr>
            <p:ph type="body" sz="quarter" idx="11"/>
          </p:nvPr>
        </p:nvSpPr>
        <p:spPr>
          <a:xfrm>
            <a:off x="378315" y="1376494"/>
            <a:ext cx="5086313" cy="3287174"/>
          </a:xfrm>
          <a:prstGeom prst="rect">
            <a:avLst/>
          </a:prstGeom>
        </p:spPr>
        <p:txBody>
          <a:bodyPr vert="horz" lIns="0" tIns="0" rIns="0" bIns="0" numCol="1" spcCol="216000" rtlCol="0">
            <a:normAutofit/>
          </a:bodyPr>
          <a:lstStyle>
            <a:lvl1pPr marL="0" marR="0" indent="0" algn="l" defTabSz="606410" rtl="0" eaLnBrk="1" fontAlgn="base" latinLnBrk="0" hangingPunct="1">
              <a:lnSpc>
                <a:spcPts val="2000"/>
              </a:lnSpc>
              <a:spcBef>
                <a:spcPts val="0"/>
              </a:spcBef>
              <a:spcAft>
                <a:spcPct val="0"/>
              </a:spcAft>
              <a:buClrTx/>
              <a:buSzTx/>
              <a:buFontTx/>
              <a:buNone/>
              <a:tabLst/>
              <a:defRPr sz="1400" b="0" i="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pPr>
              <a:lnSpc>
                <a:spcPts val="2200"/>
              </a:lnSpc>
            </a:pPr>
            <a:r>
              <a:rPr lang="en-GB" sz="2000" b="1" dirty="0">
                <a:solidFill>
                  <a:schemeClr val="accent5"/>
                </a:solidFill>
              </a:rPr>
              <a:t>Work in your group and think of some </a:t>
            </a:r>
            <a:r>
              <a:rPr lang="en-GB" sz="2000" b="1" u="sng" dirty="0">
                <a:solidFill>
                  <a:schemeClr val="accent5"/>
                </a:solidFill>
              </a:rPr>
              <a:t>Aerobic Exercises </a:t>
            </a:r>
            <a:r>
              <a:rPr lang="en-GB" sz="2000" b="1" dirty="0">
                <a:solidFill>
                  <a:schemeClr val="accent5"/>
                </a:solidFill>
              </a:rPr>
              <a:t>you could use for any special population. We will go into more detail on Monday.</a:t>
            </a:r>
          </a:p>
          <a:p>
            <a:pPr>
              <a:lnSpc>
                <a:spcPts val="2200"/>
              </a:lnSpc>
            </a:pPr>
            <a:endParaRPr lang="en-GB" sz="2000" b="1" dirty="0">
              <a:solidFill>
                <a:schemeClr val="accent5"/>
              </a:solidFill>
            </a:endParaRPr>
          </a:p>
          <a:p>
            <a:pPr>
              <a:lnSpc>
                <a:spcPts val="2200"/>
              </a:lnSpc>
            </a:pPr>
            <a:endParaRPr lang="en-GB" sz="2000" b="1" dirty="0">
              <a:solidFill>
                <a:schemeClr val="accent5"/>
              </a:solidFill>
            </a:endParaRPr>
          </a:p>
          <a:p>
            <a:pPr>
              <a:lnSpc>
                <a:spcPts val="2200"/>
              </a:lnSpc>
            </a:pPr>
            <a:r>
              <a:rPr lang="en-GB" sz="2000" b="1" dirty="0">
                <a:solidFill>
                  <a:schemeClr val="accent5"/>
                </a:solidFill>
              </a:rPr>
              <a:t>Work in pairs, put ideas on a </a:t>
            </a:r>
            <a:r>
              <a:rPr lang="en-GB" sz="2000" b="1" dirty="0" err="1">
                <a:solidFill>
                  <a:schemeClr val="accent5"/>
                </a:solidFill>
              </a:rPr>
              <a:t>post-it</a:t>
            </a:r>
            <a:r>
              <a:rPr lang="en-GB" sz="2000" b="1" dirty="0">
                <a:solidFill>
                  <a:schemeClr val="accent5"/>
                </a:solidFill>
              </a:rPr>
              <a:t> or  interactive board and then share with the group.</a:t>
            </a:r>
          </a:p>
          <a:p>
            <a:endParaRPr lang="en-GB" sz="1800" b="1" dirty="0">
              <a:solidFill>
                <a:schemeClr val="accent5"/>
              </a:solidFill>
            </a:endParaRPr>
          </a:p>
          <a:p>
            <a:endParaRPr lang="en-GB" sz="1800" b="1" dirty="0">
              <a:solidFill>
                <a:schemeClr val="accent5"/>
              </a:solidFill>
            </a:endParaRPr>
          </a:p>
          <a:p>
            <a:endParaRPr lang="en-US" sz="1800" b="1" dirty="0">
              <a:solidFill>
                <a:schemeClr val="accent5"/>
              </a:solidFill>
            </a:endParaRPr>
          </a:p>
        </p:txBody>
      </p:sp>
      <p:pic>
        <p:nvPicPr>
          <p:cNvPr id="6" name="Picture 5">
            <a:extLst>
              <a:ext uri="{FF2B5EF4-FFF2-40B4-BE49-F238E27FC236}">
                <a16:creationId xmlns:a16="http://schemas.microsoft.com/office/drawing/2014/main" id="{8ED3A467-6618-FAD0-865D-9FE5346DD8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5" y="4111839"/>
            <a:ext cx="693857" cy="551829"/>
          </a:xfrm>
          <a:prstGeom prst="rect">
            <a:avLst/>
          </a:prstGeom>
        </p:spPr>
      </p:pic>
    </p:spTree>
    <p:extLst>
      <p:ext uri="{BB962C8B-B14F-4D97-AF65-F5344CB8AC3E}">
        <p14:creationId xmlns:p14="http://schemas.microsoft.com/office/powerpoint/2010/main" val="2847213143"/>
      </p:ext>
    </p:extLst>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BCEB80-B96B-8E64-70C3-DBBF6046BBC2}"/>
              </a:ext>
            </a:extLst>
          </p:cNvPr>
          <p:cNvSpPr>
            <a:spLocks noGrp="1"/>
          </p:cNvSpPr>
          <p:nvPr>
            <p:ph type="body" sz="quarter" idx="10"/>
          </p:nvPr>
        </p:nvSpPr>
        <p:spPr>
          <a:xfrm>
            <a:off x="769258" y="147111"/>
            <a:ext cx="6820127" cy="488301"/>
          </a:xfrm>
        </p:spPr>
        <p:txBody>
          <a:bodyPr/>
          <a:lstStyle/>
          <a:p>
            <a:r>
              <a:rPr lang="en-GB" sz="2800" dirty="0"/>
              <a:t>Resistance Training (RT) ACSM, 2026</a:t>
            </a:r>
          </a:p>
        </p:txBody>
      </p:sp>
      <p:sp>
        <p:nvSpPr>
          <p:cNvPr id="3" name="Text Placeholder 2">
            <a:extLst>
              <a:ext uri="{FF2B5EF4-FFF2-40B4-BE49-F238E27FC236}">
                <a16:creationId xmlns:a16="http://schemas.microsoft.com/office/drawing/2014/main" id="{7B84E287-A92F-1B51-475F-7AE199C3071F}"/>
              </a:ext>
            </a:extLst>
          </p:cNvPr>
          <p:cNvSpPr>
            <a:spLocks noGrp="1"/>
          </p:cNvSpPr>
          <p:nvPr>
            <p:ph type="body" sz="quarter" idx="11"/>
          </p:nvPr>
        </p:nvSpPr>
        <p:spPr>
          <a:xfrm>
            <a:off x="373742" y="689430"/>
            <a:ext cx="8396515" cy="4209142"/>
          </a:xfrm>
        </p:spPr>
        <p:txBody>
          <a:bodyPr/>
          <a:lstStyle/>
          <a:p>
            <a:pPr>
              <a:defRPr/>
            </a:pP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Includes muscular strength, hypertrophy, power, and local endurance, is achieved through  RT, which can encompass free weights, machines, body weight, bands/tubing, or any other object that requires one to exert force against a resistance to improve strength endurance, and power (</a:t>
            </a:r>
            <a:r>
              <a:rPr kumimoji="0" lang="en-GB"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Ratamess</a:t>
            </a: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et al., 2012).</a:t>
            </a:r>
          </a:p>
          <a:p>
            <a:pPr marL="0" indent="0">
              <a:buNone/>
              <a:defRPr/>
            </a:pPr>
            <a:endParaRPr lang="en-GB" sz="1800" dirty="0"/>
          </a:p>
          <a:p>
            <a:r>
              <a:rPr lang="en-GB" sz="1800" dirty="0"/>
              <a:t>Physical Activity Guidelines for Americans (2018), for additional benefits beyond aerobic activity, a minimum recommendation for RT is at least 2 days/ per week at moderate to heavy loads and work the major muscle groups of the body. </a:t>
            </a:r>
          </a:p>
          <a:p>
            <a:pPr marL="0" indent="0">
              <a:buNone/>
            </a:pPr>
            <a:endParaRPr lang="en-GB" sz="1800" dirty="0"/>
          </a:p>
          <a:p>
            <a:r>
              <a:rPr lang="en-GB" sz="1800" dirty="0"/>
              <a:t>The individual’s RT goals should guide the components of the RT program and should incorporate the FITT-VP principle. </a:t>
            </a:r>
          </a:p>
          <a:p>
            <a:pPr marL="0" indent="0">
              <a:buNone/>
            </a:pPr>
            <a:endParaRPr lang="en-GB" sz="1800" dirty="0"/>
          </a:p>
          <a:p>
            <a:r>
              <a:rPr lang="en-GB" sz="1800" dirty="0"/>
              <a:t>Furthermore, loss of muscle mass with age (i.e., sarcopenia) is generally not counteracted by endurance training, whereas RT is highly effective for this. </a:t>
            </a:r>
          </a:p>
          <a:p>
            <a:endParaRPr lang="en-GB" dirty="0"/>
          </a:p>
        </p:txBody>
      </p:sp>
    </p:spTree>
    <p:extLst>
      <p:ext uri="{BB962C8B-B14F-4D97-AF65-F5344CB8AC3E}">
        <p14:creationId xmlns:p14="http://schemas.microsoft.com/office/powerpoint/2010/main" val="333033119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203A27-4B39-3992-5D85-669F97616F3B}"/>
              </a:ext>
            </a:extLst>
          </p:cNvPr>
          <p:cNvSpPr>
            <a:spLocks noGrp="1"/>
          </p:cNvSpPr>
          <p:nvPr>
            <p:ph type="body" sz="quarter" idx="10"/>
          </p:nvPr>
        </p:nvSpPr>
        <p:spPr>
          <a:xfrm>
            <a:off x="827583" y="256856"/>
            <a:ext cx="6668019" cy="488301"/>
          </a:xfrm>
        </p:spPr>
        <p:txBody>
          <a:bodyPr/>
          <a:lstStyle/>
          <a:p>
            <a:r>
              <a:rPr lang="en-GB" dirty="0"/>
              <a:t>Resistance Training-INTENSITY</a:t>
            </a:r>
          </a:p>
        </p:txBody>
      </p:sp>
      <p:sp>
        <p:nvSpPr>
          <p:cNvPr id="3" name="Text Placeholder 2">
            <a:extLst>
              <a:ext uri="{FF2B5EF4-FFF2-40B4-BE49-F238E27FC236}">
                <a16:creationId xmlns:a16="http://schemas.microsoft.com/office/drawing/2014/main" id="{18131127-E8F2-CD7F-8BCE-B1BF3A66D23F}"/>
              </a:ext>
            </a:extLst>
          </p:cNvPr>
          <p:cNvSpPr>
            <a:spLocks noGrp="1"/>
          </p:cNvSpPr>
          <p:nvPr>
            <p:ph type="body" sz="quarter" idx="11"/>
          </p:nvPr>
        </p:nvSpPr>
        <p:spPr>
          <a:xfrm>
            <a:off x="239486" y="805544"/>
            <a:ext cx="8904514" cy="4337956"/>
          </a:xfrm>
        </p:spPr>
        <p:txBody>
          <a:bodyPr/>
          <a:lstStyle/>
          <a:p>
            <a:r>
              <a:rPr lang="en-GB" dirty="0"/>
              <a:t>Intensity has commonly been used synonymously with the </a:t>
            </a:r>
            <a:r>
              <a:rPr lang="en-GB" b="1" dirty="0"/>
              <a:t>weight, or load</a:t>
            </a:r>
            <a:r>
              <a:rPr lang="en-GB" dirty="0"/>
              <a:t>, lifted when referring to RT.</a:t>
            </a:r>
          </a:p>
          <a:p>
            <a:r>
              <a:rPr lang="en-GB" dirty="0"/>
              <a:t>In addition to load, intensity should also consider the </a:t>
            </a:r>
            <a:r>
              <a:rPr lang="en-GB" b="1" dirty="0"/>
              <a:t>level of technical difficulty, number of muscle groups and joints involved, speed- movement, and ROM. </a:t>
            </a:r>
          </a:p>
          <a:p>
            <a:r>
              <a:rPr lang="en-GB" u="sng" dirty="0"/>
              <a:t>Multiple methods exist for prescribing load and intensity:</a:t>
            </a:r>
          </a:p>
          <a:p>
            <a:r>
              <a:rPr lang="en-GB" dirty="0"/>
              <a:t>As many reps as possible (AMRAP), 1-repetition maximum (1-RM), repetition maximum (RM), rating of perceived exertion (RPE), and repetitions in reserve (RIR) (</a:t>
            </a:r>
            <a:r>
              <a:rPr lang="en-GB" dirty="0" err="1"/>
              <a:t>Suchomelet</a:t>
            </a:r>
            <a:r>
              <a:rPr lang="en-GB" dirty="0"/>
              <a:t> al., 2023).</a:t>
            </a:r>
          </a:p>
          <a:p>
            <a:r>
              <a:rPr lang="en-GB" dirty="0"/>
              <a:t>It is important to select a method that makes sense for the exercise, the RT goal and the individual.</a:t>
            </a:r>
          </a:p>
          <a:p>
            <a:r>
              <a:rPr lang="en-GB" dirty="0"/>
              <a:t>A benefit of AMRAP is ease of implementation, whereby one load (may a be bodyweight), is moved in an exercise until failure or until a-set time has lapsed.</a:t>
            </a:r>
          </a:p>
          <a:p>
            <a:endParaRPr lang="en-GB" dirty="0"/>
          </a:p>
          <a:p>
            <a:r>
              <a:rPr lang="en-GB" dirty="0"/>
              <a:t>See  further Detail </a:t>
            </a:r>
          </a:p>
          <a:p>
            <a:endParaRPr lang="en-GB" dirty="0"/>
          </a:p>
        </p:txBody>
      </p:sp>
      <p:sp>
        <p:nvSpPr>
          <p:cNvPr id="4" name="Arrow: Right 3">
            <a:extLst>
              <a:ext uri="{FF2B5EF4-FFF2-40B4-BE49-F238E27FC236}">
                <a16:creationId xmlns:a16="http://schemas.microsoft.com/office/drawing/2014/main" id="{F08BDFBD-1534-0959-71AD-38F53EBB4F75}"/>
              </a:ext>
            </a:extLst>
          </p:cNvPr>
          <p:cNvSpPr/>
          <p:nvPr/>
        </p:nvSpPr>
        <p:spPr>
          <a:xfrm>
            <a:off x="2423886" y="3650343"/>
            <a:ext cx="1320800"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75014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AC1F2E-7BC5-6A9E-2827-404B199A0DA7}"/>
              </a:ext>
            </a:extLst>
          </p:cNvPr>
          <p:cNvSpPr>
            <a:spLocks noGrp="1"/>
          </p:cNvSpPr>
          <p:nvPr>
            <p:ph type="body" sz="quarter" idx="10"/>
          </p:nvPr>
        </p:nvSpPr>
        <p:spPr>
          <a:xfrm>
            <a:off x="899594" y="198799"/>
            <a:ext cx="6668019" cy="488301"/>
          </a:xfrm>
        </p:spPr>
        <p:txBody>
          <a:bodyPr/>
          <a:lstStyle/>
          <a:p>
            <a:r>
              <a:rPr lang="en-GB" dirty="0"/>
              <a:t>RT-Intensity</a:t>
            </a:r>
          </a:p>
        </p:txBody>
      </p:sp>
      <p:sp>
        <p:nvSpPr>
          <p:cNvPr id="3" name="Text Placeholder 2">
            <a:extLst>
              <a:ext uri="{FF2B5EF4-FFF2-40B4-BE49-F238E27FC236}">
                <a16:creationId xmlns:a16="http://schemas.microsoft.com/office/drawing/2014/main" id="{C829255C-0E2D-2FAD-8251-C4C3DD311991}"/>
              </a:ext>
            </a:extLst>
          </p:cNvPr>
          <p:cNvSpPr>
            <a:spLocks noGrp="1"/>
          </p:cNvSpPr>
          <p:nvPr>
            <p:ph type="body" sz="quarter" idx="11"/>
          </p:nvPr>
        </p:nvSpPr>
        <p:spPr>
          <a:xfrm>
            <a:off x="116114" y="788835"/>
            <a:ext cx="8113486" cy="4102479"/>
          </a:xfrm>
        </p:spPr>
        <p:txBody>
          <a:bodyPr/>
          <a:lstStyle/>
          <a:p>
            <a:r>
              <a:rPr lang="en-GB" sz="1800" dirty="0"/>
              <a:t>A common method of loading RT exercises is  a percentage of 1-RM %1-RM), or the greatest load an individual can lift with sound technique.</a:t>
            </a:r>
          </a:p>
          <a:p>
            <a:r>
              <a:rPr lang="en-GB" sz="1800" dirty="0"/>
              <a:t> 1-RM use is best suited for individuals with more RT experience.  </a:t>
            </a:r>
          </a:p>
          <a:p>
            <a:endParaRPr lang="en-GB" sz="1800" dirty="0"/>
          </a:p>
          <a:p>
            <a:r>
              <a:rPr lang="en-GB" sz="1800" dirty="0"/>
              <a:t>Beyond RM testing, other intensity prescription methods enable individual to subjectively rate their perceived exertion during exercise or activity: </a:t>
            </a:r>
          </a:p>
          <a:p>
            <a:r>
              <a:rPr lang="en-GB" sz="1800" b="1" dirty="0"/>
              <a:t>Rate of Perceived Exertion</a:t>
            </a:r>
            <a:r>
              <a:rPr lang="en-GB" sz="1800" dirty="0"/>
              <a:t> (RPE) scaled method where the individual rates the degree of difficulty on a 1-10 scale where 1 is at rest and 10 is maximal effort. </a:t>
            </a:r>
          </a:p>
          <a:p>
            <a:r>
              <a:rPr lang="en-GB" sz="1800" b="1" dirty="0"/>
              <a:t>Reps in Reserve (RIR)</a:t>
            </a:r>
            <a:r>
              <a:rPr lang="en-GB" sz="1800" dirty="0"/>
              <a:t> is based upon RPE and is adapted to RT. Measures the intensity of a lift by describing how many more repetitions you could perform before technical failure (an inability to perform the lift with good form). These are safe methods to begin incorporating RT load in a manner that enables the individual to adjust load based upon their abilities for that session. </a:t>
            </a:r>
          </a:p>
        </p:txBody>
      </p:sp>
    </p:spTree>
    <p:extLst>
      <p:ext uri="{BB962C8B-B14F-4D97-AF65-F5344CB8AC3E}">
        <p14:creationId xmlns:p14="http://schemas.microsoft.com/office/powerpoint/2010/main" val="172727922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BC51F-5B5D-0223-232E-910A452F692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CCE1A32-AC28-A297-CF85-21AEF8F9B4E3}"/>
              </a:ext>
            </a:extLst>
          </p:cNvPr>
          <p:cNvSpPr>
            <a:spLocks noGrp="1"/>
          </p:cNvSpPr>
          <p:nvPr>
            <p:ph type="body" sz="quarter" idx="10"/>
          </p:nvPr>
        </p:nvSpPr>
        <p:spPr/>
        <p:txBody>
          <a:bodyPr/>
          <a:lstStyle/>
          <a:p>
            <a:r>
              <a:rPr lang="en-GB" dirty="0"/>
              <a:t>Group Activity</a:t>
            </a:r>
            <a:endParaRPr lang="en-US" dirty="0"/>
          </a:p>
        </p:txBody>
      </p:sp>
      <p:pic>
        <p:nvPicPr>
          <p:cNvPr id="5" name="Picture 4">
            <a:extLst>
              <a:ext uri="{FF2B5EF4-FFF2-40B4-BE49-F238E27FC236}">
                <a16:creationId xmlns:a16="http://schemas.microsoft.com/office/drawing/2014/main" id="{26B709D3-4D26-9304-FCA4-E99F60ED90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4970" y="1184618"/>
            <a:ext cx="2912562" cy="2551784"/>
          </a:xfrm>
          <a:prstGeom prst="rect">
            <a:avLst/>
          </a:prstGeom>
        </p:spPr>
      </p:pic>
      <p:sp>
        <p:nvSpPr>
          <p:cNvPr id="7" name="Text Placeholder 3">
            <a:extLst>
              <a:ext uri="{FF2B5EF4-FFF2-40B4-BE49-F238E27FC236}">
                <a16:creationId xmlns:a16="http://schemas.microsoft.com/office/drawing/2014/main" id="{D085F6AC-008C-7719-01F5-19D02DAAA484}"/>
              </a:ext>
            </a:extLst>
          </p:cNvPr>
          <p:cNvSpPr txBox="1">
            <a:spLocks noGrp="1"/>
          </p:cNvSpPr>
          <p:nvPr>
            <p:ph type="body" sz="quarter" idx="11"/>
          </p:nvPr>
        </p:nvSpPr>
        <p:spPr>
          <a:xfrm>
            <a:off x="378315" y="1376494"/>
            <a:ext cx="5086313" cy="3287174"/>
          </a:xfrm>
          <a:prstGeom prst="rect">
            <a:avLst/>
          </a:prstGeom>
        </p:spPr>
        <p:txBody>
          <a:bodyPr vert="horz" lIns="0" tIns="0" rIns="0" bIns="0" numCol="1" spcCol="216000" rtlCol="0">
            <a:normAutofit/>
          </a:bodyPr>
          <a:lstStyle>
            <a:lvl1pPr marL="0" marR="0" indent="0" algn="l" defTabSz="606410" rtl="0" eaLnBrk="1" fontAlgn="base" latinLnBrk="0" hangingPunct="1">
              <a:lnSpc>
                <a:spcPts val="2000"/>
              </a:lnSpc>
              <a:spcBef>
                <a:spcPts val="0"/>
              </a:spcBef>
              <a:spcAft>
                <a:spcPct val="0"/>
              </a:spcAft>
              <a:buClrTx/>
              <a:buSzTx/>
              <a:buFontTx/>
              <a:buNone/>
              <a:tabLst/>
              <a:defRPr sz="1400" b="0" i="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pPr>
              <a:lnSpc>
                <a:spcPts val="2200"/>
              </a:lnSpc>
            </a:pPr>
            <a:r>
              <a:rPr lang="en-GB" sz="2000" b="1" dirty="0">
                <a:solidFill>
                  <a:schemeClr val="accent5"/>
                </a:solidFill>
              </a:rPr>
              <a:t>Work in your group and think of some </a:t>
            </a:r>
            <a:r>
              <a:rPr lang="en-GB" sz="2000" b="1" u="sng" dirty="0">
                <a:solidFill>
                  <a:schemeClr val="accent5"/>
                </a:solidFill>
              </a:rPr>
              <a:t>RT  Exercises </a:t>
            </a:r>
            <a:r>
              <a:rPr lang="en-GB" sz="2000" b="1" dirty="0">
                <a:solidFill>
                  <a:schemeClr val="accent5"/>
                </a:solidFill>
              </a:rPr>
              <a:t>you could use for any special population. We will go into more detail on Monday.</a:t>
            </a:r>
          </a:p>
          <a:p>
            <a:pPr>
              <a:lnSpc>
                <a:spcPts val="2200"/>
              </a:lnSpc>
            </a:pPr>
            <a:endParaRPr lang="en-GB" sz="2000" b="1" dirty="0">
              <a:solidFill>
                <a:schemeClr val="accent5"/>
              </a:solidFill>
            </a:endParaRPr>
          </a:p>
          <a:p>
            <a:pPr>
              <a:lnSpc>
                <a:spcPts val="2200"/>
              </a:lnSpc>
            </a:pPr>
            <a:r>
              <a:rPr lang="en-GB" sz="2000" b="1" dirty="0">
                <a:solidFill>
                  <a:schemeClr val="accent5"/>
                </a:solidFill>
              </a:rPr>
              <a:t>Work in pairs, put ideas on a </a:t>
            </a:r>
            <a:r>
              <a:rPr lang="en-GB" sz="2000" b="1" dirty="0" err="1">
                <a:solidFill>
                  <a:schemeClr val="accent5"/>
                </a:solidFill>
              </a:rPr>
              <a:t>post-it</a:t>
            </a:r>
            <a:r>
              <a:rPr lang="en-GB" sz="2000" b="1" dirty="0">
                <a:solidFill>
                  <a:schemeClr val="accent5"/>
                </a:solidFill>
              </a:rPr>
              <a:t> or  interactive board and then share with the group.</a:t>
            </a:r>
          </a:p>
          <a:p>
            <a:endParaRPr lang="en-GB" sz="1800" b="1" dirty="0">
              <a:solidFill>
                <a:schemeClr val="accent5"/>
              </a:solidFill>
            </a:endParaRPr>
          </a:p>
          <a:p>
            <a:endParaRPr lang="en-GB" sz="1800" b="1" dirty="0">
              <a:solidFill>
                <a:schemeClr val="accent5"/>
              </a:solidFill>
            </a:endParaRPr>
          </a:p>
          <a:p>
            <a:endParaRPr lang="en-US" sz="1800" b="1" dirty="0">
              <a:solidFill>
                <a:schemeClr val="accent5"/>
              </a:solidFill>
            </a:endParaRPr>
          </a:p>
        </p:txBody>
      </p:sp>
      <p:pic>
        <p:nvPicPr>
          <p:cNvPr id="6" name="Picture 5">
            <a:extLst>
              <a:ext uri="{FF2B5EF4-FFF2-40B4-BE49-F238E27FC236}">
                <a16:creationId xmlns:a16="http://schemas.microsoft.com/office/drawing/2014/main" id="{B06ED96C-ABDF-8F5C-1C7C-BCFD8F1982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7618" y="3883657"/>
            <a:ext cx="904093" cy="719031"/>
          </a:xfrm>
          <a:prstGeom prst="rect">
            <a:avLst/>
          </a:prstGeom>
        </p:spPr>
      </p:pic>
    </p:spTree>
    <p:extLst>
      <p:ext uri="{BB962C8B-B14F-4D97-AF65-F5344CB8AC3E}">
        <p14:creationId xmlns:p14="http://schemas.microsoft.com/office/powerpoint/2010/main" val="733880117"/>
      </p:ext>
    </p:extLst>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47D7E3-3843-EA7E-5143-EC658D4BA594}"/>
              </a:ext>
            </a:extLst>
          </p:cNvPr>
          <p:cNvSpPr>
            <a:spLocks noGrp="1"/>
          </p:cNvSpPr>
          <p:nvPr>
            <p:ph type="body" sz="quarter" idx="10"/>
          </p:nvPr>
        </p:nvSpPr>
        <p:spPr>
          <a:xfrm>
            <a:off x="863588" y="147111"/>
            <a:ext cx="6668019" cy="488301"/>
          </a:xfrm>
        </p:spPr>
        <p:txBody>
          <a:bodyPr/>
          <a:lstStyle/>
          <a:p>
            <a:r>
              <a:rPr lang="en-GB" dirty="0"/>
              <a:t>Flexibility (ACSM, 2026)</a:t>
            </a:r>
          </a:p>
        </p:txBody>
      </p:sp>
      <p:sp>
        <p:nvSpPr>
          <p:cNvPr id="3" name="Text Placeholder 2">
            <a:extLst>
              <a:ext uri="{FF2B5EF4-FFF2-40B4-BE49-F238E27FC236}">
                <a16:creationId xmlns:a16="http://schemas.microsoft.com/office/drawing/2014/main" id="{40BE1546-060B-DB93-9D8C-DDD8AE34DD5A}"/>
              </a:ext>
            </a:extLst>
          </p:cNvPr>
          <p:cNvSpPr>
            <a:spLocks noGrp="1"/>
          </p:cNvSpPr>
          <p:nvPr>
            <p:ph type="body" sz="quarter" idx="11"/>
          </p:nvPr>
        </p:nvSpPr>
        <p:spPr>
          <a:xfrm>
            <a:off x="108857" y="1004207"/>
            <a:ext cx="5014686" cy="3135085"/>
          </a:xfrm>
        </p:spPr>
        <p:txBody>
          <a:bodyPr/>
          <a:lstStyle/>
          <a:p>
            <a:r>
              <a:rPr lang="en-GB" sz="1800" dirty="0"/>
              <a:t>Flexibility is the ability to move a through a joints full ROM, component of fitness and therefore included as part of any exercise prescription. </a:t>
            </a:r>
          </a:p>
          <a:p>
            <a:r>
              <a:rPr lang="en-GB" sz="1800" dirty="0"/>
              <a:t>Flexibility can be improved by engaging in a number of different types of exercises that are specific to the target joint.</a:t>
            </a:r>
          </a:p>
          <a:p>
            <a:r>
              <a:rPr lang="en-GB" sz="1800" dirty="0"/>
              <a:t>Various types of stretching (active and passive static, proprioceptive neuromuscular facilitation [PNF], dynamic and ballistic), foam rolling,  vibration among others.</a:t>
            </a:r>
          </a:p>
          <a:p>
            <a:endParaRPr lang="en-GB" dirty="0"/>
          </a:p>
        </p:txBody>
      </p:sp>
      <p:pic>
        <p:nvPicPr>
          <p:cNvPr id="4" name="Picture 3">
            <a:extLst>
              <a:ext uri="{FF2B5EF4-FFF2-40B4-BE49-F238E27FC236}">
                <a16:creationId xmlns:a16="http://schemas.microsoft.com/office/drawing/2014/main" id="{0C9E2C20-B91F-D239-7A14-0FE774CD1C15}"/>
              </a:ext>
            </a:extLst>
          </p:cNvPr>
          <p:cNvPicPr>
            <a:picLocks noChangeAspect="1"/>
          </p:cNvPicPr>
          <p:nvPr/>
        </p:nvPicPr>
        <p:blipFill>
          <a:blip r:embed="rId2"/>
          <a:stretch>
            <a:fillRect/>
          </a:stretch>
        </p:blipFill>
        <p:spPr>
          <a:xfrm>
            <a:off x="5827486" y="1449995"/>
            <a:ext cx="2900815" cy="2066544"/>
          </a:xfrm>
          <a:prstGeom prst="rect">
            <a:avLst/>
          </a:prstGeom>
        </p:spPr>
      </p:pic>
    </p:spTree>
    <p:extLst>
      <p:ext uri="{BB962C8B-B14F-4D97-AF65-F5344CB8AC3E}">
        <p14:creationId xmlns:p14="http://schemas.microsoft.com/office/powerpoint/2010/main" val="378049966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8C6616-7D48-C65A-87E4-243BE9B88275}"/>
              </a:ext>
            </a:extLst>
          </p:cNvPr>
          <p:cNvSpPr>
            <a:spLocks noGrp="1"/>
          </p:cNvSpPr>
          <p:nvPr>
            <p:ph type="body" sz="quarter" idx="10"/>
          </p:nvPr>
        </p:nvSpPr>
        <p:spPr>
          <a:xfrm>
            <a:off x="718457" y="685028"/>
            <a:ext cx="6870927" cy="488301"/>
          </a:xfrm>
        </p:spPr>
        <p:txBody>
          <a:bodyPr/>
          <a:lstStyle/>
          <a:p>
            <a:pPr marL="266700" marR="0" lvl="0" indent="-266700" algn="l" defTabSz="606410" rtl="0" eaLnBrk="0" fontAlgn="base" latinLnBrk="0" hangingPunct="0">
              <a:lnSpc>
                <a:spcPct val="100000"/>
              </a:lnSpc>
              <a:spcBef>
                <a:spcPct val="20000"/>
              </a:spcBef>
              <a:spcAft>
                <a:spcPct val="0"/>
              </a:spcAft>
              <a:buClr>
                <a:srgbClr val="16818D"/>
              </a:buClr>
              <a:buSzTx/>
              <a:buFont typeface="Arial" charset="0"/>
              <a:buNone/>
              <a:tabLst/>
              <a:defRPr/>
            </a:pPr>
            <a:r>
              <a:rPr kumimoji="0" lang="en-GB" sz="2400" b="0" i="0" u="none" strike="noStrike" kern="1200" cap="none" spc="0" normalizeH="0" baseline="0" noProof="0" dirty="0">
                <a:ln>
                  <a:noFill/>
                </a:ln>
                <a:solidFill>
                  <a:schemeClr val="accent1"/>
                </a:solidFill>
                <a:effectLst/>
                <a:uLnTx/>
                <a:uFillTx/>
                <a:latin typeface="+mn-lt"/>
                <a:ea typeface="Times New Roman" panose="02020603050405020304" pitchFamily="18" charset="0"/>
                <a:cs typeface="Aptos" panose="020B0004020202020204" pitchFamily="34" charset="0"/>
              </a:rPr>
              <a:t>FITT</a:t>
            </a:r>
            <a:r>
              <a:rPr lang="en-GB" sz="2400" dirty="0">
                <a:solidFill>
                  <a:schemeClr val="accent1"/>
                </a:solidFill>
                <a:latin typeface="+mn-lt"/>
                <a:ea typeface="Times New Roman" panose="02020603050405020304" pitchFamily="18" charset="0"/>
                <a:cs typeface="Aptos" panose="020B0004020202020204" pitchFamily="34" charset="0"/>
              </a:rPr>
              <a:t>-</a:t>
            </a:r>
            <a:r>
              <a:rPr kumimoji="0" lang="en-GB" sz="2400" b="0" i="0" u="none" strike="noStrike" kern="1200" cap="none" spc="0" normalizeH="0" baseline="0" noProof="0" dirty="0">
                <a:ln>
                  <a:noFill/>
                </a:ln>
                <a:solidFill>
                  <a:schemeClr val="accent1"/>
                </a:solidFill>
                <a:effectLst/>
                <a:uLnTx/>
                <a:uFillTx/>
                <a:latin typeface="+mn-lt"/>
                <a:ea typeface="Times New Roman" panose="02020603050405020304" pitchFamily="18" charset="0"/>
                <a:cs typeface="Aptos" panose="020B0004020202020204" pitchFamily="34" charset="0"/>
              </a:rPr>
              <a:t>Flexibility Exercise Recommendation (ACSM, 2026)</a:t>
            </a:r>
            <a:endParaRPr kumimoji="0" lang="en-GB" sz="2400" b="0" i="0" u="none" strike="noStrike" kern="1200" cap="none" spc="0" normalizeH="0" baseline="0" noProof="0" dirty="0">
              <a:ln>
                <a:noFill/>
              </a:ln>
              <a:solidFill>
                <a:schemeClr val="accent1"/>
              </a:solidFill>
              <a:effectLst/>
              <a:uLnTx/>
              <a:uFillTx/>
              <a:latin typeface="+mn-lt"/>
              <a:ea typeface="Aptos" panose="020B0004020202020204" pitchFamily="34" charset="0"/>
              <a:cs typeface="Aptos" panose="020B0004020202020204" pitchFamily="34" charset="0"/>
            </a:endParaRPr>
          </a:p>
          <a:p>
            <a:endParaRPr lang="en-GB" dirty="0"/>
          </a:p>
        </p:txBody>
      </p:sp>
      <p:sp>
        <p:nvSpPr>
          <p:cNvPr id="3" name="Text Placeholder 2">
            <a:extLst>
              <a:ext uri="{FF2B5EF4-FFF2-40B4-BE49-F238E27FC236}">
                <a16:creationId xmlns:a16="http://schemas.microsoft.com/office/drawing/2014/main" id="{554AA189-DC4A-877E-FC8B-6A6226D430B5}"/>
              </a:ext>
            </a:extLst>
          </p:cNvPr>
          <p:cNvSpPr>
            <a:spLocks noGrp="1"/>
          </p:cNvSpPr>
          <p:nvPr>
            <p:ph type="body" sz="quarter" idx="11"/>
          </p:nvPr>
        </p:nvSpPr>
        <p:spPr>
          <a:xfrm>
            <a:off x="406400" y="1347635"/>
            <a:ext cx="8323943" cy="3404603"/>
          </a:xfrm>
        </p:spPr>
        <p:txBody>
          <a:bodyPr/>
          <a:lstStyle/>
          <a:p>
            <a:r>
              <a:rPr lang="en-GB" sz="1600" dirty="0">
                <a:solidFill>
                  <a:srgbClr val="000000"/>
                </a:solidFill>
                <a:effectLst/>
              </a:rPr>
              <a:t>Flexibility exercises are recommended to improve joint-specific ROM and to improve performance. </a:t>
            </a:r>
          </a:p>
          <a:p>
            <a:r>
              <a:rPr lang="en-GB" sz="1600" dirty="0">
                <a:solidFill>
                  <a:srgbClr val="000000"/>
                </a:solidFill>
                <a:effectLst/>
              </a:rPr>
              <a:t>ROM can be improved with static, ballistic, dynamic, and/or PNF stretching. Joint-specific flexibility exercises are most effective when the muscles are warm, and pro- longed static stretching should be avoided prior to an exercise bout.</a:t>
            </a:r>
          </a:p>
          <a:p>
            <a:r>
              <a:rPr lang="en-GB" sz="1600" dirty="0">
                <a:solidFill>
                  <a:srgbClr val="000000"/>
                </a:solidFill>
                <a:effectLst/>
              </a:rPr>
              <a:t>Extensive static, ballistic, and/or PNF stretching should be performed on their own, as part of a specific program to increase ROM, and not preceding any exercise activity . </a:t>
            </a:r>
          </a:p>
          <a:p>
            <a:r>
              <a:rPr lang="en-GB" sz="1600" dirty="0">
                <a:solidFill>
                  <a:srgbClr val="000000"/>
                </a:solidFill>
                <a:effectLst/>
              </a:rPr>
              <a:t>Short duration (&lt;60 seconds per muscle group) static stretching and dynamic stretches in combination with activity-specific dynamic activities (e.g.., basketball, soccer, hockey, tennis drills before the sport activity, are encouraged prior to any exercise bout and may also be used to improve performance. </a:t>
            </a:r>
            <a:endParaRPr lang="en-GB" dirty="0"/>
          </a:p>
        </p:txBody>
      </p:sp>
    </p:spTree>
    <p:extLst>
      <p:ext uri="{BB962C8B-B14F-4D97-AF65-F5344CB8AC3E}">
        <p14:creationId xmlns:p14="http://schemas.microsoft.com/office/powerpoint/2010/main" val="50303644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81C83-FBBE-9742-1C32-AF5193E6C0D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A4375A5-8F2D-59F6-49E6-FA7A16F01B48}"/>
              </a:ext>
            </a:extLst>
          </p:cNvPr>
          <p:cNvSpPr>
            <a:spLocks noGrp="1"/>
          </p:cNvSpPr>
          <p:nvPr>
            <p:ph type="body" sz="quarter" idx="10"/>
          </p:nvPr>
        </p:nvSpPr>
        <p:spPr/>
        <p:txBody>
          <a:bodyPr/>
          <a:lstStyle/>
          <a:p>
            <a:r>
              <a:rPr lang="en-GB" dirty="0"/>
              <a:t>Group Activity</a:t>
            </a:r>
            <a:endParaRPr lang="en-US" dirty="0"/>
          </a:p>
        </p:txBody>
      </p:sp>
      <p:pic>
        <p:nvPicPr>
          <p:cNvPr id="5" name="Picture 4">
            <a:extLst>
              <a:ext uri="{FF2B5EF4-FFF2-40B4-BE49-F238E27FC236}">
                <a16:creationId xmlns:a16="http://schemas.microsoft.com/office/drawing/2014/main" id="{08EEE615-421F-E452-21EE-4364596F38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4970" y="1184618"/>
            <a:ext cx="2912562" cy="2551784"/>
          </a:xfrm>
          <a:prstGeom prst="rect">
            <a:avLst/>
          </a:prstGeom>
        </p:spPr>
      </p:pic>
      <p:sp>
        <p:nvSpPr>
          <p:cNvPr id="7" name="Text Placeholder 3">
            <a:extLst>
              <a:ext uri="{FF2B5EF4-FFF2-40B4-BE49-F238E27FC236}">
                <a16:creationId xmlns:a16="http://schemas.microsoft.com/office/drawing/2014/main" id="{B669A4BB-C84B-5E90-6BD1-90DD7216B2F5}"/>
              </a:ext>
            </a:extLst>
          </p:cNvPr>
          <p:cNvSpPr txBox="1">
            <a:spLocks noGrp="1"/>
          </p:cNvSpPr>
          <p:nvPr>
            <p:ph type="body" sz="quarter" idx="11"/>
          </p:nvPr>
        </p:nvSpPr>
        <p:spPr>
          <a:xfrm>
            <a:off x="378315" y="1376494"/>
            <a:ext cx="5086313" cy="3287174"/>
          </a:xfrm>
          <a:prstGeom prst="rect">
            <a:avLst/>
          </a:prstGeom>
        </p:spPr>
        <p:txBody>
          <a:bodyPr vert="horz" lIns="0" tIns="0" rIns="0" bIns="0" numCol="1" spcCol="216000" rtlCol="0">
            <a:normAutofit/>
          </a:bodyPr>
          <a:lstStyle>
            <a:lvl1pPr marL="0" marR="0" indent="0" algn="l" defTabSz="606410" rtl="0" eaLnBrk="1" fontAlgn="base" latinLnBrk="0" hangingPunct="1">
              <a:lnSpc>
                <a:spcPts val="2000"/>
              </a:lnSpc>
              <a:spcBef>
                <a:spcPts val="0"/>
              </a:spcBef>
              <a:spcAft>
                <a:spcPct val="0"/>
              </a:spcAft>
              <a:buClrTx/>
              <a:buSzTx/>
              <a:buFontTx/>
              <a:buNone/>
              <a:tabLst/>
              <a:defRPr sz="1400" b="0" i="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pPr>
              <a:lnSpc>
                <a:spcPts val="2200"/>
              </a:lnSpc>
            </a:pPr>
            <a:r>
              <a:rPr lang="en-GB" sz="2000" b="1" dirty="0">
                <a:solidFill>
                  <a:schemeClr val="accent5"/>
                </a:solidFill>
              </a:rPr>
              <a:t>Work in your group and think of some </a:t>
            </a:r>
            <a:r>
              <a:rPr lang="en-GB" sz="2000" b="1" u="sng" dirty="0">
                <a:solidFill>
                  <a:schemeClr val="accent5"/>
                </a:solidFill>
              </a:rPr>
              <a:t>Flexibility  Exercises </a:t>
            </a:r>
            <a:r>
              <a:rPr lang="en-GB" sz="2000" b="1" dirty="0">
                <a:solidFill>
                  <a:schemeClr val="accent5"/>
                </a:solidFill>
              </a:rPr>
              <a:t>you could use for any special population. We will go into more detail on Monday.</a:t>
            </a:r>
          </a:p>
          <a:p>
            <a:pPr>
              <a:lnSpc>
                <a:spcPts val="2200"/>
              </a:lnSpc>
            </a:pPr>
            <a:endParaRPr lang="en-GB" sz="2000" b="1" dirty="0">
              <a:solidFill>
                <a:schemeClr val="accent5"/>
              </a:solidFill>
            </a:endParaRPr>
          </a:p>
          <a:p>
            <a:pPr>
              <a:lnSpc>
                <a:spcPts val="2200"/>
              </a:lnSpc>
            </a:pPr>
            <a:endParaRPr lang="en-GB" sz="2000" b="1" dirty="0">
              <a:solidFill>
                <a:schemeClr val="accent5"/>
              </a:solidFill>
            </a:endParaRPr>
          </a:p>
          <a:p>
            <a:pPr>
              <a:lnSpc>
                <a:spcPts val="2200"/>
              </a:lnSpc>
            </a:pPr>
            <a:r>
              <a:rPr lang="en-GB" sz="2000" b="1" dirty="0">
                <a:solidFill>
                  <a:schemeClr val="accent5"/>
                </a:solidFill>
              </a:rPr>
              <a:t>Work in pairs, put ideas on a </a:t>
            </a:r>
            <a:r>
              <a:rPr lang="en-GB" sz="2000" b="1" dirty="0" err="1">
                <a:solidFill>
                  <a:schemeClr val="accent5"/>
                </a:solidFill>
              </a:rPr>
              <a:t>post-it</a:t>
            </a:r>
            <a:r>
              <a:rPr lang="en-GB" sz="2000" b="1" dirty="0">
                <a:solidFill>
                  <a:schemeClr val="accent5"/>
                </a:solidFill>
              </a:rPr>
              <a:t> or  interactive board and then share with the group.</a:t>
            </a:r>
          </a:p>
          <a:p>
            <a:endParaRPr lang="en-GB" sz="1800" b="1" dirty="0">
              <a:solidFill>
                <a:schemeClr val="accent5"/>
              </a:solidFill>
            </a:endParaRPr>
          </a:p>
          <a:p>
            <a:endParaRPr lang="en-GB" sz="1800" b="1" dirty="0">
              <a:solidFill>
                <a:schemeClr val="accent5"/>
              </a:solidFill>
            </a:endParaRPr>
          </a:p>
          <a:p>
            <a:endParaRPr lang="en-US" sz="1800" b="1" dirty="0">
              <a:solidFill>
                <a:schemeClr val="accent5"/>
              </a:solidFill>
            </a:endParaRPr>
          </a:p>
        </p:txBody>
      </p:sp>
      <p:pic>
        <p:nvPicPr>
          <p:cNvPr id="6" name="Picture 5">
            <a:extLst>
              <a:ext uri="{FF2B5EF4-FFF2-40B4-BE49-F238E27FC236}">
                <a16:creationId xmlns:a16="http://schemas.microsoft.com/office/drawing/2014/main" id="{1071ABAB-DAE7-279B-99CA-8386BD710F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760" y="3457193"/>
            <a:ext cx="1111819" cy="884237"/>
          </a:xfrm>
          <a:prstGeom prst="rect">
            <a:avLst/>
          </a:prstGeom>
        </p:spPr>
      </p:pic>
    </p:spTree>
    <p:extLst>
      <p:ext uri="{BB962C8B-B14F-4D97-AF65-F5344CB8AC3E}">
        <p14:creationId xmlns:p14="http://schemas.microsoft.com/office/powerpoint/2010/main" val="1964869904"/>
      </p:ext>
    </p:extLst>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9C8ABF-6F3B-9C45-FAB2-B9BEB6A03AA0}"/>
              </a:ext>
            </a:extLst>
          </p:cNvPr>
          <p:cNvSpPr>
            <a:spLocks noGrp="1"/>
          </p:cNvSpPr>
          <p:nvPr>
            <p:ph type="body" sz="quarter" idx="10"/>
          </p:nvPr>
        </p:nvSpPr>
        <p:spPr>
          <a:xfrm>
            <a:off x="624115" y="743085"/>
            <a:ext cx="7037842" cy="488301"/>
          </a:xfrm>
        </p:spPr>
        <p:txBody>
          <a:bodyPr/>
          <a:lstStyle/>
          <a:p>
            <a:pPr marL="266700" marR="0" lvl="0" indent="-266700" algn="l" defTabSz="606410" rtl="0" eaLnBrk="0" fontAlgn="base" latinLnBrk="0" hangingPunct="0">
              <a:lnSpc>
                <a:spcPct val="107000"/>
              </a:lnSpc>
              <a:spcBef>
                <a:spcPct val="20000"/>
              </a:spcBef>
              <a:spcAft>
                <a:spcPts val="800"/>
              </a:spcAft>
              <a:buClr>
                <a:srgbClr val="16818D"/>
              </a:buClr>
              <a:buSzTx/>
              <a:buFont typeface="Arial" charset="0"/>
              <a:buNone/>
              <a:tabLst/>
              <a:defRPr/>
            </a:pPr>
            <a:r>
              <a:rPr kumimoji="0" lang="en-GB" sz="2800" b="1" i="0" u="none" strike="noStrike" kern="1200" cap="none" spc="0" normalizeH="0" baseline="0" noProof="0" dirty="0">
                <a:ln>
                  <a:noFill/>
                </a:ln>
                <a:solidFill>
                  <a:schemeClr val="accent1"/>
                </a:solidFill>
                <a:effectLst/>
                <a:uLnTx/>
                <a:uFillTx/>
                <a:latin typeface="Calibri" panose="020F0502020204030204" pitchFamily="34" charset="0"/>
                <a:ea typeface="Calibri" panose="020F0502020204030204" pitchFamily="34" charset="0"/>
                <a:cs typeface="Arial" panose="020B0604020202020204" pitchFamily="34" charset="0"/>
              </a:rPr>
              <a:t>Condition‑Specific Modifications</a:t>
            </a:r>
            <a:endParaRPr kumimoji="0" lang="en-GB" sz="2800" b="0" i="0" u="none" strike="noStrike" kern="1200" cap="none" spc="0" normalizeH="0" baseline="0" noProof="0" dirty="0">
              <a:ln>
                <a:noFill/>
              </a:ln>
              <a:solidFill>
                <a:schemeClr val="accent1"/>
              </a:solidFill>
              <a:effectLst/>
              <a:uLnTx/>
              <a:uFillTx/>
              <a:latin typeface="Calibri" panose="020F0502020204030204" pitchFamily="34" charset="0"/>
              <a:ea typeface="Calibri" panose="020F0502020204030204" pitchFamily="34" charset="0"/>
              <a:cs typeface="Arial" panose="020B0604020202020204" pitchFamily="34" charset="0"/>
            </a:endParaRPr>
          </a:p>
          <a:p>
            <a:endParaRPr lang="en-GB" dirty="0"/>
          </a:p>
        </p:txBody>
      </p:sp>
      <p:sp>
        <p:nvSpPr>
          <p:cNvPr id="3" name="Text Placeholder 2">
            <a:extLst>
              <a:ext uri="{FF2B5EF4-FFF2-40B4-BE49-F238E27FC236}">
                <a16:creationId xmlns:a16="http://schemas.microsoft.com/office/drawing/2014/main" id="{F140EA2C-4836-8AF5-C136-50B5CF01C3A9}"/>
              </a:ext>
            </a:extLst>
          </p:cNvPr>
          <p:cNvSpPr>
            <a:spLocks noGrp="1"/>
          </p:cNvSpPr>
          <p:nvPr>
            <p:ph type="body" sz="quarter" idx="11"/>
          </p:nvPr>
        </p:nvSpPr>
        <p:spPr>
          <a:xfrm>
            <a:off x="529771" y="1347635"/>
            <a:ext cx="7037842" cy="3404603"/>
          </a:xfrm>
        </p:spPr>
        <p:txBody>
          <a:bodyPr/>
          <a:lstStyle/>
          <a:p>
            <a:pPr>
              <a:lnSpc>
                <a:spcPct val="107000"/>
              </a:lnSpc>
              <a:spcAft>
                <a:spcPts val="800"/>
              </a:spcAft>
            </a:pPr>
            <a:r>
              <a:rPr lang="en-GB" sz="16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Components of the FITT-VP within an exercise prescription may be modified in certain chronic conditions to maximise therapeutic benefit of exercise. </a:t>
            </a:r>
          </a:p>
          <a:p>
            <a:pPr>
              <a:lnSpc>
                <a:spcPct val="107000"/>
              </a:lnSpc>
              <a:spcAft>
                <a:spcPts val="800"/>
              </a:spcAft>
              <a:buNone/>
            </a:pPr>
            <a:endParaRPr lang="en-GB"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a:lnSpc>
                <a:spcPts val="2200"/>
              </a:lnSpc>
              <a:spcBef>
                <a:spcPts val="0"/>
              </a:spcBef>
              <a:spcAft>
                <a:spcPts val="0"/>
              </a:spcAft>
            </a:pPr>
            <a:r>
              <a:rPr lang="en-GB" sz="16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On blackboard see the ACSM and Exercise is Medicine (EIM) handouts that provide specialised recommendations for numerous chronic conditions. Information from these can be used to inform condition specific modifications included in questions related to planning and implementation of your case study.  </a:t>
            </a:r>
            <a:endParaRPr lang="en-GB" sz="16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r>
              <a:rPr lang="en-GB" b="1" dirty="0">
                <a:solidFill>
                  <a:srgbClr val="FF0000"/>
                </a:solidFill>
                <a:cs typeface="Arial" panose="020B0604020202020204" pitchFamily="34" charset="0"/>
              </a:rPr>
              <a:t>Condition‑Specific Modifications and DOSAGE will be covered in relation to special populations next session.</a:t>
            </a:r>
            <a:endParaRPr lang="en-GB" dirty="0">
              <a:solidFill>
                <a:srgbClr val="FF0000"/>
              </a:solidFill>
              <a:cs typeface="Arial" panose="020B0604020202020204" pitchFamily="34" charset="0"/>
            </a:endParaRPr>
          </a:p>
          <a:p>
            <a:pPr marL="0" indent="0">
              <a:buNone/>
            </a:pPr>
            <a:endParaRPr lang="en-GB" dirty="0"/>
          </a:p>
        </p:txBody>
      </p:sp>
    </p:spTree>
    <p:extLst>
      <p:ext uri="{BB962C8B-B14F-4D97-AF65-F5344CB8AC3E}">
        <p14:creationId xmlns:p14="http://schemas.microsoft.com/office/powerpoint/2010/main" val="2384703467"/>
      </p:ext>
    </p:extLst>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4C8AD6D-2B8B-C6AC-E3BE-F0E5669881E8}"/>
              </a:ext>
            </a:extLst>
          </p:cNvPr>
          <p:cNvSpPr>
            <a:spLocks noGrp="1"/>
          </p:cNvSpPr>
          <p:nvPr>
            <p:ph type="body" sz="quarter" idx="10"/>
          </p:nvPr>
        </p:nvSpPr>
        <p:spPr>
          <a:xfrm>
            <a:off x="435430" y="147111"/>
            <a:ext cx="7278913" cy="709232"/>
          </a:xfrm>
        </p:spPr>
        <p:txBody>
          <a:bodyPr/>
          <a:lstStyle/>
          <a:p>
            <a:pPr algn="ctr">
              <a:lnSpc>
                <a:spcPts val="3000"/>
              </a:lnSpc>
            </a:pPr>
            <a:r>
              <a:rPr lang="en-GB" sz="2400" b="1" dirty="0"/>
              <a:t>Key Factors Associated with Adherence in Exercise Programme</a:t>
            </a:r>
          </a:p>
        </p:txBody>
      </p:sp>
      <p:sp>
        <p:nvSpPr>
          <p:cNvPr id="6" name="Text Placeholder 5">
            <a:extLst>
              <a:ext uri="{FF2B5EF4-FFF2-40B4-BE49-F238E27FC236}">
                <a16:creationId xmlns:a16="http://schemas.microsoft.com/office/drawing/2014/main" id="{A44FBD79-6FDD-0503-7903-2200DF5A3365}"/>
              </a:ext>
            </a:extLst>
          </p:cNvPr>
          <p:cNvSpPr>
            <a:spLocks noGrp="1"/>
          </p:cNvSpPr>
          <p:nvPr>
            <p:ph type="body" sz="quarter" idx="11"/>
          </p:nvPr>
        </p:nvSpPr>
        <p:spPr>
          <a:xfrm>
            <a:off x="456639" y="972457"/>
            <a:ext cx="4717704" cy="3860800"/>
          </a:xfrm>
        </p:spPr>
        <p:txBody>
          <a:bodyPr/>
          <a:lstStyle/>
          <a:p>
            <a:pPr marL="0" indent="0">
              <a:buNone/>
            </a:pPr>
            <a:r>
              <a:rPr lang="en-GB" dirty="0"/>
              <a:t>In a SLR of SLRs (</a:t>
            </a:r>
            <a:r>
              <a:rPr lang="en-GB" b="1" dirty="0"/>
              <a:t>Collado-Mateo 2021) </a:t>
            </a:r>
            <a:r>
              <a:rPr lang="en-GB" dirty="0"/>
              <a:t>the following key factors are associated with adherence to physical exercise in patients with chronic diseases and older adults:</a:t>
            </a:r>
          </a:p>
          <a:p>
            <a:pPr marL="0" indent="0">
              <a:buNone/>
            </a:pPr>
            <a:r>
              <a:rPr lang="en-GB" dirty="0"/>
              <a:t> </a:t>
            </a:r>
            <a:r>
              <a:rPr lang="en-GB" b="1" dirty="0">
                <a:solidFill>
                  <a:srgbClr val="FF0000"/>
                </a:solidFill>
              </a:rPr>
              <a:t>Design of the Exercise Intervention</a:t>
            </a:r>
          </a:p>
          <a:p>
            <a:r>
              <a:rPr lang="en-GB" dirty="0"/>
              <a:t>Regarding the design of the exercise program, two main key factors were identified:</a:t>
            </a:r>
          </a:p>
          <a:p>
            <a:r>
              <a:rPr lang="en-GB" dirty="0"/>
              <a:t>(a) the individualization and the scientific basis of exercise type and </a:t>
            </a:r>
          </a:p>
          <a:p>
            <a:r>
              <a:rPr lang="en-GB" dirty="0"/>
              <a:t>(b) the duration of the exercise programme.</a:t>
            </a:r>
          </a:p>
          <a:p>
            <a:r>
              <a:rPr lang="en-GB" dirty="0"/>
              <a:t>Tailored exercise is necessary to achieve high levels of adherence and the duration of the exercise. Longer exercise interventions were related to lower adherence to the program. </a:t>
            </a:r>
          </a:p>
          <a:p>
            <a:pPr marL="0" indent="0">
              <a:buNone/>
            </a:pPr>
            <a:endParaRPr lang="en-GB" dirty="0"/>
          </a:p>
          <a:p>
            <a:pPr marL="0" indent="0">
              <a:buNone/>
            </a:pPr>
            <a:endParaRPr lang="en-GB" dirty="0"/>
          </a:p>
          <a:p>
            <a:endParaRPr lang="en-GB" dirty="0"/>
          </a:p>
        </p:txBody>
      </p:sp>
      <p:pic>
        <p:nvPicPr>
          <p:cNvPr id="2" name="Picture 1">
            <a:extLst>
              <a:ext uri="{FF2B5EF4-FFF2-40B4-BE49-F238E27FC236}">
                <a16:creationId xmlns:a16="http://schemas.microsoft.com/office/drawing/2014/main" id="{0AC1680D-6663-306F-99D6-780FFAC7BBB8}"/>
              </a:ext>
            </a:extLst>
          </p:cNvPr>
          <p:cNvPicPr>
            <a:picLocks noChangeAspect="1"/>
          </p:cNvPicPr>
          <p:nvPr/>
        </p:nvPicPr>
        <p:blipFill>
          <a:blip r:embed="rId2"/>
          <a:stretch>
            <a:fillRect/>
          </a:stretch>
        </p:blipFill>
        <p:spPr>
          <a:xfrm>
            <a:off x="5646166" y="1153885"/>
            <a:ext cx="3041195" cy="3082244"/>
          </a:xfrm>
          <a:prstGeom prst="rect">
            <a:avLst/>
          </a:prstGeom>
        </p:spPr>
      </p:pic>
    </p:spTree>
    <p:extLst>
      <p:ext uri="{BB962C8B-B14F-4D97-AF65-F5344CB8AC3E}">
        <p14:creationId xmlns:p14="http://schemas.microsoft.com/office/powerpoint/2010/main" val="3400691470"/>
      </p:ext>
    </p:extLst>
  </p:cSld>
  <p:clrMapOvr>
    <a:masterClrMapping/>
  </p:clrMapOvr>
  <p:transition spd="slow">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0713366-3063-0207-23F3-DB8BC6249E83}"/>
              </a:ext>
            </a:extLst>
          </p:cNvPr>
          <p:cNvSpPr>
            <a:spLocks noGrp="1"/>
          </p:cNvSpPr>
          <p:nvPr>
            <p:ph type="body" sz="quarter" idx="11"/>
          </p:nvPr>
        </p:nvSpPr>
        <p:spPr>
          <a:xfrm>
            <a:off x="123371" y="870561"/>
            <a:ext cx="4354286" cy="3402378"/>
          </a:xfrm>
        </p:spPr>
        <p:txBody>
          <a:bodyPr/>
          <a:lstStyle/>
          <a:p>
            <a:endParaRPr lang="en-GB" dirty="0"/>
          </a:p>
          <a:p>
            <a:pPr marL="342900" indent="-342900">
              <a:lnSpc>
                <a:spcPts val="2500"/>
              </a:lnSpc>
              <a:buFont typeface="Arial" panose="020B0604020202020204" pitchFamily="34" charset="0"/>
              <a:buChar char="•"/>
            </a:pPr>
            <a:r>
              <a:rPr lang="en-GB" sz="2000" dirty="0"/>
              <a:t>The presence of different professionals who conduct the exercise intervention could improve adherence. </a:t>
            </a:r>
          </a:p>
          <a:p>
            <a:pPr marL="342900" indent="-342900">
              <a:lnSpc>
                <a:spcPts val="2500"/>
              </a:lnSpc>
              <a:buFont typeface="Arial" panose="020B0604020202020204" pitchFamily="34" charset="0"/>
              <a:buChar char="•"/>
            </a:pPr>
            <a:r>
              <a:rPr lang="en-GB" sz="2000" dirty="0"/>
              <a:t>Apart from physical exercise professional, counselling by other professionals such as psychologists, physicians, physiotherapists, nutritionists, or nurses reinforced</a:t>
            </a:r>
          </a:p>
          <a:p>
            <a:pPr>
              <a:lnSpc>
                <a:spcPts val="2500"/>
              </a:lnSpc>
            </a:pPr>
            <a:r>
              <a:rPr lang="en-GB" sz="2000" dirty="0"/>
              <a:t>      adherence.</a:t>
            </a:r>
          </a:p>
        </p:txBody>
      </p:sp>
      <p:sp>
        <p:nvSpPr>
          <p:cNvPr id="5" name="Text Placeholder 4">
            <a:extLst>
              <a:ext uri="{FF2B5EF4-FFF2-40B4-BE49-F238E27FC236}">
                <a16:creationId xmlns:a16="http://schemas.microsoft.com/office/drawing/2014/main" id="{C899B33E-BBF0-6E40-8308-C694F8866AD6}"/>
              </a:ext>
            </a:extLst>
          </p:cNvPr>
          <p:cNvSpPr>
            <a:spLocks noGrp="1"/>
          </p:cNvSpPr>
          <p:nvPr>
            <p:ph type="body" sz="quarter" idx="10"/>
          </p:nvPr>
        </p:nvSpPr>
        <p:spPr>
          <a:xfrm>
            <a:off x="859120" y="287133"/>
            <a:ext cx="6552655" cy="484530"/>
          </a:xfrm>
        </p:spPr>
        <p:txBody>
          <a:bodyPr/>
          <a:lstStyle/>
          <a:p>
            <a:r>
              <a:rPr lang="en-GB" dirty="0"/>
              <a:t>Multidisciplinary Team</a:t>
            </a:r>
          </a:p>
        </p:txBody>
      </p:sp>
      <p:sp>
        <p:nvSpPr>
          <p:cNvPr id="2" name="Text Placeholder 1">
            <a:extLst>
              <a:ext uri="{FF2B5EF4-FFF2-40B4-BE49-F238E27FC236}">
                <a16:creationId xmlns:a16="http://schemas.microsoft.com/office/drawing/2014/main" id="{238659E9-0C68-0E2C-CD41-48E3F79931EC}"/>
              </a:ext>
            </a:extLst>
          </p:cNvPr>
          <p:cNvSpPr>
            <a:spLocks noGrp="1"/>
          </p:cNvSpPr>
          <p:nvPr>
            <p:ph type="body" sz="quarter" idx="12"/>
          </p:nvPr>
        </p:nvSpPr>
        <p:spPr>
          <a:xfrm>
            <a:off x="4572000" y="1026488"/>
            <a:ext cx="3871412" cy="3637702"/>
          </a:xfrm>
        </p:spPr>
        <p:txBody>
          <a:bodyPr/>
          <a:lstStyle/>
          <a:p>
            <a:endParaRPr lang="en-GB" dirty="0"/>
          </a:p>
        </p:txBody>
      </p:sp>
      <p:pic>
        <p:nvPicPr>
          <p:cNvPr id="4" name="Picture 3">
            <a:extLst>
              <a:ext uri="{FF2B5EF4-FFF2-40B4-BE49-F238E27FC236}">
                <a16:creationId xmlns:a16="http://schemas.microsoft.com/office/drawing/2014/main" id="{0CE4F698-BED1-7824-D257-52142A9AC5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66345" y="1026488"/>
            <a:ext cx="3508555" cy="3090524"/>
          </a:xfrm>
          <a:prstGeom prst="rect">
            <a:avLst/>
          </a:prstGeom>
        </p:spPr>
      </p:pic>
    </p:spTree>
    <p:extLst>
      <p:ext uri="{BB962C8B-B14F-4D97-AF65-F5344CB8AC3E}">
        <p14:creationId xmlns:p14="http://schemas.microsoft.com/office/powerpoint/2010/main" val="334518791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631424-5382-8A1E-540F-C94E0225CCB8}"/>
              </a:ext>
            </a:extLst>
          </p:cNvPr>
          <p:cNvSpPr>
            <a:spLocks noGrp="1"/>
          </p:cNvSpPr>
          <p:nvPr>
            <p:ph type="body" sz="quarter" idx="11"/>
          </p:nvPr>
        </p:nvSpPr>
        <p:spPr>
          <a:xfrm>
            <a:off x="210457" y="1303107"/>
            <a:ext cx="4535714" cy="3402378"/>
          </a:xfrm>
        </p:spPr>
        <p:txBody>
          <a:bodyPr/>
          <a:lstStyle/>
          <a:p>
            <a:pPr marL="342900" indent="-342900">
              <a:lnSpc>
                <a:spcPts val="2700"/>
              </a:lnSpc>
              <a:buFont typeface="Arial" panose="020B0604020202020204" pitchFamily="34" charset="0"/>
              <a:buChar char="•"/>
            </a:pPr>
            <a:r>
              <a:rPr lang="en-GB" sz="2000" dirty="0"/>
              <a:t>Supervision during the exercise session involves at least one professional checking how the participant is performing the prescribed exercises, which indeed enhances the quality of the execution and increases the potential benefits and reduces the possible risks of inadequate executions.</a:t>
            </a:r>
          </a:p>
        </p:txBody>
      </p:sp>
      <p:sp>
        <p:nvSpPr>
          <p:cNvPr id="3" name="Text Placeholder 2">
            <a:extLst>
              <a:ext uri="{FF2B5EF4-FFF2-40B4-BE49-F238E27FC236}">
                <a16:creationId xmlns:a16="http://schemas.microsoft.com/office/drawing/2014/main" id="{7EAF668E-47BD-D1E3-4B1E-2190B483F73C}"/>
              </a:ext>
            </a:extLst>
          </p:cNvPr>
          <p:cNvSpPr>
            <a:spLocks noGrp="1"/>
          </p:cNvSpPr>
          <p:nvPr>
            <p:ph type="body" sz="quarter" idx="10"/>
          </p:nvPr>
        </p:nvSpPr>
        <p:spPr>
          <a:xfrm>
            <a:off x="1052065" y="292949"/>
            <a:ext cx="6552655" cy="484530"/>
          </a:xfrm>
        </p:spPr>
        <p:txBody>
          <a:bodyPr/>
          <a:lstStyle/>
          <a:p>
            <a:r>
              <a:rPr lang="en-GB" sz="2800" b="1" dirty="0">
                <a:solidFill>
                  <a:srgbClr val="FF0000"/>
                </a:solidFill>
              </a:rPr>
              <a:t>Supervision during the Exercise Sessions</a:t>
            </a:r>
          </a:p>
        </p:txBody>
      </p:sp>
      <p:pic>
        <p:nvPicPr>
          <p:cNvPr id="6" name="Picture 5">
            <a:extLst>
              <a:ext uri="{FF2B5EF4-FFF2-40B4-BE49-F238E27FC236}">
                <a16:creationId xmlns:a16="http://schemas.microsoft.com/office/drawing/2014/main" id="{39F3872A-7911-4F88-789C-5D721631A7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00171" y="1303107"/>
            <a:ext cx="3729429" cy="3305179"/>
          </a:xfrm>
          <a:prstGeom prst="rect">
            <a:avLst/>
          </a:prstGeom>
        </p:spPr>
      </p:pic>
    </p:spTree>
    <p:extLst>
      <p:ext uri="{BB962C8B-B14F-4D97-AF65-F5344CB8AC3E}">
        <p14:creationId xmlns:p14="http://schemas.microsoft.com/office/powerpoint/2010/main" val="3206793815"/>
      </p:ext>
    </p:extLst>
  </p:cSld>
  <p:clrMapOvr>
    <a:masterClrMapping/>
  </p:clrMapOvr>
  <p:transition spd="slow">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EB01F03-888E-BC8D-05F4-F50616FD9910}"/>
              </a:ext>
            </a:extLst>
          </p:cNvPr>
          <p:cNvSpPr>
            <a:spLocks noGrp="1"/>
          </p:cNvSpPr>
          <p:nvPr>
            <p:ph type="body" sz="quarter" idx="11"/>
          </p:nvPr>
        </p:nvSpPr>
        <p:spPr>
          <a:xfrm>
            <a:off x="0" y="1087979"/>
            <a:ext cx="6437085" cy="3402378"/>
          </a:xfrm>
        </p:spPr>
        <p:txBody>
          <a:bodyPr/>
          <a:lstStyle/>
          <a:p>
            <a:pPr marL="285750" indent="-285750">
              <a:lnSpc>
                <a:spcPts val="2800"/>
              </a:lnSpc>
              <a:buFont typeface="Arial" panose="020B0604020202020204" pitchFamily="34" charset="0"/>
              <a:buChar char="•"/>
            </a:pPr>
            <a:r>
              <a:rPr lang="en-GB" sz="2000" dirty="0"/>
              <a:t>Some advantages have been reported, since the technology may be useful to  monitor the physical activity of participants in terms of frequency duration and time, individualize the exercise prescription,                               provide real-time feedback, make reminders, connect professionals and patients, share the performed activities with peers, and provide instructions.</a:t>
            </a:r>
          </a:p>
          <a:p>
            <a:pPr marL="285750" indent="-285750">
              <a:buFont typeface="Arial" panose="020B0604020202020204" pitchFamily="34" charset="0"/>
              <a:buChar char="•"/>
            </a:pPr>
            <a:endParaRPr lang="en-GB" dirty="0"/>
          </a:p>
        </p:txBody>
      </p:sp>
      <p:sp>
        <p:nvSpPr>
          <p:cNvPr id="5" name="Text Placeholder 4">
            <a:extLst>
              <a:ext uri="{FF2B5EF4-FFF2-40B4-BE49-F238E27FC236}">
                <a16:creationId xmlns:a16="http://schemas.microsoft.com/office/drawing/2014/main" id="{916BE876-7729-0273-01BD-CDAA8502CA6D}"/>
              </a:ext>
            </a:extLst>
          </p:cNvPr>
          <p:cNvSpPr>
            <a:spLocks noGrp="1"/>
          </p:cNvSpPr>
          <p:nvPr>
            <p:ph type="body" sz="quarter" idx="10"/>
          </p:nvPr>
        </p:nvSpPr>
        <p:spPr>
          <a:xfrm>
            <a:off x="587609" y="281127"/>
            <a:ext cx="6552655" cy="484530"/>
          </a:xfrm>
        </p:spPr>
        <p:txBody>
          <a:bodyPr/>
          <a:lstStyle/>
          <a:p>
            <a:r>
              <a:rPr lang="en-GB" sz="3200" dirty="0"/>
              <a:t>The Use of Technology</a:t>
            </a:r>
          </a:p>
          <a:p>
            <a:r>
              <a:rPr lang="en-GB" sz="3200" dirty="0"/>
              <a:t>  </a:t>
            </a:r>
          </a:p>
        </p:txBody>
      </p:sp>
      <p:pic>
        <p:nvPicPr>
          <p:cNvPr id="4" name="Picture 3">
            <a:extLst>
              <a:ext uri="{FF2B5EF4-FFF2-40B4-BE49-F238E27FC236}">
                <a16:creationId xmlns:a16="http://schemas.microsoft.com/office/drawing/2014/main" id="{C79E6BAF-AFCB-C4AA-D27C-671A2D3124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4946" y="1183432"/>
            <a:ext cx="2609054" cy="2470850"/>
          </a:xfrm>
          <a:prstGeom prst="rect">
            <a:avLst/>
          </a:prstGeom>
        </p:spPr>
      </p:pic>
    </p:spTree>
    <p:extLst>
      <p:ext uri="{BB962C8B-B14F-4D97-AF65-F5344CB8AC3E}">
        <p14:creationId xmlns:p14="http://schemas.microsoft.com/office/powerpoint/2010/main" val="119242866"/>
      </p:ext>
    </p:extLst>
  </p:cSld>
  <p:clrMapOvr>
    <a:masterClrMapping/>
  </p:clrMapOvr>
  <p:transition spd="slow">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8228D7-6632-4141-4526-BEF8A83ACFB4}"/>
              </a:ext>
            </a:extLst>
          </p:cNvPr>
          <p:cNvSpPr>
            <a:spLocks noGrp="1"/>
          </p:cNvSpPr>
          <p:nvPr>
            <p:ph type="body" sz="quarter" idx="10"/>
          </p:nvPr>
        </p:nvSpPr>
        <p:spPr>
          <a:xfrm>
            <a:off x="290286" y="227827"/>
            <a:ext cx="7277327" cy="488301"/>
          </a:xfrm>
        </p:spPr>
        <p:txBody>
          <a:bodyPr/>
          <a:lstStyle/>
          <a:p>
            <a:r>
              <a:rPr lang="en-GB" sz="2400" dirty="0"/>
              <a:t>Enjoyment and Absence of Unpleasant Experiences</a:t>
            </a:r>
          </a:p>
          <a:p>
            <a:endParaRPr lang="en-GB" dirty="0"/>
          </a:p>
        </p:txBody>
      </p:sp>
      <p:sp>
        <p:nvSpPr>
          <p:cNvPr id="3" name="Text Placeholder 2">
            <a:extLst>
              <a:ext uri="{FF2B5EF4-FFF2-40B4-BE49-F238E27FC236}">
                <a16:creationId xmlns:a16="http://schemas.microsoft.com/office/drawing/2014/main" id="{200E4C3E-8500-381A-3B1C-55B8DB038297}"/>
              </a:ext>
            </a:extLst>
          </p:cNvPr>
          <p:cNvSpPr>
            <a:spLocks noGrp="1"/>
          </p:cNvSpPr>
          <p:nvPr>
            <p:ph type="body" sz="quarter" idx="11"/>
          </p:nvPr>
        </p:nvSpPr>
        <p:spPr>
          <a:xfrm>
            <a:off x="65314" y="820057"/>
            <a:ext cx="5159829" cy="4095616"/>
          </a:xfrm>
        </p:spPr>
        <p:txBody>
          <a:bodyPr/>
          <a:lstStyle/>
          <a:p>
            <a:r>
              <a:rPr lang="en-GB" sz="1800" dirty="0"/>
              <a:t>The experience of participants while doing exercise is crucial to enhance the adherence to physical exercise. Enjoyment is an immediate reward that could lead to better persistence than delayed rewards, such as health benefits in the long-term. </a:t>
            </a:r>
          </a:p>
          <a:p>
            <a:pPr marL="0" indent="0">
              <a:buNone/>
            </a:pPr>
            <a:endParaRPr lang="en-GB" sz="1800" dirty="0"/>
          </a:p>
          <a:p>
            <a:r>
              <a:rPr lang="en-GB" sz="1800" dirty="0"/>
              <a:t>In the case of obesity, other unpleasant feelings can emerge:</a:t>
            </a:r>
          </a:p>
          <a:p>
            <a:pPr marL="0" indent="0">
              <a:buNone/>
            </a:pPr>
            <a:r>
              <a:rPr lang="en-GB" sz="1800" dirty="0"/>
              <a:t>-embarrassment with their own appearance while doing exercise, rapid exhaustion related to poor physical.</a:t>
            </a:r>
          </a:p>
          <a:p>
            <a:pPr marL="0" indent="0">
              <a:buNone/>
            </a:pPr>
            <a:r>
              <a:rPr lang="en-GB" sz="1800" dirty="0"/>
              <a:t>-conditioning due to physical inactivity, or lack of movement enjoyment. </a:t>
            </a:r>
          </a:p>
        </p:txBody>
      </p:sp>
      <p:pic>
        <p:nvPicPr>
          <p:cNvPr id="4" name="Picture 3">
            <a:extLst>
              <a:ext uri="{FF2B5EF4-FFF2-40B4-BE49-F238E27FC236}">
                <a16:creationId xmlns:a16="http://schemas.microsoft.com/office/drawing/2014/main" id="{975FCF36-82AC-B4EA-AA71-824BA424BCC8}"/>
              </a:ext>
            </a:extLst>
          </p:cNvPr>
          <p:cNvPicPr>
            <a:picLocks noChangeAspect="1"/>
          </p:cNvPicPr>
          <p:nvPr/>
        </p:nvPicPr>
        <p:blipFill>
          <a:blip r:embed="rId2"/>
          <a:stretch>
            <a:fillRect/>
          </a:stretch>
        </p:blipFill>
        <p:spPr>
          <a:xfrm>
            <a:off x="5436595" y="1378856"/>
            <a:ext cx="3366320" cy="1961015"/>
          </a:xfrm>
          <a:prstGeom prst="rect">
            <a:avLst/>
          </a:prstGeom>
        </p:spPr>
      </p:pic>
    </p:spTree>
    <p:extLst>
      <p:ext uri="{BB962C8B-B14F-4D97-AF65-F5344CB8AC3E}">
        <p14:creationId xmlns:p14="http://schemas.microsoft.com/office/powerpoint/2010/main" val="54818197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FFCCA77-E4DB-6F17-3E63-7C5E9CCCBCEB}"/>
              </a:ext>
            </a:extLst>
          </p:cNvPr>
          <p:cNvSpPr>
            <a:spLocks noGrp="1"/>
          </p:cNvSpPr>
          <p:nvPr>
            <p:ph type="body" sz="quarter" idx="10"/>
          </p:nvPr>
        </p:nvSpPr>
        <p:spPr>
          <a:xfrm>
            <a:off x="341086" y="699542"/>
            <a:ext cx="7226527" cy="488301"/>
          </a:xfrm>
        </p:spPr>
        <p:txBody>
          <a:bodyPr/>
          <a:lstStyle/>
          <a:p>
            <a:r>
              <a:rPr lang="en-GB" sz="2400" dirty="0"/>
              <a:t>Available Progress Information and Monitoring</a:t>
            </a:r>
          </a:p>
        </p:txBody>
      </p:sp>
      <p:sp>
        <p:nvSpPr>
          <p:cNvPr id="6" name="Text Placeholder 5">
            <a:extLst>
              <a:ext uri="{FF2B5EF4-FFF2-40B4-BE49-F238E27FC236}">
                <a16:creationId xmlns:a16="http://schemas.microsoft.com/office/drawing/2014/main" id="{7908C035-7460-9F3E-6EC4-3FB71F1E3801}"/>
              </a:ext>
            </a:extLst>
          </p:cNvPr>
          <p:cNvSpPr>
            <a:spLocks noGrp="1"/>
          </p:cNvSpPr>
          <p:nvPr>
            <p:ph type="body" sz="quarter" idx="11"/>
          </p:nvPr>
        </p:nvSpPr>
        <p:spPr>
          <a:xfrm>
            <a:off x="182880" y="1347635"/>
            <a:ext cx="4019006" cy="3404603"/>
          </a:xfrm>
        </p:spPr>
        <p:txBody>
          <a:bodyPr/>
          <a:lstStyle/>
          <a:p>
            <a:pPr marL="0" indent="0">
              <a:buNone/>
            </a:pPr>
            <a:endParaRPr lang="en-GB" dirty="0"/>
          </a:p>
          <a:p>
            <a:r>
              <a:rPr lang="en-GB" sz="2000" dirty="0"/>
              <a:t>Feedback on outcomes. </a:t>
            </a:r>
          </a:p>
          <a:p>
            <a:r>
              <a:rPr lang="en-GB" sz="2000" dirty="0"/>
              <a:t>A comprehensive baseline evaluation is necessary to compare with future measures and provide the patient with accessible and understandable reports.</a:t>
            </a:r>
          </a:p>
        </p:txBody>
      </p:sp>
      <p:pic>
        <p:nvPicPr>
          <p:cNvPr id="2" name="Picture 1">
            <a:extLst>
              <a:ext uri="{FF2B5EF4-FFF2-40B4-BE49-F238E27FC236}">
                <a16:creationId xmlns:a16="http://schemas.microsoft.com/office/drawing/2014/main" id="{AB5A6F65-B3AA-5EE9-8023-F0230FB95965}"/>
              </a:ext>
            </a:extLst>
          </p:cNvPr>
          <p:cNvPicPr>
            <a:picLocks noChangeAspect="1"/>
          </p:cNvPicPr>
          <p:nvPr/>
        </p:nvPicPr>
        <p:blipFill>
          <a:blip r:embed="rId2"/>
          <a:stretch>
            <a:fillRect/>
          </a:stretch>
        </p:blipFill>
        <p:spPr>
          <a:xfrm>
            <a:off x="3954349" y="1347635"/>
            <a:ext cx="4992914" cy="3021693"/>
          </a:xfrm>
          <a:prstGeom prst="rect">
            <a:avLst/>
          </a:prstGeom>
        </p:spPr>
      </p:pic>
    </p:spTree>
    <p:extLst>
      <p:ext uri="{BB962C8B-B14F-4D97-AF65-F5344CB8AC3E}">
        <p14:creationId xmlns:p14="http://schemas.microsoft.com/office/powerpoint/2010/main" val="17979338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426484-35AF-F9EC-71EE-5AB2EC4E680F}"/>
              </a:ext>
            </a:extLst>
          </p:cNvPr>
          <p:cNvSpPr>
            <a:spLocks noGrp="1"/>
          </p:cNvSpPr>
          <p:nvPr>
            <p:ph type="body" sz="quarter" idx="10"/>
          </p:nvPr>
        </p:nvSpPr>
        <p:spPr>
          <a:xfrm>
            <a:off x="848794" y="177028"/>
            <a:ext cx="6668019" cy="488301"/>
          </a:xfrm>
        </p:spPr>
        <p:txBody>
          <a:bodyPr/>
          <a:lstStyle/>
          <a:p>
            <a:r>
              <a:rPr lang="en-GB" dirty="0"/>
              <a:t>Self-Efficacy and Competence</a:t>
            </a:r>
          </a:p>
          <a:p>
            <a:endParaRPr lang="en-GB" dirty="0"/>
          </a:p>
        </p:txBody>
      </p:sp>
      <p:sp>
        <p:nvSpPr>
          <p:cNvPr id="3" name="Text Placeholder 2">
            <a:extLst>
              <a:ext uri="{FF2B5EF4-FFF2-40B4-BE49-F238E27FC236}">
                <a16:creationId xmlns:a16="http://schemas.microsoft.com/office/drawing/2014/main" id="{CEEF84C7-DE9B-4915-C722-711A0F628048}"/>
              </a:ext>
            </a:extLst>
          </p:cNvPr>
          <p:cNvSpPr>
            <a:spLocks noGrp="1"/>
          </p:cNvSpPr>
          <p:nvPr>
            <p:ph type="body" sz="quarter" idx="11"/>
          </p:nvPr>
        </p:nvSpPr>
        <p:spPr>
          <a:xfrm>
            <a:off x="173736" y="869448"/>
            <a:ext cx="4398264" cy="4097024"/>
          </a:xfrm>
        </p:spPr>
        <p:txBody>
          <a:bodyPr/>
          <a:lstStyle/>
          <a:p>
            <a:r>
              <a:rPr lang="en-GB" sz="1800" dirty="0"/>
              <a:t>Self-efficacy defined as the individuals’ belief in their own capacity to undertake a specific task and achieve the desired goal.</a:t>
            </a:r>
          </a:p>
          <a:p>
            <a:r>
              <a:rPr lang="en-GB" sz="1800" dirty="0"/>
              <a:t>Competence is one of the basic psychological needs and is focused on feelings and beliefs during the action </a:t>
            </a:r>
          </a:p>
          <a:p>
            <a:r>
              <a:rPr lang="en-GB" sz="1800" dirty="0"/>
              <a:t>Self-efficacy is especially relevant among chronic patients since it reflects the perceptions of the patients about the possibility of control their own life and achieve goals.</a:t>
            </a:r>
          </a:p>
        </p:txBody>
      </p:sp>
      <p:pic>
        <p:nvPicPr>
          <p:cNvPr id="5" name="Picture 4">
            <a:extLst>
              <a:ext uri="{FF2B5EF4-FFF2-40B4-BE49-F238E27FC236}">
                <a16:creationId xmlns:a16="http://schemas.microsoft.com/office/drawing/2014/main" id="{A25F4306-52EA-657F-A451-1D35C6C66FF4}"/>
              </a:ext>
            </a:extLst>
          </p:cNvPr>
          <p:cNvPicPr>
            <a:picLocks noChangeAspect="1"/>
          </p:cNvPicPr>
          <p:nvPr/>
        </p:nvPicPr>
        <p:blipFill>
          <a:blip r:embed="rId2"/>
          <a:stretch>
            <a:fillRect/>
          </a:stretch>
        </p:blipFill>
        <p:spPr>
          <a:xfrm>
            <a:off x="5070234" y="1066800"/>
            <a:ext cx="3371170" cy="3401786"/>
          </a:xfrm>
          <a:prstGeom prst="rect">
            <a:avLst/>
          </a:prstGeom>
        </p:spPr>
      </p:pic>
    </p:spTree>
    <p:extLst>
      <p:ext uri="{BB962C8B-B14F-4D97-AF65-F5344CB8AC3E}">
        <p14:creationId xmlns:p14="http://schemas.microsoft.com/office/powerpoint/2010/main" val="217124332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53139DD-E136-C647-12D5-15952C586C95}"/>
              </a:ext>
            </a:extLst>
          </p:cNvPr>
          <p:cNvSpPr>
            <a:spLocks noGrp="1"/>
          </p:cNvSpPr>
          <p:nvPr>
            <p:ph type="body" sz="quarter" idx="10"/>
          </p:nvPr>
        </p:nvSpPr>
        <p:spPr>
          <a:xfrm>
            <a:off x="1014984" y="210312"/>
            <a:ext cx="6552629" cy="977531"/>
          </a:xfrm>
        </p:spPr>
        <p:txBody>
          <a:bodyPr/>
          <a:lstStyle/>
          <a:p>
            <a:r>
              <a:rPr lang="en-GB" dirty="0"/>
              <a:t>Participant’s Active Role</a:t>
            </a:r>
          </a:p>
          <a:p>
            <a:endParaRPr lang="en-GB" dirty="0"/>
          </a:p>
        </p:txBody>
      </p:sp>
      <p:sp>
        <p:nvSpPr>
          <p:cNvPr id="6" name="Text Placeholder 5">
            <a:extLst>
              <a:ext uri="{FF2B5EF4-FFF2-40B4-BE49-F238E27FC236}">
                <a16:creationId xmlns:a16="http://schemas.microsoft.com/office/drawing/2014/main" id="{B948B187-5CE8-372B-8903-2C61929832D6}"/>
              </a:ext>
            </a:extLst>
          </p:cNvPr>
          <p:cNvSpPr>
            <a:spLocks noGrp="1"/>
          </p:cNvSpPr>
          <p:nvPr>
            <p:ph type="body" sz="quarter" idx="11"/>
          </p:nvPr>
        </p:nvSpPr>
        <p:spPr>
          <a:xfrm>
            <a:off x="232229" y="1187843"/>
            <a:ext cx="4194628" cy="3514786"/>
          </a:xfrm>
        </p:spPr>
        <p:txBody>
          <a:bodyPr/>
          <a:lstStyle/>
          <a:p>
            <a:r>
              <a:rPr lang="en-GB" sz="2000" dirty="0"/>
              <a:t>Giving the participants an active role in the exercise programmes may increase the adherence to exercise. </a:t>
            </a:r>
          </a:p>
          <a:p>
            <a:r>
              <a:rPr lang="en-GB" sz="2000" dirty="0"/>
              <a:t>When the aim is to increase the adherence of patients to physical exercise in the long-term, it is crucial to give patients the tools to continue practicing exercise once the programme has ended.</a:t>
            </a:r>
          </a:p>
        </p:txBody>
      </p:sp>
      <p:pic>
        <p:nvPicPr>
          <p:cNvPr id="2" name="Picture 1">
            <a:extLst>
              <a:ext uri="{FF2B5EF4-FFF2-40B4-BE49-F238E27FC236}">
                <a16:creationId xmlns:a16="http://schemas.microsoft.com/office/drawing/2014/main" id="{90BF45C8-42EE-1436-836C-D303AAEE6394}"/>
              </a:ext>
            </a:extLst>
          </p:cNvPr>
          <p:cNvPicPr>
            <a:picLocks noChangeAspect="1"/>
          </p:cNvPicPr>
          <p:nvPr/>
        </p:nvPicPr>
        <p:blipFill>
          <a:blip r:embed="rId2"/>
          <a:stretch>
            <a:fillRect/>
          </a:stretch>
        </p:blipFill>
        <p:spPr>
          <a:xfrm>
            <a:off x="4934857" y="1349829"/>
            <a:ext cx="3468913" cy="2227942"/>
          </a:xfrm>
          <a:prstGeom prst="rect">
            <a:avLst/>
          </a:prstGeom>
        </p:spPr>
      </p:pic>
    </p:spTree>
    <p:extLst>
      <p:ext uri="{BB962C8B-B14F-4D97-AF65-F5344CB8AC3E}">
        <p14:creationId xmlns:p14="http://schemas.microsoft.com/office/powerpoint/2010/main" val="361345920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101FD7-8D3C-1493-D390-2D2EE2D9161C}"/>
              </a:ext>
            </a:extLst>
          </p:cNvPr>
          <p:cNvSpPr>
            <a:spLocks noGrp="1"/>
          </p:cNvSpPr>
          <p:nvPr>
            <p:ph type="body" sz="quarter" idx="10"/>
          </p:nvPr>
        </p:nvSpPr>
        <p:spPr>
          <a:xfrm>
            <a:off x="1371309" y="547142"/>
            <a:ext cx="6668019" cy="488301"/>
          </a:xfrm>
        </p:spPr>
        <p:txBody>
          <a:bodyPr/>
          <a:lstStyle/>
          <a:p>
            <a:r>
              <a:rPr lang="en-GB" dirty="0"/>
              <a:t>Goal setting</a:t>
            </a:r>
          </a:p>
          <a:p>
            <a:endParaRPr lang="en-GB" dirty="0"/>
          </a:p>
          <a:p>
            <a:endParaRPr lang="en-GB" dirty="0"/>
          </a:p>
        </p:txBody>
      </p:sp>
      <p:sp>
        <p:nvSpPr>
          <p:cNvPr id="3" name="Text Placeholder 2">
            <a:extLst>
              <a:ext uri="{FF2B5EF4-FFF2-40B4-BE49-F238E27FC236}">
                <a16:creationId xmlns:a16="http://schemas.microsoft.com/office/drawing/2014/main" id="{43DC5683-9E4A-73D0-CF7B-1AE191142A21}"/>
              </a:ext>
            </a:extLst>
          </p:cNvPr>
          <p:cNvSpPr>
            <a:spLocks noGrp="1"/>
          </p:cNvSpPr>
          <p:nvPr>
            <p:ph type="body" sz="quarter" idx="11"/>
          </p:nvPr>
        </p:nvSpPr>
        <p:spPr>
          <a:xfrm>
            <a:off x="100584" y="1347635"/>
            <a:ext cx="4319016" cy="3404603"/>
          </a:xfrm>
        </p:spPr>
        <p:txBody>
          <a:bodyPr/>
          <a:lstStyle/>
          <a:p>
            <a:r>
              <a:rPr lang="en-GB" sz="1800" dirty="0"/>
              <a:t>Goals must be controllable by the participants. </a:t>
            </a:r>
          </a:p>
          <a:p>
            <a:r>
              <a:rPr lang="en-GB" sz="1800" dirty="0"/>
              <a:t>Objectives like losing weight as fast as possible may lead to frustration and abandonment. </a:t>
            </a:r>
          </a:p>
          <a:p>
            <a:r>
              <a:rPr lang="en-GB" sz="1800" dirty="0"/>
              <a:t>It is recommended to avoid unrealistic and uncontrolled expectations. </a:t>
            </a:r>
          </a:p>
          <a:p>
            <a:r>
              <a:rPr lang="en-GB" sz="1800" dirty="0"/>
              <a:t>To reduce frustration and enhance motivation, goals must be SMARTS and re-evaluated</a:t>
            </a:r>
          </a:p>
          <a:p>
            <a:endParaRPr lang="en-GB" dirty="0"/>
          </a:p>
        </p:txBody>
      </p:sp>
      <p:pic>
        <p:nvPicPr>
          <p:cNvPr id="5" name="Picture 4">
            <a:extLst>
              <a:ext uri="{FF2B5EF4-FFF2-40B4-BE49-F238E27FC236}">
                <a16:creationId xmlns:a16="http://schemas.microsoft.com/office/drawing/2014/main" id="{470D51CB-30BD-0CA8-0D6C-58DDA9C93429}"/>
              </a:ext>
            </a:extLst>
          </p:cNvPr>
          <p:cNvPicPr>
            <a:picLocks noChangeAspect="1"/>
          </p:cNvPicPr>
          <p:nvPr/>
        </p:nvPicPr>
        <p:blipFill>
          <a:blip r:embed="rId2"/>
          <a:stretch>
            <a:fillRect/>
          </a:stretch>
        </p:blipFill>
        <p:spPr>
          <a:xfrm>
            <a:off x="4572000" y="1405272"/>
            <a:ext cx="3804234" cy="2536156"/>
          </a:xfrm>
          <a:prstGeom prst="rect">
            <a:avLst/>
          </a:prstGeom>
        </p:spPr>
      </p:pic>
    </p:spTree>
    <p:extLst>
      <p:ext uri="{BB962C8B-B14F-4D97-AF65-F5344CB8AC3E}">
        <p14:creationId xmlns:p14="http://schemas.microsoft.com/office/powerpoint/2010/main" val="3707157162"/>
      </p:ext>
    </p:extLst>
  </p:cSld>
  <p:clrMapOvr>
    <a:masterClrMapping/>
  </p:clrMapOvr>
  <p:transition spd="slow">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8E5DA53-38DB-3FBC-CE40-85E1BE1A39FD}"/>
              </a:ext>
            </a:extLst>
          </p:cNvPr>
          <p:cNvSpPr>
            <a:spLocks noGrp="1"/>
          </p:cNvSpPr>
          <p:nvPr>
            <p:ph type="body" sz="quarter" idx="10"/>
          </p:nvPr>
        </p:nvSpPr>
        <p:spPr>
          <a:xfrm>
            <a:off x="268514" y="173256"/>
            <a:ext cx="7299099" cy="487144"/>
          </a:xfrm>
        </p:spPr>
        <p:txBody>
          <a:bodyPr/>
          <a:lstStyle/>
          <a:p>
            <a:r>
              <a:rPr lang="en-GB" sz="1800" b="1" dirty="0"/>
              <a:t>Other Key Factors in Adherence Exercise Programme(Collado-Mateo 2021)</a:t>
            </a:r>
          </a:p>
          <a:p>
            <a:endParaRPr lang="en-GB" dirty="0"/>
          </a:p>
        </p:txBody>
      </p:sp>
      <p:sp>
        <p:nvSpPr>
          <p:cNvPr id="6" name="Text Placeholder 5">
            <a:extLst>
              <a:ext uri="{FF2B5EF4-FFF2-40B4-BE49-F238E27FC236}">
                <a16:creationId xmlns:a16="http://schemas.microsoft.com/office/drawing/2014/main" id="{68BF20AF-BF8D-05B3-730F-4E9E660251D6}"/>
              </a:ext>
            </a:extLst>
          </p:cNvPr>
          <p:cNvSpPr>
            <a:spLocks noGrp="1"/>
          </p:cNvSpPr>
          <p:nvPr>
            <p:ph type="body" sz="quarter" idx="11"/>
          </p:nvPr>
        </p:nvSpPr>
        <p:spPr>
          <a:xfrm>
            <a:off x="166914" y="847023"/>
            <a:ext cx="8418286" cy="3905215"/>
          </a:xfrm>
        </p:spPr>
        <p:txBody>
          <a:bodyPr/>
          <a:lstStyle/>
          <a:p>
            <a:pPr marL="0" indent="0">
              <a:lnSpc>
                <a:spcPts val="3100"/>
              </a:lnSpc>
              <a:spcBef>
                <a:spcPts val="0"/>
              </a:spcBef>
              <a:buClrTx/>
              <a:defRPr/>
            </a:pPr>
            <a:r>
              <a:rPr kumimoji="0" lang="en-GB" sz="20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Initial Exploration of Participant’s Characteristics, Barriers, and Facilitators</a:t>
            </a:r>
          </a:p>
          <a:p>
            <a:pPr marL="0" indent="0">
              <a:lnSpc>
                <a:spcPts val="3100"/>
              </a:lnSpc>
              <a:spcBef>
                <a:spcPts val="0"/>
              </a:spcBef>
              <a:buClrTx/>
              <a:defRPr/>
            </a:pPr>
            <a:r>
              <a:rPr lang="en-GB" sz="2000" dirty="0">
                <a:solidFill>
                  <a:srgbClr val="0070C0"/>
                </a:solidFill>
              </a:rPr>
              <a:t>Participants Education, Adequate Expectations, and Knowledge about Risks and Benefits</a:t>
            </a:r>
          </a:p>
          <a:p>
            <a:pPr marL="0" indent="0">
              <a:lnSpc>
                <a:spcPts val="3100"/>
              </a:lnSpc>
              <a:spcBef>
                <a:spcPts val="0"/>
              </a:spcBef>
              <a:buClrTx/>
              <a:defRPr/>
            </a:pPr>
            <a:r>
              <a:rPr lang="en-GB" sz="2000" dirty="0">
                <a:solidFill>
                  <a:srgbClr val="0070C0"/>
                </a:solidFill>
              </a:rPr>
              <a:t>Integration in Daily Living</a:t>
            </a:r>
          </a:p>
          <a:p>
            <a:pPr marL="0" indent="0">
              <a:lnSpc>
                <a:spcPts val="3100"/>
              </a:lnSpc>
              <a:spcBef>
                <a:spcPts val="0"/>
              </a:spcBef>
              <a:buClrTx/>
              <a:defRPr/>
            </a:pPr>
            <a:r>
              <a:rPr kumimoji="0" lang="en-GB" sz="20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Social Support and Relatedness</a:t>
            </a:r>
          </a:p>
          <a:p>
            <a:pPr marL="0" indent="0">
              <a:lnSpc>
                <a:spcPts val="3100"/>
              </a:lnSpc>
              <a:spcBef>
                <a:spcPts val="0"/>
              </a:spcBef>
              <a:buClrTx/>
              <a:defRPr/>
            </a:pPr>
            <a:r>
              <a:rPr lang="en-GB" sz="2000" dirty="0">
                <a:solidFill>
                  <a:srgbClr val="0070C0"/>
                </a:solidFill>
              </a:rPr>
              <a:t>Communication and Feedback</a:t>
            </a:r>
          </a:p>
          <a:p>
            <a:pPr>
              <a:lnSpc>
                <a:spcPts val="4200"/>
              </a:lnSpc>
              <a:buClrTx/>
              <a:defRPr/>
            </a:pPr>
            <a:endParaRPr kumimoji="0" lang="en-GB"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a:lnSpc>
                <a:spcPts val="4200"/>
              </a:lnSpc>
              <a:buClrTx/>
              <a:defRPr/>
            </a:pPr>
            <a:endParaRPr lang="en-GB" dirty="0"/>
          </a:p>
          <a:p>
            <a:pPr>
              <a:lnSpc>
                <a:spcPts val="4200"/>
              </a:lnSpc>
              <a:buClrTx/>
              <a:defRPr/>
            </a:pPr>
            <a:endParaRPr kumimoji="0" lang="en-GB" sz="1600" b="0" i="0" u="none" strike="noStrike" kern="1200" cap="none" spc="0" normalizeH="0" baseline="0" noProof="0" dirty="0">
              <a:ln>
                <a:noFill/>
              </a:ln>
              <a:solidFill>
                <a:srgbClr val="16818D"/>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GB" dirty="0"/>
          </a:p>
        </p:txBody>
      </p:sp>
    </p:spTree>
    <p:extLst>
      <p:ext uri="{BB962C8B-B14F-4D97-AF65-F5344CB8AC3E}">
        <p14:creationId xmlns:p14="http://schemas.microsoft.com/office/powerpoint/2010/main" val="28785566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3F601-A527-F1B4-135F-C6CCCE15340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160EFFD-560E-E2B5-F8CF-15AC258D8B20}"/>
              </a:ext>
            </a:extLst>
          </p:cNvPr>
          <p:cNvSpPr>
            <a:spLocks noGrp="1"/>
          </p:cNvSpPr>
          <p:nvPr>
            <p:ph type="body" sz="quarter" idx="10"/>
          </p:nvPr>
        </p:nvSpPr>
        <p:spPr/>
        <p:txBody>
          <a:bodyPr/>
          <a:lstStyle/>
          <a:p>
            <a:r>
              <a:rPr lang="en-GB" dirty="0"/>
              <a:t>Group Activity</a:t>
            </a:r>
            <a:endParaRPr lang="en-US" dirty="0"/>
          </a:p>
        </p:txBody>
      </p:sp>
      <p:pic>
        <p:nvPicPr>
          <p:cNvPr id="5" name="Picture 4">
            <a:extLst>
              <a:ext uri="{FF2B5EF4-FFF2-40B4-BE49-F238E27FC236}">
                <a16:creationId xmlns:a16="http://schemas.microsoft.com/office/drawing/2014/main" id="{8CCDE1B2-DCD0-E500-8317-0C5C91D609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4970" y="1184618"/>
            <a:ext cx="2912562" cy="2551784"/>
          </a:xfrm>
          <a:prstGeom prst="rect">
            <a:avLst/>
          </a:prstGeom>
        </p:spPr>
      </p:pic>
      <p:sp>
        <p:nvSpPr>
          <p:cNvPr id="7" name="Text Placeholder 3">
            <a:extLst>
              <a:ext uri="{FF2B5EF4-FFF2-40B4-BE49-F238E27FC236}">
                <a16:creationId xmlns:a16="http://schemas.microsoft.com/office/drawing/2014/main" id="{1EEF2BFB-3D9A-C0DA-989C-E416F34B6EED}"/>
              </a:ext>
            </a:extLst>
          </p:cNvPr>
          <p:cNvSpPr txBox="1">
            <a:spLocks noGrp="1"/>
          </p:cNvSpPr>
          <p:nvPr>
            <p:ph type="body" sz="quarter" idx="11"/>
          </p:nvPr>
        </p:nvSpPr>
        <p:spPr>
          <a:xfrm>
            <a:off x="378315" y="1376494"/>
            <a:ext cx="5086313" cy="3287174"/>
          </a:xfrm>
          <a:prstGeom prst="rect">
            <a:avLst/>
          </a:prstGeom>
        </p:spPr>
        <p:txBody>
          <a:bodyPr vert="horz" lIns="0" tIns="0" rIns="0" bIns="0" numCol="1" spcCol="216000" rtlCol="0">
            <a:normAutofit/>
          </a:bodyPr>
          <a:lstStyle>
            <a:lvl1pPr marL="0" marR="0" indent="0" algn="l" defTabSz="606410" rtl="0" eaLnBrk="1" fontAlgn="base" latinLnBrk="0" hangingPunct="1">
              <a:lnSpc>
                <a:spcPts val="2000"/>
              </a:lnSpc>
              <a:spcBef>
                <a:spcPts val="0"/>
              </a:spcBef>
              <a:spcAft>
                <a:spcPct val="0"/>
              </a:spcAft>
              <a:buClrTx/>
              <a:buSzTx/>
              <a:buFontTx/>
              <a:buNone/>
              <a:tabLst/>
              <a:defRPr sz="1400" b="0" i="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pPr>
              <a:lnSpc>
                <a:spcPts val="2200"/>
              </a:lnSpc>
            </a:pPr>
            <a:r>
              <a:rPr lang="en-GB" sz="2000" b="1" dirty="0">
                <a:solidFill>
                  <a:schemeClr val="accent5"/>
                </a:solidFill>
              </a:rPr>
              <a:t>Can you think of any other reasons/factors to improve adherence on an exercise programme? </a:t>
            </a:r>
          </a:p>
          <a:p>
            <a:pPr>
              <a:lnSpc>
                <a:spcPts val="2200"/>
              </a:lnSpc>
            </a:pPr>
            <a:endParaRPr lang="en-GB" sz="2000" b="1" dirty="0">
              <a:solidFill>
                <a:schemeClr val="accent5"/>
              </a:solidFill>
            </a:endParaRPr>
          </a:p>
          <a:p>
            <a:pPr>
              <a:lnSpc>
                <a:spcPts val="2200"/>
              </a:lnSpc>
            </a:pPr>
            <a:r>
              <a:rPr lang="en-GB" sz="2000" b="1" dirty="0">
                <a:solidFill>
                  <a:schemeClr val="accent5"/>
                </a:solidFill>
              </a:rPr>
              <a:t>Work in pairs, put ideas on a </a:t>
            </a:r>
            <a:r>
              <a:rPr lang="en-GB" sz="2000" b="1" dirty="0" err="1">
                <a:solidFill>
                  <a:schemeClr val="accent5"/>
                </a:solidFill>
              </a:rPr>
              <a:t>post-it</a:t>
            </a:r>
            <a:r>
              <a:rPr lang="en-GB" sz="2000" b="1" dirty="0">
                <a:solidFill>
                  <a:schemeClr val="accent5"/>
                </a:solidFill>
              </a:rPr>
              <a:t> or  interactive board and then share with the group.</a:t>
            </a:r>
          </a:p>
          <a:p>
            <a:endParaRPr lang="en-GB" sz="1800" b="1" dirty="0">
              <a:solidFill>
                <a:schemeClr val="accent5"/>
              </a:solidFill>
            </a:endParaRPr>
          </a:p>
          <a:p>
            <a:endParaRPr lang="en-GB" sz="1800" b="1" dirty="0">
              <a:solidFill>
                <a:schemeClr val="accent5"/>
              </a:solidFill>
            </a:endParaRPr>
          </a:p>
          <a:p>
            <a:endParaRPr lang="en-US" sz="1800" b="1" dirty="0">
              <a:solidFill>
                <a:schemeClr val="accent5"/>
              </a:solidFill>
            </a:endParaRPr>
          </a:p>
        </p:txBody>
      </p:sp>
      <p:pic>
        <p:nvPicPr>
          <p:cNvPr id="6" name="Picture 5">
            <a:extLst>
              <a:ext uri="{FF2B5EF4-FFF2-40B4-BE49-F238E27FC236}">
                <a16:creationId xmlns:a16="http://schemas.microsoft.com/office/drawing/2014/main" id="{6B288324-C25D-ED64-41B0-5C07965690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760" y="3457193"/>
            <a:ext cx="1111819" cy="884237"/>
          </a:xfrm>
          <a:prstGeom prst="rect">
            <a:avLst/>
          </a:prstGeom>
        </p:spPr>
      </p:pic>
    </p:spTree>
    <p:extLst>
      <p:ext uri="{BB962C8B-B14F-4D97-AF65-F5344CB8AC3E}">
        <p14:creationId xmlns:p14="http://schemas.microsoft.com/office/powerpoint/2010/main" val="1352146557"/>
      </p:ext>
    </p:extLst>
  </p:cSld>
  <p:clrMapOvr>
    <a:masterClrMapping/>
  </p:clrMapOvr>
  <p:transition spd="slow">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083EE6D-DFA2-8805-EBDE-BDBED52235FA}"/>
              </a:ext>
            </a:extLst>
          </p:cNvPr>
          <p:cNvSpPr>
            <a:spLocks noGrp="1"/>
          </p:cNvSpPr>
          <p:nvPr>
            <p:ph type="body" sz="quarter" idx="10"/>
          </p:nvPr>
        </p:nvSpPr>
        <p:spPr>
          <a:xfrm>
            <a:off x="686071" y="177574"/>
            <a:ext cx="6552655" cy="484530"/>
          </a:xfrm>
        </p:spPr>
        <p:txBody>
          <a:bodyPr/>
          <a:lstStyle/>
          <a:p>
            <a:r>
              <a:rPr lang="en-GB" dirty="0"/>
              <a:t>Behaviour Change &amp; Education</a:t>
            </a:r>
          </a:p>
          <a:p>
            <a:endParaRPr lang="en-GB" dirty="0"/>
          </a:p>
        </p:txBody>
      </p:sp>
      <p:sp>
        <p:nvSpPr>
          <p:cNvPr id="4" name="Text Placeholder 3">
            <a:extLst>
              <a:ext uri="{FF2B5EF4-FFF2-40B4-BE49-F238E27FC236}">
                <a16:creationId xmlns:a16="http://schemas.microsoft.com/office/drawing/2014/main" id="{5D7AD6E3-2E56-CD93-ECE8-332DA5652D7C}"/>
              </a:ext>
            </a:extLst>
          </p:cNvPr>
          <p:cNvSpPr>
            <a:spLocks noGrp="1"/>
          </p:cNvSpPr>
          <p:nvPr>
            <p:ph type="body" sz="quarter" idx="12"/>
          </p:nvPr>
        </p:nvSpPr>
        <p:spPr>
          <a:xfrm>
            <a:off x="3839029" y="854668"/>
            <a:ext cx="4995137" cy="4000361"/>
          </a:xfrm>
        </p:spPr>
        <p:txBody>
          <a:bodyPr/>
          <a:lstStyle/>
          <a:p>
            <a:pPr marL="285750" indent="-285750" algn="l">
              <a:buFont typeface="Arial" panose="020B0604020202020204" pitchFamily="34" charset="0"/>
              <a:buChar char="•"/>
            </a:pPr>
            <a:r>
              <a:rPr lang="en-GB" sz="1800" b="0" i="0" u="none" strike="noStrike" baseline="0" dirty="0"/>
              <a:t>The Model of Behaviour Change, which identifies the ‘readiness’ of a referred person to engage in the exercise programme or referral process. </a:t>
            </a:r>
          </a:p>
          <a:p>
            <a:pPr marL="285750" indent="-285750">
              <a:buFont typeface="Arial" panose="020B0604020202020204" pitchFamily="34" charset="0"/>
              <a:buChar char="•"/>
            </a:pPr>
            <a:r>
              <a:rPr lang="en-GB" sz="1800" dirty="0"/>
              <a:t>The role of the ER practitioner/relevant health-HCP is to encourage the referred person from </a:t>
            </a:r>
            <a:r>
              <a:rPr lang="en-GB" sz="1800" b="1" dirty="0"/>
              <a:t>preparation stage </a:t>
            </a:r>
            <a:r>
              <a:rPr lang="en-GB" sz="1800" dirty="0"/>
              <a:t>(intend to take action)  to progress into the </a:t>
            </a:r>
            <a:r>
              <a:rPr lang="en-GB" sz="1800" b="1" dirty="0"/>
              <a:t>action phase</a:t>
            </a:r>
            <a:r>
              <a:rPr lang="en-GB" sz="1800" dirty="0"/>
              <a:t>, in which they practice the desired behaviour, and then the </a:t>
            </a:r>
            <a:r>
              <a:rPr lang="en-GB" sz="1800" b="1" dirty="0"/>
              <a:t>maintenance phase </a:t>
            </a:r>
            <a:r>
              <a:rPr lang="en-GB" sz="1800" dirty="0"/>
              <a:t>for long-term benefits (Prochaska and Prochaska, 2014).</a:t>
            </a:r>
          </a:p>
          <a:p>
            <a:endParaRPr lang="en-GB" sz="1800" dirty="0"/>
          </a:p>
          <a:p>
            <a:pPr marL="285750" indent="-285750">
              <a:buFont typeface="Arial" panose="020B0604020202020204" pitchFamily="34" charset="0"/>
              <a:buChar char="•"/>
            </a:pPr>
            <a:r>
              <a:rPr lang="en-GB" sz="1800" dirty="0"/>
              <a:t>The </a:t>
            </a:r>
            <a:r>
              <a:rPr lang="en-GB" sz="1800" b="0" i="0" u="none" strike="noStrike" baseline="0" dirty="0"/>
              <a:t>ER practitioners/HCP should feel empowered to frame the consultation around the Self-Determination Theory</a:t>
            </a:r>
            <a:r>
              <a:rPr lang="en-GB" sz="1800" dirty="0"/>
              <a:t> (S</a:t>
            </a:r>
            <a:r>
              <a:rPr lang="en-GB" sz="1800" b="0" i="0" u="none" strike="noStrike" baseline="0" dirty="0"/>
              <a:t>wainson, Rutherford, Buckley, 2022</a:t>
            </a:r>
            <a:r>
              <a:rPr lang="en-GB" sz="1800" b="0" i="0" u="none" strike="noStrike" baseline="0" dirty="0">
                <a:latin typeface="BemboMTPro-Regular"/>
              </a:rPr>
              <a:t>) </a:t>
            </a:r>
            <a:endParaRPr lang="en-GB" sz="1800" dirty="0"/>
          </a:p>
        </p:txBody>
      </p:sp>
      <p:pic>
        <p:nvPicPr>
          <p:cNvPr id="5" name="Picture 4">
            <a:extLst>
              <a:ext uri="{FF2B5EF4-FFF2-40B4-BE49-F238E27FC236}">
                <a16:creationId xmlns:a16="http://schemas.microsoft.com/office/drawing/2014/main" id="{C5BFF889-AFFA-2041-1482-CD6F34F3A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86" y="1184618"/>
            <a:ext cx="3751943" cy="2896583"/>
          </a:xfrm>
          <a:prstGeom prst="rect">
            <a:avLst/>
          </a:prstGeom>
        </p:spPr>
      </p:pic>
    </p:spTree>
    <p:extLst>
      <p:ext uri="{BB962C8B-B14F-4D97-AF65-F5344CB8AC3E}">
        <p14:creationId xmlns:p14="http://schemas.microsoft.com/office/powerpoint/2010/main" val="30522740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675BA6-113E-16A1-DF2D-373B4B645A30}"/>
              </a:ext>
            </a:extLst>
          </p:cNvPr>
          <p:cNvSpPr>
            <a:spLocks noGrp="1"/>
          </p:cNvSpPr>
          <p:nvPr>
            <p:ph type="body" sz="quarter" idx="11"/>
          </p:nvPr>
        </p:nvSpPr>
        <p:spPr>
          <a:xfrm>
            <a:off x="187921" y="1092228"/>
            <a:ext cx="4034971" cy="3402378"/>
          </a:xfrm>
        </p:spPr>
        <p:txBody>
          <a:bodyPr/>
          <a:lstStyle/>
          <a:p>
            <a:pPr>
              <a:lnSpc>
                <a:spcPts val="2500"/>
              </a:lnSpc>
            </a:pPr>
            <a:r>
              <a:rPr lang="en-GB" sz="1800" dirty="0"/>
              <a:t>Self-determination theory (SDT) is primarily focused on understanding motivation (</a:t>
            </a:r>
            <a:r>
              <a:rPr lang="en-GB" sz="1800" dirty="0" err="1"/>
              <a:t>Forteir</a:t>
            </a:r>
            <a:r>
              <a:rPr lang="en-GB" sz="1800" dirty="0"/>
              <a:t> et al., 2012). </a:t>
            </a:r>
          </a:p>
          <a:p>
            <a:pPr>
              <a:lnSpc>
                <a:spcPts val="2500"/>
              </a:lnSpc>
            </a:pPr>
            <a:r>
              <a:rPr lang="en-GB" sz="1800" dirty="0"/>
              <a:t>The theory proposes that motivation exists on a continuum from </a:t>
            </a:r>
            <a:r>
              <a:rPr lang="en-GB" sz="1800" b="1" dirty="0"/>
              <a:t>amotivation</a:t>
            </a:r>
            <a:r>
              <a:rPr lang="en-GB" sz="1800" dirty="0"/>
              <a:t> (not motivated) to levels of </a:t>
            </a:r>
            <a:r>
              <a:rPr lang="en-GB" sz="1800" b="1" dirty="0"/>
              <a:t>extrinsic motivation </a:t>
            </a:r>
            <a:r>
              <a:rPr lang="en-GB" sz="1800" dirty="0"/>
              <a:t>(externally motivated) then to </a:t>
            </a:r>
            <a:r>
              <a:rPr lang="en-GB" sz="1800" b="1" dirty="0"/>
              <a:t>intrinsic motivation </a:t>
            </a:r>
            <a:r>
              <a:rPr lang="en-GB" sz="1800" dirty="0"/>
              <a:t>(internally motivated).</a:t>
            </a:r>
          </a:p>
        </p:txBody>
      </p:sp>
      <p:sp>
        <p:nvSpPr>
          <p:cNvPr id="3" name="Text Placeholder 2">
            <a:extLst>
              <a:ext uri="{FF2B5EF4-FFF2-40B4-BE49-F238E27FC236}">
                <a16:creationId xmlns:a16="http://schemas.microsoft.com/office/drawing/2014/main" id="{5679D098-B8FB-AA1D-C7A4-03499609FF9A}"/>
              </a:ext>
            </a:extLst>
          </p:cNvPr>
          <p:cNvSpPr>
            <a:spLocks noGrp="1"/>
          </p:cNvSpPr>
          <p:nvPr>
            <p:ph type="body" sz="quarter" idx="10"/>
          </p:nvPr>
        </p:nvSpPr>
        <p:spPr>
          <a:xfrm>
            <a:off x="826340" y="79828"/>
            <a:ext cx="6552655" cy="484530"/>
          </a:xfrm>
        </p:spPr>
        <p:txBody>
          <a:bodyPr/>
          <a:lstStyle/>
          <a:p>
            <a:pPr marL="0" marR="0" lvl="0" indent="0" algn="ctr" defTabSz="606410" rtl="0" eaLnBrk="1" fontAlgn="base" latinLnBrk="0" hangingPunct="1">
              <a:lnSpc>
                <a:spcPts val="2600"/>
              </a:lnSpc>
              <a:spcBef>
                <a:spcPts val="0"/>
              </a:spcBef>
              <a:spcAft>
                <a:spcPct val="0"/>
              </a:spcAft>
              <a:buClrTx/>
              <a:buSzTx/>
              <a:buFontTx/>
              <a:buNone/>
              <a:tabLst/>
              <a:defRPr/>
            </a:pPr>
            <a:r>
              <a:rPr kumimoji="0" lang="en-GB" sz="2400" b="0" i="0" u="none" strike="noStrike" kern="1200" cap="none" spc="0" normalizeH="0" baseline="0" noProof="0" dirty="0">
                <a:ln>
                  <a:noFill/>
                </a:ln>
                <a:solidFill>
                  <a:schemeClr val="accent1"/>
                </a:solidFill>
                <a:effectLst/>
                <a:uLnTx/>
                <a:uFillTx/>
                <a:latin typeface="Calibri" panose="020F0502020204030204" pitchFamily="34" charset="0"/>
                <a:ea typeface="Calibri" panose="020F0502020204030204" pitchFamily="34" charset="0"/>
                <a:cs typeface="Calibri" panose="020F0502020204030204" pitchFamily="34" charset="0"/>
              </a:rPr>
              <a:t>Behaviour Change/Education-</a:t>
            </a:r>
          </a:p>
          <a:p>
            <a:pPr marL="0" marR="0" lvl="0" indent="0" algn="ctr" defTabSz="606410" rtl="0" eaLnBrk="1" fontAlgn="base" latinLnBrk="0" hangingPunct="1">
              <a:lnSpc>
                <a:spcPts val="2600"/>
              </a:lnSpc>
              <a:spcBef>
                <a:spcPts val="0"/>
              </a:spcBef>
              <a:spcAft>
                <a:spcPct val="0"/>
              </a:spcAft>
              <a:buClrTx/>
              <a:buSzTx/>
              <a:buFontTx/>
              <a:buNone/>
              <a:tabLst/>
              <a:defRPr/>
            </a:pPr>
            <a:r>
              <a:rPr kumimoji="0" lang="en-GB" sz="2400" b="0" i="0" u="none" strike="noStrike" kern="1200" cap="none" spc="0" normalizeH="0" baseline="0" noProof="0" dirty="0">
                <a:ln>
                  <a:noFill/>
                </a:ln>
                <a:solidFill>
                  <a:schemeClr val="accent1"/>
                </a:solidFill>
                <a:effectLst/>
                <a:uLnTx/>
                <a:uFillTx/>
                <a:latin typeface="Calibri" panose="020F0502020204030204" pitchFamily="34" charset="0"/>
                <a:ea typeface="Calibri" panose="020F0502020204030204" pitchFamily="34" charset="0"/>
                <a:cs typeface="Calibri" panose="020F0502020204030204" pitchFamily="34" charset="0"/>
              </a:rPr>
              <a:t>Self-Determination Theory (ACSM, 2026)</a:t>
            </a:r>
          </a:p>
          <a:p>
            <a:endParaRPr lang="en-GB" dirty="0"/>
          </a:p>
        </p:txBody>
      </p:sp>
      <p:pic>
        <p:nvPicPr>
          <p:cNvPr id="7" name="Picture 6">
            <a:extLst>
              <a:ext uri="{FF2B5EF4-FFF2-40B4-BE49-F238E27FC236}">
                <a16:creationId xmlns:a16="http://schemas.microsoft.com/office/drawing/2014/main" id="{0D14B079-5865-C603-3315-A14585ACB43D}"/>
              </a:ext>
            </a:extLst>
          </p:cNvPr>
          <p:cNvPicPr>
            <a:picLocks noChangeAspect="1"/>
          </p:cNvPicPr>
          <p:nvPr/>
        </p:nvPicPr>
        <p:blipFill>
          <a:blip r:embed="rId2"/>
          <a:stretch>
            <a:fillRect/>
          </a:stretch>
        </p:blipFill>
        <p:spPr>
          <a:xfrm>
            <a:off x="4281714" y="1211943"/>
            <a:ext cx="4521200" cy="3402378"/>
          </a:xfrm>
          <a:prstGeom prst="rect">
            <a:avLst/>
          </a:prstGeom>
        </p:spPr>
      </p:pic>
      <p:sp>
        <p:nvSpPr>
          <p:cNvPr id="4" name="Text Placeholder 3">
            <a:extLst>
              <a:ext uri="{FF2B5EF4-FFF2-40B4-BE49-F238E27FC236}">
                <a16:creationId xmlns:a16="http://schemas.microsoft.com/office/drawing/2014/main" id="{85E3B188-F039-C6F4-BF9D-3307D73039B6}"/>
              </a:ext>
            </a:extLst>
          </p:cNvPr>
          <p:cNvSpPr>
            <a:spLocks noGrp="1"/>
          </p:cNvSpPr>
          <p:nvPr>
            <p:ph type="body" sz="quarter" idx="12"/>
          </p:nvPr>
        </p:nvSpPr>
        <p:spPr>
          <a:xfrm>
            <a:off x="5503732" y="1908685"/>
            <a:ext cx="3240360" cy="3402378"/>
          </a:xfrm>
        </p:spPr>
        <p:txBody>
          <a:bodyPr/>
          <a:lstStyle/>
          <a:p>
            <a:endParaRPr lang="en-GB" dirty="0"/>
          </a:p>
        </p:txBody>
      </p:sp>
    </p:spTree>
    <p:extLst>
      <p:ext uri="{BB962C8B-B14F-4D97-AF65-F5344CB8AC3E}">
        <p14:creationId xmlns:p14="http://schemas.microsoft.com/office/powerpoint/2010/main" val="389021092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71C5FE3-F99B-9091-B0B8-64BC420C760D}"/>
              </a:ext>
            </a:extLst>
          </p:cNvPr>
          <p:cNvSpPr>
            <a:spLocks noGrp="1"/>
          </p:cNvSpPr>
          <p:nvPr>
            <p:ph type="body" sz="quarter" idx="11"/>
          </p:nvPr>
        </p:nvSpPr>
        <p:spPr>
          <a:xfrm>
            <a:off x="326572" y="700342"/>
            <a:ext cx="4013199" cy="4070035"/>
          </a:xfrm>
        </p:spPr>
        <p:txBody>
          <a:bodyPr/>
          <a:lstStyle/>
          <a:p>
            <a:pPr marL="0" marR="0" lvl="0" indent="0" algn="l" defTabSz="606410" rtl="0" eaLnBrk="1" fontAlgn="base" latinLnBrk="0" hangingPunct="1">
              <a:lnSpc>
                <a:spcPts val="2500"/>
              </a:lnSpc>
              <a:spcBef>
                <a:spcPts val="0"/>
              </a:spcBef>
              <a:spcAft>
                <a:spcPct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Extrinsic motivation </a:t>
            </a:r>
            <a:r>
              <a:rPr kumimoji="0" lang="en-GB"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refers to doing something for reasons that are external to the individual such as being physically active to make oneself more attractive to others, out of sense of obligation, to pursue rewards, or out of fear of punishment. </a:t>
            </a:r>
          </a:p>
          <a:p>
            <a:pPr marL="0" marR="0" lvl="0" indent="0" algn="l" defTabSz="606410" rtl="0" eaLnBrk="1" fontAlgn="base" latinLnBrk="0" hangingPunct="1">
              <a:lnSpc>
                <a:spcPts val="2000"/>
              </a:lnSpc>
              <a:spcBef>
                <a:spcPts val="0"/>
              </a:spcBef>
              <a:spcAft>
                <a:spcPct val="0"/>
              </a:spcAft>
              <a:buClrTx/>
              <a:buSzTx/>
              <a:buFontTx/>
              <a:buNone/>
              <a:tabLst/>
              <a:defRPr/>
            </a:pPr>
            <a:endParaRPr lang="en-GB" dirty="0">
              <a:solidFill>
                <a:prstClr val="black"/>
              </a:solidFill>
            </a:endParaRPr>
          </a:p>
          <a:p>
            <a:pPr lvl="0">
              <a:lnSpc>
                <a:spcPts val="2300"/>
              </a:lnSpc>
              <a:defRPr/>
            </a:pPr>
            <a:r>
              <a:rPr kumimoji="0" lang="en-GB"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This is the opposite of </a:t>
            </a:r>
            <a:r>
              <a:rPr kumimoji="0" lang="en-GB"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intrinsic motivation </a:t>
            </a:r>
            <a:r>
              <a:rPr kumimoji="0" lang="en-GB"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that refers to doing something, like exercise, because it is inherently enjoyable or interesting to the individual </a:t>
            </a:r>
            <a:r>
              <a:rPr lang="en-GB" sz="2000" dirty="0"/>
              <a:t>(</a:t>
            </a:r>
            <a:r>
              <a:rPr lang="en-GB" sz="2000" dirty="0" err="1"/>
              <a:t>Forteir</a:t>
            </a:r>
            <a:r>
              <a:rPr lang="en-GB" sz="2000" dirty="0"/>
              <a:t> et al., 2012). </a:t>
            </a:r>
            <a:endParaRPr kumimoji="0" lang="en-GB"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endParaRPr lang="en-GB" dirty="0"/>
          </a:p>
        </p:txBody>
      </p:sp>
      <p:sp>
        <p:nvSpPr>
          <p:cNvPr id="3" name="Text Placeholder 2">
            <a:extLst>
              <a:ext uri="{FF2B5EF4-FFF2-40B4-BE49-F238E27FC236}">
                <a16:creationId xmlns:a16="http://schemas.microsoft.com/office/drawing/2014/main" id="{4E9B878F-1D2D-CCC9-1C71-7DF1749209C9}"/>
              </a:ext>
            </a:extLst>
          </p:cNvPr>
          <p:cNvSpPr>
            <a:spLocks noGrp="1"/>
          </p:cNvSpPr>
          <p:nvPr>
            <p:ph type="body" sz="quarter" idx="10"/>
          </p:nvPr>
        </p:nvSpPr>
        <p:spPr>
          <a:xfrm>
            <a:off x="740008" y="130857"/>
            <a:ext cx="6552655" cy="484530"/>
          </a:xfrm>
        </p:spPr>
        <p:txBody>
          <a:bodyPr/>
          <a:lstStyle/>
          <a:p>
            <a:r>
              <a:rPr lang="en-GB" dirty="0"/>
              <a:t>Extrinsic V Intrinsic Motivation </a:t>
            </a:r>
          </a:p>
        </p:txBody>
      </p:sp>
      <p:pic>
        <p:nvPicPr>
          <p:cNvPr id="5" name="Picture 4">
            <a:extLst>
              <a:ext uri="{FF2B5EF4-FFF2-40B4-BE49-F238E27FC236}">
                <a16:creationId xmlns:a16="http://schemas.microsoft.com/office/drawing/2014/main" id="{11FDA1A0-66AA-721C-C684-5AF1712408E1}"/>
              </a:ext>
            </a:extLst>
          </p:cNvPr>
          <p:cNvPicPr>
            <a:picLocks noChangeAspect="1"/>
          </p:cNvPicPr>
          <p:nvPr/>
        </p:nvPicPr>
        <p:blipFill>
          <a:blip r:embed="rId2"/>
          <a:stretch>
            <a:fillRect/>
          </a:stretch>
        </p:blipFill>
        <p:spPr>
          <a:xfrm>
            <a:off x="4448630" y="1207693"/>
            <a:ext cx="4432690" cy="3376339"/>
          </a:xfrm>
          <a:prstGeom prst="rect">
            <a:avLst/>
          </a:prstGeom>
        </p:spPr>
      </p:pic>
    </p:spTree>
    <p:extLst>
      <p:ext uri="{BB962C8B-B14F-4D97-AF65-F5344CB8AC3E}">
        <p14:creationId xmlns:p14="http://schemas.microsoft.com/office/powerpoint/2010/main" val="27336598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1068FE-B75A-82EA-0559-4A9584BD13B8}"/>
              </a:ext>
            </a:extLst>
          </p:cNvPr>
          <p:cNvSpPr>
            <a:spLocks noGrp="1"/>
          </p:cNvSpPr>
          <p:nvPr>
            <p:ph type="body" sz="quarter" idx="10"/>
          </p:nvPr>
        </p:nvSpPr>
        <p:spPr/>
        <p:txBody>
          <a:bodyPr/>
          <a:lstStyle/>
          <a:p>
            <a:r>
              <a:rPr lang="en-GB" sz="2800" dirty="0"/>
              <a:t>Behaviour Change &amp; Education</a:t>
            </a:r>
          </a:p>
          <a:p>
            <a:endParaRPr lang="en-GB" dirty="0"/>
          </a:p>
        </p:txBody>
      </p:sp>
      <p:sp>
        <p:nvSpPr>
          <p:cNvPr id="3" name="Text Placeholder 2">
            <a:extLst>
              <a:ext uri="{FF2B5EF4-FFF2-40B4-BE49-F238E27FC236}">
                <a16:creationId xmlns:a16="http://schemas.microsoft.com/office/drawing/2014/main" id="{C4307579-99FB-9917-F8B8-7288CCA3DE0E}"/>
              </a:ext>
            </a:extLst>
          </p:cNvPr>
          <p:cNvSpPr>
            <a:spLocks noGrp="1"/>
          </p:cNvSpPr>
          <p:nvPr>
            <p:ph type="body" sz="quarter" idx="11"/>
          </p:nvPr>
        </p:nvSpPr>
        <p:spPr>
          <a:xfrm>
            <a:off x="653143" y="1347635"/>
            <a:ext cx="7532914" cy="3404603"/>
          </a:xfrm>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GB" sz="16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ACSM emphasises behaviour‑change theories, adherence strategies, and motivational counselling to support long‑term activity. </a:t>
            </a:r>
          </a:p>
          <a:p>
            <a:pPr marL="342900" lvl="0" indent="-342900">
              <a:lnSpc>
                <a:spcPct val="107000"/>
              </a:lnSpc>
              <a:spcAft>
                <a:spcPts val="800"/>
              </a:spcAft>
              <a:buSzPts val="1000"/>
              <a:buFont typeface="Symbol" panose="05050102010706020507" pitchFamily="18" charset="2"/>
              <a:buChar char=""/>
              <a:tabLst>
                <a:tab pos="457200" algn="l"/>
              </a:tabLst>
            </a:pPr>
            <a:r>
              <a:rPr lang="en-GB" sz="16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Have some knowledge of behaviour change and adherence strategies, that may be applied to your case study exercise programme. </a:t>
            </a:r>
          </a:p>
          <a:p>
            <a:pPr marL="342900" lvl="0" indent="-342900">
              <a:lnSpc>
                <a:spcPct val="107000"/>
              </a:lnSpc>
              <a:spcAft>
                <a:spcPts val="800"/>
              </a:spcAft>
              <a:buSzPts val="1000"/>
              <a:buFont typeface="Symbol" panose="05050102010706020507" pitchFamily="18" charset="2"/>
              <a:buChar char=""/>
              <a:tabLst>
                <a:tab pos="457200" algn="l"/>
              </a:tabLst>
            </a:pPr>
            <a:r>
              <a:rPr lang="en-GB" sz="16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As an example: The ESCAPE programme for hip/knee arthritis advocates:</a:t>
            </a:r>
          </a:p>
          <a:p>
            <a:pPr marL="0" lvl="0" indent="0">
              <a:lnSpc>
                <a:spcPts val="2500"/>
              </a:lnSpc>
              <a:spcBef>
                <a:spcPts val="0"/>
              </a:spcBef>
              <a:spcAft>
                <a:spcPts val="0"/>
              </a:spcAft>
              <a:buSzPts val="1000"/>
              <a:buNone/>
              <a:tabLst>
                <a:tab pos="457200" algn="l"/>
              </a:tabLst>
            </a:pPr>
            <a:r>
              <a:rPr lang="en-GB" sz="1600" b="1" dirty="0">
                <a:solidFill>
                  <a:srgbClr val="000000"/>
                </a:solidFill>
                <a:effectLst/>
                <a:latin typeface="Calibri" panose="020F0502020204030204" pitchFamily="34" charset="0"/>
                <a:ea typeface="Calibri" panose="020F0502020204030204" pitchFamily="34" charset="0"/>
                <a:cs typeface="Arial" panose="020B0604020202020204" pitchFamily="34" charset="0"/>
              </a:rPr>
              <a:t>Educational Component:</a:t>
            </a:r>
            <a:r>
              <a:rPr lang="en-GB" sz="16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 Each session begins with a discussion to educate participants on their condition, dispel myths about exercise worsening joint damage, and build self-efficacy.</a:t>
            </a:r>
            <a:endParaRPr lang="en-GB" sz="1600" dirty="0">
              <a:effectLst/>
              <a:latin typeface="Calibri" panose="020F0502020204030204" pitchFamily="34" charset="0"/>
              <a:ea typeface="Calibri" panose="020F0502020204030204" pitchFamily="34" charset="0"/>
              <a:cs typeface="Arial" panose="020B0604020202020204" pitchFamily="34" charset="0"/>
            </a:endParaRPr>
          </a:p>
          <a:p>
            <a:pPr marL="0" lvl="0" indent="0">
              <a:lnSpc>
                <a:spcPts val="2500"/>
              </a:lnSpc>
              <a:spcBef>
                <a:spcPts val="0"/>
              </a:spcBef>
              <a:spcAft>
                <a:spcPts val="0"/>
              </a:spcAft>
              <a:buSzPts val="1000"/>
              <a:buNone/>
              <a:tabLst>
                <a:tab pos="457200" algn="l"/>
              </a:tabLst>
            </a:pPr>
            <a:r>
              <a:rPr lang="en-GB" sz="1600" b="1" dirty="0">
                <a:solidFill>
                  <a:srgbClr val="000000"/>
                </a:solidFill>
                <a:effectLst/>
                <a:latin typeface="Calibri" panose="020F0502020204030204" pitchFamily="34" charset="0"/>
                <a:ea typeface="Calibri" panose="020F0502020204030204" pitchFamily="34" charset="0"/>
                <a:cs typeface="Arial" panose="020B0604020202020204" pitchFamily="34" charset="0"/>
              </a:rPr>
              <a:t>Coping Strategies:</a:t>
            </a:r>
            <a:r>
              <a:rPr lang="en-GB" sz="16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 The programme teaches pacing, goal setting, and flare-up management, strategies to stay active despite chronic pain. </a:t>
            </a:r>
          </a:p>
          <a:p>
            <a:endParaRPr lang="en-GB" dirty="0"/>
          </a:p>
        </p:txBody>
      </p:sp>
    </p:spTree>
    <p:extLst>
      <p:ext uri="{BB962C8B-B14F-4D97-AF65-F5344CB8AC3E}">
        <p14:creationId xmlns:p14="http://schemas.microsoft.com/office/powerpoint/2010/main" val="152657736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112A67-FD6D-1E87-B330-54BA79A72558}"/>
              </a:ext>
            </a:extLst>
          </p:cNvPr>
          <p:cNvSpPr>
            <a:spLocks noGrp="1"/>
          </p:cNvSpPr>
          <p:nvPr>
            <p:ph type="body" sz="quarter" idx="11"/>
          </p:nvPr>
        </p:nvSpPr>
        <p:spPr>
          <a:xfrm>
            <a:off x="464458" y="1270000"/>
            <a:ext cx="3602792" cy="3500378"/>
          </a:xfrm>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GB" sz="16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Linked to follow-up, review and progression, what would you do regarding adherence to your exercise prescription/programme? </a:t>
            </a:r>
            <a:r>
              <a:rPr lang="en-GB" sz="16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(already covered)</a:t>
            </a:r>
          </a:p>
          <a:p>
            <a:pPr marL="342900" lvl="0" indent="-342900">
              <a:lnSpc>
                <a:spcPct val="107000"/>
              </a:lnSpc>
              <a:spcAft>
                <a:spcPts val="800"/>
              </a:spcAft>
              <a:buSzPts val="1000"/>
              <a:buFont typeface="Symbol" panose="05050102010706020507" pitchFamily="18" charset="2"/>
              <a:buChar char=""/>
              <a:tabLst>
                <a:tab pos="457200" algn="l"/>
              </a:tabLst>
            </a:pPr>
            <a:r>
              <a:rPr lang="en-GB" sz="16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How often would you reassess progress by your client/patient? </a:t>
            </a:r>
          </a:p>
          <a:p>
            <a:pPr marL="342900" lvl="0" indent="-342900">
              <a:lnSpc>
                <a:spcPct val="107000"/>
              </a:lnSpc>
              <a:spcAft>
                <a:spcPts val="800"/>
              </a:spcAft>
              <a:buSzPts val="1000"/>
              <a:buFont typeface="Symbol" panose="05050102010706020507" pitchFamily="18" charset="2"/>
              <a:buChar char=""/>
              <a:tabLst>
                <a:tab pos="457200" algn="l"/>
              </a:tabLst>
            </a:pPr>
            <a:r>
              <a:rPr lang="en-GB" sz="16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How could you modify FITT‑VP variables based on progress, symptoms, and medical updates?</a:t>
            </a:r>
          </a:p>
          <a:p>
            <a:endParaRPr lang="en-GB" dirty="0"/>
          </a:p>
        </p:txBody>
      </p:sp>
      <p:sp>
        <p:nvSpPr>
          <p:cNvPr id="3" name="Text Placeholder 2">
            <a:extLst>
              <a:ext uri="{FF2B5EF4-FFF2-40B4-BE49-F238E27FC236}">
                <a16:creationId xmlns:a16="http://schemas.microsoft.com/office/drawing/2014/main" id="{FC8AC20A-0AEA-6CAC-D431-B4AC21EDE3E0}"/>
              </a:ext>
            </a:extLst>
          </p:cNvPr>
          <p:cNvSpPr>
            <a:spLocks noGrp="1"/>
          </p:cNvSpPr>
          <p:nvPr>
            <p:ph type="body" sz="quarter" idx="10"/>
          </p:nvPr>
        </p:nvSpPr>
        <p:spPr>
          <a:xfrm>
            <a:off x="899666" y="264659"/>
            <a:ext cx="7708070" cy="484530"/>
          </a:xfrm>
        </p:spPr>
        <p:txBody>
          <a:bodyPr/>
          <a:lstStyle/>
          <a:p>
            <a:r>
              <a:rPr lang="en-GB" sz="2800" dirty="0"/>
              <a:t>Follow Up, Review &amp; Progression</a:t>
            </a:r>
          </a:p>
        </p:txBody>
      </p:sp>
      <p:pic>
        <p:nvPicPr>
          <p:cNvPr id="5" name="Picture 4">
            <a:extLst>
              <a:ext uri="{FF2B5EF4-FFF2-40B4-BE49-F238E27FC236}">
                <a16:creationId xmlns:a16="http://schemas.microsoft.com/office/drawing/2014/main" id="{934D6267-3397-3B31-BC7C-2D6FCE4981FE}"/>
              </a:ext>
            </a:extLst>
          </p:cNvPr>
          <p:cNvPicPr>
            <a:picLocks noChangeAspect="1"/>
          </p:cNvPicPr>
          <p:nvPr/>
        </p:nvPicPr>
        <p:blipFill>
          <a:blip r:embed="rId2"/>
          <a:stretch>
            <a:fillRect/>
          </a:stretch>
        </p:blipFill>
        <p:spPr>
          <a:xfrm>
            <a:off x="4383314" y="1516743"/>
            <a:ext cx="3944286" cy="2220633"/>
          </a:xfrm>
          <a:prstGeom prst="rect">
            <a:avLst/>
          </a:prstGeom>
        </p:spPr>
      </p:pic>
    </p:spTree>
    <p:extLst>
      <p:ext uri="{BB962C8B-B14F-4D97-AF65-F5344CB8AC3E}">
        <p14:creationId xmlns:p14="http://schemas.microsoft.com/office/powerpoint/2010/main" val="2138460503"/>
      </p:ext>
    </p:extLst>
  </p:cSld>
  <p:clrMapOvr>
    <a:masterClrMapping/>
  </p:clrMapOvr>
  <p:transition spd="slow">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9CBC222-3E23-E456-6E57-67FA00EEADC7}"/>
              </a:ext>
            </a:extLst>
          </p:cNvPr>
          <p:cNvSpPr>
            <a:spLocks noGrp="1"/>
          </p:cNvSpPr>
          <p:nvPr>
            <p:ph type="body" sz="quarter" idx="10"/>
          </p:nvPr>
        </p:nvSpPr>
        <p:spPr>
          <a:xfrm>
            <a:off x="403019" y="268889"/>
            <a:ext cx="7152796" cy="544908"/>
          </a:xfrm>
        </p:spPr>
        <p:txBody>
          <a:bodyPr/>
          <a:lstStyle/>
          <a:p>
            <a:r>
              <a:rPr lang="en-IN" dirty="0"/>
              <a:t>Reviewing progress and outcomes</a:t>
            </a:r>
            <a:br>
              <a:rPr lang="en-IN" dirty="0"/>
            </a:br>
            <a:endParaRPr lang="en-US" dirty="0"/>
          </a:p>
        </p:txBody>
      </p:sp>
      <p:sp>
        <p:nvSpPr>
          <p:cNvPr id="2" name="Text Placeholder 1">
            <a:extLst>
              <a:ext uri="{FF2B5EF4-FFF2-40B4-BE49-F238E27FC236}">
                <a16:creationId xmlns:a16="http://schemas.microsoft.com/office/drawing/2014/main" id="{9FFB7944-5F5F-337B-D17E-BA5EF8AC1B0D}"/>
              </a:ext>
            </a:extLst>
          </p:cNvPr>
          <p:cNvSpPr>
            <a:spLocks noGrp="1"/>
          </p:cNvSpPr>
          <p:nvPr>
            <p:ph type="body" sz="quarter" idx="11"/>
          </p:nvPr>
        </p:nvSpPr>
        <p:spPr>
          <a:xfrm>
            <a:off x="-54485" y="994151"/>
            <a:ext cx="8331200" cy="3880459"/>
          </a:xfrm>
        </p:spPr>
        <p:txBody>
          <a:bodyPr/>
          <a:lstStyle/>
          <a:p>
            <a:r>
              <a:rPr lang="en-IN" dirty="0"/>
              <a:t>The standard exercise referral programme is relatively short, meaning that significant improvement in clinical and/or disease-related outcomes is not always achievable or clinically significant (Pavey et al., 2011). </a:t>
            </a:r>
          </a:p>
          <a:p>
            <a:r>
              <a:rPr lang="en-IN" dirty="0"/>
              <a:t>It should be noted that the first point of review is when the exercise </a:t>
            </a:r>
            <a:r>
              <a:rPr lang="en-IN" dirty="0" err="1"/>
              <a:t>practioner</a:t>
            </a:r>
            <a:r>
              <a:rPr lang="en-IN" dirty="0"/>
              <a:t> provides feedback on a person’s baseline results.</a:t>
            </a:r>
          </a:p>
          <a:p>
            <a:r>
              <a:rPr lang="en-IN" dirty="0"/>
              <a:t> This is an effective approach to ensure the person knows where they are starting from and also to better inform or refine the agreed-upon goals prior to programme design. </a:t>
            </a:r>
          </a:p>
          <a:p>
            <a:r>
              <a:rPr lang="en-IN" dirty="0"/>
              <a:t>Although many exercise referral sessions take place in a group setting, people will be </a:t>
            </a:r>
            <a:br>
              <a:rPr lang="en-IN" dirty="0"/>
            </a:br>
            <a:r>
              <a:rPr lang="en-IN" dirty="0"/>
              <a:t>more likely to adhere to a programme and engage in physical activity thereafter if the programme is composed of specifically tailored advice, as opposed to a one-size-fits-all approach.</a:t>
            </a:r>
            <a:br>
              <a:rPr lang="en-IN" dirty="0"/>
            </a:br>
            <a:endParaRPr lang="en-US" dirty="0"/>
          </a:p>
        </p:txBody>
      </p:sp>
    </p:spTree>
    <p:extLst>
      <p:ext uri="{BB962C8B-B14F-4D97-AF65-F5344CB8AC3E}">
        <p14:creationId xmlns:p14="http://schemas.microsoft.com/office/powerpoint/2010/main" val="297552948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ECB6C9B-23EB-ECE3-A442-3E7805A853C6}"/>
              </a:ext>
            </a:extLst>
          </p:cNvPr>
          <p:cNvSpPr>
            <a:spLocks noGrp="1"/>
          </p:cNvSpPr>
          <p:nvPr>
            <p:ph type="body" sz="quarter" idx="10"/>
          </p:nvPr>
        </p:nvSpPr>
        <p:spPr>
          <a:xfrm>
            <a:off x="732971" y="147111"/>
            <a:ext cx="6958013" cy="488301"/>
          </a:xfrm>
        </p:spPr>
        <p:txBody>
          <a:bodyPr/>
          <a:lstStyle/>
          <a:p>
            <a:r>
              <a:rPr lang="en-GB" sz="2000" b="1" dirty="0"/>
              <a:t>Progression/Feedback (Cont`d)</a:t>
            </a:r>
          </a:p>
          <a:p>
            <a:pPr marL="342900" indent="-342900">
              <a:buFont typeface="Arial" panose="020B0604020202020204" pitchFamily="34" charset="0"/>
              <a:buChar char="•"/>
            </a:pPr>
            <a:endParaRPr lang="en-GB" sz="2000" b="1" dirty="0"/>
          </a:p>
        </p:txBody>
      </p:sp>
      <p:sp>
        <p:nvSpPr>
          <p:cNvPr id="2" name="Text Placeholder 1">
            <a:extLst>
              <a:ext uri="{FF2B5EF4-FFF2-40B4-BE49-F238E27FC236}">
                <a16:creationId xmlns:a16="http://schemas.microsoft.com/office/drawing/2014/main" id="{147AA504-1F92-7853-6989-0EAD50B88EE3}"/>
              </a:ext>
            </a:extLst>
          </p:cNvPr>
          <p:cNvSpPr>
            <a:spLocks noGrp="1"/>
          </p:cNvSpPr>
          <p:nvPr>
            <p:ph type="body" sz="quarter" idx="11"/>
          </p:nvPr>
        </p:nvSpPr>
        <p:spPr>
          <a:xfrm>
            <a:off x="342979" y="716264"/>
            <a:ext cx="8234017" cy="4109736"/>
          </a:xfrm>
        </p:spPr>
        <p:txBody>
          <a:bodyPr/>
          <a:lstStyle/>
          <a:p>
            <a:r>
              <a:rPr lang="en-IN" sz="2000" dirty="0">
                <a:solidFill>
                  <a:srgbClr val="FF0000"/>
                </a:solidFill>
              </a:rPr>
              <a:t>1. During and after each session</a:t>
            </a:r>
            <a:br>
              <a:rPr lang="en-IN" dirty="0"/>
            </a:br>
            <a:r>
              <a:rPr lang="en-IN" dirty="0"/>
              <a:t>a. During each session, it is important that you </a:t>
            </a:r>
            <a:r>
              <a:rPr lang="en-IN" b="1" dirty="0"/>
              <a:t>observe </a:t>
            </a:r>
            <a:r>
              <a:rPr lang="en-IN" dirty="0"/>
              <a:t>the person, </a:t>
            </a:r>
            <a:r>
              <a:rPr lang="en-IN" b="1" dirty="0"/>
              <a:t>make notes </a:t>
            </a:r>
            <a:r>
              <a:rPr lang="en-IN" dirty="0"/>
              <a:t>on their </a:t>
            </a:r>
            <a:br>
              <a:rPr lang="en-IN" dirty="0"/>
            </a:br>
            <a:r>
              <a:rPr lang="en-IN" dirty="0"/>
              <a:t>movement quality and highlight any aspects of the exercises that they find difficult or </a:t>
            </a:r>
            <a:br>
              <a:rPr lang="en-IN" dirty="0"/>
            </a:br>
            <a:r>
              <a:rPr lang="en-IN" dirty="0"/>
              <a:t>can perform with ease – this information can help you determine the regression or </a:t>
            </a:r>
            <a:br>
              <a:rPr lang="en-IN" dirty="0"/>
            </a:br>
            <a:r>
              <a:rPr lang="en-IN" dirty="0"/>
              <a:t>progression of their next session. </a:t>
            </a:r>
          </a:p>
          <a:p>
            <a:r>
              <a:rPr lang="en-IN" dirty="0"/>
              <a:t>b. At the end of each session, it is important that you provide the person with some </a:t>
            </a:r>
            <a:br>
              <a:rPr lang="en-IN" dirty="0"/>
            </a:br>
            <a:r>
              <a:rPr lang="en-IN" b="1" dirty="0"/>
              <a:t>feedback</a:t>
            </a:r>
            <a:r>
              <a:rPr lang="en-IN" dirty="0"/>
              <a:t> and also ask them to reflect on their session and provide you with feedback – this will help you to adapt the next session, and using a motivational interviewing–consistent conversation will ensure that you agree on these changes together and help the person feel that they have some control over the process, which will facilitate their feelings of autonomy.</a:t>
            </a:r>
            <a:br>
              <a:rPr lang="en-IN" dirty="0"/>
            </a:br>
            <a:endParaRPr lang="en-IN" dirty="0"/>
          </a:p>
          <a:p>
            <a:r>
              <a:rPr lang="en-IN" sz="2000" dirty="0">
                <a:solidFill>
                  <a:srgbClr val="FF0000"/>
                </a:solidFill>
              </a:rPr>
              <a:t>2. In the interim and 12-week consultations</a:t>
            </a:r>
            <a:br>
              <a:rPr lang="en-IN" sz="1800" dirty="0">
                <a:solidFill>
                  <a:srgbClr val="FF0000"/>
                </a:solidFill>
              </a:rPr>
            </a:br>
            <a:r>
              <a:rPr lang="en-IN" dirty="0"/>
              <a:t>a. Repeat each of the measures that took place during the initial consultation that will inform the reports that will be returned to the GP and other health-care professionals.</a:t>
            </a:r>
          </a:p>
          <a:p>
            <a:pPr marL="0" indent="0">
              <a:buNone/>
            </a:pPr>
            <a:r>
              <a:rPr lang="en-IN" b="1" dirty="0">
                <a:solidFill>
                  <a:srgbClr val="FF0000"/>
                </a:solidFill>
              </a:rPr>
              <a:t>TASK: Does this only relate to PARS/ERS?</a:t>
            </a:r>
            <a:br>
              <a:rPr lang="en-IN" dirty="0"/>
            </a:br>
            <a:endParaRPr lang="en-GB" dirty="0"/>
          </a:p>
        </p:txBody>
      </p:sp>
    </p:spTree>
    <p:extLst>
      <p:ext uri="{BB962C8B-B14F-4D97-AF65-F5344CB8AC3E}">
        <p14:creationId xmlns:p14="http://schemas.microsoft.com/office/powerpoint/2010/main" val="413646727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8CBEDA-E3F7-B63B-9580-1698C0B4A66C}"/>
              </a:ext>
            </a:extLst>
          </p:cNvPr>
          <p:cNvSpPr>
            <a:spLocks noGrp="1"/>
          </p:cNvSpPr>
          <p:nvPr>
            <p:ph type="body" sz="quarter" idx="10"/>
          </p:nvPr>
        </p:nvSpPr>
        <p:spPr>
          <a:xfrm>
            <a:off x="1603219" y="348244"/>
            <a:ext cx="5001014" cy="531230"/>
          </a:xfrm>
        </p:spPr>
        <p:txBody>
          <a:bodyPr>
            <a:normAutofit fontScale="85000" lnSpcReduction="10000"/>
          </a:bodyPr>
          <a:lstStyle/>
          <a:p>
            <a:pPr algn="ctr"/>
            <a:r>
              <a:rPr lang="en-GB" b="1" dirty="0"/>
              <a:t>Any Questions?</a:t>
            </a:r>
          </a:p>
        </p:txBody>
      </p:sp>
      <p:pic>
        <p:nvPicPr>
          <p:cNvPr id="5" name="Picture 4">
            <a:extLst>
              <a:ext uri="{FF2B5EF4-FFF2-40B4-BE49-F238E27FC236}">
                <a16:creationId xmlns:a16="http://schemas.microsoft.com/office/drawing/2014/main" id="{1B0D4733-2516-8DBB-8A15-4904E3D2D39A}"/>
              </a:ext>
            </a:extLst>
          </p:cNvPr>
          <p:cNvPicPr>
            <a:picLocks noChangeAspect="1"/>
          </p:cNvPicPr>
          <p:nvPr/>
        </p:nvPicPr>
        <p:blipFill>
          <a:blip r:embed="rId2"/>
          <a:stretch>
            <a:fillRect/>
          </a:stretch>
        </p:blipFill>
        <p:spPr>
          <a:xfrm>
            <a:off x="1993805" y="1102997"/>
            <a:ext cx="4710605" cy="3140403"/>
          </a:xfrm>
          <a:prstGeom prst="rect">
            <a:avLst/>
          </a:prstGeom>
        </p:spPr>
      </p:pic>
    </p:spTree>
    <p:extLst>
      <p:ext uri="{BB962C8B-B14F-4D97-AF65-F5344CB8AC3E}">
        <p14:creationId xmlns:p14="http://schemas.microsoft.com/office/powerpoint/2010/main" val="1658863052"/>
      </p:ext>
    </p:extLst>
  </p:cSld>
  <p:clrMapOvr>
    <a:masterClrMapping/>
  </p:clrMapOvr>
  <p:transition spd="slow">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8C67CC-7D54-BC64-E6DE-AFA72A59B0D9}"/>
              </a:ext>
            </a:extLst>
          </p:cNvPr>
          <p:cNvSpPr>
            <a:spLocks noGrp="1"/>
          </p:cNvSpPr>
          <p:nvPr>
            <p:ph type="body" sz="quarter" idx="10"/>
          </p:nvPr>
        </p:nvSpPr>
        <p:spPr/>
        <p:txBody>
          <a:bodyPr/>
          <a:lstStyle/>
          <a:p>
            <a:r>
              <a:rPr lang="en-GB" dirty="0"/>
              <a:t>References </a:t>
            </a:r>
          </a:p>
        </p:txBody>
      </p:sp>
      <p:sp>
        <p:nvSpPr>
          <p:cNvPr id="3" name="Text Placeholder 2">
            <a:extLst>
              <a:ext uri="{FF2B5EF4-FFF2-40B4-BE49-F238E27FC236}">
                <a16:creationId xmlns:a16="http://schemas.microsoft.com/office/drawing/2014/main" id="{24140416-68AF-AA3E-70FF-B8F78DC451DA}"/>
              </a:ext>
            </a:extLst>
          </p:cNvPr>
          <p:cNvSpPr>
            <a:spLocks noGrp="1"/>
          </p:cNvSpPr>
          <p:nvPr>
            <p:ph type="body" sz="quarter" idx="11"/>
          </p:nvPr>
        </p:nvSpPr>
        <p:spPr/>
        <p:txBody>
          <a:bodyPr/>
          <a:lstStyle/>
          <a:p>
            <a:r>
              <a:rPr lang="en-GB" dirty="0"/>
              <a:t>CHEN, Y., ABDULLAH, M.F.B., ABIDIN, N.E.Z. and LI, F., 2026. Breaking boundaries: integration of sports and medicine in the community elderly service model. </a:t>
            </a:r>
            <a:r>
              <a:rPr lang="en-GB" i="1" dirty="0"/>
              <a:t>BMC Public Health, </a:t>
            </a:r>
            <a:r>
              <a:rPr lang="en-GB" b="1" dirty="0"/>
              <a:t>26</a:t>
            </a:r>
            <a:r>
              <a:rPr lang="en-GB" dirty="0"/>
              <a:t>(1), pp. 366.</a:t>
            </a:r>
          </a:p>
          <a:p>
            <a:r>
              <a:rPr lang="en-GB" dirty="0"/>
              <a:t>Global Burden of Disease Collaborative Network, Global Burden of Disease Study 2021 (GBD 2021) Results (2024, Institute for Health Metrics and Evaluation – IHME) </a:t>
            </a:r>
            <a:r>
              <a:rPr lang="en-GB" dirty="0">
                <a:hlinkClick r:id="rId2"/>
              </a:rPr>
              <a:t>https://vizhub.healthdata.org/gbd-results/</a:t>
            </a:r>
            <a:endParaRPr lang="en-GB" dirty="0"/>
          </a:p>
          <a:p>
            <a:endParaRPr lang="en-GB" dirty="0"/>
          </a:p>
          <a:p>
            <a:r>
              <a:rPr lang="en-GB" i="1" dirty="0">
                <a:solidFill>
                  <a:srgbClr val="1B1B1B"/>
                </a:solidFill>
              </a:rPr>
              <a:t>Mino E et al (2021) Physical activity referral scheme components: a study protocol for systematic review and meta-regression. BMJ </a:t>
            </a:r>
            <a:r>
              <a:rPr lang="en-GB" i="1" dirty="0" err="1">
                <a:solidFill>
                  <a:srgbClr val="1B1B1B"/>
                </a:solidFill>
              </a:rPr>
              <a:t>Open.Jun</a:t>
            </a:r>
            <a:r>
              <a:rPr lang="en-GB" i="1" dirty="0">
                <a:solidFill>
                  <a:srgbClr val="1B1B1B"/>
                </a:solidFill>
              </a:rPr>
              <a:t> 18;11(6):e049549</a:t>
            </a:r>
            <a:r>
              <a:rPr lang="en-GB" i="1" dirty="0">
                <a:solidFill>
                  <a:srgbClr val="1B1B1B"/>
                </a:solidFill>
                <a:latin typeface="Roboto Mono Web"/>
              </a:rPr>
              <a:t>. </a:t>
            </a:r>
            <a:endParaRPr lang="en-GB" i="1" dirty="0"/>
          </a:p>
          <a:p>
            <a:endParaRPr lang="en-GB" dirty="0"/>
          </a:p>
        </p:txBody>
      </p:sp>
    </p:spTree>
    <p:extLst>
      <p:ext uri="{BB962C8B-B14F-4D97-AF65-F5344CB8AC3E}">
        <p14:creationId xmlns:p14="http://schemas.microsoft.com/office/powerpoint/2010/main" val="3609202615"/>
      </p:ext>
    </p:extLst>
  </p:cSld>
  <p:clrMapOvr>
    <a:masterClrMapping/>
  </p:clrMapOvr>
  <p:transition spd="slow">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9FBBE3-F337-1334-3C25-89D391E4CEDA}"/>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6F7B7BF4-3DC4-602A-2018-64748DE4BB87}"/>
              </a:ext>
            </a:extLst>
          </p:cNvPr>
          <p:cNvSpPr>
            <a:spLocks noGrp="1"/>
          </p:cNvSpPr>
          <p:nvPr>
            <p:ph type="body" sz="quarter" idx="11"/>
          </p:nvPr>
        </p:nvSpPr>
        <p:spPr/>
        <p:txBody>
          <a:bodyPr/>
          <a:lstStyle/>
          <a:p>
            <a:pPr marL="266700" marR="0" lvl="0" indent="-266700" algn="l" defTabSz="606410" rtl="0" eaLnBrk="0" fontAlgn="base" latinLnBrk="0" hangingPunct="0">
              <a:lnSpc>
                <a:spcPct val="100000"/>
              </a:lnSpc>
              <a:spcBef>
                <a:spcPct val="20000"/>
              </a:spcBef>
              <a:spcAft>
                <a:spcPct val="0"/>
              </a:spcAft>
              <a:buClr>
                <a:srgbClr val="16818D"/>
              </a:buClr>
              <a:buSzTx/>
              <a:buFont typeface="Arial" charset="0"/>
              <a:buChar char="•"/>
              <a:tabLst/>
              <a:defRPr/>
            </a:pPr>
            <a:r>
              <a:rPr kumimoji="0" lang="en-GB"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Whitsel LP, </a:t>
            </a:r>
            <a:r>
              <a:rPr kumimoji="0" lang="en-GB" sz="16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Bantham</a:t>
            </a:r>
            <a:r>
              <a:rPr kumimoji="0" lang="en-GB"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 Jarrin R, Sanders L, </a:t>
            </a:r>
            <a:r>
              <a:rPr kumimoji="0" lang="en-GB" sz="16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Stoutenberg</a:t>
            </a:r>
            <a:r>
              <a:rPr kumimoji="0" lang="en-GB"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M. Physical activity assessment, prescription and referral in US healthcare: How do we make this a standard of clinical practice? Prog Cardiovasc Dis. 2021 Jan-Feb;64:88-95. </a:t>
            </a:r>
            <a:r>
              <a:rPr kumimoji="0" lang="en-GB" sz="16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doi</a:t>
            </a:r>
            <a:r>
              <a:rPr kumimoji="0" lang="en-GB"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10.1016/j.pcad.2020.12.006. </a:t>
            </a:r>
            <a:r>
              <a:rPr kumimoji="0" lang="en-GB" sz="16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Epub</a:t>
            </a:r>
            <a:r>
              <a:rPr kumimoji="0" lang="en-GB"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2020 Dec 28. PMID: 33383058.</a:t>
            </a:r>
          </a:p>
          <a:p>
            <a:endParaRPr lang="en-GB" dirty="0"/>
          </a:p>
        </p:txBody>
      </p:sp>
    </p:spTree>
    <p:extLst>
      <p:ext uri="{BB962C8B-B14F-4D97-AF65-F5344CB8AC3E}">
        <p14:creationId xmlns:p14="http://schemas.microsoft.com/office/powerpoint/2010/main" val="1863705742"/>
      </p:ext>
    </p:extLst>
  </p:cSld>
  <p:clrMapOvr>
    <a:masterClrMapping/>
  </p:clrMapOvr>
  <p:transition spd="slow">
    <p:fade/>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56E99604-B34A-AB45-82E2-A2F6C5EC15CC}" vid="{C3811B3D-AE0C-294C-BC2C-607328485A31}"/>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56E99604-B34A-AB45-82E2-A2F6C5EC15CC}" vid="{C3811B3D-AE0C-294C-BC2C-607328485A31}"/>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6B57A1F-FA26-41C4-BC68-7DEF72ECF0E9}">
  <we:reference id="WA104178141" version="4.3.3.0" store="Omex" storeType="OMEX"/>
  <we:alternateReferences>
    <we:reference id="WA104178141" version="4.3.3.0" store="WA10417814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495DC29F69DA41B831D7985DDEFF7A" ma:contentTypeVersion="16" ma:contentTypeDescription="Create a new document." ma:contentTypeScope="" ma:versionID="dd1b5874f98e772f9b1ac5142f287ced">
  <xsd:schema xmlns:xsd="http://www.w3.org/2001/XMLSchema" xmlns:xs="http://www.w3.org/2001/XMLSchema" xmlns:p="http://schemas.microsoft.com/office/2006/metadata/properties" xmlns:ns3="da5da9df-85e1-4e4b-b319-af1e48434c21" xmlns:ns4="f6569699-ae44-4c85-9383-dd5a41d3d471" targetNamespace="http://schemas.microsoft.com/office/2006/metadata/properties" ma:root="true" ma:fieldsID="ed7eee6299abee499f8a2cb9b56f646d" ns3:_="" ns4:_="">
    <xsd:import namespace="da5da9df-85e1-4e4b-b319-af1e48434c21"/>
    <xsd:import namespace="f6569699-ae44-4c85-9383-dd5a41d3d47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Location" minOccurs="0"/>
                <xsd:element ref="ns4:MediaServiceAutoKeyPoints" minOccurs="0"/>
                <xsd:element ref="ns4:MediaServiceKeyPoints" minOccurs="0"/>
                <xsd:element ref="ns4:MediaLengthInSeconds" minOccurs="0"/>
                <xsd:element ref="ns4:MediaServiceGenerationTime" minOccurs="0"/>
                <xsd:element ref="ns4:MediaServiceEventHashCode"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5da9df-85e1-4e4b-b319-af1e48434c2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569699-ae44-4c85-9383-dd5a41d3d471"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description=""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f6569699-ae44-4c85-9383-dd5a41d3d471" xsi:nil="true"/>
  </documentManagement>
</p:properties>
</file>

<file path=customXml/itemProps1.xml><?xml version="1.0" encoding="utf-8"?>
<ds:datastoreItem xmlns:ds="http://schemas.openxmlformats.org/officeDocument/2006/customXml" ds:itemID="{0503A0C5-23DA-47D0-B3C8-6EA406910910}">
  <ds:schemaRefs>
    <ds:schemaRef ds:uri="http://schemas.microsoft.com/office/2006/metadata/contentType"/>
    <ds:schemaRef ds:uri="http://schemas.microsoft.com/office/2006/metadata/properties/metaAttributes"/>
    <ds:schemaRef ds:uri="http://www.w3.org/2000/xmlns/"/>
    <ds:schemaRef ds:uri="http://www.w3.org/2001/XMLSchema"/>
    <ds:schemaRef ds:uri="da5da9df-85e1-4e4b-b319-af1e48434c21"/>
    <ds:schemaRef ds:uri="f6569699-ae44-4c85-9383-dd5a41d3d47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00F85EE-6835-4A69-927E-5485695316D1}">
  <ds:schemaRefs>
    <ds:schemaRef ds:uri="http://schemas.microsoft.com/sharepoint/v3/contenttype/forms"/>
  </ds:schemaRefs>
</ds:datastoreItem>
</file>

<file path=customXml/itemProps3.xml><?xml version="1.0" encoding="utf-8"?>
<ds:datastoreItem xmlns:ds="http://schemas.openxmlformats.org/officeDocument/2006/customXml" ds:itemID="{BE0E7C5A-1D10-4956-9B2A-CF34BCD31BDC}">
  <ds:schemaRefs>
    <ds:schemaRef ds:uri="http://purl.org/dc/elements/1.1/"/>
    <ds:schemaRef ds:uri="http://schemas.microsoft.com/office/2006/metadata/properties"/>
    <ds:schemaRef ds:uri="http://schemas.openxmlformats.org/package/2006/metadata/core-properties"/>
    <ds:schemaRef ds:uri="f6569699-ae44-4c85-9383-dd5a41d3d471"/>
    <ds:schemaRef ds:uri="http://purl.org/dc/terms/"/>
    <ds:schemaRef ds:uri="http://schemas.microsoft.com/office/2006/documentManagement/types"/>
    <ds:schemaRef ds:uri="da5da9df-85e1-4e4b-b319-af1e48434c21"/>
    <ds:schemaRef ds:uri="http://purl.org/dc/dcmitype/"/>
    <ds:schemaRef ds:uri="http://schemas.microsoft.com/office/infopath/2007/PartnerControls"/>
    <ds:schemaRef ds:uri="http://www.w3.org/XML/1998/namespace"/>
  </ds:schemaRefs>
</ds:datastoreItem>
</file>

<file path=docMetadata/LabelInfo.xml><?xml version="1.0" encoding="utf-8"?>
<clbl:labelList xmlns:clbl="http://schemas.microsoft.com/office/2020/mipLabelMetadata">
  <clbl:label id="{0c7fd77c-bf1b-4511-8a0d-ca095442aa9f}"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PPT new template SUNSHINE YELLOW with UWE logo bottom STANDARD</Template>
  <TotalTime>1945</TotalTime>
  <Words>5297</Words>
  <Application>Microsoft Office PowerPoint</Application>
  <PresentationFormat>On-screen Show (16:9)</PresentationFormat>
  <Paragraphs>390</Paragraphs>
  <Slides>69</Slides>
  <Notes>3</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69</vt:i4>
      </vt:variant>
    </vt:vector>
  </HeadingPairs>
  <TitlesOfParts>
    <vt:vector size="82" baseType="lpstr">
      <vt:lpstr>Wingdings</vt:lpstr>
      <vt:lpstr>MS PGothic</vt:lpstr>
      <vt:lpstr>Courier New</vt:lpstr>
      <vt:lpstr>BemboMTPro-Regular</vt:lpstr>
      <vt:lpstr>Roboto Mono Web</vt:lpstr>
      <vt:lpstr>Calibri</vt:lpstr>
      <vt:lpstr>Tahoma</vt:lpstr>
      <vt:lpstr>Palatino Linotype</vt:lpstr>
      <vt:lpstr>Arial</vt:lpstr>
      <vt:lpstr>Symbol</vt:lpstr>
      <vt:lpstr>Georgia</vt:lpstr>
      <vt:lpstr>Custom Design</vt:lpstr>
      <vt:lpstr>1_Custom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Rob Grieve</cp:lastModifiedBy>
  <cp:revision>139</cp:revision>
  <cp:lastPrinted>2016-04-26T08:55:24Z</cp:lastPrinted>
  <dcterms:created xsi:type="dcterms:W3CDTF">2016-04-27T08:32:31Z</dcterms:created>
  <dcterms:modified xsi:type="dcterms:W3CDTF">2026-03-27T06:15:06Z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0x0101001C495DC29F69DA41B831D7985DDEFF7A</vt:lpwstr>
  </property>
</Properties>
</file>